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6" r:id="rId2"/>
  </p:sldMasterIdLst>
  <p:notesMasterIdLst>
    <p:notesMasterId r:id="rId23"/>
  </p:notesMasterIdLst>
  <p:handoutMasterIdLst>
    <p:handoutMasterId r:id="rId24"/>
  </p:handoutMasterIdLst>
  <p:sldIdLst>
    <p:sldId id="1198" r:id="rId3"/>
    <p:sldId id="16756834" r:id="rId4"/>
    <p:sldId id="1280" r:id="rId5"/>
    <p:sldId id="16756827" r:id="rId6"/>
    <p:sldId id="16756833" r:id="rId7"/>
    <p:sldId id="16756830" r:id="rId8"/>
    <p:sldId id="16756829" r:id="rId9"/>
    <p:sldId id="16756840" r:id="rId10"/>
    <p:sldId id="16756845" r:id="rId11"/>
    <p:sldId id="16756844" r:id="rId12"/>
    <p:sldId id="16756848" r:id="rId13"/>
    <p:sldId id="16756835" r:id="rId14"/>
    <p:sldId id="16756846" r:id="rId15"/>
    <p:sldId id="16756847" r:id="rId16"/>
    <p:sldId id="16756841" r:id="rId17"/>
    <p:sldId id="16756837" r:id="rId18"/>
    <p:sldId id="16756838" r:id="rId19"/>
    <p:sldId id="16756839" r:id="rId20"/>
    <p:sldId id="16756831" r:id="rId21"/>
    <p:sldId id="1200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96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972">
          <p15:clr>
            <a:srgbClr val="A4A3A4"/>
          </p15:clr>
        </p15:guide>
        <p15:guide id="2" pos="204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enny Liu" initials="BL" lastIdx="3" clrIdx="0"/>
  <p:cmAuthor id="2" name="User" initials="U" lastIdx="1" clrIdx="1"/>
  <p:cmAuthor id="3" name="李晓鸥" initials="李晓鸥" lastIdx="2" clrIdx="2"/>
  <p:cmAuthor id="4" name="张永强" initials="张永强" lastIdx="16" clrIdx="3">
    <p:extLst>
      <p:ext uri="{19B8F6BF-5375-455C-9EA6-DF929625EA0E}">
        <p15:presenceInfo xmlns:p15="http://schemas.microsoft.com/office/powerpoint/2012/main" userId="S::zhangyongqiang@anta.com::f4cfe06f-6c78-4b9d-808f-f3574bfb7f7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0000"/>
    <a:srgbClr val="FFE1E1"/>
    <a:srgbClr val="FAD9CD"/>
    <a:srgbClr val="BCDEFB"/>
    <a:srgbClr val="7F8B9D"/>
    <a:srgbClr val="758496"/>
    <a:srgbClr val="758296"/>
    <a:srgbClr val="E8E8EA"/>
    <a:srgbClr val="5F6B7D"/>
    <a:srgbClr val="9B2D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7CE84F3-28C3-443E-9E96-99CF82512B78}" styleName="深色样式 1 - 强调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660B408-B3CF-4A94-85FC-2B1E0A45F4A2}" styleName="深色样式 2 - 强调 1/强调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2833802-FEF1-4C79-8D5D-14CF1EAF98D9}" styleName="浅色样式 2 - 强调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浅色样式 2 - 强调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84E427A-3D55-4303-BF80-6455036E1DE7}" styleName="主题样式 1 - 强调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87481" autoAdjust="0"/>
  </p:normalViewPr>
  <p:slideViewPr>
    <p:cSldViewPr snapToGrid="0">
      <p:cViewPr varScale="1">
        <p:scale>
          <a:sx n="68" d="100"/>
          <a:sy n="68" d="100"/>
        </p:scale>
        <p:origin x="616" y="48"/>
      </p:cViewPr>
      <p:guideLst/>
    </p:cSldViewPr>
  </p:slideViewPr>
  <p:outlineViewPr>
    <p:cViewPr>
      <p:scale>
        <a:sx n="33" d="100"/>
        <a:sy n="33" d="100"/>
      </p:scale>
      <p:origin x="0" y="-1806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83" d="100"/>
          <a:sy n="83" d="100"/>
        </p:scale>
        <p:origin x="-3864" y="-90"/>
      </p:cViewPr>
      <p:guideLst>
        <p:guide orient="horz" pos="2972"/>
        <p:guide pos="204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45C758-E5FE-4368-A8A3-B749530A29DC}" type="datetimeFigureOut">
              <a:rPr lang="zh-CN" altLang="en-US" smtClean="0"/>
              <a:t>2025/8/26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C5DCA2-2C6F-4E70-A715-0F66E8866A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4AF4DB-4C47-4782-A2E4-AF0DC385DFEF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2B52D5-0F10-409C-88A1-07E8733E16BA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6965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2B52D5-0F10-409C-88A1-07E8733E16BA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2B52D5-0F10-409C-88A1-07E8733E16B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6976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2B52D5-0F10-409C-88A1-07E8733E16B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5924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2B52D5-0F10-409C-88A1-07E8733E16B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1506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2B52D5-0F10-409C-88A1-07E8733E16B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9371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2B52D5-0F10-409C-88A1-07E8733E16B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4774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2B52D5-0F10-409C-88A1-07E8733E16B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2164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2B52D5-0F10-409C-88A1-07E8733E16B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9931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2B52D5-0F10-409C-88A1-07E8733E16B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3569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2B52D5-0F10-409C-88A1-07E8733E16B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6378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2B52D5-0F10-409C-88A1-07E8733E16B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1734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2B52D5-0F10-409C-88A1-07E8733E16B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0769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2B52D5-0F10-409C-88A1-07E8733E16B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359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2B52D5-0F10-409C-88A1-07E8733E16B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6215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2B52D5-0F10-409C-88A1-07E8733E16B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4651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2B52D5-0F10-409C-88A1-07E8733E16B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90240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2B52D5-0F10-409C-88A1-07E8733E16BA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24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e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jpe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深色风格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6615" y="60539"/>
            <a:ext cx="1552163" cy="9707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深色风格末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0" y="6195701"/>
            <a:ext cx="12192000" cy="6623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0871" y="1423412"/>
            <a:ext cx="4270257" cy="326441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0032" y="6291392"/>
            <a:ext cx="8631936" cy="4709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浅色风格正文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0369" y="0"/>
            <a:ext cx="1551631" cy="970701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>
            <a:off x="162271" y="692168"/>
            <a:ext cx="10080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 userDrawn="1"/>
        </p:nvSpPr>
        <p:spPr>
          <a:xfrm>
            <a:off x="162271" y="692168"/>
            <a:ext cx="1080000" cy="72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5C3AC-9582-40C9-B0E8-7574576F7236}" type="datetimeFigureOut">
              <a:rPr lang="zh-CN" altLang="en-US" smtClean="0"/>
              <a:t>2025/8/26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ADCC7-1F9E-4CCA-BBBC-13DF648A050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 advTm="2000"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浅色风格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2350" y="6252467"/>
            <a:ext cx="8327300" cy="556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463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浅色风格末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2350" y="6252467"/>
            <a:ext cx="8327300" cy="556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8695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浅色风格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8"/>
          <p:cNvSpPr>
            <a:spLocks noGrp="1" noChangeAspect="1"/>
          </p:cNvSpPr>
          <p:nvPr>
            <p:ph type="pic" sz="quarter" idx="10"/>
          </p:nvPr>
        </p:nvSpPr>
        <p:spPr>
          <a:xfrm>
            <a:off x="0" y="0"/>
            <a:ext cx="12192000" cy="61976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0" y="6195701"/>
            <a:ext cx="12192000" cy="6623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0032" y="6291392"/>
            <a:ext cx="8631936" cy="4709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浅色风格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9052" y="60539"/>
            <a:ext cx="1551631" cy="9707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浅色风格末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445"/>
          <a:stretch>
            <a:fillRect/>
          </a:stretch>
        </p:blipFill>
        <p:spPr>
          <a:xfrm>
            <a:off x="0" y="0"/>
            <a:ext cx="12192000" cy="6210300"/>
          </a:xfrm>
          <a:prstGeom prst="rect">
            <a:avLst/>
          </a:prstGeom>
        </p:spPr>
      </p:pic>
      <p:sp>
        <p:nvSpPr>
          <p:cNvPr id="6" name="矩形 5"/>
          <p:cNvSpPr/>
          <p:nvPr userDrawn="1"/>
        </p:nvSpPr>
        <p:spPr>
          <a:xfrm>
            <a:off x="0" y="6195701"/>
            <a:ext cx="12192000" cy="6623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0871" y="1577717"/>
            <a:ext cx="4270257" cy="326441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0032" y="6291392"/>
            <a:ext cx="8631936" cy="4709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浅色风格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microsoft.com/office/2007/relationships/hdphoto" Target="../media/hdphoto1.wdp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3000"/>
                <a:satMod val="150000"/>
                <a:shade val="98000"/>
                <a:lumMod val="102000"/>
              </a:schemeClr>
            </a:gs>
            <a:gs pos="50000">
              <a:schemeClr val="bg1">
                <a:tint val="98000"/>
                <a:satMod val="130000"/>
                <a:shade val="90000"/>
                <a:lumMod val="103000"/>
              </a:schemeClr>
            </a:gs>
            <a:gs pos="100000">
              <a:schemeClr val="bg1">
                <a:shade val="63000"/>
                <a:satMod val="120000"/>
              </a:schemeClr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3"/>
          <p:cNvSpPr txBox="1"/>
          <p:nvPr userDrawn="1"/>
        </p:nvSpPr>
        <p:spPr>
          <a:xfrm>
            <a:off x="11706224" y="6515100"/>
            <a:ext cx="466726" cy="269082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EF1BF7B-44AB-42A1-ACAD-82CC1F1656C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9" cstate="print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bright="-8000" contrast="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4" r:id="rId4"/>
    <p:sldLayoutId id="2147483655" r:id="rId5"/>
    <p:sldLayoutId id="2147483662" r:id="rId6"/>
    <p:sldLayoutId id="2147483663" r:id="rId7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0">
              <a:schemeClr val="bg1">
                <a:tint val="93000"/>
                <a:satMod val="150000"/>
                <a:shade val="98000"/>
                <a:lumMod val="100000"/>
              </a:schemeClr>
            </a:gs>
            <a:gs pos="100000">
              <a:schemeClr val="bg1">
                <a:lumMod val="85000"/>
              </a:schemeClr>
            </a:gs>
            <a:gs pos="50000">
              <a:schemeClr val="bg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3"/>
          <p:cNvSpPr txBox="1"/>
          <p:nvPr userDrawn="1"/>
        </p:nvSpPr>
        <p:spPr>
          <a:xfrm>
            <a:off x="11706224" y="6515100"/>
            <a:ext cx="466726" cy="269082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EF1BF7B-44AB-42A1-ACAD-82CC1F1656C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26" Type="http://schemas.openxmlformats.org/officeDocument/2006/relationships/tags" Target="../tags/tag26.xml"/><Relationship Id="rId39" Type="http://schemas.openxmlformats.org/officeDocument/2006/relationships/tags" Target="../tags/tag39.xml"/><Relationship Id="rId21" Type="http://schemas.openxmlformats.org/officeDocument/2006/relationships/tags" Target="../tags/tag21.xml"/><Relationship Id="rId34" Type="http://schemas.openxmlformats.org/officeDocument/2006/relationships/tags" Target="../tags/tag34.xml"/><Relationship Id="rId42" Type="http://schemas.openxmlformats.org/officeDocument/2006/relationships/tags" Target="../tags/tag42.xml"/><Relationship Id="rId47" Type="http://schemas.openxmlformats.org/officeDocument/2006/relationships/notesSlide" Target="../notesSlides/notesSlide1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9" Type="http://schemas.openxmlformats.org/officeDocument/2006/relationships/tags" Target="../tags/tag29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tags" Target="../tags/tag24.xml"/><Relationship Id="rId32" Type="http://schemas.openxmlformats.org/officeDocument/2006/relationships/tags" Target="../tags/tag32.xml"/><Relationship Id="rId37" Type="http://schemas.openxmlformats.org/officeDocument/2006/relationships/tags" Target="../tags/tag37.xml"/><Relationship Id="rId40" Type="http://schemas.openxmlformats.org/officeDocument/2006/relationships/tags" Target="../tags/tag40.xml"/><Relationship Id="rId45" Type="http://schemas.openxmlformats.org/officeDocument/2006/relationships/tags" Target="../tags/tag45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openxmlformats.org/officeDocument/2006/relationships/tags" Target="../tags/tag28.xml"/><Relationship Id="rId36" Type="http://schemas.openxmlformats.org/officeDocument/2006/relationships/tags" Target="../tags/tag36.xml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31" Type="http://schemas.openxmlformats.org/officeDocument/2006/relationships/tags" Target="../tags/tag31.xml"/><Relationship Id="rId44" Type="http://schemas.openxmlformats.org/officeDocument/2006/relationships/tags" Target="../tags/tag44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tags" Target="../tags/tag22.xml"/><Relationship Id="rId27" Type="http://schemas.openxmlformats.org/officeDocument/2006/relationships/tags" Target="../tags/tag27.xml"/><Relationship Id="rId30" Type="http://schemas.openxmlformats.org/officeDocument/2006/relationships/tags" Target="../tags/tag30.xml"/><Relationship Id="rId35" Type="http://schemas.openxmlformats.org/officeDocument/2006/relationships/tags" Target="../tags/tag35.xml"/><Relationship Id="rId43" Type="http://schemas.openxmlformats.org/officeDocument/2006/relationships/tags" Target="../tags/tag43.xml"/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tags" Target="../tags/tag25.xml"/><Relationship Id="rId33" Type="http://schemas.openxmlformats.org/officeDocument/2006/relationships/tags" Target="../tags/tag33.xml"/><Relationship Id="rId38" Type="http://schemas.openxmlformats.org/officeDocument/2006/relationships/tags" Target="../tags/tag38.xml"/><Relationship Id="rId46" Type="http://schemas.openxmlformats.org/officeDocument/2006/relationships/slideLayout" Target="../slideLayouts/slideLayout9.xml"/><Relationship Id="rId20" Type="http://schemas.openxmlformats.org/officeDocument/2006/relationships/tags" Target="../tags/tag20.xml"/><Relationship Id="rId41" Type="http://schemas.openxmlformats.org/officeDocument/2006/relationships/tags" Target="../tags/tag4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5.sv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svg"/><Relationship Id="rId4" Type="http://schemas.openxmlformats.org/officeDocument/2006/relationships/image" Target="../media/image13.svg"/><Relationship Id="rId9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4"/>
          <p:cNvSpPr/>
          <p:nvPr/>
        </p:nvSpPr>
        <p:spPr>
          <a:xfrm>
            <a:off x="1561377" y="2548298"/>
            <a:ext cx="907951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4800"/>
              </a:lnSpc>
              <a:spcAft>
                <a:spcPts val="1000"/>
              </a:spcAft>
            </a:pPr>
            <a:r>
              <a:rPr lang="zh-CN" altLang="en-US" sz="4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Open Sans" panose="020B0606030504020204" pitchFamily="34" charset="0"/>
              </a:rPr>
              <a:t>微导购平台化技术评审</a:t>
            </a:r>
            <a:endParaRPr lang="en-US" altLang="zh-CN" sz="4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Open Sans" panose="020B0606030504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7F858BD-4039-C5C3-7F2F-C2962CBD1B8F}"/>
              </a:ext>
            </a:extLst>
          </p:cNvPr>
          <p:cNvSpPr txBox="1"/>
          <p:nvPr/>
        </p:nvSpPr>
        <p:spPr>
          <a:xfrm>
            <a:off x="1309607" y="1994277"/>
            <a:ext cx="743918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kumimoji="1" lang="zh-CN" altLang="en-US" sz="28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项目架构及部署</a:t>
            </a:r>
            <a:endParaRPr kumimoji="1" lang="en-US" altLang="zh-CN" sz="28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buFont typeface="Wingdings" pitchFamily="2" charset="2"/>
              <a:buChar char="Ø"/>
            </a:pPr>
            <a:endParaRPr kumimoji="1" lang="en-US" altLang="zh-CN" sz="28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kumimoji="1" lang="zh-CN" altLang="en-US" sz="28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安全设计方案</a:t>
            </a:r>
            <a:endParaRPr kumimoji="1" lang="en-US" altLang="zh-CN" sz="28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buFont typeface="Wingdings" pitchFamily="2" charset="2"/>
              <a:buChar char="Ø"/>
            </a:pPr>
            <a:endParaRPr kumimoji="1" lang="en-US" altLang="zh-CN" sz="28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kumimoji="1" lang="zh-CN" altLang="en-US" sz="28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技术栈</a:t>
            </a:r>
            <a:endParaRPr kumimoji="1" lang="en-US" altLang="zh-CN" sz="28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870320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47119" y="194046"/>
            <a:ext cx="441786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业务架构</a:t>
            </a:r>
          </a:p>
        </p:txBody>
      </p:sp>
      <p:sp>
        <p:nvSpPr>
          <p:cNvPr id="38" name="矩形 37"/>
          <p:cNvSpPr/>
          <p:nvPr>
            <p:custDataLst>
              <p:tags r:id="rId1"/>
            </p:custDataLst>
          </p:nvPr>
        </p:nvSpPr>
        <p:spPr>
          <a:xfrm>
            <a:off x="1128355" y="1891030"/>
            <a:ext cx="10679430" cy="535940"/>
          </a:xfrm>
          <a:prstGeom prst="rect">
            <a:avLst/>
          </a:prstGeom>
          <a:solidFill>
            <a:srgbClr val="BE0002"/>
          </a:solidFill>
          <a:ln>
            <a:solidFill>
              <a:srgbClr val="C00000"/>
            </a:solidFill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智慧导购平台（多租户）</a:t>
            </a:r>
          </a:p>
        </p:txBody>
      </p:sp>
      <p:sp>
        <p:nvSpPr>
          <p:cNvPr id="42" name="矩形 41"/>
          <p:cNvSpPr/>
          <p:nvPr>
            <p:custDataLst>
              <p:tags r:id="rId2"/>
            </p:custDataLst>
          </p:nvPr>
        </p:nvSpPr>
        <p:spPr>
          <a:xfrm>
            <a:off x="2303105" y="2523490"/>
            <a:ext cx="9504680" cy="576580"/>
          </a:xfrm>
          <a:prstGeom prst="rect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DF1F3"/>
                </a:solidFill>
              </a14:hiddenFill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endParaRPr lang="zh-CN" altLang="en-US" sz="120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矩形 42"/>
          <p:cNvSpPr/>
          <p:nvPr>
            <p:custDataLst>
              <p:tags r:id="rId3"/>
            </p:custDataLst>
          </p:nvPr>
        </p:nvSpPr>
        <p:spPr>
          <a:xfrm>
            <a:off x="2388830" y="2644775"/>
            <a:ext cx="1395095" cy="325755"/>
          </a:xfrm>
          <a:prstGeom prst="rect">
            <a:avLst/>
          </a:prstGeom>
          <a:solidFill>
            <a:srgbClr val="FFE1E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安踏</a:t>
            </a:r>
          </a:p>
        </p:txBody>
      </p:sp>
      <p:sp>
        <p:nvSpPr>
          <p:cNvPr id="44" name="矩形 43"/>
          <p:cNvSpPr/>
          <p:nvPr>
            <p:custDataLst>
              <p:tags r:id="rId4"/>
            </p:custDataLst>
          </p:nvPr>
        </p:nvSpPr>
        <p:spPr>
          <a:xfrm>
            <a:off x="3967440" y="2644775"/>
            <a:ext cx="1395095" cy="325755"/>
          </a:xfrm>
          <a:prstGeom prst="rect">
            <a:avLst/>
          </a:prstGeom>
          <a:solidFill>
            <a:srgbClr val="FFE1E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斐乐</a:t>
            </a:r>
          </a:p>
        </p:txBody>
      </p:sp>
      <p:sp>
        <p:nvSpPr>
          <p:cNvPr id="45" name="矩形 44"/>
          <p:cNvSpPr/>
          <p:nvPr>
            <p:custDataLst>
              <p:tags r:id="rId5"/>
            </p:custDataLst>
          </p:nvPr>
        </p:nvSpPr>
        <p:spPr>
          <a:xfrm>
            <a:off x="5546050" y="2644775"/>
            <a:ext cx="1395095" cy="325755"/>
          </a:xfrm>
          <a:prstGeom prst="rect">
            <a:avLst/>
          </a:prstGeom>
          <a:solidFill>
            <a:srgbClr val="FFE1E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可隆</a:t>
            </a:r>
          </a:p>
        </p:txBody>
      </p:sp>
      <p:sp>
        <p:nvSpPr>
          <p:cNvPr id="46" name="矩形 45"/>
          <p:cNvSpPr/>
          <p:nvPr>
            <p:custDataLst>
              <p:tags r:id="rId6"/>
            </p:custDataLst>
          </p:nvPr>
        </p:nvSpPr>
        <p:spPr>
          <a:xfrm>
            <a:off x="7146250" y="2644775"/>
            <a:ext cx="1395095" cy="325755"/>
          </a:xfrm>
          <a:prstGeom prst="rect">
            <a:avLst/>
          </a:prstGeom>
          <a:solidFill>
            <a:srgbClr val="FFE1E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迪桑特</a:t>
            </a:r>
          </a:p>
        </p:txBody>
      </p:sp>
      <p:sp>
        <p:nvSpPr>
          <p:cNvPr id="47" name="矩形 46"/>
          <p:cNvSpPr/>
          <p:nvPr>
            <p:custDataLst>
              <p:tags r:id="rId7"/>
            </p:custDataLst>
          </p:nvPr>
        </p:nvSpPr>
        <p:spPr>
          <a:xfrm>
            <a:off x="8724860" y="2644775"/>
            <a:ext cx="1395095" cy="325755"/>
          </a:xfrm>
          <a:prstGeom prst="rect">
            <a:avLst/>
          </a:prstGeom>
          <a:solidFill>
            <a:srgbClr val="FFE1E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982</a:t>
            </a:r>
          </a:p>
        </p:txBody>
      </p:sp>
      <p:sp>
        <p:nvSpPr>
          <p:cNvPr id="48" name="矩形 47"/>
          <p:cNvSpPr/>
          <p:nvPr>
            <p:custDataLst>
              <p:tags r:id="rId8"/>
            </p:custDataLst>
          </p:nvPr>
        </p:nvSpPr>
        <p:spPr>
          <a:xfrm>
            <a:off x="10303470" y="2644775"/>
            <a:ext cx="1395095" cy="325755"/>
          </a:xfrm>
          <a:prstGeom prst="rect">
            <a:avLst/>
          </a:prstGeom>
          <a:solidFill>
            <a:srgbClr val="FFE1E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其他</a:t>
            </a:r>
          </a:p>
        </p:txBody>
      </p:sp>
      <p:sp>
        <p:nvSpPr>
          <p:cNvPr id="49" name="矩形 48"/>
          <p:cNvSpPr/>
          <p:nvPr>
            <p:custDataLst>
              <p:tags r:id="rId9"/>
            </p:custDataLst>
          </p:nvPr>
        </p:nvSpPr>
        <p:spPr>
          <a:xfrm>
            <a:off x="1128355" y="2523490"/>
            <a:ext cx="1124585" cy="57594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品牌</a:t>
            </a:r>
          </a:p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特性层</a:t>
            </a:r>
          </a:p>
        </p:txBody>
      </p:sp>
      <p:sp>
        <p:nvSpPr>
          <p:cNvPr id="51" name="矩形 50"/>
          <p:cNvSpPr/>
          <p:nvPr>
            <p:custDataLst>
              <p:tags r:id="rId10"/>
            </p:custDataLst>
          </p:nvPr>
        </p:nvSpPr>
        <p:spPr>
          <a:xfrm>
            <a:off x="1128355" y="3226435"/>
            <a:ext cx="1124585" cy="269525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通用平台层</a:t>
            </a:r>
          </a:p>
        </p:txBody>
      </p:sp>
      <p:sp>
        <p:nvSpPr>
          <p:cNvPr id="52" name="矩形 51"/>
          <p:cNvSpPr/>
          <p:nvPr>
            <p:custDataLst>
              <p:tags r:id="rId11"/>
            </p:custDataLst>
          </p:nvPr>
        </p:nvSpPr>
        <p:spPr>
          <a:xfrm>
            <a:off x="2388831" y="3223720"/>
            <a:ext cx="2226580" cy="767715"/>
          </a:xfrm>
          <a:prstGeom prst="rect">
            <a:avLst/>
          </a:prstGeom>
          <a:solidFill>
            <a:srgbClr val="FFE1E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zh-CN" altLang="en-US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任务及营销管理</a:t>
            </a:r>
          </a:p>
        </p:txBody>
      </p:sp>
      <p:sp>
        <p:nvSpPr>
          <p:cNvPr id="53" name="矩形 52"/>
          <p:cNvSpPr/>
          <p:nvPr>
            <p:custDataLst>
              <p:tags r:id="rId12"/>
            </p:custDataLst>
          </p:nvPr>
        </p:nvSpPr>
        <p:spPr>
          <a:xfrm>
            <a:off x="7361557" y="3223084"/>
            <a:ext cx="1808500" cy="768985"/>
          </a:xfrm>
          <a:prstGeom prst="rect">
            <a:avLst/>
          </a:prstGeom>
          <a:solidFill>
            <a:srgbClr val="FFE1E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zh-CN" altLang="en-US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导购资源</a:t>
            </a:r>
          </a:p>
        </p:txBody>
      </p:sp>
      <p:sp>
        <p:nvSpPr>
          <p:cNvPr id="54" name="矩形 53"/>
          <p:cNvSpPr/>
          <p:nvPr>
            <p:custDataLst>
              <p:tags r:id="rId13"/>
            </p:custDataLst>
          </p:nvPr>
        </p:nvSpPr>
        <p:spPr>
          <a:xfrm>
            <a:off x="4756745" y="3223402"/>
            <a:ext cx="2484028" cy="768350"/>
          </a:xfrm>
          <a:prstGeom prst="rect">
            <a:avLst/>
          </a:prstGeom>
          <a:solidFill>
            <a:srgbClr val="FFE1E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zh-CN" altLang="en-US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导购成长</a:t>
            </a:r>
          </a:p>
        </p:txBody>
      </p:sp>
      <p:sp>
        <p:nvSpPr>
          <p:cNvPr id="56" name="矩形 55"/>
          <p:cNvSpPr/>
          <p:nvPr>
            <p:custDataLst>
              <p:tags r:id="rId14"/>
            </p:custDataLst>
          </p:nvPr>
        </p:nvSpPr>
        <p:spPr>
          <a:xfrm>
            <a:off x="2498552" y="3538133"/>
            <a:ext cx="895985" cy="33337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任务管理</a:t>
            </a:r>
          </a:p>
        </p:txBody>
      </p:sp>
      <p:sp>
        <p:nvSpPr>
          <p:cNvPr id="57" name="矩形 56"/>
          <p:cNvSpPr/>
          <p:nvPr>
            <p:custDataLst>
              <p:tags r:id="rId15"/>
            </p:custDataLst>
          </p:nvPr>
        </p:nvSpPr>
        <p:spPr>
          <a:xfrm>
            <a:off x="3599240" y="3538133"/>
            <a:ext cx="895350" cy="33337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营销管理</a:t>
            </a:r>
          </a:p>
        </p:txBody>
      </p:sp>
      <p:sp>
        <p:nvSpPr>
          <p:cNvPr id="59" name="矩形 58"/>
          <p:cNvSpPr/>
          <p:nvPr>
            <p:custDataLst>
              <p:tags r:id="rId16"/>
            </p:custDataLst>
          </p:nvPr>
        </p:nvSpPr>
        <p:spPr>
          <a:xfrm>
            <a:off x="4966263" y="3461060"/>
            <a:ext cx="895985" cy="216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导购等级</a:t>
            </a:r>
          </a:p>
        </p:txBody>
      </p:sp>
      <p:sp>
        <p:nvSpPr>
          <p:cNvPr id="61" name="矩形 60"/>
          <p:cNvSpPr/>
          <p:nvPr>
            <p:custDataLst>
              <p:tags r:id="rId17"/>
            </p:custDataLst>
          </p:nvPr>
        </p:nvSpPr>
        <p:spPr>
          <a:xfrm>
            <a:off x="4975597" y="3738885"/>
            <a:ext cx="895350" cy="216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导购积分</a:t>
            </a:r>
          </a:p>
        </p:txBody>
      </p:sp>
      <p:sp>
        <p:nvSpPr>
          <p:cNvPr id="64" name="矩形 63"/>
          <p:cNvSpPr/>
          <p:nvPr>
            <p:custDataLst>
              <p:tags r:id="rId18"/>
            </p:custDataLst>
          </p:nvPr>
        </p:nvSpPr>
        <p:spPr>
          <a:xfrm>
            <a:off x="6068096" y="3474832"/>
            <a:ext cx="899795" cy="216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导购商城</a:t>
            </a:r>
          </a:p>
        </p:txBody>
      </p:sp>
      <p:sp>
        <p:nvSpPr>
          <p:cNvPr id="69" name="矩形 68"/>
          <p:cNvSpPr/>
          <p:nvPr>
            <p:custDataLst>
              <p:tags r:id="rId19"/>
            </p:custDataLst>
          </p:nvPr>
        </p:nvSpPr>
        <p:spPr>
          <a:xfrm>
            <a:off x="7434227" y="3507085"/>
            <a:ext cx="625788" cy="38800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优惠券管理</a:t>
            </a:r>
          </a:p>
        </p:txBody>
      </p:sp>
      <p:sp>
        <p:nvSpPr>
          <p:cNvPr id="74" name="矩形 73"/>
          <p:cNvSpPr/>
          <p:nvPr>
            <p:custDataLst>
              <p:tags r:id="rId20"/>
            </p:custDataLst>
          </p:nvPr>
        </p:nvSpPr>
        <p:spPr>
          <a:xfrm>
            <a:off x="8252348" y="3508127"/>
            <a:ext cx="625788" cy="39914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存量会员分配</a:t>
            </a:r>
          </a:p>
        </p:txBody>
      </p:sp>
      <p:sp>
        <p:nvSpPr>
          <p:cNvPr id="85" name="矩形 84"/>
          <p:cNvSpPr/>
          <p:nvPr>
            <p:custDataLst>
              <p:tags r:id="rId21"/>
            </p:custDataLst>
          </p:nvPr>
        </p:nvSpPr>
        <p:spPr>
          <a:xfrm>
            <a:off x="8637502" y="4088891"/>
            <a:ext cx="3167029" cy="34073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标准化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SPI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6" name="矩形 85"/>
          <p:cNvSpPr/>
          <p:nvPr>
            <p:custDataLst>
              <p:tags r:id="rId22"/>
            </p:custDataLst>
          </p:nvPr>
        </p:nvSpPr>
        <p:spPr>
          <a:xfrm>
            <a:off x="2389129" y="4085419"/>
            <a:ext cx="3059938" cy="34420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统一接口层</a:t>
            </a:r>
          </a:p>
        </p:txBody>
      </p:sp>
      <p:sp>
        <p:nvSpPr>
          <p:cNvPr id="87" name="矩形 86"/>
          <p:cNvSpPr/>
          <p:nvPr>
            <p:custDataLst>
              <p:tags r:id="rId23"/>
            </p:custDataLst>
          </p:nvPr>
        </p:nvSpPr>
        <p:spPr>
          <a:xfrm>
            <a:off x="5499001" y="4087332"/>
            <a:ext cx="3059470" cy="34420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第三方集成标准化</a:t>
            </a:r>
          </a:p>
        </p:txBody>
      </p:sp>
      <p:sp>
        <p:nvSpPr>
          <p:cNvPr id="88" name="矩形 87"/>
          <p:cNvSpPr/>
          <p:nvPr>
            <p:custDataLst>
              <p:tags r:id="rId24"/>
            </p:custDataLst>
          </p:nvPr>
        </p:nvSpPr>
        <p:spPr>
          <a:xfrm>
            <a:off x="2388830" y="4523146"/>
            <a:ext cx="1758950" cy="1398533"/>
          </a:xfrm>
          <a:prstGeom prst="rect">
            <a:avLst/>
          </a:prstGeom>
          <a:solidFill>
            <a:srgbClr val="FDDFE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客户中心</a:t>
            </a:r>
          </a:p>
        </p:txBody>
      </p:sp>
      <p:sp>
        <p:nvSpPr>
          <p:cNvPr id="89" name="矩形 88"/>
          <p:cNvSpPr/>
          <p:nvPr>
            <p:custDataLst>
              <p:tags r:id="rId25"/>
            </p:custDataLst>
          </p:nvPr>
        </p:nvSpPr>
        <p:spPr>
          <a:xfrm>
            <a:off x="4279225" y="4523146"/>
            <a:ext cx="1758950" cy="1398533"/>
          </a:xfrm>
          <a:prstGeom prst="rect">
            <a:avLst/>
          </a:prstGeom>
          <a:solidFill>
            <a:srgbClr val="FDDFE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导购中心</a:t>
            </a:r>
          </a:p>
        </p:txBody>
      </p:sp>
      <p:sp>
        <p:nvSpPr>
          <p:cNvPr id="91" name="矩形 90"/>
          <p:cNvSpPr/>
          <p:nvPr>
            <p:custDataLst>
              <p:tags r:id="rId26"/>
            </p:custDataLst>
          </p:nvPr>
        </p:nvSpPr>
        <p:spPr>
          <a:xfrm>
            <a:off x="6169620" y="4526321"/>
            <a:ext cx="1758950" cy="1395358"/>
          </a:xfrm>
          <a:prstGeom prst="rect">
            <a:avLst/>
          </a:prstGeom>
          <a:solidFill>
            <a:srgbClr val="FDDFE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任务中心</a:t>
            </a:r>
          </a:p>
        </p:txBody>
      </p:sp>
      <p:sp>
        <p:nvSpPr>
          <p:cNvPr id="13" name="矩形 12"/>
          <p:cNvSpPr/>
          <p:nvPr>
            <p:custDataLst>
              <p:tags r:id="rId27"/>
            </p:custDataLst>
          </p:nvPr>
        </p:nvSpPr>
        <p:spPr>
          <a:xfrm>
            <a:off x="8060015" y="4528861"/>
            <a:ext cx="1758950" cy="1392818"/>
          </a:xfrm>
          <a:prstGeom prst="rect">
            <a:avLst/>
          </a:prstGeom>
          <a:solidFill>
            <a:srgbClr val="FDDFE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内容中心</a:t>
            </a:r>
          </a:p>
        </p:txBody>
      </p:sp>
      <p:sp>
        <p:nvSpPr>
          <p:cNvPr id="14" name="矩形 13"/>
          <p:cNvSpPr/>
          <p:nvPr>
            <p:custDataLst>
              <p:tags r:id="rId28"/>
            </p:custDataLst>
          </p:nvPr>
        </p:nvSpPr>
        <p:spPr>
          <a:xfrm>
            <a:off x="9950410" y="4528861"/>
            <a:ext cx="1758950" cy="1392818"/>
          </a:xfrm>
          <a:prstGeom prst="rect">
            <a:avLst/>
          </a:prstGeom>
          <a:solidFill>
            <a:srgbClr val="FDDFE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支撑中心</a:t>
            </a:r>
          </a:p>
        </p:txBody>
      </p:sp>
      <p:sp>
        <p:nvSpPr>
          <p:cNvPr id="15" name="矩形 14"/>
          <p:cNvSpPr/>
          <p:nvPr>
            <p:custDataLst>
              <p:tags r:id="rId29"/>
            </p:custDataLst>
          </p:nvPr>
        </p:nvSpPr>
        <p:spPr>
          <a:xfrm>
            <a:off x="1128355" y="6015205"/>
            <a:ext cx="1124585" cy="54673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数据层</a:t>
            </a:r>
          </a:p>
        </p:txBody>
      </p:sp>
      <p:sp>
        <p:nvSpPr>
          <p:cNvPr id="16" name="矩形 15"/>
          <p:cNvSpPr/>
          <p:nvPr>
            <p:custDataLst>
              <p:tags r:id="rId30"/>
            </p:custDataLst>
          </p:nvPr>
        </p:nvSpPr>
        <p:spPr>
          <a:xfrm>
            <a:off x="2332315" y="6015205"/>
            <a:ext cx="9475470" cy="546100"/>
          </a:xfrm>
          <a:prstGeom prst="rect">
            <a:avLst/>
          </a:prstGeom>
          <a:solidFill>
            <a:srgbClr val="FDDF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顾客数据平台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全域</a:t>
            </a:r>
            <a:r>
              <a:rPr lang="en-US" altLang="zh-CN" sz="1000" b="1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OneId</a:t>
            </a:r>
            <a:r>
              <a:rPr lang="en-US" altLang="zh-CN" sz="1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触达回流</a:t>
            </a:r>
            <a:r>
              <a:rPr lang="en-US" altLang="zh-CN" sz="1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二方数据</a:t>
            </a:r>
            <a:r>
              <a:rPr lang="en-US" altLang="zh-CN" sz="1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三方数据</a:t>
            </a:r>
            <a:r>
              <a:rPr lang="en-US" altLang="zh-CN" sz="1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公域标签</a:t>
            </a:r>
            <a:r>
              <a:rPr lang="en-US" altLang="zh-CN" sz="1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  <p:sp>
        <p:nvSpPr>
          <p:cNvPr id="17" name="矩形 16"/>
          <p:cNvSpPr/>
          <p:nvPr>
            <p:custDataLst>
              <p:tags r:id="rId31"/>
            </p:custDataLst>
          </p:nvPr>
        </p:nvSpPr>
        <p:spPr>
          <a:xfrm>
            <a:off x="477520" y="1043750"/>
            <a:ext cx="600710" cy="5518228"/>
          </a:xfrm>
          <a:prstGeom prst="rect">
            <a:avLst/>
          </a:prstGeom>
          <a:solidFill>
            <a:srgbClr val="C00000">
              <a:alpha val="10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架</a:t>
            </a:r>
          </a:p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构</a:t>
            </a:r>
          </a:p>
        </p:txBody>
      </p:sp>
      <p:sp>
        <p:nvSpPr>
          <p:cNvPr id="19" name="矩形 70"/>
          <p:cNvSpPr/>
          <p:nvPr>
            <p:custDataLst>
              <p:tags r:id="rId32"/>
            </p:custDataLst>
          </p:nvPr>
        </p:nvSpPr>
        <p:spPr>
          <a:xfrm>
            <a:off x="2306977" y="1059005"/>
            <a:ext cx="9478645" cy="697865"/>
          </a:xfrm>
          <a:prstGeom prst="rect">
            <a:avLst/>
          </a:prstGeom>
          <a:solidFill>
            <a:srgbClr val="FDF1F3"/>
          </a:solidFill>
          <a:ln>
            <a:noFill/>
          </a:ln>
        </p:spPr>
        <p:txBody>
          <a:bodyPr rtlCol="0" anchor="ctr">
            <a:noAutofit/>
          </a:bodyPr>
          <a:lstStyle/>
          <a:p>
            <a:pPr algn="ctr" defTabSz="914400">
              <a:defRPr/>
            </a:pPr>
            <a:endParaRPr kumimoji="1" lang="zh-CN" altLang="en-US" sz="1600" b="1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>
            <p:custDataLst>
              <p:tags r:id="rId33"/>
            </p:custDataLst>
          </p:nvPr>
        </p:nvSpPr>
        <p:spPr>
          <a:xfrm>
            <a:off x="2359047" y="1411430"/>
            <a:ext cx="1821180" cy="272415"/>
          </a:xfrm>
          <a:prstGeom prst="rect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/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企业微信</a:t>
            </a:r>
          </a:p>
        </p:txBody>
      </p:sp>
      <p:sp>
        <p:nvSpPr>
          <p:cNvPr id="27" name="矩形 26"/>
          <p:cNvSpPr/>
          <p:nvPr>
            <p:custDataLst>
              <p:tags r:id="rId34"/>
            </p:custDataLst>
          </p:nvPr>
        </p:nvSpPr>
        <p:spPr>
          <a:xfrm>
            <a:off x="4460039" y="1411430"/>
            <a:ext cx="1153160" cy="272415"/>
          </a:xfrm>
          <a:prstGeom prst="rect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/>
            <a:r>
              <a:rPr lang="zh-CN" altLang="en-US" sz="1200">
                <a:solidFill>
                  <a:srgbClr val="BE000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</a:t>
            </a:r>
          </a:p>
        </p:txBody>
      </p:sp>
      <p:sp>
        <p:nvSpPr>
          <p:cNvPr id="28" name="矩形 27"/>
          <p:cNvSpPr/>
          <p:nvPr>
            <p:custDataLst>
              <p:tags r:id="rId35"/>
            </p:custDataLst>
          </p:nvPr>
        </p:nvSpPr>
        <p:spPr>
          <a:xfrm>
            <a:off x="5893011" y="1411430"/>
            <a:ext cx="1153160" cy="272415"/>
          </a:xfrm>
          <a:prstGeom prst="rect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/>
            <a:r>
              <a:rPr lang="en-US" altLang="zh-CN" sz="1200">
                <a:solidFill>
                  <a:srgbClr val="BE000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POS</a:t>
            </a:r>
          </a:p>
        </p:txBody>
      </p:sp>
      <p:sp>
        <p:nvSpPr>
          <p:cNvPr id="29" name="矩形 28"/>
          <p:cNvSpPr/>
          <p:nvPr>
            <p:custDataLst>
              <p:tags r:id="rId36"/>
            </p:custDataLst>
          </p:nvPr>
        </p:nvSpPr>
        <p:spPr>
          <a:xfrm>
            <a:off x="7325983" y="1411430"/>
            <a:ext cx="1153160" cy="271780"/>
          </a:xfrm>
          <a:prstGeom prst="rect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/>
            <a:r>
              <a:rPr lang="zh-CN" altLang="en-US" sz="1200">
                <a:solidFill>
                  <a:srgbClr val="BE000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官网</a:t>
            </a:r>
          </a:p>
        </p:txBody>
      </p:sp>
      <p:sp>
        <p:nvSpPr>
          <p:cNvPr id="33" name="矩形 32"/>
          <p:cNvSpPr/>
          <p:nvPr>
            <p:custDataLst>
              <p:tags r:id="rId37"/>
            </p:custDataLst>
          </p:nvPr>
        </p:nvSpPr>
        <p:spPr>
          <a:xfrm>
            <a:off x="2359047" y="1160605"/>
            <a:ext cx="9339518" cy="165793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私域</a:t>
            </a:r>
          </a:p>
        </p:txBody>
      </p:sp>
      <p:sp>
        <p:nvSpPr>
          <p:cNvPr id="35" name="矩形 34"/>
          <p:cNvSpPr/>
          <p:nvPr>
            <p:custDataLst>
              <p:tags r:id="rId38"/>
            </p:custDataLst>
          </p:nvPr>
        </p:nvSpPr>
        <p:spPr>
          <a:xfrm>
            <a:off x="8758955" y="1411430"/>
            <a:ext cx="1153160" cy="271780"/>
          </a:xfrm>
          <a:prstGeom prst="rect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/>
            <a:r>
              <a:rPr lang="zh-CN" altLang="en-US" sz="1200">
                <a:solidFill>
                  <a:srgbClr val="BE000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社群小程序</a:t>
            </a:r>
          </a:p>
        </p:txBody>
      </p:sp>
      <p:sp>
        <p:nvSpPr>
          <p:cNvPr id="37" name="矩形 36"/>
          <p:cNvSpPr/>
          <p:nvPr>
            <p:custDataLst>
              <p:tags r:id="rId39"/>
            </p:custDataLst>
          </p:nvPr>
        </p:nvSpPr>
        <p:spPr>
          <a:xfrm>
            <a:off x="1128355" y="1059061"/>
            <a:ext cx="1124585" cy="69782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前台应用</a:t>
            </a:r>
          </a:p>
        </p:txBody>
      </p:sp>
      <p:grpSp>
        <p:nvGrpSpPr>
          <p:cNvPr id="11" name="组合 10"/>
          <p:cNvGrpSpPr/>
          <p:nvPr userDrawn="1"/>
        </p:nvGrpSpPr>
        <p:grpSpPr>
          <a:xfrm>
            <a:off x="2715260" y="4938337"/>
            <a:ext cx="1092200" cy="798830"/>
            <a:chOff x="4276" y="7826"/>
            <a:chExt cx="1720" cy="1258"/>
          </a:xfrm>
        </p:grpSpPr>
        <p:sp>
          <p:nvSpPr>
            <p:cNvPr id="26" name="圆角矩形 25"/>
            <p:cNvSpPr/>
            <p:nvPr/>
          </p:nvSpPr>
          <p:spPr>
            <a:xfrm>
              <a:off x="4276" y="7826"/>
              <a:ext cx="1720" cy="381"/>
            </a:xfrm>
            <a:prstGeom prst="roundRect">
              <a:avLst/>
            </a:prstGeom>
            <a:solidFill>
              <a:srgbClr val="C00000"/>
            </a:solidFill>
            <a:ln w="12700" cap="flat" cmpd="sng" algn="ctr">
              <a:solidFill>
                <a:srgbClr val="C00000">
                  <a:alpha val="100000"/>
                </a:srgbClr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zh-CN" altLang="en-US" sz="80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好友管理</a:t>
              </a:r>
            </a:p>
          </p:txBody>
        </p:sp>
        <p:sp>
          <p:nvSpPr>
            <p:cNvPr id="269" name="圆角矩形 268"/>
            <p:cNvSpPr/>
            <p:nvPr/>
          </p:nvSpPr>
          <p:spPr>
            <a:xfrm>
              <a:off x="4276" y="8262"/>
              <a:ext cx="1720" cy="381"/>
            </a:xfrm>
            <a:prstGeom prst="round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80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绑定关系</a:t>
              </a:r>
            </a:p>
          </p:txBody>
        </p:sp>
        <p:sp>
          <p:nvSpPr>
            <p:cNvPr id="270" name="圆角矩形 269"/>
            <p:cNvSpPr/>
            <p:nvPr/>
          </p:nvSpPr>
          <p:spPr>
            <a:xfrm>
              <a:off x="4276" y="8704"/>
              <a:ext cx="1720" cy="381"/>
            </a:xfrm>
            <a:prstGeom prst="round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80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入离职分配</a:t>
              </a:r>
            </a:p>
          </p:txBody>
        </p:sp>
      </p:grpSp>
      <p:grpSp>
        <p:nvGrpSpPr>
          <p:cNvPr id="10" name="组合 9"/>
          <p:cNvGrpSpPr/>
          <p:nvPr userDrawn="1"/>
        </p:nvGrpSpPr>
        <p:grpSpPr>
          <a:xfrm>
            <a:off x="4615410" y="4920615"/>
            <a:ext cx="1092200" cy="816610"/>
            <a:chOff x="7342" y="7749"/>
            <a:chExt cx="1720" cy="1286"/>
          </a:xfrm>
        </p:grpSpPr>
        <p:sp>
          <p:nvSpPr>
            <p:cNvPr id="271" name="圆角矩形 270"/>
            <p:cNvSpPr/>
            <p:nvPr/>
          </p:nvSpPr>
          <p:spPr>
            <a:xfrm>
              <a:off x="7342" y="7749"/>
              <a:ext cx="1720" cy="381"/>
            </a:xfrm>
            <a:prstGeom prst="roundRect">
              <a:avLst/>
            </a:prstGeom>
            <a:solidFill>
              <a:srgbClr val="C00000">
                <a:alpha val="10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zh-CN" altLang="en-US" sz="80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导购积分</a:t>
              </a:r>
            </a:p>
          </p:txBody>
        </p:sp>
        <p:sp>
          <p:nvSpPr>
            <p:cNvPr id="272" name="圆角矩形 271"/>
            <p:cNvSpPr/>
            <p:nvPr/>
          </p:nvSpPr>
          <p:spPr>
            <a:xfrm>
              <a:off x="7342" y="8190"/>
              <a:ext cx="1720" cy="381"/>
            </a:xfrm>
            <a:prstGeom prst="round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80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导购商城</a:t>
              </a:r>
            </a:p>
          </p:txBody>
        </p:sp>
        <p:sp>
          <p:nvSpPr>
            <p:cNvPr id="273" name="圆角矩形 272"/>
            <p:cNvSpPr/>
            <p:nvPr/>
          </p:nvSpPr>
          <p:spPr>
            <a:xfrm>
              <a:off x="7342" y="8655"/>
              <a:ext cx="1720" cy="381"/>
            </a:xfrm>
            <a:prstGeom prst="roundRect">
              <a:avLst/>
            </a:prstGeom>
            <a:solidFill>
              <a:srgbClr val="C00000">
                <a:alpha val="10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80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导购等级</a:t>
              </a:r>
            </a:p>
          </p:txBody>
        </p:sp>
      </p:grpSp>
      <p:grpSp>
        <p:nvGrpSpPr>
          <p:cNvPr id="9" name="组合 8"/>
          <p:cNvGrpSpPr/>
          <p:nvPr userDrawn="1"/>
        </p:nvGrpSpPr>
        <p:grpSpPr>
          <a:xfrm>
            <a:off x="6529358" y="4909820"/>
            <a:ext cx="1092200" cy="804545"/>
            <a:chOff x="10307" y="7732"/>
            <a:chExt cx="1720" cy="1267"/>
          </a:xfrm>
        </p:grpSpPr>
        <p:sp>
          <p:nvSpPr>
            <p:cNvPr id="274" name="圆角矩形 273"/>
            <p:cNvSpPr/>
            <p:nvPr/>
          </p:nvSpPr>
          <p:spPr>
            <a:xfrm>
              <a:off x="10307" y="7732"/>
              <a:ext cx="1720" cy="381"/>
            </a:xfrm>
            <a:prstGeom prst="round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zh-CN" altLang="en-US" sz="80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任务配置</a:t>
              </a:r>
            </a:p>
          </p:txBody>
        </p:sp>
        <p:sp>
          <p:nvSpPr>
            <p:cNvPr id="275" name="圆角矩形 274"/>
            <p:cNvSpPr/>
            <p:nvPr/>
          </p:nvSpPr>
          <p:spPr>
            <a:xfrm>
              <a:off x="10307" y="8190"/>
              <a:ext cx="1720" cy="381"/>
            </a:xfrm>
            <a:prstGeom prst="round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80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任务分配管理</a:t>
              </a:r>
            </a:p>
          </p:txBody>
        </p:sp>
        <p:sp>
          <p:nvSpPr>
            <p:cNvPr id="3" name="圆角矩形 2"/>
            <p:cNvSpPr/>
            <p:nvPr/>
          </p:nvSpPr>
          <p:spPr>
            <a:xfrm>
              <a:off x="10307" y="8618"/>
              <a:ext cx="1720" cy="381"/>
            </a:xfrm>
            <a:prstGeom prst="round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80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任务类型管理</a:t>
              </a:r>
            </a:p>
          </p:txBody>
        </p:sp>
      </p:grpSp>
      <p:grpSp>
        <p:nvGrpSpPr>
          <p:cNvPr id="8" name="组合 7"/>
          <p:cNvGrpSpPr/>
          <p:nvPr userDrawn="1"/>
        </p:nvGrpSpPr>
        <p:grpSpPr>
          <a:xfrm>
            <a:off x="8425757" y="4887595"/>
            <a:ext cx="1092200" cy="561340"/>
            <a:chOff x="13318" y="7697"/>
            <a:chExt cx="1720" cy="884"/>
          </a:xfrm>
        </p:grpSpPr>
        <p:sp>
          <p:nvSpPr>
            <p:cNvPr id="277" name="圆角矩形 276"/>
            <p:cNvSpPr/>
            <p:nvPr/>
          </p:nvSpPr>
          <p:spPr>
            <a:xfrm>
              <a:off x="13318" y="7697"/>
              <a:ext cx="1720" cy="381"/>
            </a:xfrm>
            <a:prstGeom prst="roundRect">
              <a:avLst/>
            </a:prstGeom>
            <a:solidFill>
              <a:srgbClr val="C00000">
                <a:alpha val="10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zh-CN" altLang="en-US" sz="80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素材中心</a:t>
              </a:r>
            </a:p>
          </p:txBody>
        </p:sp>
        <p:sp>
          <p:nvSpPr>
            <p:cNvPr id="287" name="圆角矩形 286"/>
            <p:cNvSpPr/>
            <p:nvPr/>
          </p:nvSpPr>
          <p:spPr>
            <a:xfrm>
              <a:off x="13318" y="8164"/>
              <a:ext cx="1720" cy="417"/>
            </a:xfrm>
            <a:prstGeom prst="roundRect">
              <a:avLst/>
            </a:prstGeom>
            <a:solidFill>
              <a:srgbClr val="C00000">
                <a:alpha val="10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80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教培内容</a:t>
              </a:r>
            </a:p>
          </p:txBody>
        </p:sp>
      </p:grpSp>
      <p:grpSp>
        <p:nvGrpSpPr>
          <p:cNvPr id="7" name="组合 6"/>
          <p:cNvGrpSpPr/>
          <p:nvPr userDrawn="1"/>
        </p:nvGrpSpPr>
        <p:grpSpPr>
          <a:xfrm>
            <a:off x="10287923" y="4895215"/>
            <a:ext cx="1092200" cy="818515"/>
            <a:chOff x="16226" y="7709"/>
            <a:chExt cx="1720" cy="1289"/>
          </a:xfrm>
        </p:grpSpPr>
        <p:sp>
          <p:nvSpPr>
            <p:cNvPr id="281" name="圆角矩形 280"/>
            <p:cNvSpPr/>
            <p:nvPr/>
          </p:nvSpPr>
          <p:spPr>
            <a:xfrm>
              <a:off x="16226" y="7709"/>
              <a:ext cx="1720" cy="381"/>
            </a:xfrm>
            <a:prstGeom prst="round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zh-CN" altLang="en-US" sz="80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租户管理</a:t>
              </a:r>
            </a:p>
          </p:txBody>
        </p:sp>
        <p:sp>
          <p:nvSpPr>
            <p:cNvPr id="288" name="圆角矩形 287"/>
            <p:cNvSpPr/>
            <p:nvPr/>
          </p:nvSpPr>
          <p:spPr>
            <a:xfrm>
              <a:off x="16226" y="8169"/>
              <a:ext cx="1720" cy="381"/>
            </a:xfrm>
            <a:prstGeom prst="round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80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用户管理</a:t>
              </a:r>
            </a:p>
          </p:txBody>
        </p:sp>
        <p:sp>
          <p:nvSpPr>
            <p:cNvPr id="6" name="圆角矩形 5"/>
            <p:cNvSpPr/>
            <p:nvPr/>
          </p:nvSpPr>
          <p:spPr>
            <a:xfrm>
              <a:off x="16226" y="8618"/>
              <a:ext cx="1720" cy="381"/>
            </a:xfrm>
            <a:prstGeom prst="roundRect">
              <a:avLst/>
            </a:prstGeom>
            <a:solidFill>
              <a:srgbClr val="C00000">
                <a:alpha val="10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80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角色管理</a:t>
              </a:r>
            </a:p>
          </p:txBody>
        </p:sp>
      </p:grpSp>
      <p:sp>
        <p:nvSpPr>
          <p:cNvPr id="72" name="矩形 71">
            <a:extLst>
              <a:ext uri="{FF2B5EF4-FFF2-40B4-BE49-F238E27FC236}">
                <a16:creationId xmlns:a16="http://schemas.microsoft.com/office/drawing/2014/main" id="{560B0348-6A55-46CE-ABEE-59890AADEF5A}"/>
              </a:ext>
            </a:extLst>
          </p:cNvPr>
          <p:cNvSpPr/>
          <p:nvPr>
            <p:custDataLst>
              <p:tags r:id="rId40"/>
            </p:custDataLst>
          </p:nvPr>
        </p:nvSpPr>
        <p:spPr>
          <a:xfrm>
            <a:off x="6081214" y="3733451"/>
            <a:ext cx="895350" cy="216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导购竞赛</a:t>
            </a: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A30BC694-80BE-48B1-A72E-EF870ADC2EE4}"/>
              </a:ext>
            </a:extLst>
          </p:cNvPr>
          <p:cNvSpPr/>
          <p:nvPr>
            <p:custDataLst>
              <p:tags r:id="rId41"/>
            </p:custDataLst>
          </p:nvPr>
        </p:nvSpPr>
        <p:spPr>
          <a:xfrm>
            <a:off x="9313306" y="3208252"/>
            <a:ext cx="2494479" cy="768985"/>
          </a:xfrm>
          <a:prstGeom prst="rect">
            <a:avLst/>
          </a:prstGeom>
          <a:solidFill>
            <a:srgbClr val="FFE1E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zh-CN" altLang="en-US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基础设置</a:t>
            </a: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E0BABCE1-99D0-47FB-9B8D-ECFCF729B43B}"/>
              </a:ext>
            </a:extLst>
          </p:cNvPr>
          <p:cNvSpPr/>
          <p:nvPr>
            <p:custDataLst>
              <p:tags r:id="rId42"/>
            </p:custDataLst>
          </p:nvPr>
        </p:nvSpPr>
        <p:spPr>
          <a:xfrm>
            <a:off x="9387425" y="3513097"/>
            <a:ext cx="612046" cy="38198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绑定关系</a:t>
            </a: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C416AFED-C48D-46F6-B4C2-6388177750BA}"/>
              </a:ext>
            </a:extLst>
          </p:cNvPr>
          <p:cNvSpPr/>
          <p:nvPr>
            <p:custDataLst>
              <p:tags r:id="rId43"/>
            </p:custDataLst>
          </p:nvPr>
        </p:nvSpPr>
        <p:spPr>
          <a:xfrm>
            <a:off x="10142720" y="3512842"/>
            <a:ext cx="625788" cy="39914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欢迎语设置</a:t>
            </a: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62937FEF-CF15-432E-A2E2-2A98C2A51296}"/>
              </a:ext>
            </a:extLst>
          </p:cNvPr>
          <p:cNvSpPr/>
          <p:nvPr>
            <p:custDataLst>
              <p:tags r:id="rId44"/>
            </p:custDataLst>
          </p:nvPr>
        </p:nvSpPr>
        <p:spPr>
          <a:xfrm>
            <a:off x="10898738" y="3484185"/>
            <a:ext cx="625788" cy="39914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标签设置</a:t>
            </a: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3DA7C60B-74FC-4848-BA9C-D4A48310CCE3}"/>
              </a:ext>
            </a:extLst>
          </p:cNvPr>
          <p:cNvSpPr/>
          <p:nvPr>
            <p:custDataLst>
              <p:tags r:id="rId45"/>
            </p:custDataLst>
          </p:nvPr>
        </p:nvSpPr>
        <p:spPr>
          <a:xfrm>
            <a:off x="10191928" y="1391716"/>
            <a:ext cx="1153160" cy="271780"/>
          </a:xfrm>
          <a:prstGeom prst="rect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/>
            <a:r>
              <a:rPr lang="zh-CN" altLang="en-US" sz="1200" dirty="0">
                <a:solidFill>
                  <a:srgbClr val="BE000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其他应用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Rectangle 14">
            <a:extLst>
              <a:ext uri="{FF2B5EF4-FFF2-40B4-BE49-F238E27FC236}">
                <a16:creationId xmlns:a16="http://schemas.microsoft.com/office/drawing/2014/main" id="{E5A8D19E-34A1-44F1-AB00-38B6DDAB8D8D}"/>
              </a:ext>
            </a:extLst>
          </p:cNvPr>
          <p:cNvSpPr/>
          <p:nvPr/>
        </p:nvSpPr>
        <p:spPr>
          <a:xfrm>
            <a:off x="88610" y="4191"/>
            <a:ext cx="2644934" cy="523220"/>
          </a:xfrm>
          <a:prstGeom prst="rect">
            <a:avLst/>
          </a:prstGeom>
          <a:ln>
            <a:noFill/>
          </a:ln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应用架构</a:t>
            </a:r>
          </a:p>
        </p:txBody>
      </p:sp>
      <p:sp>
        <p:nvSpPr>
          <p:cNvPr id="75" name="流程图: 磁盘 74">
            <a:extLst>
              <a:ext uri="{FF2B5EF4-FFF2-40B4-BE49-F238E27FC236}">
                <a16:creationId xmlns:a16="http://schemas.microsoft.com/office/drawing/2014/main" id="{26D64B55-3875-DFED-19C2-B5DCA26EAB48}"/>
              </a:ext>
            </a:extLst>
          </p:cNvPr>
          <p:cNvSpPr/>
          <p:nvPr/>
        </p:nvSpPr>
        <p:spPr>
          <a:xfrm>
            <a:off x="2117310" y="6156783"/>
            <a:ext cx="914400" cy="612648"/>
          </a:xfrm>
          <a:prstGeom prst="flowChartMagneticDisk">
            <a:avLst/>
          </a:prstGeom>
          <a:solidFill>
            <a:srgbClr val="C00000"/>
          </a:solidFill>
          <a:ln w="31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导购库</a:t>
            </a:r>
          </a:p>
        </p:txBody>
      </p:sp>
      <p:sp>
        <p:nvSpPr>
          <p:cNvPr id="77" name="流程图: 磁盘 76">
            <a:extLst>
              <a:ext uri="{FF2B5EF4-FFF2-40B4-BE49-F238E27FC236}">
                <a16:creationId xmlns:a16="http://schemas.microsoft.com/office/drawing/2014/main" id="{000F5AD2-12CD-6000-AD3E-87274354BF40}"/>
              </a:ext>
            </a:extLst>
          </p:cNvPr>
          <p:cNvSpPr/>
          <p:nvPr/>
        </p:nvSpPr>
        <p:spPr>
          <a:xfrm>
            <a:off x="3711602" y="6157243"/>
            <a:ext cx="914400" cy="612648"/>
          </a:xfrm>
          <a:prstGeom prst="flowChartMagneticDisk">
            <a:avLst/>
          </a:prstGeom>
          <a:solidFill>
            <a:srgbClr val="C00000"/>
          </a:solidFill>
          <a:ln w="31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内容库</a:t>
            </a:r>
          </a:p>
        </p:txBody>
      </p:sp>
      <p:sp>
        <p:nvSpPr>
          <p:cNvPr id="78" name="流程图: 磁盘 77">
            <a:extLst>
              <a:ext uri="{FF2B5EF4-FFF2-40B4-BE49-F238E27FC236}">
                <a16:creationId xmlns:a16="http://schemas.microsoft.com/office/drawing/2014/main" id="{FDB72F16-13B1-5422-AB69-AFA4BE4896FF}"/>
              </a:ext>
            </a:extLst>
          </p:cNvPr>
          <p:cNvSpPr/>
          <p:nvPr/>
        </p:nvSpPr>
        <p:spPr>
          <a:xfrm>
            <a:off x="5305894" y="6168241"/>
            <a:ext cx="914400" cy="612648"/>
          </a:xfrm>
          <a:prstGeom prst="flowChartMagneticDisk">
            <a:avLst/>
          </a:prstGeom>
          <a:solidFill>
            <a:srgbClr val="C00000"/>
          </a:solidFill>
          <a:ln w="31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客户库</a:t>
            </a:r>
          </a:p>
        </p:txBody>
      </p:sp>
      <p:sp>
        <p:nvSpPr>
          <p:cNvPr id="79" name="流程图: 磁盘 78">
            <a:extLst>
              <a:ext uri="{FF2B5EF4-FFF2-40B4-BE49-F238E27FC236}">
                <a16:creationId xmlns:a16="http://schemas.microsoft.com/office/drawing/2014/main" id="{EE83625C-7877-83E7-224B-938AFF1BE170}"/>
              </a:ext>
            </a:extLst>
          </p:cNvPr>
          <p:cNvSpPr/>
          <p:nvPr/>
        </p:nvSpPr>
        <p:spPr>
          <a:xfrm>
            <a:off x="6900186" y="6156783"/>
            <a:ext cx="914400" cy="612648"/>
          </a:xfrm>
          <a:prstGeom prst="flowChartMagneticDisk">
            <a:avLst/>
          </a:prstGeom>
          <a:solidFill>
            <a:srgbClr val="C00000"/>
          </a:solidFill>
          <a:ln w="31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支撑库</a:t>
            </a:r>
          </a:p>
        </p:txBody>
      </p:sp>
      <p:sp>
        <p:nvSpPr>
          <p:cNvPr id="80" name="流程图: 磁盘 79">
            <a:extLst>
              <a:ext uri="{FF2B5EF4-FFF2-40B4-BE49-F238E27FC236}">
                <a16:creationId xmlns:a16="http://schemas.microsoft.com/office/drawing/2014/main" id="{0F7D9632-F731-FE33-D3EE-2E21C1A6C88F}"/>
              </a:ext>
            </a:extLst>
          </p:cNvPr>
          <p:cNvSpPr/>
          <p:nvPr/>
        </p:nvSpPr>
        <p:spPr>
          <a:xfrm>
            <a:off x="8494478" y="6179127"/>
            <a:ext cx="914400" cy="612648"/>
          </a:xfrm>
          <a:prstGeom prst="flowChartMagneticDisk">
            <a:avLst/>
          </a:prstGeom>
          <a:solidFill>
            <a:srgbClr val="C00000"/>
          </a:solidFill>
          <a:ln w="31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任务库</a:t>
            </a:r>
          </a:p>
        </p:txBody>
      </p:sp>
      <p:sp>
        <p:nvSpPr>
          <p:cNvPr id="82" name="流程图: 可选过程 81">
            <a:extLst>
              <a:ext uri="{FF2B5EF4-FFF2-40B4-BE49-F238E27FC236}">
                <a16:creationId xmlns:a16="http://schemas.microsoft.com/office/drawing/2014/main" id="{14E360D4-8989-4CBE-EABB-9776C5EA4535}"/>
              </a:ext>
            </a:extLst>
          </p:cNvPr>
          <p:cNvSpPr/>
          <p:nvPr/>
        </p:nvSpPr>
        <p:spPr>
          <a:xfrm>
            <a:off x="1952888" y="4494671"/>
            <a:ext cx="2666457" cy="437965"/>
          </a:xfrm>
          <a:prstGeom prst="flowChartAlternateProcess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导购中心</a:t>
            </a:r>
          </a:p>
        </p:txBody>
      </p:sp>
      <p:sp>
        <p:nvSpPr>
          <p:cNvPr id="83" name="流程图: 可选过程 82">
            <a:extLst>
              <a:ext uri="{FF2B5EF4-FFF2-40B4-BE49-F238E27FC236}">
                <a16:creationId xmlns:a16="http://schemas.microsoft.com/office/drawing/2014/main" id="{60DE06DC-351B-D1FA-1957-77310CC2D6DC}"/>
              </a:ext>
            </a:extLst>
          </p:cNvPr>
          <p:cNvSpPr/>
          <p:nvPr/>
        </p:nvSpPr>
        <p:spPr>
          <a:xfrm>
            <a:off x="5190154" y="4486867"/>
            <a:ext cx="2666457" cy="437965"/>
          </a:xfrm>
          <a:prstGeom prst="flowChartAlternateProcess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内容中心</a:t>
            </a:r>
          </a:p>
        </p:txBody>
      </p:sp>
      <p:sp>
        <p:nvSpPr>
          <p:cNvPr id="84" name="流程图: 可选过程 83">
            <a:extLst>
              <a:ext uri="{FF2B5EF4-FFF2-40B4-BE49-F238E27FC236}">
                <a16:creationId xmlns:a16="http://schemas.microsoft.com/office/drawing/2014/main" id="{3CA5003D-4A1C-139F-48A0-08421AE83D50}"/>
              </a:ext>
            </a:extLst>
          </p:cNvPr>
          <p:cNvSpPr/>
          <p:nvPr/>
        </p:nvSpPr>
        <p:spPr>
          <a:xfrm>
            <a:off x="8352577" y="4525247"/>
            <a:ext cx="2666457" cy="437965"/>
          </a:xfrm>
          <a:prstGeom prst="flowChartAlternateProcess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客户中心</a:t>
            </a:r>
          </a:p>
        </p:txBody>
      </p:sp>
      <p:sp>
        <p:nvSpPr>
          <p:cNvPr id="85" name="流程图: 可选过程 84">
            <a:extLst>
              <a:ext uri="{FF2B5EF4-FFF2-40B4-BE49-F238E27FC236}">
                <a16:creationId xmlns:a16="http://schemas.microsoft.com/office/drawing/2014/main" id="{08F6F24E-F305-C8BA-6BDC-F52B377E287F}"/>
              </a:ext>
            </a:extLst>
          </p:cNvPr>
          <p:cNvSpPr/>
          <p:nvPr/>
        </p:nvSpPr>
        <p:spPr>
          <a:xfrm>
            <a:off x="1952888" y="5084630"/>
            <a:ext cx="2666457" cy="437965"/>
          </a:xfrm>
          <a:prstGeom prst="flowChartAlternateProcess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集成中心</a:t>
            </a:r>
          </a:p>
        </p:txBody>
      </p:sp>
      <p:sp>
        <p:nvSpPr>
          <p:cNvPr id="86" name="流程图: 可选过程 85">
            <a:extLst>
              <a:ext uri="{FF2B5EF4-FFF2-40B4-BE49-F238E27FC236}">
                <a16:creationId xmlns:a16="http://schemas.microsoft.com/office/drawing/2014/main" id="{1E05D4C3-FA42-4C7C-EFF6-A456A8AB5C59}"/>
              </a:ext>
            </a:extLst>
          </p:cNvPr>
          <p:cNvSpPr/>
          <p:nvPr/>
        </p:nvSpPr>
        <p:spPr>
          <a:xfrm>
            <a:off x="5206747" y="5094489"/>
            <a:ext cx="2666457" cy="437965"/>
          </a:xfrm>
          <a:prstGeom prst="flowChartAlternateProcess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任务中心</a:t>
            </a:r>
          </a:p>
        </p:txBody>
      </p:sp>
      <p:sp>
        <p:nvSpPr>
          <p:cNvPr id="87" name="流程图: 可选过程 86">
            <a:extLst>
              <a:ext uri="{FF2B5EF4-FFF2-40B4-BE49-F238E27FC236}">
                <a16:creationId xmlns:a16="http://schemas.microsoft.com/office/drawing/2014/main" id="{82900053-0080-770A-BCAF-B10082592553}"/>
              </a:ext>
            </a:extLst>
          </p:cNvPr>
          <p:cNvSpPr/>
          <p:nvPr/>
        </p:nvSpPr>
        <p:spPr>
          <a:xfrm>
            <a:off x="8369170" y="5132869"/>
            <a:ext cx="2666457" cy="437965"/>
          </a:xfrm>
          <a:prstGeom prst="flowChartAlternateProcess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支撑中心</a:t>
            </a:r>
          </a:p>
        </p:txBody>
      </p:sp>
      <p:sp>
        <p:nvSpPr>
          <p:cNvPr id="89" name="流程图: 可选过程 88">
            <a:extLst>
              <a:ext uri="{FF2B5EF4-FFF2-40B4-BE49-F238E27FC236}">
                <a16:creationId xmlns:a16="http://schemas.microsoft.com/office/drawing/2014/main" id="{F0B1B573-97E6-E2D7-59A9-5B7518098EC5}"/>
              </a:ext>
            </a:extLst>
          </p:cNvPr>
          <p:cNvSpPr/>
          <p:nvPr/>
        </p:nvSpPr>
        <p:spPr>
          <a:xfrm>
            <a:off x="1920230" y="980158"/>
            <a:ext cx="2015376" cy="445100"/>
          </a:xfrm>
          <a:prstGeom prst="flowChartAlternateProcess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企微小程序</a:t>
            </a:r>
          </a:p>
        </p:txBody>
      </p:sp>
      <p:sp>
        <p:nvSpPr>
          <p:cNvPr id="90" name="流程图: 可选过程 89">
            <a:extLst>
              <a:ext uri="{FF2B5EF4-FFF2-40B4-BE49-F238E27FC236}">
                <a16:creationId xmlns:a16="http://schemas.microsoft.com/office/drawing/2014/main" id="{269305D6-29DB-E3FE-773D-953F68C66DD2}"/>
              </a:ext>
            </a:extLst>
          </p:cNvPr>
          <p:cNvSpPr/>
          <p:nvPr/>
        </p:nvSpPr>
        <p:spPr>
          <a:xfrm>
            <a:off x="5345150" y="957381"/>
            <a:ext cx="2015376" cy="445100"/>
          </a:xfrm>
          <a:prstGeom prst="flowChartAlternateProcess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浏览器</a:t>
            </a:r>
          </a:p>
        </p:txBody>
      </p:sp>
      <p:sp>
        <p:nvSpPr>
          <p:cNvPr id="91" name="流程图: 可选过程 90">
            <a:extLst>
              <a:ext uri="{FF2B5EF4-FFF2-40B4-BE49-F238E27FC236}">
                <a16:creationId xmlns:a16="http://schemas.microsoft.com/office/drawing/2014/main" id="{FE009F5B-B650-5FC0-A10F-21DE89FB7496}"/>
              </a:ext>
            </a:extLst>
          </p:cNvPr>
          <p:cNvSpPr/>
          <p:nvPr/>
        </p:nvSpPr>
        <p:spPr>
          <a:xfrm>
            <a:off x="9038580" y="951503"/>
            <a:ext cx="2015376" cy="445100"/>
          </a:xfrm>
          <a:prstGeom prst="flowChartAlternateProcess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外部服务</a:t>
            </a:r>
          </a:p>
        </p:txBody>
      </p:sp>
      <p:sp>
        <p:nvSpPr>
          <p:cNvPr id="92" name="流程图: 可选过程 91">
            <a:extLst>
              <a:ext uri="{FF2B5EF4-FFF2-40B4-BE49-F238E27FC236}">
                <a16:creationId xmlns:a16="http://schemas.microsoft.com/office/drawing/2014/main" id="{F6CF8868-45C3-CCDB-4D76-7021ECBBBDAB}"/>
              </a:ext>
            </a:extLst>
          </p:cNvPr>
          <p:cNvSpPr/>
          <p:nvPr/>
        </p:nvSpPr>
        <p:spPr>
          <a:xfrm>
            <a:off x="8249109" y="2079582"/>
            <a:ext cx="2873392" cy="359896"/>
          </a:xfrm>
          <a:prstGeom prst="flowChartAlternateProcess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API  </a:t>
            </a:r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网关</a:t>
            </a:r>
          </a:p>
        </p:txBody>
      </p:sp>
      <p:sp>
        <p:nvSpPr>
          <p:cNvPr id="95" name="流程图: 可选过程 94">
            <a:extLst>
              <a:ext uri="{FF2B5EF4-FFF2-40B4-BE49-F238E27FC236}">
                <a16:creationId xmlns:a16="http://schemas.microsoft.com/office/drawing/2014/main" id="{820449EF-EDD3-E776-DF6A-6360AE564091}"/>
              </a:ext>
            </a:extLst>
          </p:cNvPr>
          <p:cNvSpPr/>
          <p:nvPr/>
        </p:nvSpPr>
        <p:spPr>
          <a:xfrm>
            <a:off x="1745953" y="2078314"/>
            <a:ext cx="2873392" cy="359896"/>
          </a:xfrm>
          <a:prstGeom prst="flowChartAlternateProcess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导购接口网关</a:t>
            </a:r>
          </a:p>
        </p:txBody>
      </p:sp>
      <p:sp>
        <p:nvSpPr>
          <p:cNvPr id="160" name="流程图: 可选过程 159">
            <a:extLst>
              <a:ext uri="{FF2B5EF4-FFF2-40B4-BE49-F238E27FC236}">
                <a16:creationId xmlns:a16="http://schemas.microsoft.com/office/drawing/2014/main" id="{457AC491-E6E3-2441-CAFA-14EB29E9529F}"/>
              </a:ext>
            </a:extLst>
          </p:cNvPr>
          <p:cNvSpPr/>
          <p:nvPr/>
        </p:nvSpPr>
        <p:spPr>
          <a:xfrm>
            <a:off x="4983219" y="2103721"/>
            <a:ext cx="2873392" cy="359896"/>
          </a:xfrm>
          <a:prstGeom prst="flowChartAlternateProcess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管理后台网关</a:t>
            </a:r>
          </a:p>
        </p:txBody>
      </p:sp>
      <p:sp>
        <p:nvSpPr>
          <p:cNvPr id="161" name="流程图: 可选过程 160">
            <a:extLst>
              <a:ext uri="{FF2B5EF4-FFF2-40B4-BE49-F238E27FC236}">
                <a16:creationId xmlns:a16="http://schemas.microsoft.com/office/drawing/2014/main" id="{D9BB8880-4DEA-8ECB-A5DD-1882D73AF830}"/>
              </a:ext>
            </a:extLst>
          </p:cNvPr>
          <p:cNvSpPr/>
          <p:nvPr/>
        </p:nvSpPr>
        <p:spPr>
          <a:xfrm>
            <a:off x="1912580" y="2583938"/>
            <a:ext cx="2000573" cy="359896"/>
          </a:xfrm>
          <a:prstGeom prst="flowChartAlternateProcess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签名</a:t>
            </a:r>
          </a:p>
        </p:txBody>
      </p:sp>
      <p:sp>
        <p:nvSpPr>
          <p:cNvPr id="162" name="流程图: 可选过程 161">
            <a:extLst>
              <a:ext uri="{FF2B5EF4-FFF2-40B4-BE49-F238E27FC236}">
                <a16:creationId xmlns:a16="http://schemas.microsoft.com/office/drawing/2014/main" id="{35507314-7FA7-68E8-28C5-335D3BC148C8}"/>
              </a:ext>
            </a:extLst>
          </p:cNvPr>
          <p:cNvSpPr/>
          <p:nvPr/>
        </p:nvSpPr>
        <p:spPr>
          <a:xfrm>
            <a:off x="4256413" y="2541693"/>
            <a:ext cx="2000573" cy="359896"/>
          </a:xfrm>
          <a:prstGeom prst="flowChartAlternateProcess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限流</a:t>
            </a:r>
          </a:p>
        </p:txBody>
      </p:sp>
      <p:sp>
        <p:nvSpPr>
          <p:cNvPr id="164" name="流程图: 可选过程 163">
            <a:extLst>
              <a:ext uri="{FF2B5EF4-FFF2-40B4-BE49-F238E27FC236}">
                <a16:creationId xmlns:a16="http://schemas.microsoft.com/office/drawing/2014/main" id="{7BD51EBC-6D24-9955-3D63-8916C06CCC8D}"/>
              </a:ext>
            </a:extLst>
          </p:cNvPr>
          <p:cNvSpPr/>
          <p:nvPr/>
        </p:nvSpPr>
        <p:spPr>
          <a:xfrm>
            <a:off x="6654898" y="2556306"/>
            <a:ext cx="2000573" cy="359896"/>
          </a:xfrm>
          <a:prstGeom prst="flowChartAlternateProcess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鉴权</a:t>
            </a:r>
          </a:p>
        </p:txBody>
      </p:sp>
      <p:sp>
        <p:nvSpPr>
          <p:cNvPr id="167" name="流程图: 可选过程 166">
            <a:extLst>
              <a:ext uri="{FF2B5EF4-FFF2-40B4-BE49-F238E27FC236}">
                <a16:creationId xmlns:a16="http://schemas.microsoft.com/office/drawing/2014/main" id="{DF9316B7-63C8-0DEB-D619-6CA5F12D37CB}"/>
              </a:ext>
            </a:extLst>
          </p:cNvPr>
          <p:cNvSpPr/>
          <p:nvPr/>
        </p:nvSpPr>
        <p:spPr>
          <a:xfrm>
            <a:off x="9053383" y="2534387"/>
            <a:ext cx="2000573" cy="359896"/>
          </a:xfrm>
          <a:prstGeom prst="flowChartAlternateProcess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审计日志</a:t>
            </a:r>
          </a:p>
        </p:txBody>
      </p:sp>
      <p:sp>
        <p:nvSpPr>
          <p:cNvPr id="168" name="流程图: 磁盘 167">
            <a:extLst>
              <a:ext uri="{FF2B5EF4-FFF2-40B4-BE49-F238E27FC236}">
                <a16:creationId xmlns:a16="http://schemas.microsoft.com/office/drawing/2014/main" id="{3F748EBA-1C8E-5D2D-6BE5-ACC34E8CCE36}"/>
              </a:ext>
            </a:extLst>
          </p:cNvPr>
          <p:cNvSpPr/>
          <p:nvPr/>
        </p:nvSpPr>
        <p:spPr>
          <a:xfrm>
            <a:off x="10088770" y="6167093"/>
            <a:ext cx="914400" cy="612648"/>
          </a:xfrm>
          <a:prstGeom prst="flowChartMagneticDisk">
            <a:avLst/>
          </a:prstGeom>
          <a:solidFill>
            <a:srgbClr val="C00000"/>
          </a:solidFill>
          <a:ln w="31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后台库</a:t>
            </a:r>
          </a:p>
        </p:txBody>
      </p:sp>
      <p:sp>
        <p:nvSpPr>
          <p:cNvPr id="169" name="流程图: 可选过程 168">
            <a:extLst>
              <a:ext uri="{FF2B5EF4-FFF2-40B4-BE49-F238E27FC236}">
                <a16:creationId xmlns:a16="http://schemas.microsoft.com/office/drawing/2014/main" id="{A5855824-1209-0BD9-C52B-75AB5F39C4D6}"/>
              </a:ext>
            </a:extLst>
          </p:cNvPr>
          <p:cNvSpPr/>
          <p:nvPr/>
        </p:nvSpPr>
        <p:spPr>
          <a:xfrm>
            <a:off x="1952703" y="3455912"/>
            <a:ext cx="1248558" cy="437964"/>
          </a:xfrm>
          <a:prstGeom prst="flowChartAlternateProcess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982 BFF</a:t>
            </a:r>
            <a:endParaRPr kumimoji="1" lang="zh-CN" altLang="en-US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0" name="流程图: 可选过程 169">
            <a:extLst>
              <a:ext uri="{FF2B5EF4-FFF2-40B4-BE49-F238E27FC236}">
                <a16:creationId xmlns:a16="http://schemas.microsoft.com/office/drawing/2014/main" id="{8DC679F5-8BA7-CDC4-39B0-85181FB558F2}"/>
              </a:ext>
            </a:extLst>
          </p:cNvPr>
          <p:cNvSpPr/>
          <p:nvPr/>
        </p:nvSpPr>
        <p:spPr>
          <a:xfrm>
            <a:off x="3544913" y="3460825"/>
            <a:ext cx="1248558" cy="437964"/>
          </a:xfrm>
          <a:prstGeom prst="flowChartAlternateProcess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MAIA BFF</a:t>
            </a:r>
            <a:endParaRPr kumimoji="1" lang="zh-CN" altLang="en-US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1" name="流程图: 可选过程 170">
            <a:extLst>
              <a:ext uri="{FF2B5EF4-FFF2-40B4-BE49-F238E27FC236}">
                <a16:creationId xmlns:a16="http://schemas.microsoft.com/office/drawing/2014/main" id="{8868BFFB-F3D1-C6E6-3433-043B874D31D2}"/>
              </a:ext>
            </a:extLst>
          </p:cNvPr>
          <p:cNvSpPr/>
          <p:nvPr/>
        </p:nvSpPr>
        <p:spPr>
          <a:xfrm>
            <a:off x="5104280" y="3472393"/>
            <a:ext cx="1248558" cy="437964"/>
          </a:xfrm>
          <a:prstGeom prst="flowChartAlternateProcess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安踏 </a:t>
            </a: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BFF</a:t>
            </a:r>
            <a:endParaRPr kumimoji="1" lang="zh-CN" altLang="en-US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2" name="流程图: 可选过程 171">
            <a:extLst>
              <a:ext uri="{FF2B5EF4-FFF2-40B4-BE49-F238E27FC236}">
                <a16:creationId xmlns:a16="http://schemas.microsoft.com/office/drawing/2014/main" id="{3FC6E2EE-67C1-FB91-38EE-41F3F0A16DC1}"/>
              </a:ext>
            </a:extLst>
          </p:cNvPr>
          <p:cNvSpPr/>
          <p:nvPr/>
        </p:nvSpPr>
        <p:spPr>
          <a:xfrm>
            <a:off x="6663647" y="3483961"/>
            <a:ext cx="1248558" cy="437964"/>
          </a:xfrm>
          <a:prstGeom prst="flowChartAlternateProcess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斐乐 </a:t>
            </a: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BFF</a:t>
            </a:r>
            <a:endParaRPr kumimoji="1" lang="zh-CN" altLang="en-US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3" name="流程图: 可选过程 172">
            <a:extLst>
              <a:ext uri="{FF2B5EF4-FFF2-40B4-BE49-F238E27FC236}">
                <a16:creationId xmlns:a16="http://schemas.microsoft.com/office/drawing/2014/main" id="{999A0DF4-29B5-75C0-7D9C-ABF08573C199}"/>
              </a:ext>
            </a:extLst>
          </p:cNvPr>
          <p:cNvSpPr/>
          <p:nvPr/>
        </p:nvSpPr>
        <p:spPr>
          <a:xfrm>
            <a:off x="8223014" y="3489746"/>
            <a:ext cx="1248558" cy="437964"/>
          </a:xfrm>
          <a:prstGeom prst="flowChartAlternateProcess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户外 </a:t>
            </a:r>
            <a:r>
              <a:rPr kumimoji="1"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BFF</a:t>
            </a:r>
            <a:endParaRPr kumimoji="1" lang="zh-CN" altLang="en-US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4" name="流程图: 可选过程 173">
            <a:extLst>
              <a:ext uri="{FF2B5EF4-FFF2-40B4-BE49-F238E27FC236}">
                <a16:creationId xmlns:a16="http://schemas.microsoft.com/office/drawing/2014/main" id="{73908F0B-6A18-94A2-AB80-0FF30CF4A96A}"/>
              </a:ext>
            </a:extLst>
          </p:cNvPr>
          <p:cNvSpPr/>
          <p:nvPr/>
        </p:nvSpPr>
        <p:spPr>
          <a:xfrm>
            <a:off x="9782382" y="3478177"/>
            <a:ext cx="1248558" cy="437964"/>
          </a:xfrm>
          <a:prstGeom prst="flowChartAlternateProcess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管理后台</a:t>
            </a:r>
          </a:p>
        </p:txBody>
      </p:sp>
      <p:cxnSp>
        <p:nvCxnSpPr>
          <p:cNvPr id="176" name="直接连接符 175">
            <a:extLst>
              <a:ext uri="{FF2B5EF4-FFF2-40B4-BE49-F238E27FC236}">
                <a16:creationId xmlns:a16="http://schemas.microsoft.com/office/drawing/2014/main" id="{984D5146-B33F-FFD1-1031-9E517480E36B}"/>
              </a:ext>
            </a:extLst>
          </p:cNvPr>
          <p:cNvCxnSpPr/>
          <p:nvPr/>
        </p:nvCxnSpPr>
        <p:spPr>
          <a:xfrm>
            <a:off x="1812836" y="1915886"/>
            <a:ext cx="9252000" cy="0"/>
          </a:xfrm>
          <a:prstGeom prst="line">
            <a:avLst/>
          </a:prstGeom>
          <a:ln w="38100" cap="flat" cmpd="sng" algn="ctr">
            <a:solidFill>
              <a:srgbClr val="C00000"/>
            </a:solidFill>
            <a:prstDash val="dash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78" name="图形 177" descr="用户">
            <a:extLst>
              <a:ext uri="{FF2B5EF4-FFF2-40B4-BE49-F238E27FC236}">
                <a16:creationId xmlns:a16="http://schemas.microsoft.com/office/drawing/2014/main" id="{01A827DE-2BB2-1938-8FA2-3F732786BC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841605"/>
            <a:ext cx="734375" cy="734375"/>
          </a:xfrm>
          <a:prstGeom prst="rect">
            <a:avLst/>
          </a:prstGeom>
        </p:spPr>
      </p:pic>
      <p:pic>
        <p:nvPicPr>
          <p:cNvPr id="192" name="图形 191" descr="世界">
            <a:extLst>
              <a:ext uri="{FF2B5EF4-FFF2-40B4-BE49-F238E27FC236}">
                <a16:creationId xmlns:a16="http://schemas.microsoft.com/office/drawing/2014/main" id="{5DE9C732-B700-974D-29F3-A908DB77ECB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65" y="2224524"/>
            <a:ext cx="734375" cy="734375"/>
          </a:xfrm>
          <a:prstGeom prst="rect">
            <a:avLst/>
          </a:prstGeom>
        </p:spPr>
      </p:pic>
      <p:pic>
        <p:nvPicPr>
          <p:cNvPr id="196" name="图形 195" descr="银行支票">
            <a:extLst>
              <a:ext uri="{FF2B5EF4-FFF2-40B4-BE49-F238E27FC236}">
                <a16:creationId xmlns:a16="http://schemas.microsoft.com/office/drawing/2014/main" id="{404F21C8-5C6B-2180-B83B-59F6AEA197B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5491" y="3298315"/>
            <a:ext cx="722665" cy="722665"/>
          </a:xfrm>
          <a:prstGeom prst="rect">
            <a:avLst/>
          </a:prstGeom>
        </p:spPr>
      </p:pic>
      <p:pic>
        <p:nvPicPr>
          <p:cNvPr id="207" name="图形 206" descr="处理器">
            <a:extLst>
              <a:ext uri="{FF2B5EF4-FFF2-40B4-BE49-F238E27FC236}">
                <a16:creationId xmlns:a16="http://schemas.microsoft.com/office/drawing/2014/main" id="{FE67ED85-2DFD-3702-5871-478C2C18F0F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965" y="4671645"/>
            <a:ext cx="722665" cy="722665"/>
          </a:xfrm>
          <a:prstGeom prst="rect">
            <a:avLst/>
          </a:prstGeom>
        </p:spPr>
      </p:pic>
      <p:pic>
        <p:nvPicPr>
          <p:cNvPr id="282" name="图形 281" descr="数据库">
            <a:extLst>
              <a:ext uri="{FF2B5EF4-FFF2-40B4-BE49-F238E27FC236}">
                <a16:creationId xmlns:a16="http://schemas.microsoft.com/office/drawing/2014/main" id="{2E78663B-1B50-3FC0-9863-2AFF4FE5325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-42474" y="6158949"/>
            <a:ext cx="800219" cy="612649"/>
          </a:xfrm>
          <a:prstGeom prst="rect">
            <a:avLst/>
          </a:prstGeom>
        </p:spPr>
      </p:pic>
      <p:sp>
        <p:nvSpPr>
          <p:cNvPr id="284" name="文本框 283">
            <a:extLst>
              <a:ext uri="{FF2B5EF4-FFF2-40B4-BE49-F238E27FC236}">
                <a16:creationId xmlns:a16="http://schemas.microsoft.com/office/drawing/2014/main" id="{BA486BF2-5923-EBA5-85A5-46FB2BF3BA8B}"/>
              </a:ext>
            </a:extLst>
          </p:cNvPr>
          <p:cNvSpPr txBox="1"/>
          <p:nvPr/>
        </p:nvSpPr>
        <p:spPr>
          <a:xfrm>
            <a:off x="816688" y="3517066"/>
            <a:ext cx="800219" cy="3385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应用层</a:t>
            </a:r>
          </a:p>
        </p:txBody>
      </p:sp>
      <p:sp>
        <p:nvSpPr>
          <p:cNvPr id="285" name="箭头: 下 284">
            <a:extLst>
              <a:ext uri="{FF2B5EF4-FFF2-40B4-BE49-F238E27FC236}">
                <a16:creationId xmlns:a16="http://schemas.microsoft.com/office/drawing/2014/main" id="{A3211FB9-F3BC-897A-DCF0-DF21DE4A5D79}"/>
              </a:ext>
            </a:extLst>
          </p:cNvPr>
          <p:cNvSpPr/>
          <p:nvPr/>
        </p:nvSpPr>
        <p:spPr>
          <a:xfrm>
            <a:off x="2733544" y="1457915"/>
            <a:ext cx="298166" cy="404007"/>
          </a:xfrm>
          <a:prstGeom prst="downArrow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6" name="文本框 285">
            <a:extLst>
              <a:ext uri="{FF2B5EF4-FFF2-40B4-BE49-F238E27FC236}">
                <a16:creationId xmlns:a16="http://schemas.microsoft.com/office/drawing/2014/main" id="{CCC86D34-AD53-E80D-6BC1-A082DBF822A2}"/>
              </a:ext>
            </a:extLst>
          </p:cNvPr>
          <p:cNvSpPr txBox="1"/>
          <p:nvPr/>
        </p:nvSpPr>
        <p:spPr>
          <a:xfrm>
            <a:off x="3031710" y="1482139"/>
            <a:ext cx="1486187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HTTP/JSON</a:t>
            </a:r>
            <a:endParaRPr lang="zh-CN" altLang="en-US" dirty="0">
              <a:solidFill>
                <a:srgbClr val="C00000"/>
              </a:solidFill>
            </a:endParaRPr>
          </a:p>
        </p:txBody>
      </p:sp>
      <p:cxnSp>
        <p:nvCxnSpPr>
          <p:cNvPr id="299" name="直接连接符 298">
            <a:extLst>
              <a:ext uri="{FF2B5EF4-FFF2-40B4-BE49-F238E27FC236}">
                <a16:creationId xmlns:a16="http://schemas.microsoft.com/office/drawing/2014/main" id="{358C5464-9ECC-7F8B-4BA5-35E35CF88FAA}"/>
              </a:ext>
            </a:extLst>
          </p:cNvPr>
          <p:cNvCxnSpPr/>
          <p:nvPr/>
        </p:nvCxnSpPr>
        <p:spPr>
          <a:xfrm>
            <a:off x="1985546" y="6016395"/>
            <a:ext cx="9252000" cy="0"/>
          </a:xfrm>
          <a:prstGeom prst="line">
            <a:avLst/>
          </a:prstGeom>
          <a:ln w="38100" cap="flat" cmpd="sng" algn="ctr">
            <a:solidFill>
              <a:srgbClr val="C00000"/>
            </a:solidFill>
            <a:prstDash val="dash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00" name="文本框 299">
            <a:extLst>
              <a:ext uri="{FF2B5EF4-FFF2-40B4-BE49-F238E27FC236}">
                <a16:creationId xmlns:a16="http://schemas.microsoft.com/office/drawing/2014/main" id="{EF7256D3-C542-A8FA-A20E-0AA484585BA8}"/>
              </a:ext>
            </a:extLst>
          </p:cNvPr>
          <p:cNvSpPr txBox="1"/>
          <p:nvPr/>
        </p:nvSpPr>
        <p:spPr>
          <a:xfrm>
            <a:off x="789926" y="6272518"/>
            <a:ext cx="800219" cy="3385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数据层</a:t>
            </a:r>
          </a:p>
        </p:txBody>
      </p:sp>
      <p:sp>
        <p:nvSpPr>
          <p:cNvPr id="301" name="文本框 300">
            <a:extLst>
              <a:ext uri="{FF2B5EF4-FFF2-40B4-BE49-F238E27FC236}">
                <a16:creationId xmlns:a16="http://schemas.microsoft.com/office/drawing/2014/main" id="{434A9F15-6ACF-39C0-3CE6-6B1907B7256E}"/>
              </a:ext>
            </a:extLst>
          </p:cNvPr>
          <p:cNvSpPr txBox="1"/>
          <p:nvPr/>
        </p:nvSpPr>
        <p:spPr>
          <a:xfrm>
            <a:off x="791328" y="4864700"/>
            <a:ext cx="800219" cy="3385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服务层</a:t>
            </a:r>
          </a:p>
        </p:txBody>
      </p:sp>
      <p:sp>
        <p:nvSpPr>
          <p:cNvPr id="302" name="文本框 301">
            <a:extLst>
              <a:ext uri="{FF2B5EF4-FFF2-40B4-BE49-F238E27FC236}">
                <a16:creationId xmlns:a16="http://schemas.microsoft.com/office/drawing/2014/main" id="{D85F7721-98B1-66CB-B139-11ED16A2D879}"/>
              </a:ext>
            </a:extLst>
          </p:cNvPr>
          <p:cNvSpPr txBox="1"/>
          <p:nvPr/>
        </p:nvSpPr>
        <p:spPr>
          <a:xfrm>
            <a:off x="4626002" y="5622910"/>
            <a:ext cx="2848857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Spring Cloud </a:t>
            </a:r>
            <a:r>
              <a:rPr lang="zh-CN" altLang="en-US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微服务体系</a:t>
            </a:r>
          </a:p>
        </p:txBody>
      </p:sp>
      <p:cxnSp>
        <p:nvCxnSpPr>
          <p:cNvPr id="303" name="直接连接符 302">
            <a:extLst>
              <a:ext uri="{FF2B5EF4-FFF2-40B4-BE49-F238E27FC236}">
                <a16:creationId xmlns:a16="http://schemas.microsoft.com/office/drawing/2014/main" id="{56C74307-5B0D-D99C-321C-091F91D18B69}"/>
              </a:ext>
            </a:extLst>
          </p:cNvPr>
          <p:cNvCxnSpPr/>
          <p:nvPr/>
        </p:nvCxnSpPr>
        <p:spPr>
          <a:xfrm>
            <a:off x="1897382" y="4190998"/>
            <a:ext cx="9252000" cy="0"/>
          </a:xfrm>
          <a:prstGeom prst="line">
            <a:avLst/>
          </a:prstGeom>
          <a:ln w="38100" cap="flat" cmpd="sng" algn="ctr">
            <a:solidFill>
              <a:srgbClr val="C00000"/>
            </a:solidFill>
            <a:prstDash val="dash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04" name="文本框 303">
            <a:extLst>
              <a:ext uri="{FF2B5EF4-FFF2-40B4-BE49-F238E27FC236}">
                <a16:creationId xmlns:a16="http://schemas.microsoft.com/office/drawing/2014/main" id="{2358D2AB-5103-109B-BC2D-892AE4FEB553}"/>
              </a:ext>
            </a:extLst>
          </p:cNvPr>
          <p:cNvSpPr txBox="1"/>
          <p:nvPr/>
        </p:nvSpPr>
        <p:spPr>
          <a:xfrm>
            <a:off x="818714" y="1099314"/>
            <a:ext cx="800219" cy="3385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表现层</a:t>
            </a:r>
          </a:p>
        </p:txBody>
      </p:sp>
      <p:cxnSp>
        <p:nvCxnSpPr>
          <p:cNvPr id="305" name="直接连接符 304">
            <a:extLst>
              <a:ext uri="{FF2B5EF4-FFF2-40B4-BE49-F238E27FC236}">
                <a16:creationId xmlns:a16="http://schemas.microsoft.com/office/drawing/2014/main" id="{5DF4F757-12AD-9DC4-1446-9E3B9A964FBE}"/>
              </a:ext>
            </a:extLst>
          </p:cNvPr>
          <p:cNvCxnSpPr/>
          <p:nvPr/>
        </p:nvCxnSpPr>
        <p:spPr>
          <a:xfrm>
            <a:off x="1920230" y="3167742"/>
            <a:ext cx="9252000" cy="0"/>
          </a:xfrm>
          <a:prstGeom prst="line">
            <a:avLst/>
          </a:prstGeom>
          <a:ln w="38100" cap="flat" cmpd="sng" algn="ctr">
            <a:solidFill>
              <a:srgbClr val="C00000"/>
            </a:solidFill>
            <a:prstDash val="dash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14" name="箭头: 下 313">
            <a:extLst>
              <a:ext uri="{FF2B5EF4-FFF2-40B4-BE49-F238E27FC236}">
                <a16:creationId xmlns:a16="http://schemas.microsoft.com/office/drawing/2014/main" id="{4D340017-23ED-EBC0-1401-48C33FF363AB}"/>
              </a:ext>
            </a:extLst>
          </p:cNvPr>
          <p:cNvSpPr/>
          <p:nvPr/>
        </p:nvSpPr>
        <p:spPr>
          <a:xfrm>
            <a:off x="6329478" y="1458026"/>
            <a:ext cx="298166" cy="404007"/>
          </a:xfrm>
          <a:prstGeom prst="downArrow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5" name="文本框 314">
            <a:extLst>
              <a:ext uri="{FF2B5EF4-FFF2-40B4-BE49-F238E27FC236}">
                <a16:creationId xmlns:a16="http://schemas.microsoft.com/office/drawing/2014/main" id="{78648B76-6BDB-22A2-FFFE-108D800299FD}"/>
              </a:ext>
            </a:extLst>
          </p:cNvPr>
          <p:cNvSpPr txBox="1"/>
          <p:nvPr/>
        </p:nvSpPr>
        <p:spPr>
          <a:xfrm>
            <a:off x="6627644" y="1482250"/>
            <a:ext cx="1486187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HTTP/JSON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316" name="箭头: 下 315">
            <a:extLst>
              <a:ext uri="{FF2B5EF4-FFF2-40B4-BE49-F238E27FC236}">
                <a16:creationId xmlns:a16="http://schemas.microsoft.com/office/drawing/2014/main" id="{5161D3C4-CB81-0D49-64D1-728AC802BF23}"/>
              </a:ext>
            </a:extLst>
          </p:cNvPr>
          <p:cNvSpPr/>
          <p:nvPr/>
        </p:nvSpPr>
        <p:spPr>
          <a:xfrm>
            <a:off x="9782382" y="1434627"/>
            <a:ext cx="298166" cy="404007"/>
          </a:xfrm>
          <a:prstGeom prst="downArrow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8" name="文本框 317">
            <a:extLst>
              <a:ext uri="{FF2B5EF4-FFF2-40B4-BE49-F238E27FC236}">
                <a16:creationId xmlns:a16="http://schemas.microsoft.com/office/drawing/2014/main" id="{FF36CEC4-64F3-702E-B368-93668D6AFDA9}"/>
              </a:ext>
            </a:extLst>
          </p:cNvPr>
          <p:cNvSpPr txBox="1"/>
          <p:nvPr/>
        </p:nvSpPr>
        <p:spPr>
          <a:xfrm>
            <a:off x="10080548" y="1458851"/>
            <a:ext cx="1486187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HTTP/JSON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319" name="文本框 318">
            <a:extLst>
              <a:ext uri="{FF2B5EF4-FFF2-40B4-BE49-F238E27FC236}">
                <a16:creationId xmlns:a16="http://schemas.microsoft.com/office/drawing/2014/main" id="{C6DD894C-6B56-EAEA-E6F8-81165FD85326}"/>
              </a:ext>
            </a:extLst>
          </p:cNvPr>
          <p:cNvSpPr txBox="1"/>
          <p:nvPr/>
        </p:nvSpPr>
        <p:spPr>
          <a:xfrm>
            <a:off x="772960" y="2397412"/>
            <a:ext cx="800219" cy="3385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网关层</a:t>
            </a:r>
          </a:p>
        </p:txBody>
      </p:sp>
    </p:spTree>
    <p:extLst>
      <p:ext uri="{BB962C8B-B14F-4D97-AF65-F5344CB8AC3E}">
        <p14:creationId xmlns:p14="http://schemas.microsoft.com/office/powerpoint/2010/main" val="3591573794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Rectangle 14">
            <a:extLst>
              <a:ext uri="{FF2B5EF4-FFF2-40B4-BE49-F238E27FC236}">
                <a16:creationId xmlns:a16="http://schemas.microsoft.com/office/drawing/2014/main" id="{E5A8D19E-34A1-44F1-AB00-38B6DDAB8D8D}"/>
              </a:ext>
            </a:extLst>
          </p:cNvPr>
          <p:cNvSpPr/>
          <p:nvPr/>
        </p:nvSpPr>
        <p:spPr>
          <a:xfrm>
            <a:off x="88610" y="4191"/>
            <a:ext cx="2644934" cy="523220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系统架构</a:t>
            </a:r>
          </a:p>
        </p:txBody>
      </p:sp>
      <p:sp>
        <p:nvSpPr>
          <p:cNvPr id="15" name="左大括号 14">
            <a:extLst>
              <a:ext uri="{FF2B5EF4-FFF2-40B4-BE49-F238E27FC236}">
                <a16:creationId xmlns:a16="http://schemas.microsoft.com/office/drawing/2014/main" id="{2D590293-BC0E-4DC8-8937-1F1233A715F3}"/>
              </a:ext>
            </a:extLst>
          </p:cNvPr>
          <p:cNvSpPr/>
          <p:nvPr/>
        </p:nvSpPr>
        <p:spPr>
          <a:xfrm>
            <a:off x="384816" y="2695327"/>
            <a:ext cx="140221" cy="559755"/>
          </a:xfrm>
          <a:prstGeom prst="leftBrace">
            <a:avLst/>
          </a:prstGeom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D3F4A58-A83E-40B9-A234-CD7E6CE8B8FB}"/>
              </a:ext>
            </a:extLst>
          </p:cNvPr>
          <p:cNvSpPr/>
          <p:nvPr/>
        </p:nvSpPr>
        <p:spPr>
          <a:xfrm>
            <a:off x="1042172" y="6300080"/>
            <a:ext cx="9959176" cy="40900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2" name="矩形 401">
            <a:extLst>
              <a:ext uri="{FF2B5EF4-FFF2-40B4-BE49-F238E27FC236}">
                <a16:creationId xmlns:a16="http://schemas.microsoft.com/office/drawing/2014/main" id="{92606BB4-80D6-C24C-8F61-B427D145E897}"/>
              </a:ext>
            </a:extLst>
          </p:cNvPr>
          <p:cNvSpPr/>
          <p:nvPr/>
        </p:nvSpPr>
        <p:spPr>
          <a:xfrm>
            <a:off x="1226683" y="6393473"/>
            <a:ext cx="1283013" cy="26256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消息发送</a:t>
            </a:r>
          </a:p>
        </p:txBody>
      </p:sp>
      <p:sp>
        <p:nvSpPr>
          <p:cNvPr id="403" name="矩形 402">
            <a:extLst>
              <a:ext uri="{FF2B5EF4-FFF2-40B4-BE49-F238E27FC236}">
                <a16:creationId xmlns:a16="http://schemas.microsoft.com/office/drawing/2014/main" id="{EA733432-BEA6-F54A-A35B-18DE8B490136}"/>
              </a:ext>
            </a:extLst>
          </p:cNvPr>
          <p:cNvSpPr/>
          <p:nvPr/>
        </p:nvSpPr>
        <p:spPr>
          <a:xfrm>
            <a:off x="2902188" y="6393473"/>
            <a:ext cx="1283013" cy="26256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账号权限</a:t>
            </a:r>
          </a:p>
        </p:txBody>
      </p:sp>
      <p:sp>
        <p:nvSpPr>
          <p:cNvPr id="404" name="矩形 403">
            <a:extLst>
              <a:ext uri="{FF2B5EF4-FFF2-40B4-BE49-F238E27FC236}">
                <a16:creationId xmlns:a16="http://schemas.microsoft.com/office/drawing/2014/main" id="{29CDA701-3358-124D-A228-38DADA3DB9A7}"/>
              </a:ext>
            </a:extLst>
          </p:cNvPr>
          <p:cNvSpPr/>
          <p:nvPr/>
        </p:nvSpPr>
        <p:spPr>
          <a:xfrm>
            <a:off x="6253195" y="6393473"/>
            <a:ext cx="1283013" cy="26256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组织员工</a:t>
            </a:r>
          </a:p>
        </p:txBody>
      </p:sp>
      <p:sp>
        <p:nvSpPr>
          <p:cNvPr id="405" name="矩形 404">
            <a:extLst>
              <a:ext uri="{FF2B5EF4-FFF2-40B4-BE49-F238E27FC236}">
                <a16:creationId xmlns:a16="http://schemas.microsoft.com/office/drawing/2014/main" id="{E616CC8C-F8E1-B143-8EA5-8A13D23A98FD}"/>
              </a:ext>
            </a:extLst>
          </p:cNvPr>
          <p:cNvSpPr/>
          <p:nvPr/>
        </p:nvSpPr>
        <p:spPr>
          <a:xfrm>
            <a:off x="7928700" y="6393473"/>
            <a:ext cx="1283013" cy="26256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结算</a:t>
            </a:r>
          </a:p>
        </p:txBody>
      </p:sp>
      <p:sp>
        <p:nvSpPr>
          <p:cNvPr id="406" name="矩形 405">
            <a:extLst>
              <a:ext uri="{FF2B5EF4-FFF2-40B4-BE49-F238E27FC236}">
                <a16:creationId xmlns:a16="http://schemas.microsoft.com/office/drawing/2014/main" id="{323B4D11-C2E5-1E41-BA12-AEDBDEB0DDE0}"/>
              </a:ext>
            </a:extLst>
          </p:cNvPr>
          <p:cNvSpPr/>
          <p:nvPr/>
        </p:nvSpPr>
        <p:spPr>
          <a:xfrm>
            <a:off x="4577691" y="6393473"/>
            <a:ext cx="1283013" cy="26256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审计日志</a:t>
            </a:r>
          </a:p>
        </p:txBody>
      </p:sp>
      <p:sp>
        <p:nvSpPr>
          <p:cNvPr id="407" name="矩形 406">
            <a:extLst>
              <a:ext uri="{FF2B5EF4-FFF2-40B4-BE49-F238E27FC236}">
                <a16:creationId xmlns:a16="http://schemas.microsoft.com/office/drawing/2014/main" id="{89F243F7-3ABF-C148-A5FE-75F64343EA1F}"/>
              </a:ext>
            </a:extLst>
          </p:cNvPr>
          <p:cNvSpPr/>
          <p:nvPr/>
        </p:nvSpPr>
        <p:spPr>
          <a:xfrm>
            <a:off x="9604203" y="6393473"/>
            <a:ext cx="1283013" cy="26256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埋点</a:t>
            </a:r>
          </a:p>
        </p:txBody>
      </p:sp>
      <p:sp>
        <p:nvSpPr>
          <p:cNvPr id="409" name="文本框 408">
            <a:extLst>
              <a:ext uri="{FF2B5EF4-FFF2-40B4-BE49-F238E27FC236}">
                <a16:creationId xmlns:a16="http://schemas.microsoft.com/office/drawing/2014/main" id="{B54DAEF8-B184-234B-B20E-183BBB5BC07D}"/>
              </a:ext>
            </a:extLst>
          </p:cNvPr>
          <p:cNvSpPr txBox="1"/>
          <p:nvPr/>
        </p:nvSpPr>
        <p:spPr>
          <a:xfrm>
            <a:off x="11017061" y="2312159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总体架构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78A261E-BE80-4275-A9B2-3C63674A979C}"/>
              </a:ext>
            </a:extLst>
          </p:cNvPr>
          <p:cNvSpPr/>
          <p:nvPr/>
        </p:nvSpPr>
        <p:spPr>
          <a:xfrm>
            <a:off x="11091984" y="2312158"/>
            <a:ext cx="983719" cy="439692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5" name="矩形 414">
            <a:extLst>
              <a:ext uri="{FF2B5EF4-FFF2-40B4-BE49-F238E27FC236}">
                <a16:creationId xmlns:a16="http://schemas.microsoft.com/office/drawing/2014/main" id="{9544CE73-9A6D-FC45-A076-28603ACC6A1D}"/>
              </a:ext>
            </a:extLst>
          </p:cNvPr>
          <p:cNvSpPr/>
          <p:nvPr/>
        </p:nvSpPr>
        <p:spPr>
          <a:xfrm>
            <a:off x="11165562" y="2731968"/>
            <a:ext cx="802848" cy="1227288"/>
          </a:xfrm>
          <a:prstGeom prst="rect">
            <a:avLst/>
          </a:prstGeom>
          <a:noFill/>
          <a:ln>
            <a:solidFill>
              <a:srgbClr val="C0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8" name="矩形 417">
            <a:extLst>
              <a:ext uri="{FF2B5EF4-FFF2-40B4-BE49-F238E27FC236}">
                <a16:creationId xmlns:a16="http://schemas.microsoft.com/office/drawing/2014/main" id="{DD469091-0BC5-CF45-923C-E9541BDB19D1}"/>
              </a:ext>
            </a:extLst>
          </p:cNvPr>
          <p:cNvSpPr/>
          <p:nvPr/>
        </p:nvSpPr>
        <p:spPr>
          <a:xfrm>
            <a:off x="11207585" y="2996691"/>
            <a:ext cx="721441" cy="25066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系统分层</a:t>
            </a:r>
          </a:p>
        </p:txBody>
      </p:sp>
      <p:sp>
        <p:nvSpPr>
          <p:cNvPr id="419" name="矩形 418">
            <a:extLst>
              <a:ext uri="{FF2B5EF4-FFF2-40B4-BE49-F238E27FC236}">
                <a16:creationId xmlns:a16="http://schemas.microsoft.com/office/drawing/2014/main" id="{024DCBEC-B5C4-5942-81DA-9DF8480C9985}"/>
              </a:ext>
            </a:extLst>
          </p:cNvPr>
          <p:cNvSpPr/>
          <p:nvPr/>
        </p:nvSpPr>
        <p:spPr>
          <a:xfrm>
            <a:off x="11199919" y="3323569"/>
            <a:ext cx="721441" cy="25066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DDD</a:t>
            </a:r>
            <a:r>
              <a:rPr kumimoji="1" lang="zh-CN" altLang="en-US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分层</a:t>
            </a:r>
          </a:p>
        </p:txBody>
      </p:sp>
      <p:sp>
        <p:nvSpPr>
          <p:cNvPr id="420" name="矩形 419">
            <a:extLst>
              <a:ext uri="{FF2B5EF4-FFF2-40B4-BE49-F238E27FC236}">
                <a16:creationId xmlns:a16="http://schemas.microsoft.com/office/drawing/2014/main" id="{DACDC8D9-2437-3146-A32B-DF447CE6C539}"/>
              </a:ext>
            </a:extLst>
          </p:cNvPr>
          <p:cNvSpPr/>
          <p:nvPr/>
        </p:nvSpPr>
        <p:spPr>
          <a:xfrm>
            <a:off x="11211419" y="3650447"/>
            <a:ext cx="721441" cy="25066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工程目录</a:t>
            </a:r>
          </a:p>
        </p:txBody>
      </p:sp>
      <p:sp>
        <p:nvSpPr>
          <p:cNvPr id="417" name="文本框 416">
            <a:extLst>
              <a:ext uri="{FF2B5EF4-FFF2-40B4-BE49-F238E27FC236}">
                <a16:creationId xmlns:a16="http://schemas.microsoft.com/office/drawing/2014/main" id="{ABB22552-2C5D-7046-A7D0-1DFEA5CD2F1D}"/>
              </a:ext>
            </a:extLst>
          </p:cNvPr>
          <p:cNvSpPr txBox="1"/>
          <p:nvPr/>
        </p:nvSpPr>
        <p:spPr>
          <a:xfrm>
            <a:off x="11189272" y="2728717"/>
            <a:ext cx="697627" cy="2441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分层架构</a:t>
            </a:r>
          </a:p>
        </p:txBody>
      </p:sp>
      <p:sp>
        <p:nvSpPr>
          <p:cNvPr id="421" name="矩形 420">
            <a:extLst>
              <a:ext uri="{FF2B5EF4-FFF2-40B4-BE49-F238E27FC236}">
                <a16:creationId xmlns:a16="http://schemas.microsoft.com/office/drawing/2014/main" id="{BE7146D9-C75E-1945-9FA3-29A8F244032E}"/>
              </a:ext>
            </a:extLst>
          </p:cNvPr>
          <p:cNvSpPr/>
          <p:nvPr/>
        </p:nvSpPr>
        <p:spPr>
          <a:xfrm>
            <a:off x="11177690" y="4069736"/>
            <a:ext cx="802848" cy="1227288"/>
          </a:xfrm>
          <a:prstGeom prst="rect">
            <a:avLst/>
          </a:prstGeom>
          <a:noFill/>
          <a:ln>
            <a:solidFill>
              <a:srgbClr val="C0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2" name="矩形 421">
            <a:extLst>
              <a:ext uri="{FF2B5EF4-FFF2-40B4-BE49-F238E27FC236}">
                <a16:creationId xmlns:a16="http://schemas.microsoft.com/office/drawing/2014/main" id="{8B78DF84-92E8-384D-B718-0B4DE967775F}"/>
              </a:ext>
            </a:extLst>
          </p:cNvPr>
          <p:cNvSpPr/>
          <p:nvPr/>
        </p:nvSpPr>
        <p:spPr>
          <a:xfrm>
            <a:off x="11219713" y="4334459"/>
            <a:ext cx="721441" cy="25066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架构规范</a:t>
            </a:r>
          </a:p>
        </p:txBody>
      </p:sp>
      <p:sp>
        <p:nvSpPr>
          <p:cNvPr id="423" name="矩形 422">
            <a:extLst>
              <a:ext uri="{FF2B5EF4-FFF2-40B4-BE49-F238E27FC236}">
                <a16:creationId xmlns:a16="http://schemas.microsoft.com/office/drawing/2014/main" id="{015240FE-536E-784C-ADE8-3E86E5B7A8FF}"/>
              </a:ext>
            </a:extLst>
          </p:cNvPr>
          <p:cNvSpPr/>
          <p:nvPr/>
        </p:nvSpPr>
        <p:spPr>
          <a:xfrm>
            <a:off x="11212047" y="4661336"/>
            <a:ext cx="721441" cy="25066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领域规范</a:t>
            </a:r>
          </a:p>
        </p:txBody>
      </p:sp>
      <p:sp>
        <p:nvSpPr>
          <p:cNvPr id="424" name="矩形 423">
            <a:extLst>
              <a:ext uri="{FF2B5EF4-FFF2-40B4-BE49-F238E27FC236}">
                <a16:creationId xmlns:a16="http://schemas.microsoft.com/office/drawing/2014/main" id="{090C8E8F-E6B4-A44F-A142-A7AF3A290463}"/>
              </a:ext>
            </a:extLst>
          </p:cNvPr>
          <p:cNvSpPr/>
          <p:nvPr/>
        </p:nvSpPr>
        <p:spPr>
          <a:xfrm>
            <a:off x="11223547" y="4988214"/>
            <a:ext cx="721441" cy="25066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开发规范</a:t>
            </a:r>
          </a:p>
        </p:txBody>
      </p:sp>
      <p:sp>
        <p:nvSpPr>
          <p:cNvPr id="425" name="文本框 424">
            <a:extLst>
              <a:ext uri="{FF2B5EF4-FFF2-40B4-BE49-F238E27FC236}">
                <a16:creationId xmlns:a16="http://schemas.microsoft.com/office/drawing/2014/main" id="{6A0AD199-F586-714A-AE94-3DA0A0E57A69}"/>
              </a:ext>
            </a:extLst>
          </p:cNvPr>
          <p:cNvSpPr txBox="1"/>
          <p:nvPr/>
        </p:nvSpPr>
        <p:spPr>
          <a:xfrm>
            <a:off x="11201400" y="4066485"/>
            <a:ext cx="713657" cy="24417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kumimoji="1"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标准规范</a:t>
            </a:r>
          </a:p>
        </p:txBody>
      </p:sp>
      <p:sp>
        <p:nvSpPr>
          <p:cNvPr id="427" name="矩形 426">
            <a:extLst>
              <a:ext uri="{FF2B5EF4-FFF2-40B4-BE49-F238E27FC236}">
                <a16:creationId xmlns:a16="http://schemas.microsoft.com/office/drawing/2014/main" id="{4302F3B2-589D-724B-AD38-199E6DE702ED}"/>
              </a:ext>
            </a:extLst>
          </p:cNvPr>
          <p:cNvSpPr/>
          <p:nvPr/>
        </p:nvSpPr>
        <p:spPr>
          <a:xfrm>
            <a:off x="11164643" y="5409527"/>
            <a:ext cx="802848" cy="1227288"/>
          </a:xfrm>
          <a:prstGeom prst="rect">
            <a:avLst/>
          </a:prstGeom>
          <a:noFill/>
          <a:ln>
            <a:solidFill>
              <a:srgbClr val="C0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0" name="矩形 429">
            <a:extLst>
              <a:ext uri="{FF2B5EF4-FFF2-40B4-BE49-F238E27FC236}">
                <a16:creationId xmlns:a16="http://schemas.microsoft.com/office/drawing/2014/main" id="{FF4CFCA1-9E4F-964A-86DF-4492B34C1001}"/>
              </a:ext>
            </a:extLst>
          </p:cNvPr>
          <p:cNvSpPr/>
          <p:nvPr/>
        </p:nvSpPr>
        <p:spPr>
          <a:xfrm>
            <a:off x="11206666" y="5674250"/>
            <a:ext cx="721441" cy="25066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租户切换</a:t>
            </a:r>
          </a:p>
        </p:txBody>
      </p:sp>
      <p:sp>
        <p:nvSpPr>
          <p:cNvPr id="431" name="矩形 430">
            <a:extLst>
              <a:ext uri="{FF2B5EF4-FFF2-40B4-BE49-F238E27FC236}">
                <a16:creationId xmlns:a16="http://schemas.microsoft.com/office/drawing/2014/main" id="{94B1014B-9694-3F42-9827-0DEBADCD67D6}"/>
              </a:ext>
            </a:extLst>
          </p:cNvPr>
          <p:cNvSpPr/>
          <p:nvPr/>
        </p:nvSpPr>
        <p:spPr>
          <a:xfrm>
            <a:off x="11199000" y="6001128"/>
            <a:ext cx="721441" cy="25066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租户标识</a:t>
            </a:r>
          </a:p>
        </p:txBody>
      </p:sp>
      <p:sp>
        <p:nvSpPr>
          <p:cNvPr id="432" name="矩形 431">
            <a:extLst>
              <a:ext uri="{FF2B5EF4-FFF2-40B4-BE49-F238E27FC236}">
                <a16:creationId xmlns:a16="http://schemas.microsoft.com/office/drawing/2014/main" id="{C437691F-6123-1A47-9876-737CB46E7644}"/>
              </a:ext>
            </a:extLst>
          </p:cNvPr>
          <p:cNvSpPr/>
          <p:nvPr/>
        </p:nvSpPr>
        <p:spPr>
          <a:xfrm>
            <a:off x="11210500" y="6328006"/>
            <a:ext cx="721441" cy="25066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租户隔离</a:t>
            </a:r>
          </a:p>
        </p:txBody>
      </p:sp>
      <p:sp>
        <p:nvSpPr>
          <p:cNvPr id="429" name="文本框 428">
            <a:extLst>
              <a:ext uri="{FF2B5EF4-FFF2-40B4-BE49-F238E27FC236}">
                <a16:creationId xmlns:a16="http://schemas.microsoft.com/office/drawing/2014/main" id="{C16107DF-A165-0C41-9869-C621BDF7EC71}"/>
              </a:ext>
            </a:extLst>
          </p:cNvPr>
          <p:cNvSpPr txBox="1"/>
          <p:nvPr/>
        </p:nvSpPr>
        <p:spPr>
          <a:xfrm>
            <a:off x="11188353" y="5406276"/>
            <a:ext cx="569387" cy="2441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多租户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7405D92-CB1B-44AB-BB43-1A5E0F8A66E5}"/>
              </a:ext>
            </a:extLst>
          </p:cNvPr>
          <p:cNvSpPr/>
          <p:nvPr/>
        </p:nvSpPr>
        <p:spPr>
          <a:xfrm>
            <a:off x="1042173" y="2282873"/>
            <a:ext cx="9959175" cy="392217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4" name="文本框 213">
            <a:extLst>
              <a:ext uri="{FF2B5EF4-FFF2-40B4-BE49-F238E27FC236}">
                <a16:creationId xmlns:a16="http://schemas.microsoft.com/office/drawing/2014/main" id="{EE8613CB-2450-734A-832F-067292758F75}"/>
              </a:ext>
            </a:extLst>
          </p:cNvPr>
          <p:cNvSpPr txBox="1"/>
          <p:nvPr/>
        </p:nvSpPr>
        <p:spPr>
          <a:xfrm>
            <a:off x="3409147" y="2800117"/>
            <a:ext cx="18473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6C5B112-7069-9941-A091-27DF0FBAA8A1}"/>
              </a:ext>
            </a:extLst>
          </p:cNvPr>
          <p:cNvSpPr/>
          <p:nvPr/>
        </p:nvSpPr>
        <p:spPr>
          <a:xfrm>
            <a:off x="1164275" y="2332056"/>
            <a:ext cx="9696956" cy="377236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8" name="文本框 297">
            <a:extLst>
              <a:ext uri="{FF2B5EF4-FFF2-40B4-BE49-F238E27FC236}">
                <a16:creationId xmlns:a16="http://schemas.microsoft.com/office/drawing/2014/main" id="{A46F871C-F7F2-D249-826C-6C213EE1443E}"/>
              </a:ext>
            </a:extLst>
          </p:cNvPr>
          <p:cNvSpPr txBox="1"/>
          <p:nvPr/>
        </p:nvSpPr>
        <p:spPr>
          <a:xfrm>
            <a:off x="1740093" y="2338501"/>
            <a:ext cx="6135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kumimoji="1"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4" name="文本框 443">
            <a:extLst>
              <a:ext uri="{FF2B5EF4-FFF2-40B4-BE49-F238E27FC236}">
                <a16:creationId xmlns:a16="http://schemas.microsoft.com/office/drawing/2014/main" id="{6950B2B4-A669-5F49-BA1B-7261D3A18EC8}"/>
              </a:ext>
            </a:extLst>
          </p:cNvPr>
          <p:cNvSpPr txBox="1"/>
          <p:nvPr/>
        </p:nvSpPr>
        <p:spPr>
          <a:xfrm>
            <a:off x="5159150" y="2430919"/>
            <a:ext cx="2635783" cy="24622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zh-CN" alt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</a:t>
            </a:r>
            <a:r>
              <a:rPr kumimoji="1" lang="en-US" altLang="zh-CN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(task)</a:t>
            </a:r>
            <a:endParaRPr kumimoji="1" lang="zh-CN" altLang="en-US" sz="1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3" name="矩形 412">
            <a:extLst>
              <a:ext uri="{FF2B5EF4-FFF2-40B4-BE49-F238E27FC236}">
                <a16:creationId xmlns:a16="http://schemas.microsoft.com/office/drawing/2014/main" id="{6EE3E93E-B7C6-6749-89DF-1DCF20904E54}"/>
              </a:ext>
            </a:extLst>
          </p:cNvPr>
          <p:cNvSpPr/>
          <p:nvPr/>
        </p:nvSpPr>
        <p:spPr>
          <a:xfrm>
            <a:off x="5139040" y="2422237"/>
            <a:ext cx="2684638" cy="1713397"/>
          </a:xfrm>
          <a:prstGeom prst="rect">
            <a:avLst/>
          </a:prstGeom>
          <a:noFill/>
          <a:ln w="3175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n w="0"/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0" name="矩形 359">
            <a:extLst>
              <a:ext uri="{FF2B5EF4-FFF2-40B4-BE49-F238E27FC236}">
                <a16:creationId xmlns:a16="http://schemas.microsoft.com/office/drawing/2014/main" id="{96BCAEB8-116A-9B45-8E81-E80D59CC6BEA}"/>
              </a:ext>
            </a:extLst>
          </p:cNvPr>
          <p:cNvSpPr/>
          <p:nvPr/>
        </p:nvSpPr>
        <p:spPr>
          <a:xfrm>
            <a:off x="5257421" y="2723528"/>
            <a:ext cx="1151358" cy="1366758"/>
          </a:xfrm>
          <a:prstGeom prst="rect">
            <a:avLst/>
          </a:prstGeom>
          <a:noFill/>
          <a:ln>
            <a:solidFill>
              <a:srgbClr val="C0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0" name="矩形 389">
            <a:extLst>
              <a:ext uri="{FF2B5EF4-FFF2-40B4-BE49-F238E27FC236}">
                <a16:creationId xmlns:a16="http://schemas.microsoft.com/office/drawing/2014/main" id="{D4658A40-23EA-E140-961D-68F6CA22AA0C}"/>
              </a:ext>
            </a:extLst>
          </p:cNvPr>
          <p:cNvSpPr/>
          <p:nvPr/>
        </p:nvSpPr>
        <p:spPr>
          <a:xfrm>
            <a:off x="5376975" y="2871158"/>
            <a:ext cx="957383" cy="22333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生日关怀</a:t>
            </a:r>
          </a:p>
        </p:txBody>
      </p:sp>
      <p:sp>
        <p:nvSpPr>
          <p:cNvPr id="411" name="矩形 410">
            <a:extLst>
              <a:ext uri="{FF2B5EF4-FFF2-40B4-BE49-F238E27FC236}">
                <a16:creationId xmlns:a16="http://schemas.microsoft.com/office/drawing/2014/main" id="{43891D2D-9BD2-774C-A1F2-C6D9124A94BE}"/>
              </a:ext>
            </a:extLst>
          </p:cNvPr>
          <p:cNvSpPr/>
          <p:nvPr/>
        </p:nvSpPr>
        <p:spPr>
          <a:xfrm>
            <a:off x="5366802" y="3172056"/>
            <a:ext cx="957383" cy="22333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积分邀约</a:t>
            </a:r>
          </a:p>
        </p:txBody>
      </p:sp>
      <p:sp>
        <p:nvSpPr>
          <p:cNvPr id="412" name="矩形 411">
            <a:extLst>
              <a:ext uri="{FF2B5EF4-FFF2-40B4-BE49-F238E27FC236}">
                <a16:creationId xmlns:a16="http://schemas.microsoft.com/office/drawing/2014/main" id="{43FF42F5-E9AA-2A4A-9626-1CA11A87FD26}"/>
              </a:ext>
            </a:extLst>
          </p:cNvPr>
          <p:cNvSpPr/>
          <p:nvPr/>
        </p:nvSpPr>
        <p:spPr>
          <a:xfrm>
            <a:off x="5370049" y="3491675"/>
            <a:ext cx="957383" cy="22333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权益关怀</a:t>
            </a:r>
          </a:p>
        </p:txBody>
      </p:sp>
      <p:sp>
        <p:nvSpPr>
          <p:cNvPr id="362" name="文本框 361">
            <a:extLst>
              <a:ext uri="{FF2B5EF4-FFF2-40B4-BE49-F238E27FC236}">
                <a16:creationId xmlns:a16="http://schemas.microsoft.com/office/drawing/2014/main" id="{3F0740A4-B824-EA48-AC8A-49DD3E08372A}"/>
              </a:ext>
            </a:extLst>
          </p:cNvPr>
          <p:cNvSpPr txBox="1"/>
          <p:nvPr/>
        </p:nvSpPr>
        <p:spPr>
          <a:xfrm>
            <a:off x="5195948" y="2674985"/>
            <a:ext cx="6660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任务</a:t>
            </a:r>
          </a:p>
        </p:txBody>
      </p:sp>
      <p:sp>
        <p:nvSpPr>
          <p:cNvPr id="317" name="矩形 316">
            <a:extLst>
              <a:ext uri="{FF2B5EF4-FFF2-40B4-BE49-F238E27FC236}">
                <a16:creationId xmlns:a16="http://schemas.microsoft.com/office/drawing/2014/main" id="{EEB5F678-855C-8D41-A4E2-45C998150629}"/>
              </a:ext>
            </a:extLst>
          </p:cNvPr>
          <p:cNvSpPr/>
          <p:nvPr/>
        </p:nvSpPr>
        <p:spPr>
          <a:xfrm>
            <a:off x="5369703" y="3776368"/>
            <a:ext cx="957383" cy="23148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新品邀约</a:t>
            </a:r>
          </a:p>
        </p:txBody>
      </p:sp>
      <p:sp>
        <p:nvSpPr>
          <p:cNvPr id="462" name="矩形 461">
            <a:extLst>
              <a:ext uri="{FF2B5EF4-FFF2-40B4-BE49-F238E27FC236}">
                <a16:creationId xmlns:a16="http://schemas.microsoft.com/office/drawing/2014/main" id="{82792A1A-EBDB-6549-ADAE-0673225E621E}"/>
              </a:ext>
            </a:extLst>
          </p:cNvPr>
          <p:cNvSpPr/>
          <p:nvPr/>
        </p:nvSpPr>
        <p:spPr>
          <a:xfrm>
            <a:off x="6591089" y="2707448"/>
            <a:ext cx="1151358" cy="1387444"/>
          </a:xfrm>
          <a:prstGeom prst="rect">
            <a:avLst/>
          </a:prstGeom>
          <a:noFill/>
          <a:ln>
            <a:solidFill>
              <a:srgbClr val="C0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3" name="矩形 462">
            <a:extLst>
              <a:ext uri="{FF2B5EF4-FFF2-40B4-BE49-F238E27FC236}">
                <a16:creationId xmlns:a16="http://schemas.microsoft.com/office/drawing/2014/main" id="{82AC856E-8441-8242-8508-B7D45E667813}"/>
              </a:ext>
            </a:extLst>
          </p:cNvPr>
          <p:cNvSpPr/>
          <p:nvPr/>
        </p:nvSpPr>
        <p:spPr>
          <a:xfrm>
            <a:off x="6710643" y="2855078"/>
            <a:ext cx="957383" cy="22333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完成率</a:t>
            </a:r>
          </a:p>
        </p:txBody>
      </p:sp>
      <p:sp>
        <p:nvSpPr>
          <p:cNvPr id="464" name="矩形 463">
            <a:extLst>
              <a:ext uri="{FF2B5EF4-FFF2-40B4-BE49-F238E27FC236}">
                <a16:creationId xmlns:a16="http://schemas.microsoft.com/office/drawing/2014/main" id="{968E6E9F-D96C-3146-A805-350AC19473D1}"/>
              </a:ext>
            </a:extLst>
          </p:cNvPr>
          <p:cNvSpPr/>
          <p:nvPr/>
        </p:nvSpPr>
        <p:spPr>
          <a:xfrm>
            <a:off x="6700470" y="3141782"/>
            <a:ext cx="957383" cy="22333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任务分级</a:t>
            </a:r>
          </a:p>
        </p:txBody>
      </p:sp>
      <p:sp>
        <p:nvSpPr>
          <p:cNvPr id="465" name="矩形 464">
            <a:extLst>
              <a:ext uri="{FF2B5EF4-FFF2-40B4-BE49-F238E27FC236}">
                <a16:creationId xmlns:a16="http://schemas.microsoft.com/office/drawing/2014/main" id="{82CC6E34-2C89-F14A-9BAF-E69C074088EE}"/>
              </a:ext>
            </a:extLst>
          </p:cNvPr>
          <p:cNvSpPr/>
          <p:nvPr/>
        </p:nvSpPr>
        <p:spPr>
          <a:xfrm>
            <a:off x="6703717" y="3461402"/>
            <a:ext cx="957383" cy="22333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逾期率</a:t>
            </a:r>
          </a:p>
        </p:txBody>
      </p:sp>
      <p:sp>
        <p:nvSpPr>
          <p:cNvPr id="466" name="文本框 465">
            <a:extLst>
              <a:ext uri="{FF2B5EF4-FFF2-40B4-BE49-F238E27FC236}">
                <a16:creationId xmlns:a16="http://schemas.microsoft.com/office/drawing/2014/main" id="{386B9ABF-4D06-274D-9A03-0F6C0E506A77}"/>
              </a:ext>
            </a:extLst>
          </p:cNvPr>
          <p:cNvSpPr txBox="1"/>
          <p:nvPr/>
        </p:nvSpPr>
        <p:spPr>
          <a:xfrm>
            <a:off x="6529616" y="2658905"/>
            <a:ext cx="6660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跟踪</a:t>
            </a:r>
          </a:p>
        </p:txBody>
      </p:sp>
      <p:sp>
        <p:nvSpPr>
          <p:cNvPr id="467" name="矩形 466">
            <a:extLst>
              <a:ext uri="{FF2B5EF4-FFF2-40B4-BE49-F238E27FC236}">
                <a16:creationId xmlns:a16="http://schemas.microsoft.com/office/drawing/2014/main" id="{24AE32D3-0DB8-8248-AB10-8BBC48BEA9FE}"/>
              </a:ext>
            </a:extLst>
          </p:cNvPr>
          <p:cNvSpPr/>
          <p:nvPr/>
        </p:nvSpPr>
        <p:spPr>
          <a:xfrm>
            <a:off x="6703371" y="3774481"/>
            <a:ext cx="957383" cy="23148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报表</a:t>
            </a:r>
          </a:p>
        </p:txBody>
      </p:sp>
      <p:sp>
        <p:nvSpPr>
          <p:cNvPr id="469" name="矩形 468">
            <a:extLst>
              <a:ext uri="{FF2B5EF4-FFF2-40B4-BE49-F238E27FC236}">
                <a16:creationId xmlns:a16="http://schemas.microsoft.com/office/drawing/2014/main" id="{FEB164A6-2BDC-0446-BEDE-B0590E146BA3}"/>
              </a:ext>
            </a:extLst>
          </p:cNvPr>
          <p:cNvSpPr/>
          <p:nvPr/>
        </p:nvSpPr>
        <p:spPr>
          <a:xfrm>
            <a:off x="5124972" y="4238595"/>
            <a:ext cx="2705919" cy="1753917"/>
          </a:xfrm>
          <a:prstGeom prst="rect">
            <a:avLst/>
          </a:prstGeom>
          <a:noFill/>
          <a:ln w="3175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n w="0"/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0" name="文本框 469">
            <a:extLst>
              <a:ext uri="{FF2B5EF4-FFF2-40B4-BE49-F238E27FC236}">
                <a16:creationId xmlns:a16="http://schemas.microsoft.com/office/drawing/2014/main" id="{E670ED4F-3647-9547-A080-111FF3AFF882}"/>
              </a:ext>
            </a:extLst>
          </p:cNvPr>
          <p:cNvSpPr txBox="1"/>
          <p:nvPr/>
        </p:nvSpPr>
        <p:spPr>
          <a:xfrm>
            <a:off x="5163721" y="4269589"/>
            <a:ext cx="2643478" cy="24622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zh-CN" alt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</a:t>
            </a:r>
            <a:r>
              <a:rPr kumimoji="1" lang="en-US" altLang="zh-CN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(content)</a:t>
            </a:r>
            <a:endParaRPr kumimoji="1" lang="zh-CN" altLang="en-US" sz="1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9" name="矩形 478">
            <a:extLst>
              <a:ext uri="{FF2B5EF4-FFF2-40B4-BE49-F238E27FC236}">
                <a16:creationId xmlns:a16="http://schemas.microsoft.com/office/drawing/2014/main" id="{57F5BA6A-5781-1840-AA5C-DA0717536A82}"/>
              </a:ext>
            </a:extLst>
          </p:cNvPr>
          <p:cNvSpPr/>
          <p:nvPr/>
        </p:nvSpPr>
        <p:spPr>
          <a:xfrm>
            <a:off x="5244291" y="4529751"/>
            <a:ext cx="1160485" cy="1410085"/>
          </a:xfrm>
          <a:prstGeom prst="rect">
            <a:avLst/>
          </a:prstGeom>
          <a:noFill/>
          <a:ln>
            <a:solidFill>
              <a:srgbClr val="C0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0" name="矩形 479">
            <a:extLst>
              <a:ext uri="{FF2B5EF4-FFF2-40B4-BE49-F238E27FC236}">
                <a16:creationId xmlns:a16="http://schemas.microsoft.com/office/drawing/2014/main" id="{745ECF66-F805-1D45-ADAF-306A9556D368}"/>
              </a:ext>
            </a:extLst>
          </p:cNvPr>
          <p:cNvSpPr/>
          <p:nvPr/>
        </p:nvSpPr>
        <p:spPr>
          <a:xfrm>
            <a:off x="5364793" y="4699849"/>
            <a:ext cx="964972" cy="21582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共享素材</a:t>
            </a:r>
          </a:p>
        </p:txBody>
      </p:sp>
      <p:sp>
        <p:nvSpPr>
          <p:cNvPr id="481" name="矩形 480">
            <a:extLst>
              <a:ext uri="{FF2B5EF4-FFF2-40B4-BE49-F238E27FC236}">
                <a16:creationId xmlns:a16="http://schemas.microsoft.com/office/drawing/2014/main" id="{6996397B-C796-8B41-B159-6083941ED886}"/>
              </a:ext>
            </a:extLst>
          </p:cNvPr>
          <p:cNvSpPr/>
          <p:nvPr/>
        </p:nvSpPr>
        <p:spPr>
          <a:xfrm>
            <a:off x="5354539" y="5004341"/>
            <a:ext cx="964972" cy="21582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私聊素材</a:t>
            </a:r>
          </a:p>
        </p:txBody>
      </p:sp>
      <p:sp>
        <p:nvSpPr>
          <p:cNvPr id="482" name="矩形 481">
            <a:extLst>
              <a:ext uri="{FF2B5EF4-FFF2-40B4-BE49-F238E27FC236}">
                <a16:creationId xmlns:a16="http://schemas.microsoft.com/office/drawing/2014/main" id="{CEBE906D-66B5-DE47-A96F-D9AE8D3D886F}"/>
              </a:ext>
            </a:extLst>
          </p:cNvPr>
          <p:cNvSpPr/>
          <p:nvPr/>
        </p:nvSpPr>
        <p:spPr>
          <a:xfrm>
            <a:off x="5357812" y="5313210"/>
            <a:ext cx="964972" cy="21582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爆款素材</a:t>
            </a:r>
          </a:p>
        </p:txBody>
      </p:sp>
      <p:sp>
        <p:nvSpPr>
          <p:cNvPr id="483" name="文本框 482">
            <a:extLst>
              <a:ext uri="{FF2B5EF4-FFF2-40B4-BE49-F238E27FC236}">
                <a16:creationId xmlns:a16="http://schemas.microsoft.com/office/drawing/2014/main" id="{2E6FEA32-8822-5543-9FA8-A2996E7CCCD4}"/>
              </a:ext>
            </a:extLst>
          </p:cNvPr>
          <p:cNvSpPr txBox="1"/>
          <p:nvPr/>
        </p:nvSpPr>
        <p:spPr>
          <a:xfrm>
            <a:off x="5182331" y="4482842"/>
            <a:ext cx="6713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素材</a:t>
            </a:r>
          </a:p>
        </p:txBody>
      </p:sp>
      <p:sp>
        <p:nvSpPr>
          <p:cNvPr id="484" name="矩形 483">
            <a:extLst>
              <a:ext uri="{FF2B5EF4-FFF2-40B4-BE49-F238E27FC236}">
                <a16:creationId xmlns:a16="http://schemas.microsoft.com/office/drawing/2014/main" id="{180D6361-8700-0D48-8773-9A55A3412267}"/>
              </a:ext>
            </a:extLst>
          </p:cNvPr>
          <p:cNvSpPr/>
          <p:nvPr/>
        </p:nvSpPr>
        <p:spPr>
          <a:xfrm>
            <a:off x="5357463" y="5615759"/>
            <a:ext cx="964972" cy="22369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朋友圈素材</a:t>
            </a:r>
          </a:p>
        </p:txBody>
      </p:sp>
      <p:sp>
        <p:nvSpPr>
          <p:cNvPr id="473" name="矩形 472">
            <a:extLst>
              <a:ext uri="{FF2B5EF4-FFF2-40B4-BE49-F238E27FC236}">
                <a16:creationId xmlns:a16="http://schemas.microsoft.com/office/drawing/2014/main" id="{AEFC5C60-0407-B642-BF48-FF751CB7ED89}"/>
              </a:ext>
            </a:extLst>
          </p:cNvPr>
          <p:cNvSpPr/>
          <p:nvPr/>
        </p:nvSpPr>
        <p:spPr>
          <a:xfrm>
            <a:off x="6588531" y="4541643"/>
            <a:ext cx="1160485" cy="1410085"/>
          </a:xfrm>
          <a:prstGeom prst="rect">
            <a:avLst/>
          </a:prstGeom>
          <a:noFill/>
          <a:ln>
            <a:solidFill>
              <a:srgbClr val="C0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4" name="矩形 473">
            <a:extLst>
              <a:ext uri="{FF2B5EF4-FFF2-40B4-BE49-F238E27FC236}">
                <a16:creationId xmlns:a16="http://schemas.microsoft.com/office/drawing/2014/main" id="{672C0A38-7553-4F42-BD32-3CC7845EAA1A}"/>
              </a:ext>
            </a:extLst>
          </p:cNvPr>
          <p:cNvSpPr/>
          <p:nvPr/>
        </p:nvSpPr>
        <p:spPr>
          <a:xfrm>
            <a:off x="6709033" y="4711741"/>
            <a:ext cx="964972" cy="21582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帮助中心</a:t>
            </a:r>
          </a:p>
        </p:txBody>
      </p:sp>
      <p:sp>
        <p:nvSpPr>
          <p:cNvPr id="475" name="矩形 474">
            <a:extLst>
              <a:ext uri="{FF2B5EF4-FFF2-40B4-BE49-F238E27FC236}">
                <a16:creationId xmlns:a16="http://schemas.microsoft.com/office/drawing/2014/main" id="{02C75F7B-BD80-E341-B817-082AF5001074}"/>
              </a:ext>
            </a:extLst>
          </p:cNvPr>
          <p:cNvSpPr/>
          <p:nvPr/>
        </p:nvSpPr>
        <p:spPr>
          <a:xfrm>
            <a:off x="6698779" y="5016233"/>
            <a:ext cx="964972" cy="21582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导购教程</a:t>
            </a:r>
          </a:p>
        </p:txBody>
      </p:sp>
      <p:sp>
        <p:nvSpPr>
          <p:cNvPr id="476" name="矩形 475">
            <a:extLst>
              <a:ext uri="{FF2B5EF4-FFF2-40B4-BE49-F238E27FC236}">
                <a16:creationId xmlns:a16="http://schemas.microsoft.com/office/drawing/2014/main" id="{BE7D5093-4439-484B-961C-2A6ACB1900BE}"/>
              </a:ext>
            </a:extLst>
          </p:cNvPr>
          <p:cNvSpPr/>
          <p:nvPr/>
        </p:nvSpPr>
        <p:spPr>
          <a:xfrm>
            <a:off x="6702052" y="5325102"/>
            <a:ext cx="964972" cy="21582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反馈列表</a:t>
            </a:r>
          </a:p>
        </p:txBody>
      </p:sp>
      <p:sp>
        <p:nvSpPr>
          <p:cNvPr id="477" name="文本框 476">
            <a:extLst>
              <a:ext uri="{FF2B5EF4-FFF2-40B4-BE49-F238E27FC236}">
                <a16:creationId xmlns:a16="http://schemas.microsoft.com/office/drawing/2014/main" id="{DBC8FE09-A452-E543-AD4C-C3A750AAA125}"/>
              </a:ext>
            </a:extLst>
          </p:cNvPr>
          <p:cNvSpPr txBox="1"/>
          <p:nvPr/>
        </p:nvSpPr>
        <p:spPr>
          <a:xfrm>
            <a:off x="6526571" y="4494734"/>
            <a:ext cx="6713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教培</a:t>
            </a:r>
          </a:p>
        </p:txBody>
      </p:sp>
      <p:sp>
        <p:nvSpPr>
          <p:cNvPr id="478" name="矩形 477">
            <a:extLst>
              <a:ext uri="{FF2B5EF4-FFF2-40B4-BE49-F238E27FC236}">
                <a16:creationId xmlns:a16="http://schemas.microsoft.com/office/drawing/2014/main" id="{FDA48FE8-C5E1-294B-829B-9A1AFBBE0B3F}"/>
              </a:ext>
            </a:extLst>
          </p:cNvPr>
          <p:cNvSpPr/>
          <p:nvPr/>
        </p:nvSpPr>
        <p:spPr>
          <a:xfrm>
            <a:off x="6701703" y="5627651"/>
            <a:ext cx="964972" cy="22369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导购工单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AB80A79-7626-4C99-8533-6871332B24F2}"/>
              </a:ext>
            </a:extLst>
          </p:cNvPr>
          <p:cNvSpPr/>
          <p:nvPr/>
        </p:nvSpPr>
        <p:spPr>
          <a:xfrm>
            <a:off x="1042172" y="578327"/>
            <a:ext cx="11062906" cy="45437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3" name="矩形 292">
            <a:extLst>
              <a:ext uri="{FF2B5EF4-FFF2-40B4-BE49-F238E27FC236}">
                <a16:creationId xmlns:a16="http://schemas.microsoft.com/office/drawing/2014/main" id="{AA436A60-1ECB-1040-8AC6-05385611D2D5}"/>
              </a:ext>
            </a:extLst>
          </p:cNvPr>
          <p:cNvSpPr/>
          <p:nvPr/>
        </p:nvSpPr>
        <p:spPr>
          <a:xfrm>
            <a:off x="10586985" y="667714"/>
            <a:ext cx="1030818" cy="28385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导购后台</a:t>
            </a:r>
          </a:p>
        </p:txBody>
      </p:sp>
      <p:sp>
        <p:nvSpPr>
          <p:cNvPr id="294" name="矩形 293">
            <a:extLst>
              <a:ext uri="{FF2B5EF4-FFF2-40B4-BE49-F238E27FC236}">
                <a16:creationId xmlns:a16="http://schemas.microsoft.com/office/drawing/2014/main" id="{277DF00B-60F7-784C-98A3-1F77068C1BB3}"/>
              </a:ext>
            </a:extLst>
          </p:cNvPr>
          <p:cNvSpPr/>
          <p:nvPr/>
        </p:nvSpPr>
        <p:spPr>
          <a:xfrm>
            <a:off x="9037478" y="672753"/>
            <a:ext cx="1030818" cy="28385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982</a:t>
            </a:r>
            <a:r>
              <a:rPr kumimoji="1" lang="zh-CN" altLang="en-US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导购</a:t>
            </a:r>
          </a:p>
        </p:txBody>
      </p:sp>
      <p:sp>
        <p:nvSpPr>
          <p:cNvPr id="296" name="矩形 295">
            <a:extLst>
              <a:ext uri="{FF2B5EF4-FFF2-40B4-BE49-F238E27FC236}">
                <a16:creationId xmlns:a16="http://schemas.microsoft.com/office/drawing/2014/main" id="{53EAEA8E-1391-8549-A5BA-3E8D9F9F93E8}"/>
              </a:ext>
            </a:extLst>
          </p:cNvPr>
          <p:cNvSpPr/>
          <p:nvPr/>
        </p:nvSpPr>
        <p:spPr>
          <a:xfrm>
            <a:off x="7357624" y="672753"/>
            <a:ext cx="1030818" cy="28385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MAIA</a:t>
            </a:r>
            <a:r>
              <a:rPr kumimoji="1" lang="zh-CN" altLang="en-US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导购</a:t>
            </a:r>
          </a:p>
        </p:txBody>
      </p:sp>
      <p:sp>
        <p:nvSpPr>
          <p:cNvPr id="297" name="矩形 296">
            <a:extLst>
              <a:ext uri="{FF2B5EF4-FFF2-40B4-BE49-F238E27FC236}">
                <a16:creationId xmlns:a16="http://schemas.microsoft.com/office/drawing/2014/main" id="{349F768D-BD10-8F4F-A4CA-9B0385D0B63A}"/>
              </a:ext>
            </a:extLst>
          </p:cNvPr>
          <p:cNvSpPr/>
          <p:nvPr/>
        </p:nvSpPr>
        <p:spPr>
          <a:xfrm>
            <a:off x="5842903" y="677732"/>
            <a:ext cx="1030818" cy="28385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可隆导购</a:t>
            </a:r>
          </a:p>
        </p:txBody>
      </p:sp>
      <p:sp>
        <p:nvSpPr>
          <p:cNvPr id="308" name="矩形 307">
            <a:extLst>
              <a:ext uri="{FF2B5EF4-FFF2-40B4-BE49-F238E27FC236}">
                <a16:creationId xmlns:a16="http://schemas.microsoft.com/office/drawing/2014/main" id="{D17326B4-41BF-2E44-A948-676E5CA43984}"/>
              </a:ext>
            </a:extLst>
          </p:cNvPr>
          <p:cNvSpPr/>
          <p:nvPr/>
        </p:nvSpPr>
        <p:spPr>
          <a:xfrm>
            <a:off x="1388552" y="643954"/>
            <a:ext cx="1030818" cy="28385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FILA</a:t>
            </a:r>
            <a:r>
              <a:rPr kumimoji="1" lang="zh-CN" altLang="en-US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导购</a:t>
            </a:r>
          </a:p>
        </p:txBody>
      </p:sp>
      <p:sp>
        <p:nvSpPr>
          <p:cNvPr id="310" name="矩形 309">
            <a:extLst>
              <a:ext uri="{FF2B5EF4-FFF2-40B4-BE49-F238E27FC236}">
                <a16:creationId xmlns:a16="http://schemas.microsoft.com/office/drawing/2014/main" id="{BED57B7C-510E-CB43-9924-A94CD497096E}"/>
              </a:ext>
            </a:extLst>
          </p:cNvPr>
          <p:cNvSpPr/>
          <p:nvPr/>
        </p:nvSpPr>
        <p:spPr>
          <a:xfrm>
            <a:off x="2842503" y="672753"/>
            <a:ext cx="1030818" cy="28385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安踏导购</a:t>
            </a:r>
          </a:p>
        </p:txBody>
      </p:sp>
      <p:sp>
        <p:nvSpPr>
          <p:cNvPr id="590" name="矩形 589">
            <a:extLst>
              <a:ext uri="{FF2B5EF4-FFF2-40B4-BE49-F238E27FC236}">
                <a16:creationId xmlns:a16="http://schemas.microsoft.com/office/drawing/2014/main" id="{5EAE1E1B-14FC-3D43-8461-48224A529D55}"/>
              </a:ext>
            </a:extLst>
          </p:cNvPr>
          <p:cNvSpPr/>
          <p:nvPr/>
        </p:nvSpPr>
        <p:spPr>
          <a:xfrm>
            <a:off x="4336402" y="674854"/>
            <a:ext cx="1030818" cy="28385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迪桑特导购</a:t>
            </a:r>
          </a:p>
        </p:txBody>
      </p:sp>
      <p:sp>
        <p:nvSpPr>
          <p:cNvPr id="591" name="矩形 590">
            <a:extLst>
              <a:ext uri="{FF2B5EF4-FFF2-40B4-BE49-F238E27FC236}">
                <a16:creationId xmlns:a16="http://schemas.microsoft.com/office/drawing/2014/main" id="{D3D17916-B9E7-224A-AF98-E0D161F76122}"/>
              </a:ext>
            </a:extLst>
          </p:cNvPr>
          <p:cNvSpPr/>
          <p:nvPr/>
        </p:nvSpPr>
        <p:spPr>
          <a:xfrm>
            <a:off x="1042173" y="1168880"/>
            <a:ext cx="11060173" cy="45437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0" name="矩形 599">
            <a:extLst>
              <a:ext uri="{FF2B5EF4-FFF2-40B4-BE49-F238E27FC236}">
                <a16:creationId xmlns:a16="http://schemas.microsoft.com/office/drawing/2014/main" id="{FCCB94E0-00FE-E74D-B211-B187D1937E01}"/>
              </a:ext>
            </a:extLst>
          </p:cNvPr>
          <p:cNvSpPr/>
          <p:nvPr/>
        </p:nvSpPr>
        <p:spPr>
          <a:xfrm>
            <a:off x="1355645" y="1239660"/>
            <a:ext cx="2980733" cy="33299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guide-gateway</a:t>
            </a:r>
            <a:endParaRPr kumimoji="1" lang="zh-CN" altLang="en-US" sz="1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1" name="矩形 600">
            <a:extLst>
              <a:ext uri="{FF2B5EF4-FFF2-40B4-BE49-F238E27FC236}">
                <a16:creationId xmlns:a16="http://schemas.microsoft.com/office/drawing/2014/main" id="{9B4A73A2-9CD1-7842-9953-F7C1A5DA43A1}"/>
              </a:ext>
            </a:extLst>
          </p:cNvPr>
          <p:cNvSpPr/>
          <p:nvPr/>
        </p:nvSpPr>
        <p:spPr>
          <a:xfrm>
            <a:off x="5017422" y="1239659"/>
            <a:ext cx="2980733" cy="33299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open-gateway</a:t>
            </a:r>
            <a:endParaRPr kumimoji="1" lang="zh-CN" altLang="en-US" sz="1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2" name="矩形 601">
            <a:extLst>
              <a:ext uri="{FF2B5EF4-FFF2-40B4-BE49-F238E27FC236}">
                <a16:creationId xmlns:a16="http://schemas.microsoft.com/office/drawing/2014/main" id="{0FDF96E5-C13F-7345-8B6A-C6A4DF743E95}"/>
              </a:ext>
            </a:extLst>
          </p:cNvPr>
          <p:cNvSpPr/>
          <p:nvPr/>
        </p:nvSpPr>
        <p:spPr>
          <a:xfrm>
            <a:off x="8797099" y="1237934"/>
            <a:ext cx="2980733" cy="33299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admin-gateway</a:t>
            </a:r>
            <a:endParaRPr kumimoji="1" lang="zh-CN" altLang="en-US" sz="1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6" name="矩形 215">
            <a:extLst>
              <a:ext uri="{FF2B5EF4-FFF2-40B4-BE49-F238E27FC236}">
                <a16:creationId xmlns:a16="http://schemas.microsoft.com/office/drawing/2014/main" id="{D8E57F7F-EE49-E445-A8E6-AD6119DD2727}"/>
              </a:ext>
            </a:extLst>
          </p:cNvPr>
          <p:cNvSpPr/>
          <p:nvPr/>
        </p:nvSpPr>
        <p:spPr>
          <a:xfrm>
            <a:off x="1042172" y="1725541"/>
            <a:ext cx="11062905" cy="45437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8" name="矩形 217">
            <a:extLst>
              <a:ext uri="{FF2B5EF4-FFF2-40B4-BE49-F238E27FC236}">
                <a16:creationId xmlns:a16="http://schemas.microsoft.com/office/drawing/2014/main" id="{1C0959D8-5E66-AF4D-8F8C-15161C7CC21C}"/>
              </a:ext>
            </a:extLst>
          </p:cNvPr>
          <p:cNvSpPr/>
          <p:nvPr/>
        </p:nvSpPr>
        <p:spPr>
          <a:xfrm>
            <a:off x="10586984" y="1788422"/>
            <a:ext cx="1030818" cy="28385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管理后台</a:t>
            </a:r>
          </a:p>
        </p:txBody>
      </p:sp>
      <p:sp>
        <p:nvSpPr>
          <p:cNvPr id="219" name="矩形 218">
            <a:extLst>
              <a:ext uri="{FF2B5EF4-FFF2-40B4-BE49-F238E27FC236}">
                <a16:creationId xmlns:a16="http://schemas.microsoft.com/office/drawing/2014/main" id="{B9C0F24F-AE7C-3242-B4E4-B4C5C2886BD5}"/>
              </a:ext>
            </a:extLst>
          </p:cNvPr>
          <p:cNvSpPr/>
          <p:nvPr/>
        </p:nvSpPr>
        <p:spPr>
          <a:xfrm>
            <a:off x="9037477" y="1793462"/>
            <a:ext cx="1030818" cy="28385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982</a:t>
            </a:r>
            <a:r>
              <a:rPr kumimoji="1" lang="zh-CN" altLang="en-US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BFF</a:t>
            </a:r>
            <a:endParaRPr kumimoji="1" lang="zh-CN" altLang="en-US" sz="1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0" name="矩形 219">
            <a:extLst>
              <a:ext uri="{FF2B5EF4-FFF2-40B4-BE49-F238E27FC236}">
                <a16:creationId xmlns:a16="http://schemas.microsoft.com/office/drawing/2014/main" id="{67909737-4B64-544E-AC9C-A75BB72250C8}"/>
              </a:ext>
            </a:extLst>
          </p:cNvPr>
          <p:cNvSpPr/>
          <p:nvPr/>
        </p:nvSpPr>
        <p:spPr>
          <a:xfrm>
            <a:off x="7357624" y="1793462"/>
            <a:ext cx="1030818" cy="28385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MAIA BFF</a:t>
            </a:r>
            <a:endParaRPr kumimoji="1" lang="zh-CN" altLang="en-US" sz="1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1" name="矩形 220">
            <a:extLst>
              <a:ext uri="{FF2B5EF4-FFF2-40B4-BE49-F238E27FC236}">
                <a16:creationId xmlns:a16="http://schemas.microsoft.com/office/drawing/2014/main" id="{90E76376-8736-CA45-BECB-FB002A36F6B8}"/>
              </a:ext>
            </a:extLst>
          </p:cNvPr>
          <p:cNvSpPr/>
          <p:nvPr/>
        </p:nvSpPr>
        <p:spPr>
          <a:xfrm>
            <a:off x="5842903" y="1811693"/>
            <a:ext cx="1030818" cy="28385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可隆 </a:t>
            </a:r>
            <a:r>
              <a:rPr kumimoji="1" lang="en-US" altLang="zh-CN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BFF</a:t>
            </a:r>
            <a:endParaRPr kumimoji="1" lang="zh-CN" altLang="en-US" sz="1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2" name="矩形 221">
            <a:extLst>
              <a:ext uri="{FF2B5EF4-FFF2-40B4-BE49-F238E27FC236}">
                <a16:creationId xmlns:a16="http://schemas.microsoft.com/office/drawing/2014/main" id="{262B1F26-6360-FF40-85A1-BFE14E248E39}"/>
              </a:ext>
            </a:extLst>
          </p:cNvPr>
          <p:cNvSpPr/>
          <p:nvPr/>
        </p:nvSpPr>
        <p:spPr>
          <a:xfrm>
            <a:off x="1388552" y="1817672"/>
            <a:ext cx="1030818" cy="28385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FILA</a:t>
            </a:r>
            <a:r>
              <a:rPr kumimoji="1" lang="zh-CN" altLang="en-US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BFF</a:t>
            </a:r>
            <a:endParaRPr kumimoji="1" lang="zh-CN" altLang="en-US" sz="1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3" name="矩形 222">
            <a:extLst>
              <a:ext uri="{FF2B5EF4-FFF2-40B4-BE49-F238E27FC236}">
                <a16:creationId xmlns:a16="http://schemas.microsoft.com/office/drawing/2014/main" id="{5C978E89-4AEA-B94A-97CE-CF5AAAEB6718}"/>
              </a:ext>
            </a:extLst>
          </p:cNvPr>
          <p:cNvSpPr/>
          <p:nvPr/>
        </p:nvSpPr>
        <p:spPr>
          <a:xfrm>
            <a:off x="2842503" y="1819966"/>
            <a:ext cx="1030818" cy="28385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安踏 </a:t>
            </a:r>
            <a:r>
              <a:rPr kumimoji="1" lang="en-US" altLang="zh-CN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BFF</a:t>
            </a:r>
            <a:endParaRPr kumimoji="1" lang="zh-CN" altLang="en-US" sz="1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4" name="矩形 223">
            <a:extLst>
              <a:ext uri="{FF2B5EF4-FFF2-40B4-BE49-F238E27FC236}">
                <a16:creationId xmlns:a16="http://schemas.microsoft.com/office/drawing/2014/main" id="{4403B191-0228-4F43-A1BD-90303FA6FFF0}"/>
              </a:ext>
            </a:extLst>
          </p:cNvPr>
          <p:cNvSpPr/>
          <p:nvPr/>
        </p:nvSpPr>
        <p:spPr>
          <a:xfrm>
            <a:off x="4336402" y="1822067"/>
            <a:ext cx="1030818" cy="28385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迪桑特 </a:t>
            </a:r>
            <a:r>
              <a:rPr kumimoji="1" lang="en-US" altLang="zh-CN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BFF</a:t>
            </a:r>
            <a:endParaRPr kumimoji="1" lang="zh-CN" altLang="en-US" sz="1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8039ADE-4767-425F-849E-F9C7AADA8181}"/>
              </a:ext>
            </a:extLst>
          </p:cNvPr>
          <p:cNvSpPr/>
          <p:nvPr/>
        </p:nvSpPr>
        <p:spPr>
          <a:xfrm>
            <a:off x="418350" y="2312158"/>
            <a:ext cx="538049" cy="388053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</a:t>
            </a:r>
            <a:endParaRPr kumimoji="1" lang="en-US" alt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kumimoji="1"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务</a:t>
            </a:r>
            <a:endParaRPr kumimoji="1" lang="en-US" alt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kumimoji="1"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FF47CB9-288E-46FE-8E63-D33E52E42422}"/>
              </a:ext>
            </a:extLst>
          </p:cNvPr>
          <p:cNvSpPr/>
          <p:nvPr/>
        </p:nvSpPr>
        <p:spPr>
          <a:xfrm>
            <a:off x="418350" y="578328"/>
            <a:ext cx="540781" cy="43953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访问层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C33F894-2B68-4F41-B6D7-26F4E222E429}"/>
              </a:ext>
            </a:extLst>
          </p:cNvPr>
          <p:cNvSpPr/>
          <p:nvPr/>
        </p:nvSpPr>
        <p:spPr>
          <a:xfrm>
            <a:off x="418349" y="6300080"/>
            <a:ext cx="538049" cy="40900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基础能力</a:t>
            </a:r>
          </a:p>
        </p:txBody>
      </p:sp>
      <p:sp>
        <p:nvSpPr>
          <p:cNvPr id="592" name="矩形 591">
            <a:extLst>
              <a:ext uri="{FF2B5EF4-FFF2-40B4-BE49-F238E27FC236}">
                <a16:creationId xmlns:a16="http://schemas.microsoft.com/office/drawing/2014/main" id="{FACC9DD6-69A0-1242-96B0-3F01E09C5700}"/>
              </a:ext>
            </a:extLst>
          </p:cNvPr>
          <p:cNvSpPr/>
          <p:nvPr/>
        </p:nvSpPr>
        <p:spPr>
          <a:xfrm>
            <a:off x="418349" y="1191309"/>
            <a:ext cx="540781" cy="41234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网关层</a:t>
            </a:r>
          </a:p>
        </p:txBody>
      </p:sp>
      <p:sp>
        <p:nvSpPr>
          <p:cNvPr id="225" name="矩形 224">
            <a:extLst>
              <a:ext uri="{FF2B5EF4-FFF2-40B4-BE49-F238E27FC236}">
                <a16:creationId xmlns:a16="http://schemas.microsoft.com/office/drawing/2014/main" id="{7F6DD889-367A-B843-967C-4F11282752EF}"/>
              </a:ext>
            </a:extLst>
          </p:cNvPr>
          <p:cNvSpPr/>
          <p:nvPr/>
        </p:nvSpPr>
        <p:spPr>
          <a:xfrm>
            <a:off x="398949" y="1738793"/>
            <a:ext cx="540781" cy="41234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应用层</a:t>
            </a:r>
          </a:p>
        </p:txBody>
      </p:sp>
      <p:sp>
        <p:nvSpPr>
          <p:cNvPr id="22" name="左大括号 21">
            <a:extLst>
              <a:ext uri="{FF2B5EF4-FFF2-40B4-BE49-F238E27FC236}">
                <a16:creationId xmlns:a16="http://schemas.microsoft.com/office/drawing/2014/main" id="{AEF4C231-02D7-1640-816E-D6C2730A2456}"/>
              </a:ext>
            </a:extLst>
          </p:cNvPr>
          <p:cNvSpPr/>
          <p:nvPr/>
        </p:nvSpPr>
        <p:spPr>
          <a:xfrm>
            <a:off x="225350" y="1725541"/>
            <a:ext cx="66261" cy="454371"/>
          </a:xfrm>
          <a:prstGeom prst="leftBrac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FAB8F415-1CCA-0B4B-AC42-7F8DED5355ED}"/>
              </a:ext>
            </a:extLst>
          </p:cNvPr>
          <p:cNvSpPr txBox="1"/>
          <p:nvPr/>
        </p:nvSpPr>
        <p:spPr>
          <a:xfrm>
            <a:off x="-67250" y="1543890"/>
            <a:ext cx="3257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品</a:t>
            </a:r>
            <a:endParaRPr kumimoji="1" lang="en-US" altLang="zh-CN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kumimoji="1"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牌</a:t>
            </a:r>
            <a:endParaRPr kumimoji="1" lang="en-US" altLang="zh-CN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kumimoji="1"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差</a:t>
            </a:r>
            <a:endParaRPr kumimoji="1" lang="en-US" altLang="zh-CN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kumimoji="1"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异</a:t>
            </a:r>
          </a:p>
        </p:txBody>
      </p:sp>
      <p:sp>
        <p:nvSpPr>
          <p:cNvPr id="29" name="左大括号 28">
            <a:extLst>
              <a:ext uri="{FF2B5EF4-FFF2-40B4-BE49-F238E27FC236}">
                <a16:creationId xmlns:a16="http://schemas.microsoft.com/office/drawing/2014/main" id="{62D39C09-753B-DD4D-8D36-9A530AF347D7}"/>
              </a:ext>
            </a:extLst>
          </p:cNvPr>
          <p:cNvSpPr/>
          <p:nvPr/>
        </p:nvSpPr>
        <p:spPr>
          <a:xfrm>
            <a:off x="245892" y="2324396"/>
            <a:ext cx="45719" cy="3741379"/>
          </a:xfrm>
          <a:prstGeom prst="leftBrac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3" name="文本框 232">
            <a:extLst>
              <a:ext uri="{FF2B5EF4-FFF2-40B4-BE49-F238E27FC236}">
                <a16:creationId xmlns:a16="http://schemas.microsoft.com/office/drawing/2014/main" id="{8A3699EB-EA1D-824C-BDF3-8A49DFE9ABE5}"/>
              </a:ext>
            </a:extLst>
          </p:cNvPr>
          <p:cNvSpPr txBox="1"/>
          <p:nvPr/>
        </p:nvSpPr>
        <p:spPr>
          <a:xfrm>
            <a:off x="-43712" y="3733162"/>
            <a:ext cx="325730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</a:t>
            </a:r>
            <a:endParaRPr kumimoji="1" lang="en-US" altLang="zh-CN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kumimoji="1"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  <a:endParaRPr kumimoji="1" lang="en-US" altLang="zh-CN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kumimoji="1"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平</a:t>
            </a:r>
            <a:endParaRPr kumimoji="1" lang="en-US" altLang="zh-CN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kumimoji="1"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台</a:t>
            </a:r>
            <a:endParaRPr kumimoji="1" lang="en-US" altLang="zh-CN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kumimoji="1"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能</a:t>
            </a:r>
            <a:endParaRPr kumimoji="1" lang="en-US" altLang="zh-CN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kumimoji="1"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力</a:t>
            </a:r>
          </a:p>
        </p:txBody>
      </p:sp>
      <p:sp>
        <p:nvSpPr>
          <p:cNvPr id="182" name="文本框 181">
            <a:extLst>
              <a:ext uri="{FF2B5EF4-FFF2-40B4-BE49-F238E27FC236}">
                <a16:creationId xmlns:a16="http://schemas.microsoft.com/office/drawing/2014/main" id="{C466F66F-F135-DA42-8558-2CE810B957B5}"/>
              </a:ext>
            </a:extLst>
          </p:cNvPr>
          <p:cNvSpPr txBox="1"/>
          <p:nvPr/>
        </p:nvSpPr>
        <p:spPr>
          <a:xfrm>
            <a:off x="8152431" y="4511452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导购</a:t>
            </a:r>
          </a:p>
        </p:txBody>
      </p:sp>
      <p:sp>
        <p:nvSpPr>
          <p:cNvPr id="184" name="矩形 183">
            <a:extLst>
              <a:ext uri="{FF2B5EF4-FFF2-40B4-BE49-F238E27FC236}">
                <a16:creationId xmlns:a16="http://schemas.microsoft.com/office/drawing/2014/main" id="{DEA4261A-AF39-2649-8340-806DB94EB187}"/>
              </a:ext>
            </a:extLst>
          </p:cNvPr>
          <p:cNvSpPr/>
          <p:nvPr/>
        </p:nvSpPr>
        <p:spPr>
          <a:xfrm>
            <a:off x="9475381" y="4555397"/>
            <a:ext cx="1160789" cy="1379280"/>
          </a:xfrm>
          <a:prstGeom prst="rect">
            <a:avLst/>
          </a:prstGeom>
          <a:noFill/>
          <a:ln>
            <a:solidFill>
              <a:srgbClr val="C0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3" name="文本框 162">
            <a:extLst>
              <a:ext uri="{FF2B5EF4-FFF2-40B4-BE49-F238E27FC236}">
                <a16:creationId xmlns:a16="http://schemas.microsoft.com/office/drawing/2014/main" id="{5AAA7BE8-2819-3F42-AC33-8E88E6B7BB16}"/>
              </a:ext>
            </a:extLst>
          </p:cNvPr>
          <p:cNvSpPr txBox="1"/>
          <p:nvPr/>
        </p:nvSpPr>
        <p:spPr>
          <a:xfrm>
            <a:off x="8111689" y="4315767"/>
            <a:ext cx="2624062" cy="24622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zh-CN" alt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导购</a:t>
            </a:r>
            <a:r>
              <a:rPr kumimoji="1" lang="en-US" altLang="zh-CN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(guide)</a:t>
            </a:r>
            <a:endParaRPr kumimoji="1" lang="zh-CN" altLang="en-US" sz="1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5" name="矩形 164">
            <a:extLst>
              <a:ext uri="{FF2B5EF4-FFF2-40B4-BE49-F238E27FC236}">
                <a16:creationId xmlns:a16="http://schemas.microsoft.com/office/drawing/2014/main" id="{6A494680-1BE6-884A-8D10-8782569C7ABB}"/>
              </a:ext>
            </a:extLst>
          </p:cNvPr>
          <p:cNvSpPr/>
          <p:nvPr/>
        </p:nvSpPr>
        <p:spPr>
          <a:xfrm>
            <a:off x="8078057" y="4267106"/>
            <a:ext cx="2672699" cy="1713397"/>
          </a:xfrm>
          <a:prstGeom prst="rect">
            <a:avLst/>
          </a:prstGeom>
          <a:noFill/>
          <a:ln w="3175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n w="0"/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1" name="矩形 180">
            <a:extLst>
              <a:ext uri="{FF2B5EF4-FFF2-40B4-BE49-F238E27FC236}">
                <a16:creationId xmlns:a16="http://schemas.microsoft.com/office/drawing/2014/main" id="{0CF478EB-2B3E-6247-8B12-A558A3B5B883}"/>
              </a:ext>
            </a:extLst>
          </p:cNvPr>
          <p:cNvSpPr/>
          <p:nvPr/>
        </p:nvSpPr>
        <p:spPr>
          <a:xfrm>
            <a:off x="8313326" y="4726297"/>
            <a:ext cx="953124" cy="22752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导购管理</a:t>
            </a:r>
          </a:p>
        </p:txBody>
      </p:sp>
      <p:sp>
        <p:nvSpPr>
          <p:cNvPr id="183" name="矩形 182">
            <a:extLst>
              <a:ext uri="{FF2B5EF4-FFF2-40B4-BE49-F238E27FC236}">
                <a16:creationId xmlns:a16="http://schemas.microsoft.com/office/drawing/2014/main" id="{CE9A1920-5E89-C942-8C1A-F571D8E80A54}"/>
              </a:ext>
            </a:extLst>
          </p:cNvPr>
          <p:cNvSpPr/>
          <p:nvPr/>
        </p:nvSpPr>
        <p:spPr>
          <a:xfrm>
            <a:off x="8210860" y="4563246"/>
            <a:ext cx="1160789" cy="1371431"/>
          </a:xfrm>
          <a:prstGeom prst="rect">
            <a:avLst/>
          </a:prstGeom>
          <a:noFill/>
          <a:ln>
            <a:solidFill>
              <a:srgbClr val="C0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5" name="文本框 184">
            <a:extLst>
              <a:ext uri="{FF2B5EF4-FFF2-40B4-BE49-F238E27FC236}">
                <a16:creationId xmlns:a16="http://schemas.microsoft.com/office/drawing/2014/main" id="{5F25A73C-2383-974C-8078-CE8D549AFEE4}"/>
              </a:ext>
            </a:extLst>
          </p:cNvPr>
          <p:cNvSpPr txBox="1"/>
          <p:nvPr/>
        </p:nvSpPr>
        <p:spPr>
          <a:xfrm>
            <a:off x="9509007" y="4552446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资产</a:t>
            </a:r>
          </a:p>
        </p:txBody>
      </p:sp>
      <p:sp>
        <p:nvSpPr>
          <p:cNvPr id="186" name="矩形 185">
            <a:extLst>
              <a:ext uri="{FF2B5EF4-FFF2-40B4-BE49-F238E27FC236}">
                <a16:creationId xmlns:a16="http://schemas.microsoft.com/office/drawing/2014/main" id="{2278E60C-84FF-F741-91B2-BEDDF3B2F787}"/>
              </a:ext>
            </a:extLst>
          </p:cNvPr>
          <p:cNvSpPr/>
          <p:nvPr/>
        </p:nvSpPr>
        <p:spPr>
          <a:xfrm>
            <a:off x="9585034" y="4743433"/>
            <a:ext cx="953126" cy="22752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导购积分</a:t>
            </a:r>
          </a:p>
        </p:txBody>
      </p:sp>
      <p:sp>
        <p:nvSpPr>
          <p:cNvPr id="187" name="矩形 186">
            <a:extLst>
              <a:ext uri="{FF2B5EF4-FFF2-40B4-BE49-F238E27FC236}">
                <a16:creationId xmlns:a16="http://schemas.microsoft.com/office/drawing/2014/main" id="{EB07658B-6559-7C49-A38D-8539F0C05AB1}"/>
              </a:ext>
            </a:extLst>
          </p:cNvPr>
          <p:cNvSpPr/>
          <p:nvPr/>
        </p:nvSpPr>
        <p:spPr>
          <a:xfrm>
            <a:off x="9574907" y="5054322"/>
            <a:ext cx="953126" cy="22752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异业券</a:t>
            </a:r>
          </a:p>
        </p:txBody>
      </p:sp>
      <p:sp>
        <p:nvSpPr>
          <p:cNvPr id="188" name="矩形 187">
            <a:extLst>
              <a:ext uri="{FF2B5EF4-FFF2-40B4-BE49-F238E27FC236}">
                <a16:creationId xmlns:a16="http://schemas.microsoft.com/office/drawing/2014/main" id="{8728E702-4909-BE41-900E-6123B6DD7A06}"/>
              </a:ext>
            </a:extLst>
          </p:cNvPr>
          <p:cNvSpPr/>
          <p:nvPr/>
        </p:nvSpPr>
        <p:spPr>
          <a:xfrm>
            <a:off x="9569624" y="5353283"/>
            <a:ext cx="953126" cy="22752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权益卡</a:t>
            </a:r>
          </a:p>
        </p:txBody>
      </p:sp>
      <p:sp>
        <p:nvSpPr>
          <p:cNvPr id="189" name="矩形 188">
            <a:extLst>
              <a:ext uri="{FF2B5EF4-FFF2-40B4-BE49-F238E27FC236}">
                <a16:creationId xmlns:a16="http://schemas.microsoft.com/office/drawing/2014/main" id="{ACF85981-9048-CB45-BBFE-09A71291D2BD}"/>
              </a:ext>
            </a:extLst>
          </p:cNvPr>
          <p:cNvSpPr/>
          <p:nvPr/>
        </p:nvSpPr>
        <p:spPr>
          <a:xfrm>
            <a:off x="9583927" y="5661912"/>
            <a:ext cx="953126" cy="22752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导购券</a:t>
            </a:r>
          </a:p>
        </p:txBody>
      </p:sp>
      <p:sp>
        <p:nvSpPr>
          <p:cNvPr id="190" name="矩形 189">
            <a:extLst>
              <a:ext uri="{FF2B5EF4-FFF2-40B4-BE49-F238E27FC236}">
                <a16:creationId xmlns:a16="http://schemas.microsoft.com/office/drawing/2014/main" id="{E6357BEB-77E2-D748-9245-1E3B9B44AA28}"/>
              </a:ext>
            </a:extLst>
          </p:cNvPr>
          <p:cNvSpPr/>
          <p:nvPr/>
        </p:nvSpPr>
        <p:spPr>
          <a:xfrm>
            <a:off x="8321377" y="5021560"/>
            <a:ext cx="953124" cy="22752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导购人群</a:t>
            </a:r>
          </a:p>
        </p:txBody>
      </p:sp>
      <p:sp>
        <p:nvSpPr>
          <p:cNvPr id="204" name="矩形 203">
            <a:extLst>
              <a:ext uri="{FF2B5EF4-FFF2-40B4-BE49-F238E27FC236}">
                <a16:creationId xmlns:a16="http://schemas.microsoft.com/office/drawing/2014/main" id="{309DBAB6-734A-6F4B-9562-F8BAEE18996D}"/>
              </a:ext>
            </a:extLst>
          </p:cNvPr>
          <p:cNvSpPr/>
          <p:nvPr/>
        </p:nvSpPr>
        <p:spPr>
          <a:xfrm>
            <a:off x="8313325" y="5345369"/>
            <a:ext cx="953124" cy="22752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登录</a:t>
            </a:r>
          </a:p>
        </p:txBody>
      </p:sp>
      <p:sp>
        <p:nvSpPr>
          <p:cNvPr id="384" name="矩形 383">
            <a:extLst>
              <a:ext uri="{FF2B5EF4-FFF2-40B4-BE49-F238E27FC236}">
                <a16:creationId xmlns:a16="http://schemas.microsoft.com/office/drawing/2014/main" id="{B2A6E3D7-A7B0-A445-AC36-A5BE4A811593}"/>
              </a:ext>
            </a:extLst>
          </p:cNvPr>
          <p:cNvSpPr/>
          <p:nvPr/>
        </p:nvSpPr>
        <p:spPr>
          <a:xfrm>
            <a:off x="1353975" y="2417899"/>
            <a:ext cx="3533806" cy="1718051"/>
          </a:xfrm>
          <a:prstGeom prst="rect">
            <a:avLst/>
          </a:prstGeom>
          <a:noFill/>
          <a:ln w="3175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n w="0"/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5" name="文本框 384">
            <a:extLst>
              <a:ext uri="{FF2B5EF4-FFF2-40B4-BE49-F238E27FC236}">
                <a16:creationId xmlns:a16="http://schemas.microsoft.com/office/drawing/2014/main" id="{C9A6390E-8F15-574E-8CC0-08F94FB61EA0}"/>
              </a:ext>
            </a:extLst>
          </p:cNvPr>
          <p:cNvSpPr txBox="1"/>
          <p:nvPr/>
        </p:nvSpPr>
        <p:spPr>
          <a:xfrm>
            <a:off x="1353976" y="2427283"/>
            <a:ext cx="3533806" cy="24622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zh-CN" alt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客户</a:t>
            </a:r>
            <a:r>
              <a:rPr kumimoji="1" lang="en-US" altLang="zh-CN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(customer)</a:t>
            </a:r>
            <a:endParaRPr kumimoji="1" lang="zh-CN" altLang="en-US" sz="1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1" name="矩形 380">
            <a:extLst>
              <a:ext uri="{FF2B5EF4-FFF2-40B4-BE49-F238E27FC236}">
                <a16:creationId xmlns:a16="http://schemas.microsoft.com/office/drawing/2014/main" id="{19DB9A6F-ED0A-A04B-989E-41901FE08DB1}"/>
              </a:ext>
            </a:extLst>
          </p:cNvPr>
          <p:cNvSpPr/>
          <p:nvPr/>
        </p:nvSpPr>
        <p:spPr>
          <a:xfrm>
            <a:off x="2694267" y="2898616"/>
            <a:ext cx="858682" cy="22752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分配客户</a:t>
            </a:r>
          </a:p>
        </p:txBody>
      </p:sp>
      <p:sp>
        <p:nvSpPr>
          <p:cNvPr id="382" name="矩形 381">
            <a:extLst>
              <a:ext uri="{FF2B5EF4-FFF2-40B4-BE49-F238E27FC236}">
                <a16:creationId xmlns:a16="http://schemas.microsoft.com/office/drawing/2014/main" id="{CF88A135-CD30-F241-827A-D8141C090046}"/>
              </a:ext>
            </a:extLst>
          </p:cNvPr>
          <p:cNvSpPr/>
          <p:nvPr/>
        </p:nvSpPr>
        <p:spPr>
          <a:xfrm>
            <a:off x="2695918" y="3195312"/>
            <a:ext cx="858682" cy="22752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企微好友</a:t>
            </a:r>
          </a:p>
        </p:txBody>
      </p:sp>
      <p:sp>
        <p:nvSpPr>
          <p:cNvPr id="383" name="矩形 382">
            <a:extLst>
              <a:ext uri="{FF2B5EF4-FFF2-40B4-BE49-F238E27FC236}">
                <a16:creationId xmlns:a16="http://schemas.microsoft.com/office/drawing/2014/main" id="{0565AF9D-28F4-9E40-BCD3-F12F44462D35}"/>
              </a:ext>
            </a:extLst>
          </p:cNvPr>
          <p:cNvSpPr/>
          <p:nvPr/>
        </p:nvSpPr>
        <p:spPr>
          <a:xfrm>
            <a:off x="2698831" y="3506203"/>
            <a:ext cx="858682" cy="22752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绑定客户</a:t>
            </a:r>
          </a:p>
        </p:txBody>
      </p:sp>
      <p:sp>
        <p:nvSpPr>
          <p:cNvPr id="380" name="文本框 379">
            <a:extLst>
              <a:ext uri="{FF2B5EF4-FFF2-40B4-BE49-F238E27FC236}">
                <a16:creationId xmlns:a16="http://schemas.microsoft.com/office/drawing/2014/main" id="{54CFCB09-119F-114C-9F9F-03B9CE0F5271}"/>
              </a:ext>
            </a:extLst>
          </p:cNvPr>
          <p:cNvSpPr txBox="1"/>
          <p:nvPr/>
        </p:nvSpPr>
        <p:spPr>
          <a:xfrm>
            <a:off x="2549315" y="2683771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客户</a:t>
            </a:r>
          </a:p>
        </p:txBody>
      </p:sp>
      <p:sp>
        <p:nvSpPr>
          <p:cNvPr id="452" name="矩形 451">
            <a:extLst>
              <a:ext uri="{FF2B5EF4-FFF2-40B4-BE49-F238E27FC236}">
                <a16:creationId xmlns:a16="http://schemas.microsoft.com/office/drawing/2014/main" id="{3CE24EE5-B022-444B-8E13-3CB9F29DF0FD}"/>
              </a:ext>
            </a:extLst>
          </p:cNvPr>
          <p:cNvSpPr/>
          <p:nvPr/>
        </p:nvSpPr>
        <p:spPr>
          <a:xfrm>
            <a:off x="2716117" y="3802184"/>
            <a:ext cx="858682" cy="22752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人群圈选</a:t>
            </a:r>
          </a:p>
        </p:txBody>
      </p:sp>
      <p:sp>
        <p:nvSpPr>
          <p:cNvPr id="453" name="矩形 452">
            <a:extLst>
              <a:ext uri="{FF2B5EF4-FFF2-40B4-BE49-F238E27FC236}">
                <a16:creationId xmlns:a16="http://schemas.microsoft.com/office/drawing/2014/main" id="{7700F1C2-34C3-2449-92FC-0DF6D630782F}"/>
              </a:ext>
            </a:extLst>
          </p:cNvPr>
          <p:cNvSpPr/>
          <p:nvPr/>
        </p:nvSpPr>
        <p:spPr>
          <a:xfrm>
            <a:off x="2601954" y="2735564"/>
            <a:ext cx="1045769" cy="1364752"/>
          </a:xfrm>
          <a:prstGeom prst="rect">
            <a:avLst/>
          </a:prstGeom>
          <a:noFill/>
          <a:ln>
            <a:solidFill>
              <a:srgbClr val="C0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9" name="矩形 208">
            <a:extLst>
              <a:ext uri="{FF2B5EF4-FFF2-40B4-BE49-F238E27FC236}">
                <a16:creationId xmlns:a16="http://schemas.microsoft.com/office/drawing/2014/main" id="{0A36FD97-07B1-FD4E-821C-0E266D32C66A}"/>
              </a:ext>
            </a:extLst>
          </p:cNvPr>
          <p:cNvSpPr/>
          <p:nvPr/>
        </p:nvSpPr>
        <p:spPr>
          <a:xfrm>
            <a:off x="1525636" y="2892481"/>
            <a:ext cx="858682" cy="22752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企微好友</a:t>
            </a:r>
          </a:p>
        </p:txBody>
      </p:sp>
      <p:sp>
        <p:nvSpPr>
          <p:cNvPr id="210" name="矩形 209">
            <a:extLst>
              <a:ext uri="{FF2B5EF4-FFF2-40B4-BE49-F238E27FC236}">
                <a16:creationId xmlns:a16="http://schemas.microsoft.com/office/drawing/2014/main" id="{93EC7B8F-789B-9B4A-A105-D955B1108F35}"/>
              </a:ext>
            </a:extLst>
          </p:cNvPr>
          <p:cNvSpPr/>
          <p:nvPr/>
        </p:nvSpPr>
        <p:spPr>
          <a:xfrm>
            <a:off x="1527287" y="3189177"/>
            <a:ext cx="858682" cy="22752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组织部门</a:t>
            </a:r>
          </a:p>
        </p:txBody>
      </p:sp>
      <p:sp>
        <p:nvSpPr>
          <p:cNvPr id="211" name="矩形 210">
            <a:extLst>
              <a:ext uri="{FF2B5EF4-FFF2-40B4-BE49-F238E27FC236}">
                <a16:creationId xmlns:a16="http://schemas.microsoft.com/office/drawing/2014/main" id="{3EF75770-12FE-7F4D-AE31-6601F5083096}"/>
              </a:ext>
            </a:extLst>
          </p:cNvPr>
          <p:cNvSpPr/>
          <p:nvPr/>
        </p:nvSpPr>
        <p:spPr>
          <a:xfrm>
            <a:off x="1530200" y="3500068"/>
            <a:ext cx="858682" cy="22752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欢迎语</a:t>
            </a:r>
          </a:p>
        </p:txBody>
      </p:sp>
      <p:sp>
        <p:nvSpPr>
          <p:cNvPr id="212" name="文本框 211">
            <a:extLst>
              <a:ext uri="{FF2B5EF4-FFF2-40B4-BE49-F238E27FC236}">
                <a16:creationId xmlns:a16="http://schemas.microsoft.com/office/drawing/2014/main" id="{C5D5730D-9D7A-E349-817F-C019E82D0C00}"/>
              </a:ext>
            </a:extLst>
          </p:cNvPr>
          <p:cNvSpPr txBox="1"/>
          <p:nvPr/>
        </p:nvSpPr>
        <p:spPr>
          <a:xfrm>
            <a:off x="1380684" y="2677636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企微</a:t>
            </a:r>
          </a:p>
        </p:txBody>
      </p:sp>
      <p:sp>
        <p:nvSpPr>
          <p:cNvPr id="213" name="矩形 212">
            <a:extLst>
              <a:ext uri="{FF2B5EF4-FFF2-40B4-BE49-F238E27FC236}">
                <a16:creationId xmlns:a16="http://schemas.microsoft.com/office/drawing/2014/main" id="{31956B63-058B-1346-B5D2-70E215F6F7A5}"/>
              </a:ext>
            </a:extLst>
          </p:cNvPr>
          <p:cNvSpPr/>
          <p:nvPr/>
        </p:nvSpPr>
        <p:spPr>
          <a:xfrm>
            <a:off x="1523316" y="3796049"/>
            <a:ext cx="858682" cy="22752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企微群</a:t>
            </a:r>
          </a:p>
        </p:txBody>
      </p:sp>
      <p:sp>
        <p:nvSpPr>
          <p:cNvPr id="215" name="矩形 214">
            <a:extLst>
              <a:ext uri="{FF2B5EF4-FFF2-40B4-BE49-F238E27FC236}">
                <a16:creationId xmlns:a16="http://schemas.microsoft.com/office/drawing/2014/main" id="{0F6D62EC-49EE-4740-AFCD-D4056012FF9B}"/>
              </a:ext>
            </a:extLst>
          </p:cNvPr>
          <p:cNvSpPr/>
          <p:nvPr/>
        </p:nvSpPr>
        <p:spPr>
          <a:xfrm>
            <a:off x="1433323" y="2729429"/>
            <a:ext cx="1045769" cy="1364752"/>
          </a:xfrm>
          <a:prstGeom prst="rect">
            <a:avLst/>
          </a:prstGeom>
          <a:noFill/>
          <a:ln>
            <a:solidFill>
              <a:srgbClr val="C0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7" name="矩形 226">
            <a:extLst>
              <a:ext uri="{FF2B5EF4-FFF2-40B4-BE49-F238E27FC236}">
                <a16:creationId xmlns:a16="http://schemas.microsoft.com/office/drawing/2014/main" id="{D7768C14-53F8-2E42-8C84-0D148408E63B}"/>
              </a:ext>
            </a:extLst>
          </p:cNvPr>
          <p:cNvSpPr/>
          <p:nvPr/>
        </p:nvSpPr>
        <p:spPr>
          <a:xfrm>
            <a:off x="3829266" y="2902648"/>
            <a:ext cx="858682" cy="22752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企微标签</a:t>
            </a:r>
          </a:p>
        </p:txBody>
      </p:sp>
      <p:sp>
        <p:nvSpPr>
          <p:cNvPr id="228" name="矩形 227">
            <a:extLst>
              <a:ext uri="{FF2B5EF4-FFF2-40B4-BE49-F238E27FC236}">
                <a16:creationId xmlns:a16="http://schemas.microsoft.com/office/drawing/2014/main" id="{9EFEFE13-270A-4E4E-92A8-C83898A147CA}"/>
              </a:ext>
            </a:extLst>
          </p:cNvPr>
          <p:cNvSpPr/>
          <p:nvPr/>
        </p:nvSpPr>
        <p:spPr>
          <a:xfrm>
            <a:off x="3830917" y="3199344"/>
            <a:ext cx="858682" cy="22752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内部标签</a:t>
            </a:r>
          </a:p>
        </p:txBody>
      </p:sp>
      <p:sp>
        <p:nvSpPr>
          <p:cNvPr id="229" name="矩形 228">
            <a:extLst>
              <a:ext uri="{FF2B5EF4-FFF2-40B4-BE49-F238E27FC236}">
                <a16:creationId xmlns:a16="http://schemas.microsoft.com/office/drawing/2014/main" id="{2AFDC9FC-33A2-7C48-B5B4-574AA7247A23}"/>
              </a:ext>
            </a:extLst>
          </p:cNvPr>
          <p:cNvSpPr/>
          <p:nvPr/>
        </p:nvSpPr>
        <p:spPr>
          <a:xfrm>
            <a:off x="3833830" y="3510235"/>
            <a:ext cx="858682" cy="22752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客户标签</a:t>
            </a:r>
          </a:p>
        </p:txBody>
      </p:sp>
      <p:sp>
        <p:nvSpPr>
          <p:cNvPr id="230" name="文本框 229">
            <a:extLst>
              <a:ext uri="{FF2B5EF4-FFF2-40B4-BE49-F238E27FC236}">
                <a16:creationId xmlns:a16="http://schemas.microsoft.com/office/drawing/2014/main" id="{C2D06E50-7BF6-F346-B753-6EFFCBDA6727}"/>
              </a:ext>
            </a:extLst>
          </p:cNvPr>
          <p:cNvSpPr txBox="1"/>
          <p:nvPr/>
        </p:nvSpPr>
        <p:spPr>
          <a:xfrm>
            <a:off x="3684314" y="2687803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</a:p>
        </p:txBody>
      </p:sp>
      <p:sp>
        <p:nvSpPr>
          <p:cNvPr id="231" name="矩形 230">
            <a:extLst>
              <a:ext uri="{FF2B5EF4-FFF2-40B4-BE49-F238E27FC236}">
                <a16:creationId xmlns:a16="http://schemas.microsoft.com/office/drawing/2014/main" id="{E2EB3557-8B30-934A-97D5-151A9B33AB59}"/>
              </a:ext>
            </a:extLst>
          </p:cNvPr>
          <p:cNvSpPr/>
          <p:nvPr/>
        </p:nvSpPr>
        <p:spPr>
          <a:xfrm>
            <a:off x="3851116" y="3806216"/>
            <a:ext cx="858682" cy="22752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人群圈选</a:t>
            </a:r>
          </a:p>
        </p:txBody>
      </p:sp>
      <p:sp>
        <p:nvSpPr>
          <p:cNvPr id="232" name="矩形 231">
            <a:extLst>
              <a:ext uri="{FF2B5EF4-FFF2-40B4-BE49-F238E27FC236}">
                <a16:creationId xmlns:a16="http://schemas.microsoft.com/office/drawing/2014/main" id="{100DDE21-CED1-3A48-A184-BD1A31DF0AE8}"/>
              </a:ext>
            </a:extLst>
          </p:cNvPr>
          <p:cNvSpPr/>
          <p:nvPr/>
        </p:nvSpPr>
        <p:spPr>
          <a:xfrm>
            <a:off x="3736953" y="2739596"/>
            <a:ext cx="1045769" cy="1364752"/>
          </a:xfrm>
          <a:prstGeom prst="rect">
            <a:avLst/>
          </a:prstGeom>
          <a:noFill/>
          <a:ln>
            <a:solidFill>
              <a:srgbClr val="C0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5" name="矩形 234">
            <a:extLst>
              <a:ext uri="{FF2B5EF4-FFF2-40B4-BE49-F238E27FC236}">
                <a16:creationId xmlns:a16="http://schemas.microsoft.com/office/drawing/2014/main" id="{774B186A-9CE7-EC45-9E5B-1B4807CE70B9}"/>
              </a:ext>
            </a:extLst>
          </p:cNvPr>
          <p:cNvSpPr/>
          <p:nvPr/>
        </p:nvSpPr>
        <p:spPr>
          <a:xfrm>
            <a:off x="1364950" y="4271607"/>
            <a:ext cx="3486506" cy="1718051"/>
          </a:xfrm>
          <a:prstGeom prst="rect">
            <a:avLst/>
          </a:prstGeom>
          <a:noFill/>
          <a:ln w="3175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n w="0"/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6" name="文本框 235">
            <a:extLst>
              <a:ext uri="{FF2B5EF4-FFF2-40B4-BE49-F238E27FC236}">
                <a16:creationId xmlns:a16="http://schemas.microsoft.com/office/drawing/2014/main" id="{A77B2146-F6CC-DF4C-909B-45E0190040FD}"/>
              </a:ext>
            </a:extLst>
          </p:cNvPr>
          <p:cNvSpPr txBox="1"/>
          <p:nvPr/>
        </p:nvSpPr>
        <p:spPr>
          <a:xfrm>
            <a:off x="1364951" y="4280991"/>
            <a:ext cx="3486506" cy="24622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zh-CN" alt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支撑</a:t>
            </a:r>
            <a:r>
              <a:rPr kumimoji="1" lang="en-US" altLang="zh-CN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(support)</a:t>
            </a:r>
            <a:endParaRPr kumimoji="1" lang="zh-CN" altLang="en-US" sz="1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2" name="矩形 251">
            <a:extLst>
              <a:ext uri="{FF2B5EF4-FFF2-40B4-BE49-F238E27FC236}">
                <a16:creationId xmlns:a16="http://schemas.microsoft.com/office/drawing/2014/main" id="{C57E0A1C-1CF4-7147-87E0-D77202C66211}"/>
              </a:ext>
            </a:extLst>
          </p:cNvPr>
          <p:cNvSpPr/>
          <p:nvPr/>
        </p:nvSpPr>
        <p:spPr>
          <a:xfrm>
            <a:off x="2687302" y="4752324"/>
            <a:ext cx="847188" cy="22752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字典</a:t>
            </a:r>
          </a:p>
        </p:txBody>
      </p:sp>
      <p:sp>
        <p:nvSpPr>
          <p:cNvPr id="253" name="矩形 252">
            <a:extLst>
              <a:ext uri="{FF2B5EF4-FFF2-40B4-BE49-F238E27FC236}">
                <a16:creationId xmlns:a16="http://schemas.microsoft.com/office/drawing/2014/main" id="{F1D96AC6-FB09-934A-A606-197C43DF6007}"/>
              </a:ext>
            </a:extLst>
          </p:cNvPr>
          <p:cNvSpPr/>
          <p:nvPr/>
        </p:nvSpPr>
        <p:spPr>
          <a:xfrm>
            <a:off x="2688931" y="5049020"/>
            <a:ext cx="847188" cy="22752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通用配置</a:t>
            </a:r>
          </a:p>
        </p:txBody>
      </p:sp>
      <p:sp>
        <p:nvSpPr>
          <p:cNvPr id="254" name="矩形 253">
            <a:extLst>
              <a:ext uri="{FF2B5EF4-FFF2-40B4-BE49-F238E27FC236}">
                <a16:creationId xmlns:a16="http://schemas.microsoft.com/office/drawing/2014/main" id="{EA0FCFC8-A838-8146-876A-84782C6D8DC3}"/>
              </a:ext>
            </a:extLst>
          </p:cNvPr>
          <p:cNvSpPr/>
          <p:nvPr/>
        </p:nvSpPr>
        <p:spPr>
          <a:xfrm>
            <a:off x="2691805" y="5359911"/>
            <a:ext cx="847188" cy="22752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组织员工</a:t>
            </a:r>
          </a:p>
        </p:txBody>
      </p:sp>
      <p:sp>
        <p:nvSpPr>
          <p:cNvPr id="255" name="文本框 254">
            <a:extLst>
              <a:ext uri="{FF2B5EF4-FFF2-40B4-BE49-F238E27FC236}">
                <a16:creationId xmlns:a16="http://schemas.microsoft.com/office/drawing/2014/main" id="{B316019D-089B-064A-9336-517032FDC644}"/>
              </a:ext>
            </a:extLst>
          </p:cNvPr>
          <p:cNvSpPr txBox="1"/>
          <p:nvPr/>
        </p:nvSpPr>
        <p:spPr>
          <a:xfrm>
            <a:off x="2544290" y="4537479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基础</a:t>
            </a:r>
          </a:p>
        </p:txBody>
      </p:sp>
      <p:sp>
        <p:nvSpPr>
          <p:cNvPr id="256" name="矩形 255">
            <a:extLst>
              <a:ext uri="{FF2B5EF4-FFF2-40B4-BE49-F238E27FC236}">
                <a16:creationId xmlns:a16="http://schemas.microsoft.com/office/drawing/2014/main" id="{09F70D1A-1C1E-2543-BEB4-60F6D144AF5A}"/>
              </a:ext>
            </a:extLst>
          </p:cNvPr>
          <p:cNvSpPr/>
          <p:nvPr/>
        </p:nvSpPr>
        <p:spPr>
          <a:xfrm>
            <a:off x="2694791" y="5655892"/>
            <a:ext cx="847188" cy="22752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7" name="矩形 256">
            <a:extLst>
              <a:ext uri="{FF2B5EF4-FFF2-40B4-BE49-F238E27FC236}">
                <a16:creationId xmlns:a16="http://schemas.microsoft.com/office/drawing/2014/main" id="{557EDBAF-37C3-D746-9652-CA2C1D1CF1C3}"/>
              </a:ext>
            </a:extLst>
          </p:cNvPr>
          <p:cNvSpPr/>
          <p:nvPr/>
        </p:nvSpPr>
        <p:spPr>
          <a:xfrm>
            <a:off x="2596224" y="4589272"/>
            <a:ext cx="1031772" cy="1364752"/>
          </a:xfrm>
          <a:prstGeom prst="rect">
            <a:avLst/>
          </a:prstGeom>
          <a:noFill/>
          <a:ln>
            <a:solidFill>
              <a:srgbClr val="C0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6" name="矩形 245">
            <a:extLst>
              <a:ext uri="{FF2B5EF4-FFF2-40B4-BE49-F238E27FC236}">
                <a16:creationId xmlns:a16="http://schemas.microsoft.com/office/drawing/2014/main" id="{9F72A0EB-F6F0-884B-B22B-71FCD02624DA}"/>
              </a:ext>
            </a:extLst>
          </p:cNvPr>
          <p:cNvSpPr/>
          <p:nvPr/>
        </p:nvSpPr>
        <p:spPr>
          <a:xfrm>
            <a:off x="1534313" y="4746189"/>
            <a:ext cx="847188" cy="22752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升级规则</a:t>
            </a:r>
          </a:p>
        </p:txBody>
      </p:sp>
      <p:sp>
        <p:nvSpPr>
          <p:cNvPr id="247" name="矩形 246">
            <a:extLst>
              <a:ext uri="{FF2B5EF4-FFF2-40B4-BE49-F238E27FC236}">
                <a16:creationId xmlns:a16="http://schemas.microsoft.com/office/drawing/2014/main" id="{2E0BB84A-423D-EC4A-BD5C-1EB7995C1DF5}"/>
              </a:ext>
            </a:extLst>
          </p:cNvPr>
          <p:cNvSpPr/>
          <p:nvPr/>
        </p:nvSpPr>
        <p:spPr>
          <a:xfrm>
            <a:off x="1535942" y="5042885"/>
            <a:ext cx="847188" cy="22752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绑定规则</a:t>
            </a:r>
          </a:p>
        </p:txBody>
      </p:sp>
      <p:sp>
        <p:nvSpPr>
          <p:cNvPr id="248" name="矩形 247">
            <a:extLst>
              <a:ext uri="{FF2B5EF4-FFF2-40B4-BE49-F238E27FC236}">
                <a16:creationId xmlns:a16="http://schemas.microsoft.com/office/drawing/2014/main" id="{C15C6EB7-7565-1D45-ABA9-2101B82ACC94}"/>
              </a:ext>
            </a:extLst>
          </p:cNvPr>
          <p:cNvSpPr/>
          <p:nvPr/>
        </p:nvSpPr>
        <p:spPr>
          <a:xfrm>
            <a:off x="1538816" y="5353776"/>
            <a:ext cx="847188" cy="22752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分配规则</a:t>
            </a:r>
          </a:p>
        </p:txBody>
      </p:sp>
      <p:sp>
        <p:nvSpPr>
          <p:cNvPr id="249" name="文本框 248">
            <a:extLst>
              <a:ext uri="{FF2B5EF4-FFF2-40B4-BE49-F238E27FC236}">
                <a16:creationId xmlns:a16="http://schemas.microsoft.com/office/drawing/2014/main" id="{059E25CB-4D0C-4E46-B4FC-D3A0582701EA}"/>
              </a:ext>
            </a:extLst>
          </p:cNvPr>
          <p:cNvSpPr txBox="1"/>
          <p:nvPr/>
        </p:nvSpPr>
        <p:spPr>
          <a:xfrm>
            <a:off x="1391301" y="4531344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规则</a:t>
            </a:r>
          </a:p>
        </p:txBody>
      </p:sp>
      <p:sp>
        <p:nvSpPr>
          <p:cNvPr id="250" name="矩形 249">
            <a:extLst>
              <a:ext uri="{FF2B5EF4-FFF2-40B4-BE49-F238E27FC236}">
                <a16:creationId xmlns:a16="http://schemas.microsoft.com/office/drawing/2014/main" id="{D92C214B-594E-F24C-AC21-841243D39ED9}"/>
              </a:ext>
            </a:extLst>
          </p:cNvPr>
          <p:cNvSpPr/>
          <p:nvPr/>
        </p:nvSpPr>
        <p:spPr>
          <a:xfrm>
            <a:off x="1532024" y="5649757"/>
            <a:ext cx="847188" cy="22752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联系规则</a:t>
            </a:r>
          </a:p>
        </p:txBody>
      </p:sp>
      <p:sp>
        <p:nvSpPr>
          <p:cNvPr id="251" name="矩形 250">
            <a:extLst>
              <a:ext uri="{FF2B5EF4-FFF2-40B4-BE49-F238E27FC236}">
                <a16:creationId xmlns:a16="http://schemas.microsoft.com/office/drawing/2014/main" id="{76FBDDAA-521D-0742-941C-22794150DE4A}"/>
              </a:ext>
            </a:extLst>
          </p:cNvPr>
          <p:cNvSpPr/>
          <p:nvPr/>
        </p:nvSpPr>
        <p:spPr>
          <a:xfrm>
            <a:off x="1443235" y="4583137"/>
            <a:ext cx="1031772" cy="1364752"/>
          </a:xfrm>
          <a:prstGeom prst="rect">
            <a:avLst/>
          </a:prstGeom>
          <a:noFill/>
          <a:ln>
            <a:solidFill>
              <a:srgbClr val="C0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0" name="矩形 239">
            <a:extLst>
              <a:ext uri="{FF2B5EF4-FFF2-40B4-BE49-F238E27FC236}">
                <a16:creationId xmlns:a16="http://schemas.microsoft.com/office/drawing/2014/main" id="{433359A9-3B97-284A-AD7F-6FC5041CE21F}"/>
              </a:ext>
            </a:extLst>
          </p:cNvPr>
          <p:cNvSpPr/>
          <p:nvPr/>
        </p:nvSpPr>
        <p:spPr>
          <a:xfrm>
            <a:off x="3807110" y="4756356"/>
            <a:ext cx="847188" cy="22752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租户管理</a:t>
            </a:r>
          </a:p>
        </p:txBody>
      </p:sp>
      <p:sp>
        <p:nvSpPr>
          <p:cNvPr id="241" name="矩形 240">
            <a:extLst>
              <a:ext uri="{FF2B5EF4-FFF2-40B4-BE49-F238E27FC236}">
                <a16:creationId xmlns:a16="http://schemas.microsoft.com/office/drawing/2014/main" id="{3520891E-62EB-5645-BBBD-67DF5AA5CFAF}"/>
              </a:ext>
            </a:extLst>
          </p:cNvPr>
          <p:cNvSpPr/>
          <p:nvPr/>
        </p:nvSpPr>
        <p:spPr>
          <a:xfrm>
            <a:off x="3808739" y="5053052"/>
            <a:ext cx="847188" cy="22752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应用管理</a:t>
            </a:r>
          </a:p>
        </p:txBody>
      </p:sp>
      <p:sp>
        <p:nvSpPr>
          <p:cNvPr id="242" name="矩形 241">
            <a:extLst>
              <a:ext uri="{FF2B5EF4-FFF2-40B4-BE49-F238E27FC236}">
                <a16:creationId xmlns:a16="http://schemas.microsoft.com/office/drawing/2014/main" id="{6B89CDB5-DBCB-8A47-AEF6-500C64196539}"/>
              </a:ext>
            </a:extLst>
          </p:cNvPr>
          <p:cNvSpPr/>
          <p:nvPr/>
        </p:nvSpPr>
        <p:spPr>
          <a:xfrm>
            <a:off x="3811613" y="5363943"/>
            <a:ext cx="847188" cy="22752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企微管理</a:t>
            </a:r>
          </a:p>
        </p:txBody>
      </p:sp>
      <p:sp>
        <p:nvSpPr>
          <p:cNvPr id="243" name="文本框 242">
            <a:extLst>
              <a:ext uri="{FF2B5EF4-FFF2-40B4-BE49-F238E27FC236}">
                <a16:creationId xmlns:a16="http://schemas.microsoft.com/office/drawing/2014/main" id="{E103AB63-2F99-6D4F-B439-18FF66272D90}"/>
              </a:ext>
            </a:extLst>
          </p:cNvPr>
          <p:cNvSpPr txBox="1"/>
          <p:nvPr/>
        </p:nvSpPr>
        <p:spPr>
          <a:xfrm>
            <a:off x="3664098" y="4541511"/>
            <a:ext cx="6976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租户应用</a:t>
            </a:r>
          </a:p>
        </p:txBody>
      </p:sp>
      <p:sp>
        <p:nvSpPr>
          <p:cNvPr id="244" name="矩形 243">
            <a:extLst>
              <a:ext uri="{FF2B5EF4-FFF2-40B4-BE49-F238E27FC236}">
                <a16:creationId xmlns:a16="http://schemas.microsoft.com/office/drawing/2014/main" id="{4A0F00EC-8EC7-1C48-BBB9-363F0B1D7F07}"/>
              </a:ext>
            </a:extLst>
          </p:cNvPr>
          <p:cNvSpPr/>
          <p:nvPr/>
        </p:nvSpPr>
        <p:spPr>
          <a:xfrm>
            <a:off x="3828667" y="5659924"/>
            <a:ext cx="847188" cy="22752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租户隔离</a:t>
            </a:r>
          </a:p>
        </p:txBody>
      </p:sp>
      <p:sp>
        <p:nvSpPr>
          <p:cNvPr id="245" name="矩形 244">
            <a:extLst>
              <a:ext uri="{FF2B5EF4-FFF2-40B4-BE49-F238E27FC236}">
                <a16:creationId xmlns:a16="http://schemas.microsoft.com/office/drawing/2014/main" id="{CFA4BF90-299B-5743-8179-B945F04238D7}"/>
              </a:ext>
            </a:extLst>
          </p:cNvPr>
          <p:cNvSpPr/>
          <p:nvPr/>
        </p:nvSpPr>
        <p:spPr>
          <a:xfrm>
            <a:off x="3716032" y="4593304"/>
            <a:ext cx="1031772" cy="1364752"/>
          </a:xfrm>
          <a:prstGeom prst="rect">
            <a:avLst/>
          </a:prstGeom>
          <a:noFill/>
          <a:ln>
            <a:solidFill>
              <a:srgbClr val="C0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9" name="文本框 258">
            <a:extLst>
              <a:ext uri="{FF2B5EF4-FFF2-40B4-BE49-F238E27FC236}">
                <a16:creationId xmlns:a16="http://schemas.microsoft.com/office/drawing/2014/main" id="{748E696A-773F-5042-AF60-DFE07450B6F8}"/>
              </a:ext>
            </a:extLst>
          </p:cNvPr>
          <p:cNvSpPr txBox="1"/>
          <p:nvPr/>
        </p:nvSpPr>
        <p:spPr>
          <a:xfrm>
            <a:off x="8152015" y="2681672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内部</a:t>
            </a:r>
          </a:p>
        </p:txBody>
      </p:sp>
      <p:sp>
        <p:nvSpPr>
          <p:cNvPr id="261" name="矩形 260">
            <a:extLst>
              <a:ext uri="{FF2B5EF4-FFF2-40B4-BE49-F238E27FC236}">
                <a16:creationId xmlns:a16="http://schemas.microsoft.com/office/drawing/2014/main" id="{FABA8233-07D1-8245-B6ED-37AF5F68EB34}"/>
              </a:ext>
            </a:extLst>
          </p:cNvPr>
          <p:cNvSpPr/>
          <p:nvPr/>
        </p:nvSpPr>
        <p:spPr>
          <a:xfrm>
            <a:off x="9457181" y="2725617"/>
            <a:ext cx="1145184" cy="1379280"/>
          </a:xfrm>
          <a:prstGeom prst="rect">
            <a:avLst/>
          </a:prstGeom>
          <a:noFill/>
          <a:ln>
            <a:solidFill>
              <a:srgbClr val="C0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3" name="文本框 262">
            <a:extLst>
              <a:ext uri="{FF2B5EF4-FFF2-40B4-BE49-F238E27FC236}">
                <a16:creationId xmlns:a16="http://schemas.microsoft.com/office/drawing/2014/main" id="{BB50F911-CC52-A744-AB65-0092C9C67F57}"/>
              </a:ext>
            </a:extLst>
          </p:cNvPr>
          <p:cNvSpPr txBox="1"/>
          <p:nvPr/>
        </p:nvSpPr>
        <p:spPr>
          <a:xfrm>
            <a:off x="8111821" y="2457851"/>
            <a:ext cx="2588787" cy="24622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zh-CN" alt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集成</a:t>
            </a:r>
            <a:r>
              <a:rPr kumimoji="1" lang="en-US" altLang="zh-CN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kumimoji="1" lang="en-US" altLang="zh-CN" sz="1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gwout</a:t>
            </a:r>
            <a:r>
              <a:rPr kumimoji="1" lang="en-US" altLang="zh-CN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kumimoji="1" lang="zh-CN" altLang="en-US" sz="1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5" name="矩形 264">
            <a:extLst>
              <a:ext uri="{FF2B5EF4-FFF2-40B4-BE49-F238E27FC236}">
                <a16:creationId xmlns:a16="http://schemas.microsoft.com/office/drawing/2014/main" id="{409280AB-8608-4741-B65A-3A71EE6B7756}"/>
              </a:ext>
            </a:extLst>
          </p:cNvPr>
          <p:cNvSpPr/>
          <p:nvPr/>
        </p:nvSpPr>
        <p:spPr>
          <a:xfrm>
            <a:off x="8078641" y="2437326"/>
            <a:ext cx="2636770" cy="1713397"/>
          </a:xfrm>
          <a:prstGeom prst="rect">
            <a:avLst/>
          </a:prstGeom>
          <a:noFill/>
          <a:ln w="3175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n w="0"/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6" name="矩形 265">
            <a:extLst>
              <a:ext uri="{FF2B5EF4-FFF2-40B4-BE49-F238E27FC236}">
                <a16:creationId xmlns:a16="http://schemas.microsoft.com/office/drawing/2014/main" id="{6E267421-5EA1-044E-941F-E2EC7A143786}"/>
              </a:ext>
            </a:extLst>
          </p:cNvPr>
          <p:cNvSpPr/>
          <p:nvPr/>
        </p:nvSpPr>
        <p:spPr>
          <a:xfrm>
            <a:off x="8310748" y="2896517"/>
            <a:ext cx="940312" cy="22752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官网商城</a:t>
            </a:r>
          </a:p>
        </p:txBody>
      </p:sp>
      <p:sp>
        <p:nvSpPr>
          <p:cNvPr id="267" name="矩形 266">
            <a:extLst>
              <a:ext uri="{FF2B5EF4-FFF2-40B4-BE49-F238E27FC236}">
                <a16:creationId xmlns:a16="http://schemas.microsoft.com/office/drawing/2014/main" id="{ACF60281-0112-4045-AF3E-0B4201CDFB23}"/>
              </a:ext>
            </a:extLst>
          </p:cNvPr>
          <p:cNvSpPr/>
          <p:nvPr/>
        </p:nvSpPr>
        <p:spPr>
          <a:xfrm>
            <a:off x="8209659" y="2733466"/>
            <a:ext cx="1145184" cy="1371431"/>
          </a:xfrm>
          <a:prstGeom prst="rect">
            <a:avLst/>
          </a:prstGeom>
          <a:noFill/>
          <a:ln>
            <a:solidFill>
              <a:srgbClr val="C0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8" name="文本框 267">
            <a:extLst>
              <a:ext uri="{FF2B5EF4-FFF2-40B4-BE49-F238E27FC236}">
                <a16:creationId xmlns:a16="http://schemas.microsoft.com/office/drawing/2014/main" id="{663A69C7-AF18-E647-9DA1-AE7E0F6C741C}"/>
              </a:ext>
            </a:extLst>
          </p:cNvPr>
          <p:cNvSpPr txBox="1"/>
          <p:nvPr/>
        </p:nvSpPr>
        <p:spPr>
          <a:xfrm>
            <a:off x="9490355" y="2722666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外部</a:t>
            </a:r>
          </a:p>
        </p:txBody>
      </p:sp>
      <p:sp>
        <p:nvSpPr>
          <p:cNvPr id="269" name="矩形 268">
            <a:extLst>
              <a:ext uri="{FF2B5EF4-FFF2-40B4-BE49-F238E27FC236}">
                <a16:creationId xmlns:a16="http://schemas.microsoft.com/office/drawing/2014/main" id="{34EC3236-9D78-6343-92A6-D789B217729F}"/>
              </a:ext>
            </a:extLst>
          </p:cNvPr>
          <p:cNvSpPr/>
          <p:nvPr/>
        </p:nvSpPr>
        <p:spPr>
          <a:xfrm>
            <a:off x="9565359" y="2913653"/>
            <a:ext cx="940313" cy="22752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企微</a:t>
            </a:r>
          </a:p>
        </p:txBody>
      </p:sp>
      <p:sp>
        <p:nvSpPr>
          <p:cNvPr id="270" name="矩形 269">
            <a:extLst>
              <a:ext uri="{FF2B5EF4-FFF2-40B4-BE49-F238E27FC236}">
                <a16:creationId xmlns:a16="http://schemas.microsoft.com/office/drawing/2014/main" id="{3FFC9E37-69FC-E647-B7CE-E1295D73B55D}"/>
              </a:ext>
            </a:extLst>
          </p:cNvPr>
          <p:cNvSpPr/>
          <p:nvPr/>
        </p:nvSpPr>
        <p:spPr>
          <a:xfrm>
            <a:off x="9555369" y="3224542"/>
            <a:ext cx="940313" cy="22752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短信</a:t>
            </a:r>
          </a:p>
        </p:txBody>
      </p:sp>
      <p:sp>
        <p:nvSpPr>
          <p:cNvPr id="271" name="矩形 270">
            <a:extLst>
              <a:ext uri="{FF2B5EF4-FFF2-40B4-BE49-F238E27FC236}">
                <a16:creationId xmlns:a16="http://schemas.microsoft.com/office/drawing/2014/main" id="{8226E68B-51A6-C84C-9998-1262C429F6DC}"/>
              </a:ext>
            </a:extLst>
          </p:cNvPr>
          <p:cNvSpPr/>
          <p:nvPr/>
        </p:nvSpPr>
        <p:spPr>
          <a:xfrm>
            <a:off x="9550157" y="3523503"/>
            <a:ext cx="940313" cy="22752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华为云</a:t>
            </a:r>
          </a:p>
        </p:txBody>
      </p:sp>
      <p:sp>
        <p:nvSpPr>
          <p:cNvPr id="272" name="矩形 271">
            <a:extLst>
              <a:ext uri="{FF2B5EF4-FFF2-40B4-BE49-F238E27FC236}">
                <a16:creationId xmlns:a16="http://schemas.microsoft.com/office/drawing/2014/main" id="{513E7713-A33A-E348-BCED-6B1903CABC1E}"/>
              </a:ext>
            </a:extLst>
          </p:cNvPr>
          <p:cNvSpPr/>
          <p:nvPr/>
        </p:nvSpPr>
        <p:spPr>
          <a:xfrm>
            <a:off x="9564268" y="3832132"/>
            <a:ext cx="940313" cy="22752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</a:t>
            </a:r>
          </a:p>
        </p:txBody>
      </p:sp>
      <p:sp>
        <p:nvSpPr>
          <p:cNvPr id="273" name="矩形 272">
            <a:extLst>
              <a:ext uri="{FF2B5EF4-FFF2-40B4-BE49-F238E27FC236}">
                <a16:creationId xmlns:a16="http://schemas.microsoft.com/office/drawing/2014/main" id="{C21C0BB5-F39D-2946-9B6E-2B4096A68B5F}"/>
              </a:ext>
            </a:extLst>
          </p:cNvPr>
          <p:cNvSpPr/>
          <p:nvPr/>
        </p:nvSpPr>
        <p:spPr>
          <a:xfrm>
            <a:off x="8302402" y="3191780"/>
            <a:ext cx="940312" cy="22752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CRM</a:t>
            </a:r>
            <a:endParaRPr kumimoji="1" lang="zh-CN" altLang="en-US" sz="9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4" name="矩形 273">
            <a:extLst>
              <a:ext uri="{FF2B5EF4-FFF2-40B4-BE49-F238E27FC236}">
                <a16:creationId xmlns:a16="http://schemas.microsoft.com/office/drawing/2014/main" id="{5299D2BF-DFCB-7248-A8A2-661B69D8CFED}"/>
              </a:ext>
            </a:extLst>
          </p:cNvPr>
          <p:cNvSpPr/>
          <p:nvPr/>
        </p:nvSpPr>
        <p:spPr>
          <a:xfrm>
            <a:off x="8310746" y="3487453"/>
            <a:ext cx="940312" cy="22752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POS</a:t>
            </a:r>
            <a:endParaRPr kumimoji="1" lang="zh-CN" altLang="en-US" sz="9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5" name="矩形 274">
            <a:extLst>
              <a:ext uri="{FF2B5EF4-FFF2-40B4-BE49-F238E27FC236}">
                <a16:creationId xmlns:a16="http://schemas.microsoft.com/office/drawing/2014/main" id="{B24FAB8F-8229-7348-98D1-CBEA861CB5F0}"/>
              </a:ext>
            </a:extLst>
          </p:cNvPr>
          <p:cNvSpPr/>
          <p:nvPr/>
        </p:nvSpPr>
        <p:spPr>
          <a:xfrm>
            <a:off x="8315144" y="3782645"/>
            <a:ext cx="940312" cy="22752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MDM</a:t>
            </a:r>
            <a:endParaRPr kumimoji="1" lang="zh-CN" altLang="en-US" sz="9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6" name="矩形 275">
            <a:extLst>
              <a:ext uri="{FF2B5EF4-FFF2-40B4-BE49-F238E27FC236}">
                <a16:creationId xmlns:a16="http://schemas.microsoft.com/office/drawing/2014/main" id="{E25D3C2D-A040-2044-A039-E813F5A24D49}"/>
              </a:ext>
            </a:extLst>
          </p:cNvPr>
          <p:cNvSpPr/>
          <p:nvPr/>
        </p:nvSpPr>
        <p:spPr>
          <a:xfrm>
            <a:off x="8325045" y="5623824"/>
            <a:ext cx="953124" cy="22752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注册</a:t>
            </a:r>
          </a:p>
        </p:txBody>
      </p:sp>
    </p:spTree>
    <p:extLst>
      <p:ext uri="{BB962C8B-B14F-4D97-AF65-F5344CB8AC3E}">
        <p14:creationId xmlns:p14="http://schemas.microsoft.com/office/powerpoint/2010/main" val="1819080559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Rectangle 14">
            <a:extLst>
              <a:ext uri="{FF2B5EF4-FFF2-40B4-BE49-F238E27FC236}">
                <a16:creationId xmlns:a16="http://schemas.microsoft.com/office/drawing/2014/main" id="{50D08873-67A0-9647-8ED3-870B0223609A}"/>
              </a:ext>
            </a:extLst>
          </p:cNvPr>
          <p:cNvSpPr/>
          <p:nvPr/>
        </p:nvSpPr>
        <p:spPr>
          <a:xfrm>
            <a:off x="116566" y="139485"/>
            <a:ext cx="6957171" cy="523220"/>
          </a:xfrm>
          <a:prstGeom prst="rect">
            <a:avLst/>
          </a:prstGeom>
          <a:solidFill>
            <a:schemeClr val="bg1"/>
          </a:solidFill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开发规范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工程结构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526EFA4-4438-C445-8858-C6BB6261BD56}"/>
              </a:ext>
            </a:extLst>
          </p:cNvPr>
          <p:cNvSpPr txBox="1"/>
          <p:nvPr/>
        </p:nvSpPr>
        <p:spPr>
          <a:xfrm>
            <a:off x="3880832" y="981249"/>
            <a:ext cx="447558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zh-CN" sz="12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Api</a:t>
            </a:r>
            <a:endParaRPr kumimoji="1" lang="zh-CN" altLang="en-US" sz="12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57373AE-CE8C-A84B-9BB7-EBDD8157EE50}"/>
              </a:ext>
            </a:extLst>
          </p:cNvPr>
          <p:cNvSpPr/>
          <p:nvPr/>
        </p:nvSpPr>
        <p:spPr>
          <a:xfrm>
            <a:off x="513078" y="664783"/>
            <a:ext cx="9323075" cy="85570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38B63EB-90D0-FA41-BB10-4234787D9B0D}"/>
              </a:ext>
            </a:extLst>
          </p:cNvPr>
          <p:cNvSpPr/>
          <p:nvPr/>
        </p:nvSpPr>
        <p:spPr>
          <a:xfrm>
            <a:off x="699077" y="727911"/>
            <a:ext cx="8172247" cy="67979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7A51C25-775A-3344-B633-F864D5F06B80}"/>
              </a:ext>
            </a:extLst>
          </p:cNvPr>
          <p:cNvSpPr/>
          <p:nvPr/>
        </p:nvSpPr>
        <p:spPr>
          <a:xfrm>
            <a:off x="3470048" y="1044730"/>
            <a:ext cx="1883215" cy="277583"/>
          </a:xfrm>
          <a:prstGeom prst="rect">
            <a:avLst/>
          </a:prstGeom>
          <a:solidFill>
            <a:srgbClr val="FFE1E1"/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0" dirty="0" err="1">
                <a:solidFill>
                  <a:schemeClr val="tx1"/>
                </a:solidFill>
              </a:rPr>
              <a:t>Enum</a:t>
            </a:r>
            <a:endParaRPr kumimoji="1"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C170101-BF19-3A4C-825A-8F27CD160EFB}"/>
              </a:ext>
            </a:extLst>
          </p:cNvPr>
          <p:cNvSpPr/>
          <p:nvPr/>
        </p:nvSpPr>
        <p:spPr>
          <a:xfrm>
            <a:off x="947468" y="1036019"/>
            <a:ext cx="1883215" cy="277583"/>
          </a:xfrm>
          <a:prstGeom prst="rect">
            <a:avLst/>
          </a:prstGeom>
          <a:solidFill>
            <a:srgbClr val="FFE1E1"/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0" dirty="0" err="1">
                <a:solidFill>
                  <a:schemeClr val="tx1"/>
                </a:solidFill>
              </a:rPr>
              <a:t>Dto</a:t>
            </a:r>
            <a:endParaRPr kumimoji="1"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A92FA47-1631-3A49-8A95-1CE27B79FDE1}"/>
              </a:ext>
            </a:extLst>
          </p:cNvPr>
          <p:cNvSpPr/>
          <p:nvPr/>
        </p:nvSpPr>
        <p:spPr>
          <a:xfrm>
            <a:off x="6041260" y="1044729"/>
            <a:ext cx="1883215" cy="277583"/>
          </a:xfrm>
          <a:prstGeom prst="rect">
            <a:avLst/>
          </a:prstGeom>
          <a:solidFill>
            <a:srgbClr val="FFE1E1"/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0" dirty="0" err="1">
                <a:solidFill>
                  <a:schemeClr val="tx1"/>
                </a:solidFill>
              </a:rPr>
              <a:t>Api</a:t>
            </a:r>
            <a:endParaRPr kumimoji="1"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E4E072E-9835-494F-B8C5-6BB4D8EC5C65}"/>
              </a:ext>
            </a:extLst>
          </p:cNvPr>
          <p:cNvSpPr txBox="1"/>
          <p:nvPr/>
        </p:nvSpPr>
        <p:spPr>
          <a:xfrm>
            <a:off x="9136845" y="668445"/>
            <a:ext cx="36420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接</a:t>
            </a:r>
            <a:endParaRPr kumimoji="1" lang="en-US" altLang="zh-CN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口</a:t>
            </a:r>
            <a:endParaRPr kumimoji="1" lang="en-US" altLang="zh-CN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00D62C5-FD08-1B46-B5D2-1F87B6DE7E66}"/>
              </a:ext>
            </a:extLst>
          </p:cNvPr>
          <p:cNvSpPr/>
          <p:nvPr/>
        </p:nvSpPr>
        <p:spPr>
          <a:xfrm>
            <a:off x="513080" y="1557371"/>
            <a:ext cx="9323075" cy="206160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A350D04-D333-2843-BDB6-9124475F7B0C}"/>
              </a:ext>
            </a:extLst>
          </p:cNvPr>
          <p:cNvSpPr/>
          <p:nvPr/>
        </p:nvSpPr>
        <p:spPr>
          <a:xfrm>
            <a:off x="699077" y="1700085"/>
            <a:ext cx="8172247" cy="184053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5E6346D-FBD5-F546-B60A-E77E368CA872}"/>
              </a:ext>
            </a:extLst>
          </p:cNvPr>
          <p:cNvSpPr txBox="1"/>
          <p:nvPr/>
        </p:nvSpPr>
        <p:spPr>
          <a:xfrm>
            <a:off x="3651770" y="1650628"/>
            <a:ext cx="994183" cy="27699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kumimoji="1" lang="en-US" altLang="zh-CN" sz="1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Assembler</a:t>
            </a:r>
            <a:endParaRPr kumimoji="1" lang="zh-CN" altLang="en-US" sz="12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C339113-E7A3-8A4C-8451-085AC3A5C63C}"/>
              </a:ext>
            </a:extLst>
          </p:cNvPr>
          <p:cNvSpPr/>
          <p:nvPr/>
        </p:nvSpPr>
        <p:spPr>
          <a:xfrm>
            <a:off x="895545" y="1903780"/>
            <a:ext cx="7742365" cy="276999"/>
          </a:xfrm>
          <a:prstGeom prst="rect">
            <a:avLst/>
          </a:prstGeom>
          <a:solidFill>
            <a:srgbClr val="FFE1E1"/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App</a:t>
            </a:r>
            <a:r>
              <a:rPr kumimoji="1" lang="zh-CN" altLang="en-US" sz="1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Service</a:t>
            </a:r>
            <a:endParaRPr kumimoji="1" lang="zh-CN" altLang="en-US" sz="10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7D7C3F1-D3AC-ED42-8E10-321AB3448217}"/>
              </a:ext>
            </a:extLst>
          </p:cNvPr>
          <p:cNvSpPr/>
          <p:nvPr/>
        </p:nvSpPr>
        <p:spPr>
          <a:xfrm>
            <a:off x="895545" y="2252749"/>
            <a:ext cx="7742365" cy="276999"/>
          </a:xfrm>
          <a:prstGeom prst="rect">
            <a:avLst/>
          </a:prstGeom>
          <a:solidFill>
            <a:srgbClr val="FFE1E1"/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Job</a:t>
            </a:r>
            <a:endParaRPr kumimoji="1" lang="zh-CN" altLang="en-US" sz="10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3C50F9B-F485-0446-AFB1-78AB019B26BF}"/>
              </a:ext>
            </a:extLst>
          </p:cNvPr>
          <p:cNvSpPr/>
          <p:nvPr/>
        </p:nvSpPr>
        <p:spPr>
          <a:xfrm>
            <a:off x="895545" y="2884681"/>
            <a:ext cx="7742365" cy="57137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F26E0E7-FA66-2C4D-86A9-2786BA65E4C9}"/>
              </a:ext>
            </a:extLst>
          </p:cNvPr>
          <p:cNvSpPr txBox="1"/>
          <p:nvPr/>
        </p:nvSpPr>
        <p:spPr>
          <a:xfrm>
            <a:off x="3829114" y="2827240"/>
            <a:ext cx="835293" cy="27699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kumimoji="1" lang="en-US" altLang="zh-CN" sz="1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Strategy</a:t>
            </a:r>
            <a:endParaRPr kumimoji="1" lang="zh-CN" altLang="en-US" sz="12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267DCD8-FD54-E648-BE92-C5AEE729E2CE}"/>
              </a:ext>
            </a:extLst>
          </p:cNvPr>
          <p:cNvSpPr/>
          <p:nvPr/>
        </p:nvSpPr>
        <p:spPr>
          <a:xfrm>
            <a:off x="3679804" y="3122136"/>
            <a:ext cx="1883215" cy="276999"/>
          </a:xfrm>
          <a:prstGeom prst="rect">
            <a:avLst/>
          </a:prstGeom>
          <a:solidFill>
            <a:srgbClr val="FFE1E1"/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0" dirty="0">
                <a:solidFill>
                  <a:schemeClr val="tx1"/>
                </a:solidFill>
              </a:rPr>
              <a:t>Context</a:t>
            </a:r>
            <a:endParaRPr kumimoji="1"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33018F5-89F8-5849-B3EA-2A67D6A81775}"/>
              </a:ext>
            </a:extLst>
          </p:cNvPr>
          <p:cNvSpPr/>
          <p:nvPr/>
        </p:nvSpPr>
        <p:spPr>
          <a:xfrm>
            <a:off x="6251016" y="3122135"/>
            <a:ext cx="1883215" cy="276999"/>
          </a:xfrm>
          <a:prstGeom prst="rect">
            <a:avLst/>
          </a:prstGeom>
          <a:solidFill>
            <a:srgbClr val="FFE1E1"/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0" dirty="0">
                <a:solidFill>
                  <a:schemeClr val="tx1"/>
                </a:solidFill>
              </a:rPr>
              <a:t>Handler</a:t>
            </a:r>
            <a:endParaRPr kumimoji="1"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F316562-A516-CC47-9D00-D2B3C225A60C}"/>
              </a:ext>
            </a:extLst>
          </p:cNvPr>
          <p:cNvSpPr/>
          <p:nvPr/>
        </p:nvSpPr>
        <p:spPr>
          <a:xfrm>
            <a:off x="1312558" y="3122134"/>
            <a:ext cx="1883215" cy="276999"/>
          </a:xfrm>
          <a:prstGeom prst="rect">
            <a:avLst/>
          </a:prstGeom>
          <a:solidFill>
            <a:srgbClr val="FFE1E1"/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0" dirty="0" err="1">
                <a:solidFill>
                  <a:schemeClr val="tx1"/>
                </a:solidFill>
              </a:rPr>
              <a:t>Impl</a:t>
            </a:r>
            <a:endParaRPr kumimoji="1"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1CCD079-44FE-DD40-94D9-E9C5A3609877}"/>
              </a:ext>
            </a:extLst>
          </p:cNvPr>
          <p:cNvSpPr txBox="1"/>
          <p:nvPr/>
        </p:nvSpPr>
        <p:spPr>
          <a:xfrm>
            <a:off x="9189096" y="1964257"/>
            <a:ext cx="36420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应</a:t>
            </a:r>
            <a:endParaRPr kumimoji="1" lang="en-US" altLang="zh-CN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用</a:t>
            </a:r>
            <a:endParaRPr kumimoji="1" lang="en-US" altLang="zh-CN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层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199073C8-CB49-854E-A076-67FDDD701290}"/>
              </a:ext>
            </a:extLst>
          </p:cNvPr>
          <p:cNvSpPr txBox="1"/>
          <p:nvPr/>
        </p:nvSpPr>
        <p:spPr>
          <a:xfrm>
            <a:off x="8385886" y="4869974"/>
            <a:ext cx="364202" cy="73866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领</a:t>
            </a:r>
            <a:endParaRPr kumimoji="1" lang="en-US" altLang="zh-CN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域</a:t>
            </a:r>
            <a:endParaRPr kumimoji="1" lang="en-US" altLang="zh-CN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层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931F6E83-F737-0140-B76F-161D894EFEAE}"/>
              </a:ext>
            </a:extLst>
          </p:cNvPr>
          <p:cNvSpPr/>
          <p:nvPr/>
        </p:nvSpPr>
        <p:spPr>
          <a:xfrm>
            <a:off x="490992" y="3653395"/>
            <a:ext cx="9373099" cy="195138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AC36089-EEAA-F14B-9D8D-F06E8BEA30EC}"/>
              </a:ext>
            </a:extLst>
          </p:cNvPr>
          <p:cNvSpPr/>
          <p:nvPr/>
        </p:nvSpPr>
        <p:spPr>
          <a:xfrm>
            <a:off x="655670" y="3695076"/>
            <a:ext cx="8172247" cy="183360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C3EFC340-B6F0-474B-BC57-F77658B5C45A}"/>
              </a:ext>
            </a:extLst>
          </p:cNvPr>
          <p:cNvSpPr/>
          <p:nvPr/>
        </p:nvSpPr>
        <p:spPr>
          <a:xfrm>
            <a:off x="827457" y="3809339"/>
            <a:ext cx="7742366" cy="285543"/>
          </a:xfrm>
          <a:prstGeom prst="rect">
            <a:avLst/>
          </a:prstGeom>
          <a:solidFill>
            <a:srgbClr val="FFE1E1"/>
          </a:solidFill>
          <a:ln w="1270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Converter</a:t>
            </a:r>
            <a:endParaRPr kumimoji="1" lang="zh-CN" altLang="en-US" sz="10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F108811-54D6-074C-9C7C-CEB7B8B30E6F}"/>
              </a:ext>
            </a:extLst>
          </p:cNvPr>
          <p:cNvSpPr/>
          <p:nvPr/>
        </p:nvSpPr>
        <p:spPr>
          <a:xfrm>
            <a:off x="813629" y="4170610"/>
            <a:ext cx="7742366" cy="12317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9797330A-EB76-5844-80EB-3B66DFBE199F}"/>
              </a:ext>
            </a:extLst>
          </p:cNvPr>
          <p:cNvSpPr txBox="1"/>
          <p:nvPr/>
        </p:nvSpPr>
        <p:spPr>
          <a:xfrm>
            <a:off x="3523885" y="4118646"/>
            <a:ext cx="1003929" cy="2769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kumimoji="1" lang="en-US" altLang="zh-CN" sz="1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Aggregate</a:t>
            </a:r>
            <a:endParaRPr kumimoji="1" lang="zh-CN" altLang="en-US" sz="12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278C222D-655F-404B-9E53-04DB493AFF9C}"/>
              </a:ext>
            </a:extLst>
          </p:cNvPr>
          <p:cNvSpPr/>
          <p:nvPr/>
        </p:nvSpPr>
        <p:spPr>
          <a:xfrm>
            <a:off x="967586" y="4371780"/>
            <a:ext cx="7260701" cy="248595"/>
          </a:xfrm>
          <a:prstGeom prst="rect">
            <a:avLst/>
          </a:prstGeom>
          <a:solidFill>
            <a:srgbClr val="FFE1E1"/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Domain</a:t>
            </a:r>
            <a:r>
              <a:rPr kumimoji="1" lang="zh-CN" altLang="en-US" sz="1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Service</a:t>
            </a:r>
            <a:endParaRPr kumimoji="1" lang="zh-CN" altLang="en-US" sz="10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932473B2-76CA-E044-8954-3B272D823C66}"/>
              </a:ext>
            </a:extLst>
          </p:cNvPr>
          <p:cNvSpPr/>
          <p:nvPr/>
        </p:nvSpPr>
        <p:spPr>
          <a:xfrm>
            <a:off x="967584" y="4695861"/>
            <a:ext cx="3332544" cy="248595"/>
          </a:xfrm>
          <a:prstGeom prst="rect">
            <a:avLst/>
          </a:prstGeom>
          <a:solidFill>
            <a:srgbClr val="FFE1E1"/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0" dirty="0">
                <a:solidFill>
                  <a:schemeClr val="tx1"/>
                </a:solidFill>
              </a:rPr>
              <a:t>Entity</a:t>
            </a:r>
            <a:endParaRPr kumimoji="1"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D5E63D35-3218-414E-AC41-3B577860A0E8}"/>
              </a:ext>
            </a:extLst>
          </p:cNvPr>
          <p:cNvSpPr/>
          <p:nvPr/>
        </p:nvSpPr>
        <p:spPr>
          <a:xfrm>
            <a:off x="4895743" y="4695861"/>
            <a:ext cx="3332544" cy="248595"/>
          </a:xfrm>
          <a:prstGeom prst="rect">
            <a:avLst/>
          </a:prstGeom>
          <a:solidFill>
            <a:srgbClr val="FFE1E1"/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0" dirty="0">
                <a:solidFill>
                  <a:schemeClr val="tx1"/>
                </a:solidFill>
              </a:rPr>
              <a:t>Value</a:t>
            </a:r>
            <a:r>
              <a:rPr kumimoji="1" lang="zh-CN" altLang="en-US" sz="1000" dirty="0">
                <a:solidFill>
                  <a:schemeClr val="tx1"/>
                </a:solidFill>
              </a:rPr>
              <a:t> </a:t>
            </a:r>
            <a:r>
              <a:rPr kumimoji="1" lang="en-US" altLang="zh-CN" sz="1000" dirty="0">
                <a:solidFill>
                  <a:schemeClr val="tx1"/>
                </a:solidFill>
              </a:rPr>
              <a:t>Object</a:t>
            </a:r>
            <a:endParaRPr kumimoji="1"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5EE8BC11-DA53-A247-A94F-227013A827A8}"/>
              </a:ext>
            </a:extLst>
          </p:cNvPr>
          <p:cNvSpPr/>
          <p:nvPr/>
        </p:nvSpPr>
        <p:spPr>
          <a:xfrm>
            <a:off x="967584" y="5024997"/>
            <a:ext cx="7260701" cy="248595"/>
          </a:xfrm>
          <a:prstGeom prst="rect">
            <a:avLst/>
          </a:prstGeom>
          <a:solidFill>
            <a:srgbClr val="FFE1E1"/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Repository</a:t>
            </a:r>
            <a:endParaRPr kumimoji="1" lang="zh-CN" altLang="en-US" sz="10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A79A5365-E356-B440-9F79-6BAB6C881D8A}"/>
              </a:ext>
            </a:extLst>
          </p:cNvPr>
          <p:cNvSpPr txBox="1"/>
          <p:nvPr/>
        </p:nvSpPr>
        <p:spPr>
          <a:xfrm>
            <a:off x="9136845" y="4326529"/>
            <a:ext cx="36420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领</a:t>
            </a:r>
            <a:endParaRPr kumimoji="1" lang="en-US" altLang="zh-CN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域</a:t>
            </a:r>
            <a:endParaRPr kumimoji="1" lang="en-US" altLang="zh-CN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层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431F8847-9BC2-0343-A20F-177BB7C266FD}"/>
              </a:ext>
            </a:extLst>
          </p:cNvPr>
          <p:cNvSpPr/>
          <p:nvPr/>
        </p:nvSpPr>
        <p:spPr>
          <a:xfrm>
            <a:off x="490992" y="5648545"/>
            <a:ext cx="9373098" cy="115947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B837E106-FD6C-B74C-BA16-49164D775F3A}"/>
              </a:ext>
            </a:extLst>
          </p:cNvPr>
          <p:cNvSpPr/>
          <p:nvPr/>
        </p:nvSpPr>
        <p:spPr>
          <a:xfrm>
            <a:off x="605647" y="5686341"/>
            <a:ext cx="8172247" cy="1121675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7631FD97-0039-F34B-9AF7-7C7306076110}"/>
              </a:ext>
            </a:extLst>
          </p:cNvPr>
          <p:cNvSpPr/>
          <p:nvPr/>
        </p:nvSpPr>
        <p:spPr>
          <a:xfrm>
            <a:off x="763606" y="6117547"/>
            <a:ext cx="7742365" cy="608909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766E3882-3C7C-3841-90E8-CF035B0917EF}"/>
              </a:ext>
            </a:extLst>
          </p:cNvPr>
          <p:cNvSpPr txBox="1"/>
          <p:nvPr/>
        </p:nvSpPr>
        <p:spPr>
          <a:xfrm>
            <a:off x="3473862" y="6070427"/>
            <a:ext cx="1082540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b="1" dirty="0"/>
              <a:t>P</a:t>
            </a:r>
            <a:r>
              <a:rPr lang="en" altLang="zh-CN" sz="12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ersistence</a:t>
            </a:r>
            <a:endParaRPr kumimoji="1" lang="zh-CN" altLang="en-US" sz="12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E7034F76-F3B6-B64A-B5AA-213047E338CC}"/>
              </a:ext>
            </a:extLst>
          </p:cNvPr>
          <p:cNvSpPr/>
          <p:nvPr/>
        </p:nvSpPr>
        <p:spPr>
          <a:xfrm>
            <a:off x="837699" y="6394542"/>
            <a:ext cx="3332544" cy="225422"/>
          </a:xfrm>
          <a:prstGeom prst="rect">
            <a:avLst/>
          </a:prstGeom>
          <a:solidFill>
            <a:srgbClr val="FFE1E1"/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Repository</a:t>
            </a:r>
            <a:r>
              <a:rPr kumimoji="1" lang="zh-CN" altLang="en-US" sz="1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000" dirty="0" err="1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Impl</a:t>
            </a:r>
            <a:endParaRPr kumimoji="1"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5BBB626D-372D-FA46-B263-A6604F918611}"/>
              </a:ext>
            </a:extLst>
          </p:cNvPr>
          <p:cNvSpPr/>
          <p:nvPr/>
        </p:nvSpPr>
        <p:spPr>
          <a:xfrm>
            <a:off x="4867804" y="6394542"/>
            <a:ext cx="3332544" cy="225422"/>
          </a:xfrm>
          <a:prstGeom prst="rect">
            <a:avLst/>
          </a:prstGeom>
          <a:solidFill>
            <a:srgbClr val="FFE1E1"/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0" dirty="0">
                <a:solidFill>
                  <a:schemeClr val="tx1"/>
                </a:solidFill>
              </a:rPr>
              <a:t>Cache</a:t>
            </a:r>
            <a:endParaRPr kumimoji="1"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9F29177E-1AA4-CE4A-9134-959AD3DBBF3A}"/>
              </a:ext>
            </a:extLst>
          </p:cNvPr>
          <p:cNvSpPr txBox="1"/>
          <p:nvPr/>
        </p:nvSpPr>
        <p:spPr>
          <a:xfrm>
            <a:off x="9136845" y="5908582"/>
            <a:ext cx="36420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基</a:t>
            </a:r>
            <a:endParaRPr kumimoji="1" lang="en-US" altLang="zh-CN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础</a:t>
            </a:r>
            <a:endParaRPr kumimoji="1" lang="en-US" altLang="zh-CN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层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357438EA-501C-4C42-B61B-DA85F12296FD}"/>
              </a:ext>
            </a:extLst>
          </p:cNvPr>
          <p:cNvSpPr/>
          <p:nvPr/>
        </p:nvSpPr>
        <p:spPr>
          <a:xfrm>
            <a:off x="6382582" y="5753655"/>
            <a:ext cx="2096774" cy="268300"/>
          </a:xfrm>
          <a:prstGeom prst="rect">
            <a:avLst/>
          </a:prstGeom>
          <a:solidFill>
            <a:srgbClr val="FFE1E1"/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Other</a:t>
            </a:r>
            <a:endParaRPr kumimoji="1" lang="zh-CN" altLang="en-US" sz="10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BFA3FA22-9BA3-6B43-B7AE-0EBC052F8FE8}"/>
              </a:ext>
            </a:extLst>
          </p:cNvPr>
          <p:cNvSpPr/>
          <p:nvPr/>
        </p:nvSpPr>
        <p:spPr>
          <a:xfrm>
            <a:off x="733909" y="5753508"/>
            <a:ext cx="2096774" cy="268300"/>
          </a:xfrm>
          <a:prstGeom prst="rect">
            <a:avLst/>
          </a:prstGeom>
          <a:solidFill>
            <a:srgbClr val="FFE1E1"/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Common</a:t>
            </a:r>
            <a:endParaRPr kumimoji="1" lang="zh-CN" altLang="en-US" sz="10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77D314BA-2DAF-FB42-BC6E-1AC9C35FEE7F}"/>
              </a:ext>
            </a:extLst>
          </p:cNvPr>
          <p:cNvSpPr/>
          <p:nvPr/>
        </p:nvSpPr>
        <p:spPr>
          <a:xfrm>
            <a:off x="3486541" y="5751931"/>
            <a:ext cx="2096774" cy="268300"/>
          </a:xfrm>
          <a:prstGeom prst="rect">
            <a:avLst/>
          </a:prstGeom>
          <a:solidFill>
            <a:srgbClr val="FFE1E1"/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Other</a:t>
            </a:r>
            <a:endParaRPr kumimoji="1" lang="zh-CN" altLang="en-US" sz="10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C81CBB86-5113-864E-BF93-D1EAE2F0E7C3}"/>
              </a:ext>
            </a:extLst>
          </p:cNvPr>
          <p:cNvSpPr txBox="1"/>
          <p:nvPr/>
        </p:nvSpPr>
        <p:spPr>
          <a:xfrm>
            <a:off x="4057399" y="712575"/>
            <a:ext cx="447558" cy="276999"/>
          </a:xfrm>
          <a:prstGeom prst="rect">
            <a:avLst/>
          </a:prstGeom>
          <a:solidFill>
            <a:schemeClr val="bg1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sz="12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Api</a:t>
            </a:r>
            <a:endParaRPr kumimoji="1" lang="zh-CN" altLang="en-US" sz="12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336AAC9A-D1D8-3F4C-B1C2-DCC2DF04C655}"/>
              </a:ext>
            </a:extLst>
          </p:cNvPr>
          <p:cNvSpPr/>
          <p:nvPr/>
        </p:nvSpPr>
        <p:spPr>
          <a:xfrm>
            <a:off x="895545" y="2564422"/>
            <a:ext cx="7742365" cy="276999"/>
          </a:xfrm>
          <a:prstGeom prst="rect">
            <a:avLst/>
          </a:prstGeom>
          <a:solidFill>
            <a:srgbClr val="FFE1E1"/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Consumer</a:t>
            </a:r>
            <a:endParaRPr kumimoji="1" lang="zh-CN" altLang="en-US" sz="10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81685393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Rectangle 14">
            <a:extLst>
              <a:ext uri="{FF2B5EF4-FFF2-40B4-BE49-F238E27FC236}">
                <a16:creationId xmlns:a16="http://schemas.microsoft.com/office/drawing/2014/main" id="{50D08873-67A0-9647-8ED3-870B0223609A}"/>
              </a:ext>
            </a:extLst>
          </p:cNvPr>
          <p:cNvSpPr/>
          <p:nvPr/>
        </p:nvSpPr>
        <p:spPr>
          <a:xfrm>
            <a:off x="116566" y="139485"/>
            <a:ext cx="6957171" cy="523220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数据架构图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1334854-0FBC-7929-ADC1-AAAD2A1342D4}"/>
              </a:ext>
            </a:extLst>
          </p:cNvPr>
          <p:cNvSpPr/>
          <p:nvPr/>
        </p:nvSpPr>
        <p:spPr>
          <a:xfrm>
            <a:off x="478970" y="783772"/>
            <a:ext cx="8142515" cy="59699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983C703-FE14-3861-1838-9848012D7712}"/>
              </a:ext>
            </a:extLst>
          </p:cNvPr>
          <p:cNvSpPr/>
          <p:nvPr/>
        </p:nvSpPr>
        <p:spPr>
          <a:xfrm>
            <a:off x="478971" y="1942442"/>
            <a:ext cx="4604658" cy="90351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2B69B1C-1A14-82D3-2451-C1204F43619C}"/>
              </a:ext>
            </a:extLst>
          </p:cNvPr>
          <p:cNvSpPr/>
          <p:nvPr/>
        </p:nvSpPr>
        <p:spPr>
          <a:xfrm>
            <a:off x="478971" y="4082146"/>
            <a:ext cx="8142514" cy="90351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B3CE2F6-EF03-F7DD-627C-6DCBE9E2B98F}"/>
              </a:ext>
            </a:extLst>
          </p:cNvPr>
          <p:cNvSpPr/>
          <p:nvPr/>
        </p:nvSpPr>
        <p:spPr>
          <a:xfrm>
            <a:off x="478970" y="5845632"/>
            <a:ext cx="8142513" cy="90351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A046DC93-210C-A9D3-D9DA-D7E54950E72C}"/>
              </a:ext>
            </a:extLst>
          </p:cNvPr>
          <p:cNvSpPr/>
          <p:nvPr/>
        </p:nvSpPr>
        <p:spPr>
          <a:xfrm>
            <a:off x="1937660" y="886132"/>
            <a:ext cx="5791201" cy="392278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导购系统</a:t>
            </a:r>
          </a:p>
        </p:txBody>
      </p:sp>
      <p:sp>
        <p:nvSpPr>
          <p:cNvPr id="161" name="箭头: 下 160">
            <a:extLst>
              <a:ext uri="{FF2B5EF4-FFF2-40B4-BE49-F238E27FC236}">
                <a16:creationId xmlns:a16="http://schemas.microsoft.com/office/drawing/2014/main" id="{60B012E4-0EFB-9C81-E4F5-0130322F7BD6}"/>
              </a:ext>
            </a:extLst>
          </p:cNvPr>
          <p:cNvSpPr/>
          <p:nvPr/>
        </p:nvSpPr>
        <p:spPr>
          <a:xfrm>
            <a:off x="3995316" y="5021164"/>
            <a:ext cx="794398" cy="788965"/>
          </a:xfrm>
          <a:prstGeom prst="down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3" name="箭头: 上下 162">
            <a:extLst>
              <a:ext uri="{FF2B5EF4-FFF2-40B4-BE49-F238E27FC236}">
                <a16:creationId xmlns:a16="http://schemas.microsoft.com/office/drawing/2014/main" id="{5A2837ED-0CD6-1358-E8CE-0E94360A48F1}"/>
              </a:ext>
            </a:extLst>
          </p:cNvPr>
          <p:cNvSpPr/>
          <p:nvPr/>
        </p:nvSpPr>
        <p:spPr>
          <a:xfrm>
            <a:off x="7641771" y="1380770"/>
            <a:ext cx="272143" cy="2701376"/>
          </a:xfrm>
          <a:prstGeom prst="upDown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4" name="文本框 163">
            <a:extLst>
              <a:ext uri="{FF2B5EF4-FFF2-40B4-BE49-F238E27FC236}">
                <a16:creationId xmlns:a16="http://schemas.microsoft.com/office/drawing/2014/main" id="{5181B112-C487-1D74-4515-B29CB67B28DA}"/>
              </a:ext>
            </a:extLst>
          </p:cNvPr>
          <p:cNvSpPr txBox="1"/>
          <p:nvPr/>
        </p:nvSpPr>
        <p:spPr>
          <a:xfrm>
            <a:off x="4742737" y="5179536"/>
            <a:ext cx="20201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抽数 </a:t>
            </a:r>
            <a:r>
              <a:rPr lang="en-US" altLang="zh-CN" dirty="0"/>
              <a:t>T+1</a:t>
            </a:r>
            <a:r>
              <a:rPr lang="zh-CN" altLang="en-US" dirty="0"/>
              <a:t>或 准实时</a:t>
            </a:r>
          </a:p>
        </p:txBody>
      </p:sp>
      <p:sp>
        <p:nvSpPr>
          <p:cNvPr id="165" name="矩形: 圆角 164">
            <a:extLst>
              <a:ext uri="{FF2B5EF4-FFF2-40B4-BE49-F238E27FC236}">
                <a16:creationId xmlns:a16="http://schemas.microsoft.com/office/drawing/2014/main" id="{5609C213-1897-17D1-00B8-95E1EF911C2C}"/>
              </a:ext>
            </a:extLst>
          </p:cNvPr>
          <p:cNvSpPr/>
          <p:nvPr/>
        </p:nvSpPr>
        <p:spPr>
          <a:xfrm>
            <a:off x="1654625" y="6145847"/>
            <a:ext cx="5791201" cy="392278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数仓</a:t>
            </a:r>
          </a:p>
        </p:txBody>
      </p:sp>
      <p:sp>
        <p:nvSpPr>
          <p:cNvPr id="166" name="文本框 165">
            <a:extLst>
              <a:ext uri="{FF2B5EF4-FFF2-40B4-BE49-F238E27FC236}">
                <a16:creationId xmlns:a16="http://schemas.microsoft.com/office/drawing/2014/main" id="{D6B55125-70B9-D260-617F-F346FC6EA86E}"/>
              </a:ext>
            </a:extLst>
          </p:cNvPr>
          <p:cNvSpPr txBox="1"/>
          <p:nvPr/>
        </p:nvSpPr>
        <p:spPr>
          <a:xfrm>
            <a:off x="7777842" y="2403043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读写</a:t>
            </a:r>
          </a:p>
        </p:txBody>
      </p:sp>
      <p:sp>
        <p:nvSpPr>
          <p:cNvPr id="168" name="箭头: 上下 167">
            <a:extLst>
              <a:ext uri="{FF2B5EF4-FFF2-40B4-BE49-F238E27FC236}">
                <a16:creationId xmlns:a16="http://schemas.microsoft.com/office/drawing/2014/main" id="{668281DB-1166-48B2-5145-A40DB3B85957}"/>
              </a:ext>
            </a:extLst>
          </p:cNvPr>
          <p:cNvSpPr/>
          <p:nvPr/>
        </p:nvSpPr>
        <p:spPr>
          <a:xfrm>
            <a:off x="3722533" y="1380771"/>
            <a:ext cx="272143" cy="531082"/>
          </a:xfrm>
          <a:prstGeom prst="upDown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9" name="文本框 168">
            <a:extLst>
              <a:ext uri="{FF2B5EF4-FFF2-40B4-BE49-F238E27FC236}">
                <a16:creationId xmlns:a16="http://schemas.microsoft.com/office/drawing/2014/main" id="{1363BA4D-423B-20E1-3E80-0C7524224D77}"/>
              </a:ext>
            </a:extLst>
          </p:cNvPr>
          <p:cNvSpPr txBox="1"/>
          <p:nvPr/>
        </p:nvSpPr>
        <p:spPr>
          <a:xfrm>
            <a:off x="4136829" y="1510602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读写</a:t>
            </a:r>
          </a:p>
        </p:txBody>
      </p:sp>
      <p:grpSp>
        <p:nvGrpSpPr>
          <p:cNvPr id="206" name="组合 205">
            <a:extLst>
              <a:ext uri="{FF2B5EF4-FFF2-40B4-BE49-F238E27FC236}">
                <a16:creationId xmlns:a16="http://schemas.microsoft.com/office/drawing/2014/main" id="{506CE79F-5B3E-5A64-FAD7-42B63FA97D0F}"/>
              </a:ext>
            </a:extLst>
          </p:cNvPr>
          <p:cNvGrpSpPr/>
          <p:nvPr/>
        </p:nvGrpSpPr>
        <p:grpSpPr>
          <a:xfrm>
            <a:off x="644713" y="2156624"/>
            <a:ext cx="547984" cy="736029"/>
            <a:chOff x="1167228" y="2319910"/>
            <a:chExt cx="547984" cy="736029"/>
          </a:xfrm>
        </p:grpSpPr>
        <p:pic>
          <p:nvPicPr>
            <p:cNvPr id="172" name="图片 171">
              <a:extLst>
                <a:ext uri="{FF2B5EF4-FFF2-40B4-BE49-F238E27FC236}">
                  <a16:creationId xmlns:a16="http://schemas.microsoft.com/office/drawing/2014/main" id="{131448AE-84AA-4C22-FD68-2810AEA2CC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67228" y="2319910"/>
              <a:ext cx="520851" cy="447607"/>
            </a:xfrm>
            <a:prstGeom prst="rect">
              <a:avLst/>
            </a:prstGeom>
          </p:spPr>
        </p:pic>
        <p:sp>
          <p:nvSpPr>
            <p:cNvPr id="175" name="文本框 174">
              <a:extLst>
                <a:ext uri="{FF2B5EF4-FFF2-40B4-BE49-F238E27FC236}">
                  <a16:creationId xmlns:a16="http://schemas.microsoft.com/office/drawing/2014/main" id="{3A16D161-E635-2FC9-4B11-313D49CFBD38}"/>
                </a:ext>
              </a:extLst>
            </p:cNvPr>
            <p:cNvSpPr txBox="1"/>
            <p:nvPr/>
          </p:nvSpPr>
          <p:spPr>
            <a:xfrm>
              <a:off x="1222769" y="2778940"/>
              <a:ext cx="49244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导购</a:t>
              </a:r>
            </a:p>
          </p:txBody>
        </p:sp>
      </p:grpSp>
      <p:grpSp>
        <p:nvGrpSpPr>
          <p:cNvPr id="190" name="组合 189">
            <a:extLst>
              <a:ext uri="{FF2B5EF4-FFF2-40B4-BE49-F238E27FC236}">
                <a16:creationId xmlns:a16="http://schemas.microsoft.com/office/drawing/2014/main" id="{E16E911F-636C-4B40-5582-DBAFCE89394B}"/>
              </a:ext>
            </a:extLst>
          </p:cNvPr>
          <p:cNvGrpSpPr/>
          <p:nvPr/>
        </p:nvGrpSpPr>
        <p:grpSpPr>
          <a:xfrm>
            <a:off x="1190922" y="4134284"/>
            <a:ext cx="492443" cy="777287"/>
            <a:chOff x="726380" y="3744628"/>
            <a:chExt cx="492443" cy="777287"/>
          </a:xfrm>
        </p:grpSpPr>
        <p:pic>
          <p:nvPicPr>
            <p:cNvPr id="174" name="图片 173">
              <a:extLst>
                <a:ext uri="{FF2B5EF4-FFF2-40B4-BE49-F238E27FC236}">
                  <a16:creationId xmlns:a16="http://schemas.microsoft.com/office/drawing/2014/main" id="{EBCDD1DD-8697-EE3F-5380-4748905F3D6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6380" y="3744628"/>
              <a:ext cx="472956" cy="472956"/>
            </a:xfrm>
            <a:prstGeom prst="rect">
              <a:avLst/>
            </a:prstGeom>
          </p:spPr>
        </p:pic>
        <p:sp>
          <p:nvSpPr>
            <p:cNvPr id="178" name="文本框 177">
              <a:extLst>
                <a:ext uri="{FF2B5EF4-FFF2-40B4-BE49-F238E27FC236}">
                  <a16:creationId xmlns:a16="http://schemas.microsoft.com/office/drawing/2014/main" id="{44AC577A-03F4-AEA8-AC78-DCEFFA8B879D}"/>
                </a:ext>
              </a:extLst>
            </p:cNvPr>
            <p:cNvSpPr txBox="1"/>
            <p:nvPr/>
          </p:nvSpPr>
          <p:spPr>
            <a:xfrm>
              <a:off x="726380" y="4244916"/>
              <a:ext cx="49244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导购</a:t>
              </a:r>
            </a:p>
          </p:txBody>
        </p:sp>
      </p:grpSp>
      <p:grpSp>
        <p:nvGrpSpPr>
          <p:cNvPr id="207" name="组合 206">
            <a:extLst>
              <a:ext uri="{FF2B5EF4-FFF2-40B4-BE49-F238E27FC236}">
                <a16:creationId xmlns:a16="http://schemas.microsoft.com/office/drawing/2014/main" id="{9C5D9BB5-93FC-18EA-4FED-43A8722E9AB1}"/>
              </a:ext>
            </a:extLst>
          </p:cNvPr>
          <p:cNvGrpSpPr/>
          <p:nvPr/>
        </p:nvGrpSpPr>
        <p:grpSpPr>
          <a:xfrm>
            <a:off x="1356692" y="2132718"/>
            <a:ext cx="547984" cy="736029"/>
            <a:chOff x="2173122" y="2296004"/>
            <a:chExt cx="547984" cy="736029"/>
          </a:xfrm>
        </p:grpSpPr>
        <p:pic>
          <p:nvPicPr>
            <p:cNvPr id="179" name="图片 178">
              <a:extLst>
                <a:ext uri="{FF2B5EF4-FFF2-40B4-BE49-F238E27FC236}">
                  <a16:creationId xmlns:a16="http://schemas.microsoft.com/office/drawing/2014/main" id="{BF497B39-BE4E-6192-1271-262D6932BCC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73122" y="2296004"/>
              <a:ext cx="520851" cy="447607"/>
            </a:xfrm>
            <a:prstGeom prst="rect">
              <a:avLst/>
            </a:prstGeom>
          </p:spPr>
        </p:pic>
        <p:sp>
          <p:nvSpPr>
            <p:cNvPr id="180" name="文本框 179">
              <a:extLst>
                <a:ext uri="{FF2B5EF4-FFF2-40B4-BE49-F238E27FC236}">
                  <a16:creationId xmlns:a16="http://schemas.microsoft.com/office/drawing/2014/main" id="{DCE929AA-8F55-86B3-D63B-97126B2786A1}"/>
                </a:ext>
              </a:extLst>
            </p:cNvPr>
            <p:cNvSpPr txBox="1"/>
            <p:nvPr/>
          </p:nvSpPr>
          <p:spPr>
            <a:xfrm>
              <a:off x="2228663" y="2755034"/>
              <a:ext cx="49244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内容</a:t>
              </a:r>
            </a:p>
          </p:txBody>
        </p:sp>
      </p:grpSp>
      <p:grpSp>
        <p:nvGrpSpPr>
          <p:cNvPr id="208" name="组合 207">
            <a:extLst>
              <a:ext uri="{FF2B5EF4-FFF2-40B4-BE49-F238E27FC236}">
                <a16:creationId xmlns:a16="http://schemas.microsoft.com/office/drawing/2014/main" id="{BB54BC0D-B7B8-1BF8-3F23-D6532094031E}"/>
              </a:ext>
            </a:extLst>
          </p:cNvPr>
          <p:cNvGrpSpPr/>
          <p:nvPr/>
        </p:nvGrpSpPr>
        <p:grpSpPr>
          <a:xfrm>
            <a:off x="2057785" y="2114808"/>
            <a:ext cx="547984" cy="736029"/>
            <a:chOff x="3179016" y="2278094"/>
            <a:chExt cx="547984" cy="736029"/>
          </a:xfrm>
        </p:grpSpPr>
        <p:pic>
          <p:nvPicPr>
            <p:cNvPr id="181" name="图片 180">
              <a:extLst>
                <a:ext uri="{FF2B5EF4-FFF2-40B4-BE49-F238E27FC236}">
                  <a16:creationId xmlns:a16="http://schemas.microsoft.com/office/drawing/2014/main" id="{1C6A3CD2-2E76-AEBC-1F94-204C69C7B19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79016" y="2278094"/>
              <a:ext cx="520851" cy="447607"/>
            </a:xfrm>
            <a:prstGeom prst="rect">
              <a:avLst/>
            </a:prstGeom>
          </p:spPr>
        </p:pic>
        <p:sp>
          <p:nvSpPr>
            <p:cNvPr id="182" name="文本框 181">
              <a:extLst>
                <a:ext uri="{FF2B5EF4-FFF2-40B4-BE49-F238E27FC236}">
                  <a16:creationId xmlns:a16="http://schemas.microsoft.com/office/drawing/2014/main" id="{5FD9F5D2-F6AF-AC10-DD35-451322A9A4C8}"/>
                </a:ext>
              </a:extLst>
            </p:cNvPr>
            <p:cNvSpPr txBox="1"/>
            <p:nvPr/>
          </p:nvSpPr>
          <p:spPr>
            <a:xfrm>
              <a:off x="3234557" y="2737124"/>
              <a:ext cx="49244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客户</a:t>
              </a:r>
            </a:p>
          </p:txBody>
        </p:sp>
      </p:grpSp>
      <p:grpSp>
        <p:nvGrpSpPr>
          <p:cNvPr id="209" name="组合 208">
            <a:extLst>
              <a:ext uri="{FF2B5EF4-FFF2-40B4-BE49-F238E27FC236}">
                <a16:creationId xmlns:a16="http://schemas.microsoft.com/office/drawing/2014/main" id="{5FAA67CB-0669-BB22-D7EF-93DE6B56F9A9}"/>
              </a:ext>
            </a:extLst>
          </p:cNvPr>
          <p:cNvGrpSpPr/>
          <p:nvPr/>
        </p:nvGrpSpPr>
        <p:grpSpPr>
          <a:xfrm>
            <a:off x="2780651" y="2132718"/>
            <a:ext cx="547984" cy="736029"/>
            <a:chOff x="4184910" y="2296004"/>
            <a:chExt cx="547984" cy="736029"/>
          </a:xfrm>
        </p:grpSpPr>
        <p:pic>
          <p:nvPicPr>
            <p:cNvPr id="183" name="图片 182">
              <a:extLst>
                <a:ext uri="{FF2B5EF4-FFF2-40B4-BE49-F238E27FC236}">
                  <a16:creationId xmlns:a16="http://schemas.microsoft.com/office/drawing/2014/main" id="{22B54D43-9BFC-4BCF-0CBF-7E7667B9E32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84910" y="2296004"/>
              <a:ext cx="520851" cy="447607"/>
            </a:xfrm>
            <a:prstGeom prst="rect">
              <a:avLst/>
            </a:prstGeom>
          </p:spPr>
        </p:pic>
        <p:sp>
          <p:nvSpPr>
            <p:cNvPr id="185" name="文本框 184">
              <a:extLst>
                <a:ext uri="{FF2B5EF4-FFF2-40B4-BE49-F238E27FC236}">
                  <a16:creationId xmlns:a16="http://schemas.microsoft.com/office/drawing/2014/main" id="{D45043F9-C7EE-9638-E112-E39E867ACB53}"/>
                </a:ext>
              </a:extLst>
            </p:cNvPr>
            <p:cNvSpPr txBox="1"/>
            <p:nvPr/>
          </p:nvSpPr>
          <p:spPr>
            <a:xfrm>
              <a:off x="4240451" y="2755034"/>
              <a:ext cx="49244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支撑</a:t>
              </a:r>
            </a:p>
          </p:txBody>
        </p:sp>
      </p:grpSp>
      <p:grpSp>
        <p:nvGrpSpPr>
          <p:cNvPr id="210" name="组合 209">
            <a:extLst>
              <a:ext uri="{FF2B5EF4-FFF2-40B4-BE49-F238E27FC236}">
                <a16:creationId xmlns:a16="http://schemas.microsoft.com/office/drawing/2014/main" id="{C4448776-3749-7AC9-05BB-0B01E93AC1C3}"/>
              </a:ext>
            </a:extLst>
          </p:cNvPr>
          <p:cNvGrpSpPr/>
          <p:nvPr/>
        </p:nvGrpSpPr>
        <p:grpSpPr>
          <a:xfrm>
            <a:off x="3601487" y="2120812"/>
            <a:ext cx="547984" cy="736029"/>
            <a:chOff x="5190804" y="2284098"/>
            <a:chExt cx="547984" cy="736029"/>
          </a:xfrm>
        </p:grpSpPr>
        <p:pic>
          <p:nvPicPr>
            <p:cNvPr id="186" name="图片 185">
              <a:extLst>
                <a:ext uri="{FF2B5EF4-FFF2-40B4-BE49-F238E27FC236}">
                  <a16:creationId xmlns:a16="http://schemas.microsoft.com/office/drawing/2014/main" id="{A62E2CBA-214E-E53D-5971-75C5F9CA303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90804" y="2284098"/>
              <a:ext cx="520851" cy="447607"/>
            </a:xfrm>
            <a:prstGeom prst="rect">
              <a:avLst/>
            </a:prstGeom>
          </p:spPr>
        </p:pic>
        <p:sp>
          <p:nvSpPr>
            <p:cNvPr id="187" name="文本框 186">
              <a:extLst>
                <a:ext uri="{FF2B5EF4-FFF2-40B4-BE49-F238E27FC236}">
                  <a16:creationId xmlns:a16="http://schemas.microsoft.com/office/drawing/2014/main" id="{D21C5ACF-D255-AADE-28A2-ED53057FB950}"/>
                </a:ext>
              </a:extLst>
            </p:cNvPr>
            <p:cNvSpPr txBox="1"/>
            <p:nvPr/>
          </p:nvSpPr>
          <p:spPr>
            <a:xfrm>
              <a:off x="5246345" y="2743128"/>
              <a:ext cx="49244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任务</a:t>
              </a:r>
            </a:p>
          </p:txBody>
        </p:sp>
      </p:grpSp>
      <p:grpSp>
        <p:nvGrpSpPr>
          <p:cNvPr id="211" name="组合 210">
            <a:extLst>
              <a:ext uri="{FF2B5EF4-FFF2-40B4-BE49-F238E27FC236}">
                <a16:creationId xmlns:a16="http://schemas.microsoft.com/office/drawing/2014/main" id="{56C1C9C8-F324-B022-0244-25871F80C5DC}"/>
              </a:ext>
            </a:extLst>
          </p:cNvPr>
          <p:cNvGrpSpPr/>
          <p:nvPr/>
        </p:nvGrpSpPr>
        <p:grpSpPr>
          <a:xfrm>
            <a:off x="4357011" y="2132718"/>
            <a:ext cx="547982" cy="736029"/>
            <a:chOff x="6196700" y="2296004"/>
            <a:chExt cx="547982" cy="736029"/>
          </a:xfrm>
        </p:grpSpPr>
        <p:pic>
          <p:nvPicPr>
            <p:cNvPr id="188" name="图片 187">
              <a:extLst>
                <a:ext uri="{FF2B5EF4-FFF2-40B4-BE49-F238E27FC236}">
                  <a16:creationId xmlns:a16="http://schemas.microsoft.com/office/drawing/2014/main" id="{6D94A565-226D-26CE-4030-F7676BACAE5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96700" y="2296004"/>
              <a:ext cx="520851" cy="447607"/>
            </a:xfrm>
            <a:prstGeom prst="rect">
              <a:avLst/>
            </a:prstGeom>
          </p:spPr>
        </p:pic>
        <p:sp>
          <p:nvSpPr>
            <p:cNvPr id="189" name="文本框 188">
              <a:extLst>
                <a:ext uri="{FF2B5EF4-FFF2-40B4-BE49-F238E27FC236}">
                  <a16:creationId xmlns:a16="http://schemas.microsoft.com/office/drawing/2014/main" id="{C1DEA1FA-2981-55DD-5885-BDC1237CCC7C}"/>
                </a:ext>
              </a:extLst>
            </p:cNvPr>
            <p:cNvSpPr txBox="1"/>
            <p:nvPr/>
          </p:nvSpPr>
          <p:spPr>
            <a:xfrm>
              <a:off x="6252239" y="2755034"/>
              <a:ext cx="49244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后台</a:t>
              </a:r>
            </a:p>
          </p:txBody>
        </p:sp>
      </p:grpSp>
      <p:grpSp>
        <p:nvGrpSpPr>
          <p:cNvPr id="191" name="组合 190">
            <a:extLst>
              <a:ext uri="{FF2B5EF4-FFF2-40B4-BE49-F238E27FC236}">
                <a16:creationId xmlns:a16="http://schemas.microsoft.com/office/drawing/2014/main" id="{72B3D654-3566-E79B-3FAA-5CF7E1A3A779}"/>
              </a:ext>
            </a:extLst>
          </p:cNvPr>
          <p:cNvGrpSpPr/>
          <p:nvPr/>
        </p:nvGrpSpPr>
        <p:grpSpPr>
          <a:xfrm>
            <a:off x="4341006" y="4243875"/>
            <a:ext cx="492443" cy="777287"/>
            <a:chOff x="726380" y="3744628"/>
            <a:chExt cx="492443" cy="777287"/>
          </a:xfrm>
        </p:grpSpPr>
        <p:pic>
          <p:nvPicPr>
            <p:cNvPr id="192" name="图片 191">
              <a:extLst>
                <a:ext uri="{FF2B5EF4-FFF2-40B4-BE49-F238E27FC236}">
                  <a16:creationId xmlns:a16="http://schemas.microsoft.com/office/drawing/2014/main" id="{59AF4567-EDDE-3ACD-377B-1A7A6EDEEB1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6380" y="3744628"/>
              <a:ext cx="472956" cy="472956"/>
            </a:xfrm>
            <a:prstGeom prst="rect">
              <a:avLst/>
            </a:prstGeom>
          </p:spPr>
        </p:pic>
        <p:sp>
          <p:nvSpPr>
            <p:cNvPr id="193" name="文本框 192">
              <a:extLst>
                <a:ext uri="{FF2B5EF4-FFF2-40B4-BE49-F238E27FC236}">
                  <a16:creationId xmlns:a16="http://schemas.microsoft.com/office/drawing/2014/main" id="{05FB99DA-2309-70C1-18F7-1329668ADDB9}"/>
                </a:ext>
              </a:extLst>
            </p:cNvPr>
            <p:cNvSpPr txBox="1"/>
            <p:nvPr/>
          </p:nvSpPr>
          <p:spPr>
            <a:xfrm>
              <a:off x="726380" y="4244916"/>
              <a:ext cx="49244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支撑</a:t>
              </a:r>
            </a:p>
          </p:txBody>
        </p:sp>
      </p:grpSp>
      <p:grpSp>
        <p:nvGrpSpPr>
          <p:cNvPr id="194" name="组合 193">
            <a:extLst>
              <a:ext uri="{FF2B5EF4-FFF2-40B4-BE49-F238E27FC236}">
                <a16:creationId xmlns:a16="http://schemas.microsoft.com/office/drawing/2014/main" id="{8517E1C7-99DC-EC21-BE00-CAC208687B86}"/>
              </a:ext>
            </a:extLst>
          </p:cNvPr>
          <p:cNvGrpSpPr/>
          <p:nvPr/>
        </p:nvGrpSpPr>
        <p:grpSpPr>
          <a:xfrm>
            <a:off x="2240950" y="4177917"/>
            <a:ext cx="492443" cy="777287"/>
            <a:chOff x="726380" y="3744628"/>
            <a:chExt cx="492443" cy="777287"/>
          </a:xfrm>
        </p:grpSpPr>
        <p:pic>
          <p:nvPicPr>
            <p:cNvPr id="195" name="图片 194">
              <a:extLst>
                <a:ext uri="{FF2B5EF4-FFF2-40B4-BE49-F238E27FC236}">
                  <a16:creationId xmlns:a16="http://schemas.microsoft.com/office/drawing/2014/main" id="{564B6924-9082-D7BD-E8E8-FDD0FA52A26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6380" y="3744628"/>
              <a:ext cx="472956" cy="472956"/>
            </a:xfrm>
            <a:prstGeom prst="rect">
              <a:avLst/>
            </a:prstGeom>
          </p:spPr>
        </p:pic>
        <p:sp>
          <p:nvSpPr>
            <p:cNvPr id="196" name="文本框 195">
              <a:extLst>
                <a:ext uri="{FF2B5EF4-FFF2-40B4-BE49-F238E27FC236}">
                  <a16:creationId xmlns:a16="http://schemas.microsoft.com/office/drawing/2014/main" id="{76D9C4F6-4A24-BE98-CE5B-A672278D4603}"/>
                </a:ext>
              </a:extLst>
            </p:cNvPr>
            <p:cNvSpPr txBox="1"/>
            <p:nvPr/>
          </p:nvSpPr>
          <p:spPr>
            <a:xfrm>
              <a:off x="726380" y="4244916"/>
              <a:ext cx="49244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内容</a:t>
              </a:r>
            </a:p>
          </p:txBody>
        </p:sp>
      </p:grpSp>
      <p:grpSp>
        <p:nvGrpSpPr>
          <p:cNvPr id="197" name="组合 196">
            <a:extLst>
              <a:ext uri="{FF2B5EF4-FFF2-40B4-BE49-F238E27FC236}">
                <a16:creationId xmlns:a16="http://schemas.microsoft.com/office/drawing/2014/main" id="{B7B9007D-40B1-4347-3191-BAEF359BC883}"/>
              </a:ext>
            </a:extLst>
          </p:cNvPr>
          <p:cNvGrpSpPr/>
          <p:nvPr/>
        </p:nvGrpSpPr>
        <p:grpSpPr>
          <a:xfrm>
            <a:off x="3290978" y="4188644"/>
            <a:ext cx="492443" cy="777287"/>
            <a:chOff x="726380" y="3744628"/>
            <a:chExt cx="492443" cy="777287"/>
          </a:xfrm>
        </p:grpSpPr>
        <p:pic>
          <p:nvPicPr>
            <p:cNvPr id="198" name="图片 197">
              <a:extLst>
                <a:ext uri="{FF2B5EF4-FFF2-40B4-BE49-F238E27FC236}">
                  <a16:creationId xmlns:a16="http://schemas.microsoft.com/office/drawing/2014/main" id="{67D19C20-E327-6A2F-5D9C-C5A6ABE19C1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6380" y="3744628"/>
              <a:ext cx="472956" cy="472956"/>
            </a:xfrm>
            <a:prstGeom prst="rect">
              <a:avLst/>
            </a:prstGeom>
          </p:spPr>
        </p:pic>
        <p:sp>
          <p:nvSpPr>
            <p:cNvPr id="199" name="文本框 198">
              <a:extLst>
                <a:ext uri="{FF2B5EF4-FFF2-40B4-BE49-F238E27FC236}">
                  <a16:creationId xmlns:a16="http://schemas.microsoft.com/office/drawing/2014/main" id="{C11ADC78-5DA3-D21D-6CB5-004094E3DA06}"/>
                </a:ext>
              </a:extLst>
            </p:cNvPr>
            <p:cNvSpPr txBox="1"/>
            <p:nvPr/>
          </p:nvSpPr>
          <p:spPr>
            <a:xfrm>
              <a:off x="726380" y="4244916"/>
              <a:ext cx="49244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客户</a:t>
              </a:r>
            </a:p>
          </p:txBody>
        </p:sp>
      </p:grpSp>
      <p:grpSp>
        <p:nvGrpSpPr>
          <p:cNvPr id="200" name="组合 199">
            <a:extLst>
              <a:ext uri="{FF2B5EF4-FFF2-40B4-BE49-F238E27FC236}">
                <a16:creationId xmlns:a16="http://schemas.microsoft.com/office/drawing/2014/main" id="{A3CE0FFF-109C-7D1E-96DF-E1C0425A7CD9}"/>
              </a:ext>
            </a:extLst>
          </p:cNvPr>
          <p:cNvGrpSpPr/>
          <p:nvPr/>
        </p:nvGrpSpPr>
        <p:grpSpPr>
          <a:xfrm>
            <a:off x="6441060" y="4177917"/>
            <a:ext cx="492443" cy="777287"/>
            <a:chOff x="726380" y="3744628"/>
            <a:chExt cx="492443" cy="777287"/>
          </a:xfrm>
        </p:grpSpPr>
        <p:pic>
          <p:nvPicPr>
            <p:cNvPr id="201" name="图片 200">
              <a:extLst>
                <a:ext uri="{FF2B5EF4-FFF2-40B4-BE49-F238E27FC236}">
                  <a16:creationId xmlns:a16="http://schemas.microsoft.com/office/drawing/2014/main" id="{757C8ED9-B267-3029-E2F2-D607D27C93D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6380" y="3744628"/>
              <a:ext cx="472956" cy="472956"/>
            </a:xfrm>
            <a:prstGeom prst="rect">
              <a:avLst/>
            </a:prstGeom>
          </p:spPr>
        </p:pic>
        <p:sp>
          <p:nvSpPr>
            <p:cNvPr id="202" name="文本框 201">
              <a:extLst>
                <a:ext uri="{FF2B5EF4-FFF2-40B4-BE49-F238E27FC236}">
                  <a16:creationId xmlns:a16="http://schemas.microsoft.com/office/drawing/2014/main" id="{F85A583B-14BB-0DFD-7EFB-9FB0F6392C8C}"/>
                </a:ext>
              </a:extLst>
            </p:cNvPr>
            <p:cNvSpPr txBox="1"/>
            <p:nvPr/>
          </p:nvSpPr>
          <p:spPr>
            <a:xfrm>
              <a:off x="726380" y="4244916"/>
              <a:ext cx="49244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后台</a:t>
              </a:r>
            </a:p>
          </p:txBody>
        </p:sp>
      </p:grpSp>
      <p:grpSp>
        <p:nvGrpSpPr>
          <p:cNvPr id="203" name="组合 202">
            <a:extLst>
              <a:ext uri="{FF2B5EF4-FFF2-40B4-BE49-F238E27FC236}">
                <a16:creationId xmlns:a16="http://schemas.microsoft.com/office/drawing/2014/main" id="{4A8F04FB-F22E-F646-7B69-E139872C8480}"/>
              </a:ext>
            </a:extLst>
          </p:cNvPr>
          <p:cNvGrpSpPr/>
          <p:nvPr/>
        </p:nvGrpSpPr>
        <p:grpSpPr>
          <a:xfrm>
            <a:off x="5391034" y="4177917"/>
            <a:ext cx="492443" cy="777287"/>
            <a:chOff x="726380" y="3744628"/>
            <a:chExt cx="492443" cy="777287"/>
          </a:xfrm>
        </p:grpSpPr>
        <p:pic>
          <p:nvPicPr>
            <p:cNvPr id="204" name="图片 203">
              <a:extLst>
                <a:ext uri="{FF2B5EF4-FFF2-40B4-BE49-F238E27FC236}">
                  <a16:creationId xmlns:a16="http://schemas.microsoft.com/office/drawing/2014/main" id="{10F97A48-9571-D6A1-2481-39C2CAA15CD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6380" y="3744628"/>
              <a:ext cx="472956" cy="472956"/>
            </a:xfrm>
            <a:prstGeom prst="rect">
              <a:avLst/>
            </a:prstGeom>
          </p:spPr>
        </p:pic>
        <p:sp>
          <p:nvSpPr>
            <p:cNvPr id="205" name="文本框 204">
              <a:extLst>
                <a:ext uri="{FF2B5EF4-FFF2-40B4-BE49-F238E27FC236}">
                  <a16:creationId xmlns:a16="http://schemas.microsoft.com/office/drawing/2014/main" id="{F9A54B7B-A1A6-6F5C-4107-E313E950ECBB}"/>
                </a:ext>
              </a:extLst>
            </p:cNvPr>
            <p:cNvSpPr txBox="1"/>
            <p:nvPr/>
          </p:nvSpPr>
          <p:spPr>
            <a:xfrm>
              <a:off x="726380" y="4244916"/>
              <a:ext cx="49244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任务</a:t>
              </a:r>
            </a:p>
          </p:txBody>
        </p:sp>
      </p:grpSp>
      <p:sp>
        <p:nvSpPr>
          <p:cNvPr id="213" name="文本框 212">
            <a:extLst>
              <a:ext uri="{FF2B5EF4-FFF2-40B4-BE49-F238E27FC236}">
                <a16:creationId xmlns:a16="http://schemas.microsoft.com/office/drawing/2014/main" id="{1E12D66B-B7E8-7162-AF57-325296C4F943}"/>
              </a:ext>
            </a:extLst>
          </p:cNvPr>
          <p:cNvSpPr txBox="1"/>
          <p:nvPr/>
        </p:nvSpPr>
        <p:spPr>
          <a:xfrm>
            <a:off x="8850879" y="1357156"/>
            <a:ext cx="316205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采用阿里云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RDS(Mysql8)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作为关系型数据库保存业务数据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kumimoji="1"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数据库备份</a:t>
            </a:r>
            <a:r>
              <a:rPr kumimoji="1"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kumimoji="1"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还原策略采用阿里云默认策略</a:t>
            </a:r>
          </a:p>
        </p:txBody>
      </p:sp>
      <p:sp>
        <p:nvSpPr>
          <p:cNvPr id="214" name="文本框 213">
            <a:extLst>
              <a:ext uri="{FF2B5EF4-FFF2-40B4-BE49-F238E27FC236}">
                <a16:creationId xmlns:a16="http://schemas.microsoft.com/office/drawing/2014/main" id="{F32CC468-1B95-519F-0886-F4322781957B}"/>
              </a:ext>
            </a:extLst>
          </p:cNvPr>
          <p:cNvSpPr txBox="1"/>
          <p:nvPr/>
        </p:nvSpPr>
        <p:spPr>
          <a:xfrm>
            <a:off x="10246" y="747871"/>
            <a:ext cx="4154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应</a:t>
            </a:r>
            <a:endParaRPr lang="en-US" altLang="zh-CN" dirty="0"/>
          </a:p>
          <a:p>
            <a:r>
              <a:rPr lang="zh-CN" altLang="en-US" dirty="0"/>
              <a:t>用</a:t>
            </a:r>
          </a:p>
        </p:txBody>
      </p:sp>
      <p:sp>
        <p:nvSpPr>
          <p:cNvPr id="215" name="文本框 214">
            <a:extLst>
              <a:ext uri="{FF2B5EF4-FFF2-40B4-BE49-F238E27FC236}">
                <a16:creationId xmlns:a16="http://schemas.microsoft.com/office/drawing/2014/main" id="{BEF59254-31E9-F991-0F8D-17BD797031A7}"/>
              </a:ext>
            </a:extLst>
          </p:cNvPr>
          <p:cNvSpPr txBox="1"/>
          <p:nvPr/>
        </p:nvSpPr>
        <p:spPr>
          <a:xfrm>
            <a:off x="-8288" y="2155905"/>
            <a:ext cx="4154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缓</a:t>
            </a:r>
            <a:endParaRPr lang="en-US" altLang="zh-CN" dirty="0"/>
          </a:p>
          <a:p>
            <a:r>
              <a:rPr lang="zh-CN" altLang="en-US" dirty="0"/>
              <a:t>存</a:t>
            </a:r>
            <a:endParaRPr lang="en-US" altLang="zh-CN" dirty="0"/>
          </a:p>
        </p:txBody>
      </p:sp>
      <p:sp>
        <p:nvSpPr>
          <p:cNvPr id="216" name="文本框 215">
            <a:extLst>
              <a:ext uri="{FF2B5EF4-FFF2-40B4-BE49-F238E27FC236}">
                <a16:creationId xmlns:a16="http://schemas.microsoft.com/office/drawing/2014/main" id="{CAE560AF-DC5C-BE9F-FFD0-5E3EDD6CC068}"/>
              </a:ext>
            </a:extLst>
          </p:cNvPr>
          <p:cNvSpPr txBox="1"/>
          <p:nvPr/>
        </p:nvSpPr>
        <p:spPr>
          <a:xfrm>
            <a:off x="-8288" y="4097832"/>
            <a:ext cx="41549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数</a:t>
            </a:r>
            <a:endParaRPr lang="en-US" altLang="zh-CN" dirty="0"/>
          </a:p>
          <a:p>
            <a:r>
              <a:rPr lang="zh-CN" altLang="en-US" dirty="0"/>
              <a:t>据</a:t>
            </a:r>
            <a:endParaRPr lang="en-US" altLang="zh-CN" dirty="0"/>
          </a:p>
          <a:p>
            <a:r>
              <a:rPr lang="zh-CN" altLang="en-US" dirty="0"/>
              <a:t>库</a:t>
            </a:r>
            <a:endParaRPr lang="en-US" altLang="zh-CN" dirty="0"/>
          </a:p>
        </p:txBody>
      </p:sp>
      <p:sp>
        <p:nvSpPr>
          <p:cNvPr id="217" name="文本框 216">
            <a:extLst>
              <a:ext uri="{FF2B5EF4-FFF2-40B4-BE49-F238E27FC236}">
                <a16:creationId xmlns:a16="http://schemas.microsoft.com/office/drawing/2014/main" id="{8BBDACD3-A134-6023-7169-065F531EC6C2}"/>
              </a:ext>
            </a:extLst>
          </p:cNvPr>
          <p:cNvSpPr txBox="1"/>
          <p:nvPr/>
        </p:nvSpPr>
        <p:spPr>
          <a:xfrm>
            <a:off x="-8288" y="6018820"/>
            <a:ext cx="4154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数</a:t>
            </a:r>
            <a:endParaRPr lang="en-US" altLang="zh-CN" dirty="0"/>
          </a:p>
          <a:p>
            <a:r>
              <a:rPr lang="zh-CN" altLang="en-US" dirty="0"/>
              <a:t>仓</a:t>
            </a:r>
            <a:endParaRPr lang="en-US" altLang="zh-CN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7AA62FE-7635-54A7-D13D-9ABFC34C6CAB}"/>
              </a:ext>
            </a:extLst>
          </p:cNvPr>
          <p:cNvSpPr/>
          <p:nvPr/>
        </p:nvSpPr>
        <p:spPr>
          <a:xfrm>
            <a:off x="461158" y="3030562"/>
            <a:ext cx="6738445" cy="90351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D8228B7-B5C9-4489-0202-B566247E2F96}"/>
              </a:ext>
            </a:extLst>
          </p:cNvPr>
          <p:cNvSpPr txBox="1"/>
          <p:nvPr/>
        </p:nvSpPr>
        <p:spPr>
          <a:xfrm>
            <a:off x="69288" y="3159153"/>
            <a:ext cx="2968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E</a:t>
            </a:r>
          </a:p>
          <a:p>
            <a:r>
              <a:rPr lang="en-US" altLang="zh-CN" dirty="0"/>
              <a:t>S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4D73173-E7BA-577D-54A2-C193B9A6E82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3365" y="3148334"/>
            <a:ext cx="2026235" cy="650433"/>
          </a:xfrm>
          <a:prstGeom prst="rect">
            <a:avLst/>
          </a:prstGeom>
        </p:spPr>
      </p:pic>
      <p:sp>
        <p:nvSpPr>
          <p:cNvPr id="9" name="箭头: 上下 8">
            <a:extLst>
              <a:ext uri="{FF2B5EF4-FFF2-40B4-BE49-F238E27FC236}">
                <a16:creationId xmlns:a16="http://schemas.microsoft.com/office/drawing/2014/main" id="{AFB629FB-2BC9-988F-6DB2-31106C01D7CF}"/>
              </a:ext>
            </a:extLst>
          </p:cNvPr>
          <p:cNvSpPr/>
          <p:nvPr/>
        </p:nvSpPr>
        <p:spPr>
          <a:xfrm>
            <a:off x="6017619" y="1414429"/>
            <a:ext cx="272143" cy="1616133"/>
          </a:xfrm>
          <a:prstGeom prst="upDown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97C9E16-FA12-76A2-7B6E-5D3BC7F7F5B5}"/>
              </a:ext>
            </a:extLst>
          </p:cNvPr>
          <p:cNvSpPr txBox="1"/>
          <p:nvPr/>
        </p:nvSpPr>
        <p:spPr>
          <a:xfrm>
            <a:off x="6164991" y="1969279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读写</a:t>
            </a:r>
          </a:p>
        </p:txBody>
      </p:sp>
    </p:spTree>
    <p:extLst>
      <p:ext uri="{BB962C8B-B14F-4D97-AF65-F5344CB8AC3E}">
        <p14:creationId xmlns:p14="http://schemas.microsoft.com/office/powerpoint/2010/main" val="1403905849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Rectangle 14">
            <a:extLst>
              <a:ext uri="{FF2B5EF4-FFF2-40B4-BE49-F238E27FC236}">
                <a16:creationId xmlns:a16="http://schemas.microsoft.com/office/drawing/2014/main" id="{50D08873-67A0-9647-8ED3-870B0223609A}"/>
              </a:ext>
            </a:extLst>
          </p:cNvPr>
          <p:cNvSpPr/>
          <p:nvPr/>
        </p:nvSpPr>
        <p:spPr>
          <a:xfrm>
            <a:off x="67069" y="52712"/>
            <a:ext cx="6957171" cy="523220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集成架构图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4B6E61E-E230-9621-9F1C-C1EA7B1D7E05}"/>
              </a:ext>
            </a:extLst>
          </p:cNvPr>
          <p:cNvSpPr/>
          <p:nvPr/>
        </p:nvSpPr>
        <p:spPr>
          <a:xfrm>
            <a:off x="5152206" y="2022039"/>
            <a:ext cx="2305225" cy="189845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导购平台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6E805F0-AAD0-286E-5BB1-BC9001FBE4C8}"/>
              </a:ext>
            </a:extLst>
          </p:cNvPr>
          <p:cNvSpPr/>
          <p:nvPr/>
        </p:nvSpPr>
        <p:spPr>
          <a:xfrm>
            <a:off x="1014466" y="2566781"/>
            <a:ext cx="1948374" cy="38636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MDM</a:t>
            </a:r>
            <a:r>
              <a:rPr lang="zh-CN" altLang="en-US" dirty="0"/>
              <a:t>主数据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F6F3638-F525-C244-6270-27BF6A1458C1}"/>
              </a:ext>
            </a:extLst>
          </p:cNvPr>
          <p:cNvSpPr/>
          <p:nvPr/>
        </p:nvSpPr>
        <p:spPr>
          <a:xfrm>
            <a:off x="9594965" y="1902433"/>
            <a:ext cx="2011680" cy="4871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用户中心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3AAC6C5-5192-D195-BB46-EFDDDC12DF3C}"/>
              </a:ext>
            </a:extLst>
          </p:cNvPr>
          <p:cNvSpPr txBox="1"/>
          <p:nvPr/>
        </p:nvSpPr>
        <p:spPr>
          <a:xfrm>
            <a:off x="8061164" y="1787902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统一认证</a:t>
            </a:r>
          </a:p>
        </p:txBody>
      </p:sp>
      <p:sp>
        <p:nvSpPr>
          <p:cNvPr id="171" name="矩形 170">
            <a:extLst>
              <a:ext uri="{FF2B5EF4-FFF2-40B4-BE49-F238E27FC236}">
                <a16:creationId xmlns:a16="http://schemas.microsoft.com/office/drawing/2014/main" id="{22607FB5-0657-9816-423E-4FC4D1D389AB}"/>
              </a:ext>
            </a:extLst>
          </p:cNvPr>
          <p:cNvSpPr/>
          <p:nvPr/>
        </p:nvSpPr>
        <p:spPr>
          <a:xfrm>
            <a:off x="5094986" y="4855104"/>
            <a:ext cx="376406" cy="149464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企微</a:t>
            </a:r>
          </a:p>
        </p:txBody>
      </p:sp>
      <p:sp>
        <p:nvSpPr>
          <p:cNvPr id="182" name="矩形 181">
            <a:extLst>
              <a:ext uri="{FF2B5EF4-FFF2-40B4-BE49-F238E27FC236}">
                <a16:creationId xmlns:a16="http://schemas.microsoft.com/office/drawing/2014/main" id="{9FA7DDBB-BD8B-D760-982A-3CA35970EF82}"/>
              </a:ext>
            </a:extLst>
          </p:cNvPr>
          <p:cNvSpPr/>
          <p:nvPr/>
        </p:nvSpPr>
        <p:spPr>
          <a:xfrm>
            <a:off x="9594965" y="2448550"/>
            <a:ext cx="2011680" cy="48714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CRM</a:t>
            </a:r>
            <a:r>
              <a:rPr lang="zh-CN" altLang="en-US" dirty="0"/>
              <a:t>会员中台</a:t>
            </a:r>
          </a:p>
        </p:txBody>
      </p:sp>
      <p:sp>
        <p:nvSpPr>
          <p:cNvPr id="183" name="矩形 182">
            <a:extLst>
              <a:ext uri="{FF2B5EF4-FFF2-40B4-BE49-F238E27FC236}">
                <a16:creationId xmlns:a16="http://schemas.microsoft.com/office/drawing/2014/main" id="{84E0BA29-9361-ACEC-8239-C6AB900BAD15}"/>
              </a:ext>
            </a:extLst>
          </p:cNvPr>
          <p:cNvSpPr/>
          <p:nvPr/>
        </p:nvSpPr>
        <p:spPr>
          <a:xfrm>
            <a:off x="9585903" y="2971264"/>
            <a:ext cx="2011680" cy="41197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POS</a:t>
            </a:r>
            <a:endParaRPr lang="zh-CN" altLang="en-US" dirty="0"/>
          </a:p>
        </p:txBody>
      </p:sp>
      <p:sp>
        <p:nvSpPr>
          <p:cNvPr id="193" name="文本框 192">
            <a:extLst>
              <a:ext uri="{FF2B5EF4-FFF2-40B4-BE49-F238E27FC236}">
                <a16:creationId xmlns:a16="http://schemas.microsoft.com/office/drawing/2014/main" id="{FC685F39-9CD8-9861-2FD9-36B4DAE76400}"/>
              </a:ext>
            </a:extLst>
          </p:cNvPr>
          <p:cNvSpPr txBox="1"/>
          <p:nvPr/>
        </p:nvSpPr>
        <p:spPr>
          <a:xfrm>
            <a:off x="8275445" y="2899285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库存</a:t>
            </a:r>
          </a:p>
        </p:txBody>
      </p:sp>
      <p:sp>
        <p:nvSpPr>
          <p:cNvPr id="194" name="文本框 193">
            <a:extLst>
              <a:ext uri="{FF2B5EF4-FFF2-40B4-BE49-F238E27FC236}">
                <a16:creationId xmlns:a16="http://schemas.microsoft.com/office/drawing/2014/main" id="{127D755C-5ABA-7F82-67A6-815E488CAA7D}"/>
              </a:ext>
            </a:extLst>
          </p:cNvPr>
          <p:cNvSpPr txBox="1"/>
          <p:nvPr/>
        </p:nvSpPr>
        <p:spPr>
          <a:xfrm>
            <a:off x="7830331" y="2404093"/>
            <a:ext cx="12618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会员、券、标签</a:t>
            </a:r>
          </a:p>
        </p:txBody>
      </p:sp>
      <p:sp>
        <p:nvSpPr>
          <p:cNvPr id="224" name="文本框 223">
            <a:extLst>
              <a:ext uri="{FF2B5EF4-FFF2-40B4-BE49-F238E27FC236}">
                <a16:creationId xmlns:a16="http://schemas.microsoft.com/office/drawing/2014/main" id="{9D22FD3D-ABB6-6FE0-F809-DF31CD1BFC0F}"/>
              </a:ext>
            </a:extLst>
          </p:cNvPr>
          <p:cNvSpPr txBox="1"/>
          <p:nvPr/>
        </p:nvSpPr>
        <p:spPr>
          <a:xfrm rot="5400000">
            <a:off x="5036169" y="4421297"/>
            <a:ext cx="12618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事件、客户、群</a:t>
            </a:r>
          </a:p>
        </p:txBody>
      </p:sp>
      <p:sp>
        <p:nvSpPr>
          <p:cNvPr id="228" name="文本框 227">
            <a:extLst>
              <a:ext uri="{FF2B5EF4-FFF2-40B4-BE49-F238E27FC236}">
                <a16:creationId xmlns:a16="http://schemas.microsoft.com/office/drawing/2014/main" id="{3E072CB9-E38D-D13A-10F2-9B8E49D136EE}"/>
              </a:ext>
            </a:extLst>
          </p:cNvPr>
          <p:cNvSpPr txBox="1"/>
          <p:nvPr/>
        </p:nvSpPr>
        <p:spPr>
          <a:xfrm rot="5400000">
            <a:off x="4713146" y="4308071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消息</a:t>
            </a:r>
          </a:p>
        </p:txBody>
      </p:sp>
      <p:cxnSp>
        <p:nvCxnSpPr>
          <p:cNvPr id="238" name="直接箭头连接符 237">
            <a:extLst>
              <a:ext uri="{FF2B5EF4-FFF2-40B4-BE49-F238E27FC236}">
                <a16:creationId xmlns:a16="http://schemas.microsoft.com/office/drawing/2014/main" id="{E8FE7753-D534-686F-9220-187DD2295914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7480131" y="2146005"/>
            <a:ext cx="2114834" cy="13824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2" name="矩形 261">
            <a:extLst>
              <a:ext uri="{FF2B5EF4-FFF2-40B4-BE49-F238E27FC236}">
                <a16:creationId xmlns:a16="http://schemas.microsoft.com/office/drawing/2014/main" id="{FAF58C81-ECA6-F417-2174-E70C793DC85B}"/>
              </a:ext>
            </a:extLst>
          </p:cNvPr>
          <p:cNvSpPr/>
          <p:nvPr/>
        </p:nvSpPr>
        <p:spPr>
          <a:xfrm>
            <a:off x="1014465" y="2089214"/>
            <a:ext cx="1914381" cy="35933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官网平台</a:t>
            </a:r>
          </a:p>
        </p:txBody>
      </p:sp>
      <p:cxnSp>
        <p:nvCxnSpPr>
          <p:cNvPr id="263" name="直接箭头连接符 262">
            <a:extLst>
              <a:ext uri="{FF2B5EF4-FFF2-40B4-BE49-F238E27FC236}">
                <a16:creationId xmlns:a16="http://schemas.microsoft.com/office/drawing/2014/main" id="{EED7D427-399B-90A2-0149-B92B4FE13621}"/>
              </a:ext>
            </a:extLst>
          </p:cNvPr>
          <p:cNvCxnSpPr>
            <a:cxnSpLocks/>
          </p:cNvCxnSpPr>
          <p:nvPr/>
        </p:nvCxnSpPr>
        <p:spPr>
          <a:xfrm>
            <a:off x="2954688" y="2169564"/>
            <a:ext cx="2192891" cy="18876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文本框 263">
            <a:extLst>
              <a:ext uri="{FF2B5EF4-FFF2-40B4-BE49-F238E27FC236}">
                <a16:creationId xmlns:a16="http://schemas.microsoft.com/office/drawing/2014/main" id="{DEAA700E-036C-624C-4987-B19934D33F85}"/>
              </a:ext>
            </a:extLst>
          </p:cNvPr>
          <p:cNvSpPr txBox="1"/>
          <p:nvPr/>
        </p:nvSpPr>
        <p:spPr>
          <a:xfrm>
            <a:off x="3594366" y="1907444"/>
            <a:ext cx="9541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导购、素材</a:t>
            </a:r>
          </a:p>
        </p:txBody>
      </p:sp>
      <p:cxnSp>
        <p:nvCxnSpPr>
          <p:cNvPr id="265" name="直接箭头连接符 264">
            <a:extLst>
              <a:ext uri="{FF2B5EF4-FFF2-40B4-BE49-F238E27FC236}">
                <a16:creationId xmlns:a16="http://schemas.microsoft.com/office/drawing/2014/main" id="{859550D9-B6FB-677C-37E9-044B3427FF31}"/>
              </a:ext>
            </a:extLst>
          </p:cNvPr>
          <p:cNvCxnSpPr>
            <a:cxnSpLocks/>
          </p:cNvCxnSpPr>
          <p:nvPr/>
        </p:nvCxnSpPr>
        <p:spPr>
          <a:xfrm flipH="1">
            <a:off x="2922849" y="2396710"/>
            <a:ext cx="2224730" cy="0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8" name="文本框 267">
            <a:extLst>
              <a:ext uri="{FF2B5EF4-FFF2-40B4-BE49-F238E27FC236}">
                <a16:creationId xmlns:a16="http://schemas.microsoft.com/office/drawing/2014/main" id="{C9E412F5-D73D-ED3A-7B8B-B8859EC93DD6}"/>
              </a:ext>
            </a:extLst>
          </p:cNvPr>
          <p:cNvSpPr txBox="1"/>
          <p:nvPr/>
        </p:nvSpPr>
        <p:spPr>
          <a:xfrm>
            <a:off x="3363910" y="2388112"/>
            <a:ext cx="14157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商品、用户、线索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87CC694D-453C-418B-90B2-1D8C15FE58C2}"/>
              </a:ext>
            </a:extLst>
          </p:cNvPr>
          <p:cNvSpPr/>
          <p:nvPr/>
        </p:nvSpPr>
        <p:spPr>
          <a:xfrm>
            <a:off x="1015022" y="2998562"/>
            <a:ext cx="1932388" cy="43043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BI</a:t>
            </a:r>
            <a:endParaRPr lang="zh-CN" altLang="en-US" dirty="0"/>
          </a:p>
        </p:txBody>
      </p: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84A9DC77-9AFE-4863-8A0E-06267F2D9B8A}"/>
              </a:ext>
            </a:extLst>
          </p:cNvPr>
          <p:cNvCxnSpPr>
            <a:cxnSpLocks/>
          </p:cNvCxnSpPr>
          <p:nvPr/>
        </p:nvCxnSpPr>
        <p:spPr>
          <a:xfrm flipV="1">
            <a:off x="7480131" y="2717862"/>
            <a:ext cx="2128488" cy="43816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52EE727A-6DE3-4FA5-BBDB-9FD58A42A633}"/>
              </a:ext>
            </a:extLst>
          </p:cNvPr>
          <p:cNvCxnSpPr>
            <a:cxnSpLocks/>
          </p:cNvCxnSpPr>
          <p:nvPr/>
        </p:nvCxnSpPr>
        <p:spPr>
          <a:xfrm flipV="1">
            <a:off x="7473304" y="3179878"/>
            <a:ext cx="2128488" cy="43816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矩形 56">
            <a:extLst>
              <a:ext uri="{FF2B5EF4-FFF2-40B4-BE49-F238E27FC236}">
                <a16:creationId xmlns:a16="http://schemas.microsoft.com/office/drawing/2014/main" id="{DB59598A-036F-44C5-8B1D-1213723D3148}"/>
              </a:ext>
            </a:extLst>
          </p:cNvPr>
          <p:cNvSpPr/>
          <p:nvPr/>
        </p:nvSpPr>
        <p:spPr>
          <a:xfrm>
            <a:off x="9580005" y="3402416"/>
            <a:ext cx="2011680" cy="41197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全渠道</a:t>
            </a:r>
          </a:p>
        </p:txBody>
      </p: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CAFD3452-22DF-433B-97C7-76ADE70D0A66}"/>
              </a:ext>
            </a:extLst>
          </p:cNvPr>
          <p:cNvCxnSpPr>
            <a:cxnSpLocks/>
          </p:cNvCxnSpPr>
          <p:nvPr/>
        </p:nvCxnSpPr>
        <p:spPr>
          <a:xfrm flipV="1">
            <a:off x="7480131" y="3619986"/>
            <a:ext cx="2128488" cy="43816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文本框 60">
            <a:extLst>
              <a:ext uri="{FF2B5EF4-FFF2-40B4-BE49-F238E27FC236}">
                <a16:creationId xmlns:a16="http://schemas.microsoft.com/office/drawing/2014/main" id="{D5A40E04-CAC0-4775-ABFF-9877EA997998}"/>
              </a:ext>
            </a:extLst>
          </p:cNvPr>
          <p:cNvSpPr txBox="1"/>
          <p:nvPr/>
        </p:nvSpPr>
        <p:spPr>
          <a:xfrm>
            <a:off x="8283847" y="3322589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全渠道</a:t>
            </a:r>
          </a:p>
        </p:txBody>
      </p: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20D1FA96-5D66-4D12-AC7C-0052E803160D}"/>
              </a:ext>
            </a:extLst>
          </p:cNvPr>
          <p:cNvCxnSpPr>
            <a:cxnSpLocks/>
          </p:cNvCxnSpPr>
          <p:nvPr/>
        </p:nvCxnSpPr>
        <p:spPr>
          <a:xfrm flipH="1">
            <a:off x="2922849" y="2761678"/>
            <a:ext cx="2224730" cy="0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3D2DFABF-57F8-4C85-BDB7-57CDFFA3219E}"/>
              </a:ext>
            </a:extLst>
          </p:cNvPr>
          <p:cNvCxnSpPr>
            <a:cxnSpLocks/>
          </p:cNvCxnSpPr>
          <p:nvPr/>
        </p:nvCxnSpPr>
        <p:spPr>
          <a:xfrm>
            <a:off x="2999270" y="2961826"/>
            <a:ext cx="2192891" cy="18876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文本框 65">
            <a:extLst>
              <a:ext uri="{FF2B5EF4-FFF2-40B4-BE49-F238E27FC236}">
                <a16:creationId xmlns:a16="http://schemas.microsoft.com/office/drawing/2014/main" id="{A3BE1732-5344-4E12-B53E-D1A88ADF528C}"/>
              </a:ext>
            </a:extLst>
          </p:cNvPr>
          <p:cNvSpPr txBox="1"/>
          <p:nvPr/>
        </p:nvSpPr>
        <p:spPr>
          <a:xfrm>
            <a:off x="3170268" y="2729244"/>
            <a:ext cx="18774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组织、员工、门店、区域</a:t>
            </a:r>
          </a:p>
        </p:txBody>
      </p: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32A2999C-800E-4812-ADD1-6621680E2903}"/>
              </a:ext>
            </a:extLst>
          </p:cNvPr>
          <p:cNvCxnSpPr>
            <a:cxnSpLocks/>
          </p:cNvCxnSpPr>
          <p:nvPr/>
        </p:nvCxnSpPr>
        <p:spPr>
          <a:xfrm flipH="1">
            <a:off x="2870256" y="3322589"/>
            <a:ext cx="2224730" cy="0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文本框 67">
            <a:extLst>
              <a:ext uri="{FF2B5EF4-FFF2-40B4-BE49-F238E27FC236}">
                <a16:creationId xmlns:a16="http://schemas.microsoft.com/office/drawing/2014/main" id="{E88A5EB3-CFCC-46AD-A5F2-30CFD7D01FE4}"/>
              </a:ext>
            </a:extLst>
          </p:cNvPr>
          <p:cNvSpPr txBox="1"/>
          <p:nvPr/>
        </p:nvSpPr>
        <p:spPr>
          <a:xfrm>
            <a:off x="3595338" y="3049358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销售数据</a:t>
            </a: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0119BDB8-BD01-4B1F-A3D3-25FDCF0D9428}"/>
              </a:ext>
            </a:extLst>
          </p:cNvPr>
          <p:cNvSpPr/>
          <p:nvPr/>
        </p:nvSpPr>
        <p:spPr>
          <a:xfrm>
            <a:off x="990461" y="3498419"/>
            <a:ext cx="1932388" cy="43043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内容中心</a:t>
            </a:r>
          </a:p>
        </p:txBody>
      </p: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6F15B574-8061-48E4-8427-B57745AC768F}"/>
              </a:ext>
            </a:extLst>
          </p:cNvPr>
          <p:cNvCxnSpPr>
            <a:cxnSpLocks/>
          </p:cNvCxnSpPr>
          <p:nvPr/>
        </p:nvCxnSpPr>
        <p:spPr>
          <a:xfrm flipH="1">
            <a:off x="2922849" y="3713636"/>
            <a:ext cx="2224730" cy="0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文本框 70">
            <a:extLst>
              <a:ext uri="{FF2B5EF4-FFF2-40B4-BE49-F238E27FC236}">
                <a16:creationId xmlns:a16="http://schemas.microsoft.com/office/drawing/2014/main" id="{C3A0789D-01C9-4DB7-9BE1-42795CF4DF1B}"/>
              </a:ext>
            </a:extLst>
          </p:cNvPr>
          <p:cNvSpPr txBox="1"/>
          <p:nvPr/>
        </p:nvSpPr>
        <p:spPr>
          <a:xfrm>
            <a:off x="3614869" y="3466398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导购素材</a:t>
            </a: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6161EC1B-E0FB-43C8-9988-0F702CF44EBD}"/>
              </a:ext>
            </a:extLst>
          </p:cNvPr>
          <p:cNvSpPr/>
          <p:nvPr/>
        </p:nvSpPr>
        <p:spPr>
          <a:xfrm>
            <a:off x="5839704" y="4855103"/>
            <a:ext cx="376406" cy="149464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NPS</a:t>
            </a:r>
            <a:endParaRPr lang="zh-CN" altLang="en-US" dirty="0"/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989E3152-8F7B-41D3-930A-583BEE4EBB6A}"/>
              </a:ext>
            </a:extLst>
          </p:cNvPr>
          <p:cNvSpPr/>
          <p:nvPr/>
        </p:nvSpPr>
        <p:spPr>
          <a:xfrm>
            <a:off x="6584422" y="4855102"/>
            <a:ext cx="376406" cy="149464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客服系统</a:t>
            </a:r>
          </a:p>
        </p:txBody>
      </p:sp>
      <p:cxnSp>
        <p:nvCxnSpPr>
          <p:cNvPr id="81" name="直接箭头连接符 80">
            <a:extLst>
              <a:ext uri="{FF2B5EF4-FFF2-40B4-BE49-F238E27FC236}">
                <a16:creationId xmlns:a16="http://schemas.microsoft.com/office/drawing/2014/main" id="{CFC5B4A9-FC39-48E9-9AFF-AD40E50C483F}"/>
              </a:ext>
            </a:extLst>
          </p:cNvPr>
          <p:cNvCxnSpPr>
            <a:cxnSpLocks/>
          </p:cNvCxnSpPr>
          <p:nvPr/>
        </p:nvCxnSpPr>
        <p:spPr>
          <a:xfrm flipV="1">
            <a:off x="5215379" y="3991799"/>
            <a:ext cx="0" cy="790805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箭头连接符 82">
            <a:extLst>
              <a:ext uri="{FF2B5EF4-FFF2-40B4-BE49-F238E27FC236}">
                <a16:creationId xmlns:a16="http://schemas.microsoft.com/office/drawing/2014/main" id="{84A93106-CD2B-4987-813F-BFB24725F77C}"/>
              </a:ext>
            </a:extLst>
          </p:cNvPr>
          <p:cNvCxnSpPr>
            <a:cxnSpLocks/>
          </p:cNvCxnSpPr>
          <p:nvPr/>
        </p:nvCxnSpPr>
        <p:spPr>
          <a:xfrm>
            <a:off x="5471392" y="3991799"/>
            <a:ext cx="0" cy="790805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接箭头连接符 86">
            <a:extLst>
              <a:ext uri="{FF2B5EF4-FFF2-40B4-BE49-F238E27FC236}">
                <a16:creationId xmlns:a16="http://schemas.microsoft.com/office/drawing/2014/main" id="{AD93D8AD-B49B-42CE-A310-F778C5384BD7}"/>
              </a:ext>
            </a:extLst>
          </p:cNvPr>
          <p:cNvCxnSpPr>
            <a:cxnSpLocks/>
          </p:cNvCxnSpPr>
          <p:nvPr/>
        </p:nvCxnSpPr>
        <p:spPr>
          <a:xfrm>
            <a:off x="6027907" y="3991799"/>
            <a:ext cx="0" cy="790805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接箭头连接符 87">
            <a:extLst>
              <a:ext uri="{FF2B5EF4-FFF2-40B4-BE49-F238E27FC236}">
                <a16:creationId xmlns:a16="http://schemas.microsoft.com/office/drawing/2014/main" id="{12B730AE-A240-46A7-BE96-CD0097BD77C5}"/>
              </a:ext>
            </a:extLst>
          </p:cNvPr>
          <p:cNvCxnSpPr>
            <a:cxnSpLocks/>
          </p:cNvCxnSpPr>
          <p:nvPr/>
        </p:nvCxnSpPr>
        <p:spPr>
          <a:xfrm>
            <a:off x="6772625" y="3991799"/>
            <a:ext cx="0" cy="790805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文本框 88">
            <a:extLst>
              <a:ext uri="{FF2B5EF4-FFF2-40B4-BE49-F238E27FC236}">
                <a16:creationId xmlns:a16="http://schemas.microsoft.com/office/drawing/2014/main" id="{17FB3D2A-627B-4683-98EA-8F099B8CB0A0}"/>
              </a:ext>
            </a:extLst>
          </p:cNvPr>
          <p:cNvSpPr txBox="1"/>
          <p:nvPr/>
        </p:nvSpPr>
        <p:spPr>
          <a:xfrm rot="5400000">
            <a:off x="5893016" y="4249297"/>
            <a:ext cx="6686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问券</a:t>
            </a: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7328CF89-F403-4A50-A999-A659C5A39B33}"/>
              </a:ext>
            </a:extLst>
          </p:cNvPr>
          <p:cNvSpPr txBox="1"/>
          <p:nvPr/>
        </p:nvSpPr>
        <p:spPr>
          <a:xfrm rot="5400000">
            <a:off x="6326542" y="4662314"/>
            <a:ext cx="14946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极速退换货</a:t>
            </a:r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A9559FA7-9764-434E-A87D-E0DFB4BE6556}"/>
              </a:ext>
            </a:extLst>
          </p:cNvPr>
          <p:cNvSpPr/>
          <p:nvPr/>
        </p:nvSpPr>
        <p:spPr>
          <a:xfrm>
            <a:off x="4878223" y="132381"/>
            <a:ext cx="841828" cy="134379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钉钉</a:t>
            </a:r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7A39D073-F5B8-4635-8B79-AC9CF35E7444}"/>
              </a:ext>
            </a:extLst>
          </p:cNvPr>
          <p:cNvSpPr/>
          <p:nvPr/>
        </p:nvSpPr>
        <p:spPr>
          <a:xfrm>
            <a:off x="5740289" y="142520"/>
            <a:ext cx="841829" cy="134379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GIO</a:t>
            </a:r>
            <a:endParaRPr lang="zh-CN" altLang="en-US" dirty="0"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03D8F245-B7DC-4A53-A159-07A8384BA520}"/>
              </a:ext>
            </a:extLst>
          </p:cNvPr>
          <p:cNvSpPr/>
          <p:nvPr/>
        </p:nvSpPr>
        <p:spPr>
          <a:xfrm>
            <a:off x="6602356" y="118297"/>
            <a:ext cx="855075" cy="136802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阿里</a:t>
            </a:r>
            <a:r>
              <a:rPr lang="en-US" altLang="zh-CN" dirty="0"/>
              <a:t>AI</a:t>
            </a:r>
            <a:endParaRPr lang="zh-CN" altLang="en-US" dirty="0"/>
          </a:p>
        </p:txBody>
      </p:sp>
      <p:cxnSp>
        <p:nvCxnSpPr>
          <p:cNvPr id="94" name="直接箭头连接符 93">
            <a:extLst>
              <a:ext uri="{FF2B5EF4-FFF2-40B4-BE49-F238E27FC236}">
                <a16:creationId xmlns:a16="http://schemas.microsoft.com/office/drawing/2014/main" id="{637D4E5C-48C8-479C-8B9F-7EF84A8997BD}"/>
              </a:ext>
            </a:extLst>
          </p:cNvPr>
          <p:cNvCxnSpPr>
            <a:cxnSpLocks/>
          </p:cNvCxnSpPr>
          <p:nvPr/>
        </p:nvCxnSpPr>
        <p:spPr>
          <a:xfrm flipV="1">
            <a:off x="6960828" y="1500690"/>
            <a:ext cx="0" cy="425711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接箭头连接符 97">
            <a:extLst>
              <a:ext uri="{FF2B5EF4-FFF2-40B4-BE49-F238E27FC236}">
                <a16:creationId xmlns:a16="http://schemas.microsoft.com/office/drawing/2014/main" id="{CFF1418F-49C5-4DCF-B9E8-6E8F4B584C87}"/>
              </a:ext>
            </a:extLst>
          </p:cNvPr>
          <p:cNvCxnSpPr>
            <a:cxnSpLocks/>
          </p:cNvCxnSpPr>
          <p:nvPr/>
        </p:nvCxnSpPr>
        <p:spPr>
          <a:xfrm flipV="1">
            <a:off x="6138340" y="1500690"/>
            <a:ext cx="0" cy="425711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接箭头连接符 98">
            <a:extLst>
              <a:ext uri="{FF2B5EF4-FFF2-40B4-BE49-F238E27FC236}">
                <a16:creationId xmlns:a16="http://schemas.microsoft.com/office/drawing/2014/main" id="{BFC705A4-F96A-479E-AEFE-9BD82322365B}"/>
              </a:ext>
            </a:extLst>
          </p:cNvPr>
          <p:cNvCxnSpPr>
            <a:cxnSpLocks/>
          </p:cNvCxnSpPr>
          <p:nvPr/>
        </p:nvCxnSpPr>
        <p:spPr>
          <a:xfrm flipV="1">
            <a:off x="5299137" y="1500690"/>
            <a:ext cx="0" cy="425711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文本框 99">
            <a:extLst>
              <a:ext uri="{FF2B5EF4-FFF2-40B4-BE49-F238E27FC236}">
                <a16:creationId xmlns:a16="http://schemas.microsoft.com/office/drawing/2014/main" id="{665D40A9-5C10-43A1-813A-F6630F38DCA6}"/>
              </a:ext>
            </a:extLst>
          </p:cNvPr>
          <p:cNvSpPr txBox="1"/>
          <p:nvPr/>
        </p:nvSpPr>
        <p:spPr>
          <a:xfrm rot="5400000">
            <a:off x="5155628" y="1622634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极速退款</a:t>
            </a: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24A4CFEC-840D-4F0F-85CC-5E946E93AFE4}"/>
              </a:ext>
            </a:extLst>
          </p:cNvPr>
          <p:cNvSpPr txBox="1"/>
          <p:nvPr/>
        </p:nvSpPr>
        <p:spPr>
          <a:xfrm rot="5400000">
            <a:off x="6029546" y="1649831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埋点上报</a:t>
            </a:r>
          </a:p>
        </p:txBody>
      </p:sp>
    </p:spTree>
    <p:extLst>
      <p:ext uri="{BB962C8B-B14F-4D97-AF65-F5344CB8AC3E}">
        <p14:creationId xmlns:p14="http://schemas.microsoft.com/office/powerpoint/2010/main" val="976897746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Rectangle 14">
            <a:extLst>
              <a:ext uri="{FF2B5EF4-FFF2-40B4-BE49-F238E27FC236}">
                <a16:creationId xmlns:a16="http://schemas.microsoft.com/office/drawing/2014/main" id="{50D08873-67A0-9647-8ED3-870B0223609A}"/>
              </a:ext>
            </a:extLst>
          </p:cNvPr>
          <p:cNvSpPr/>
          <p:nvPr/>
        </p:nvSpPr>
        <p:spPr>
          <a:xfrm>
            <a:off x="116566" y="139485"/>
            <a:ext cx="6957171" cy="523220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集成架构关系表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0486AC4F-7C0D-6A9E-40F3-600005B09E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5266854"/>
              </p:ext>
            </p:extLst>
          </p:nvPr>
        </p:nvGraphicFramePr>
        <p:xfrm>
          <a:off x="381000" y="719666"/>
          <a:ext cx="11615055" cy="59334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53143">
                  <a:extLst>
                    <a:ext uri="{9D8B030D-6E8A-4147-A177-3AD203B41FA5}">
                      <a16:colId xmlns:a16="http://schemas.microsoft.com/office/drawing/2014/main" val="3484761902"/>
                    </a:ext>
                  </a:extLst>
                </a:gridCol>
                <a:gridCol w="3962400">
                  <a:extLst>
                    <a:ext uri="{9D8B030D-6E8A-4147-A177-3AD203B41FA5}">
                      <a16:colId xmlns:a16="http://schemas.microsoft.com/office/drawing/2014/main" val="322046084"/>
                    </a:ext>
                  </a:extLst>
                </a:gridCol>
                <a:gridCol w="5072743">
                  <a:extLst>
                    <a:ext uri="{9D8B030D-6E8A-4147-A177-3AD203B41FA5}">
                      <a16:colId xmlns:a16="http://schemas.microsoft.com/office/drawing/2014/main" val="2936142794"/>
                    </a:ext>
                  </a:extLst>
                </a:gridCol>
                <a:gridCol w="979714">
                  <a:extLst>
                    <a:ext uri="{9D8B030D-6E8A-4147-A177-3AD203B41FA5}">
                      <a16:colId xmlns:a16="http://schemas.microsoft.com/office/drawing/2014/main" val="2448877213"/>
                    </a:ext>
                  </a:extLst>
                </a:gridCol>
                <a:gridCol w="947055">
                  <a:extLst>
                    <a:ext uri="{9D8B030D-6E8A-4147-A177-3AD203B41FA5}">
                      <a16:colId xmlns:a16="http://schemas.microsoft.com/office/drawing/2014/main" val="21027161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序号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接口名称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接口地址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发送方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接收方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900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可用积分查询接口</a:t>
                      </a:r>
                      <a:endParaRPr lang="zh-CN" altLang="en-U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altLang="zh-CN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api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/integral/</a:t>
                      </a:r>
                      <a:r>
                        <a:rPr lang="en-US" altLang="zh-CN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gw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altLang="zh-CN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usables</a:t>
                      </a:r>
                      <a:endParaRPr lang="en-US" altLang="zh-CN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导购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CRM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5931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根据天数查询即将过期积分</a:t>
                      </a:r>
                      <a:endParaRPr lang="zh-CN" altLang="en-U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altLang="zh-CN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api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/integral/will/expire/days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导购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CRM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88749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应用标签</a:t>
                      </a:r>
                      <a:endParaRPr lang="zh-CN" altLang="en-U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altLang="zh-CN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api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/app-tag-</a:t>
                      </a:r>
                      <a:r>
                        <a:rPr lang="en-US" altLang="zh-CN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rels</a:t>
                      </a:r>
                      <a:endParaRPr lang="en-US" altLang="zh-CN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导购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CRM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47233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会员标签查询</a:t>
                      </a:r>
                      <a:endParaRPr lang="zh-CN" altLang="en-U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altLang="zh-CN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api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/member-tags/</a:t>
                      </a:r>
                      <a:r>
                        <a:rPr lang="en-US" altLang="zh-CN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gw</a:t>
                      </a:r>
                      <a:endParaRPr lang="en-US" altLang="zh-CN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导购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CRM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50882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会员信息查询</a:t>
                      </a:r>
                      <a:endParaRPr lang="zh-CN" altLang="en-U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altLang="zh-CN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api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/members/guide/</a:t>
                      </a:r>
                      <a:r>
                        <a:rPr lang="en-US" altLang="zh-CN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unionId</a:t>
                      </a:r>
                      <a:endParaRPr lang="en-US" altLang="zh-CN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导购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CRM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97178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微导购会员批量</a:t>
                      </a:r>
                      <a:r>
                        <a:rPr lang="en-US" altLang="zh-CN" sz="180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lang="zh-CN" altLang="en-US" sz="180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查询</a:t>
                      </a:r>
                      <a:endParaRPr lang="zh-CN" altLang="en-U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altLang="zh-CN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api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/members/list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导购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CRM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41848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会员订单查询</a:t>
                      </a:r>
                      <a:endParaRPr lang="zh-CN" altLang="en-U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altLang="zh-CN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api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/simple-order/member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导购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CRM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31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会员消费数据统计查询</a:t>
                      </a:r>
                      <a:endParaRPr lang="zh-CN" altLang="en-U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altLang="zh-CN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api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/simple-orders/member/history/count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导购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CRM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38993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会员优惠券查询</a:t>
                      </a:r>
                      <a:endParaRPr lang="zh-CN" altLang="en-U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altLang="zh-CN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api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/coupons/member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导购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CRM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62335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导购订单查询</a:t>
                      </a:r>
                      <a:endParaRPr lang="zh-CN" altLang="en-U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altLang="zh-CN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api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/simple-orders/guide/code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导购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CRM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20276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更新会员阅读隐私时间</a:t>
                      </a:r>
                      <a:endParaRPr lang="zh-CN" altLang="en-U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altLang="zh-CN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api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/member-cards/privacy/time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导购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CRM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66995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渠道优惠券项目列表</a:t>
                      </a:r>
                      <a:endParaRPr lang="zh-CN" altLang="en-U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altLang="zh-CN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api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/coupon-items/channel/list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导购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CRM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42123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优惠券领取</a:t>
                      </a:r>
                      <a:endParaRPr lang="zh-CN" altLang="en-U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altLang="zh-CN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api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/coupons/coupon/receive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导购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CRM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96339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会员当天消费数据</a:t>
                      </a:r>
                      <a:endParaRPr lang="zh-CN" altLang="en-U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altLang="zh-CN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api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/simple-orders/member/day/count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导购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CRM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66368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批量更新会员导购</a:t>
                      </a:r>
                      <a:endParaRPr lang="zh-CN" altLang="en-U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altLang="zh-CN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api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/member-brands/batch/guides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导购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CRM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75168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7287029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Rectangle 14">
            <a:extLst>
              <a:ext uri="{FF2B5EF4-FFF2-40B4-BE49-F238E27FC236}">
                <a16:creationId xmlns:a16="http://schemas.microsoft.com/office/drawing/2014/main" id="{50D08873-67A0-9647-8ED3-870B0223609A}"/>
              </a:ext>
            </a:extLst>
          </p:cNvPr>
          <p:cNvSpPr/>
          <p:nvPr/>
        </p:nvSpPr>
        <p:spPr>
          <a:xfrm>
            <a:off x="116566" y="139485"/>
            <a:ext cx="6957171" cy="523220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集成架构关系表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0486AC4F-7C0D-6A9E-40F3-600005B09E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5759867"/>
              </p:ext>
            </p:extLst>
          </p:nvPr>
        </p:nvGraphicFramePr>
        <p:xfrm>
          <a:off x="381000" y="719666"/>
          <a:ext cx="11657555" cy="59334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95643">
                  <a:extLst>
                    <a:ext uri="{9D8B030D-6E8A-4147-A177-3AD203B41FA5}">
                      <a16:colId xmlns:a16="http://schemas.microsoft.com/office/drawing/2014/main" val="3484761902"/>
                    </a:ext>
                  </a:extLst>
                </a:gridCol>
                <a:gridCol w="3624943">
                  <a:extLst>
                    <a:ext uri="{9D8B030D-6E8A-4147-A177-3AD203B41FA5}">
                      <a16:colId xmlns:a16="http://schemas.microsoft.com/office/drawing/2014/main" val="322046084"/>
                    </a:ext>
                  </a:extLst>
                </a:gridCol>
                <a:gridCol w="5410200">
                  <a:extLst>
                    <a:ext uri="{9D8B030D-6E8A-4147-A177-3AD203B41FA5}">
                      <a16:colId xmlns:a16="http://schemas.microsoft.com/office/drawing/2014/main" val="2936142794"/>
                    </a:ext>
                  </a:extLst>
                </a:gridCol>
                <a:gridCol w="979714">
                  <a:extLst>
                    <a:ext uri="{9D8B030D-6E8A-4147-A177-3AD203B41FA5}">
                      <a16:colId xmlns:a16="http://schemas.microsoft.com/office/drawing/2014/main" val="2448877213"/>
                    </a:ext>
                  </a:extLst>
                </a:gridCol>
                <a:gridCol w="947055">
                  <a:extLst>
                    <a:ext uri="{9D8B030D-6E8A-4147-A177-3AD203B41FA5}">
                      <a16:colId xmlns:a16="http://schemas.microsoft.com/office/drawing/2014/main" val="21027161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序号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接口名称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接口地址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发送方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接收方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900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unionid</a:t>
                      </a:r>
                      <a:r>
                        <a:rPr lang="zh-CN" altLang="en-US" sz="180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批量查会员信息</a:t>
                      </a:r>
                      <a:endParaRPr lang="zh-CN" altLang="en-U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altLang="zh-CN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api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/members/unionid/list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导购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CRM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5931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微导购查询会员数据</a:t>
                      </a:r>
                      <a:endParaRPr lang="zh-CN" altLang="en-U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altLang="zh-CN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api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/members/page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导购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CRM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88749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查询</a:t>
                      </a:r>
                      <a:r>
                        <a:rPr lang="en-US" altLang="zh-CN" sz="180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OneId</a:t>
                      </a:r>
                      <a:endParaRPr lang="en-US" altLang="zh-CN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altLang="zh-CN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api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/one-id/</a:t>
                      </a:r>
                      <a:r>
                        <a:rPr lang="en-US" altLang="zh-CN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wechat</a:t>
                      </a:r>
                      <a:endParaRPr lang="en-US" altLang="zh-CN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导购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CRM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54237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查询会员优惠券数量</a:t>
                      </a:r>
                      <a:endParaRPr lang="zh-CN" altLang="en-U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altLang="zh-CN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api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/coupons/member/count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导购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CRM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4094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20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人群明细</a:t>
                      </a:r>
                      <a:endParaRPr lang="zh-CN" altLang="en-U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altLang="zh-CN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api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/node/</a:t>
                      </a:r>
                      <a:r>
                        <a:rPr lang="en-US" altLang="zh-CN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datas</a:t>
                      </a:r>
                      <a:endParaRPr lang="en-US" altLang="zh-CN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导购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CRM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05076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21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是否关注公众号</a:t>
                      </a:r>
                      <a:endParaRPr lang="zh-CN" altLang="en-U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altLang="zh-CN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api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altLang="zh-CN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wx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altLang="zh-CN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hasFollow</a:t>
                      </a:r>
                      <a:endParaRPr lang="en-US" altLang="zh-CN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导购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CRM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71622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22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创建二维码链接</a:t>
                      </a:r>
                      <a:endParaRPr lang="zh-CN" altLang="en-U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altLang="zh-CN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api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altLang="zh-CN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wx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altLang="zh-CN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qrcode</a:t>
                      </a:r>
                      <a:endParaRPr lang="en-US" altLang="zh-CN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导购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CRM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86139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23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人员组织架构信息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altLang="zh-CN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mdm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/sync-org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MDM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导购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47233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24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员工信息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altLang="zh-CN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mdm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/sync-staff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MDM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导购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50882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25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行政区域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altLang="zh-CN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mdm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/sync-region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MDM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导购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97178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26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短链接转长链接查询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/v1/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bord-guides/{id}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官网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导购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41848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27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官网客户换绑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/v1/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customer-guide-binds/change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官网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导购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31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28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官网浏览上报埋点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/v1/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member-bord-browses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官网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导购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38993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29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添加导购分享记录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/v1/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guide-bord-shares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官网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导购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62335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30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根据导购</a:t>
                      </a:r>
                      <a:r>
                        <a:rPr lang="en-US" altLang="zh-CN" dirty="0"/>
                        <a:t>ID</a:t>
                      </a:r>
                      <a:r>
                        <a:rPr lang="zh-CN" altLang="en-US" dirty="0"/>
                        <a:t>查导购信息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/v1/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guide-user/{id}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官网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导购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20276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7445800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Rectangle 14">
            <a:extLst>
              <a:ext uri="{FF2B5EF4-FFF2-40B4-BE49-F238E27FC236}">
                <a16:creationId xmlns:a16="http://schemas.microsoft.com/office/drawing/2014/main" id="{50D08873-67A0-9647-8ED3-870B0223609A}"/>
              </a:ext>
            </a:extLst>
          </p:cNvPr>
          <p:cNvSpPr/>
          <p:nvPr/>
        </p:nvSpPr>
        <p:spPr>
          <a:xfrm>
            <a:off x="116566" y="139485"/>
            <a:ext cx="6957171" cy="523220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集成架构关系表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0486AC4F-7C0D-6A9E-40F3-600005B09E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7436657"/>
              </p:ext>
            </p:extLst>
          </p:nvPr>
        </p:nvGraphicFramePr>
        <p:xfrm>
          <a:off x="381000" y="719666"/>
          <a:ext cx="11657555" cy="55626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95643">
                  <a:extLst>
                    <a:ext uri="{9D8B030D-6E8A-4147-A177-3AD203B41FA5}">
                      <a16:colId xmlns:a16="http://schemas.microsoft.com/office/drawing/2014/main" val="3484761902"/>
                    </a:ext>
                  </a:extLst>
                </a:gridCol>
                <a:gridCol w="3624943">
                  <a:extLst>
                    <a:ext uri="{9D8B030D-6E8A-4147-A177-3AD203B41FA5}">
                      <a16:colId xmlns:a16="http://schemas.microsoft.com/office/drawing/2014/main" val="322046084"/>
                    </a:ext>
                  </a:extLst>
                </a:gridCol>
                <a:gridCol w="5410200">
                  <a:extLst>
                    <a:ext uri="{9D8B030D-6E8A-4147-A177-3AD203B41FA5}">
                      <a16:colId xmlns:a16="http://schemas.microsoft.com/office/drawing/2014/main" val="2936142794"/>
                    </a:ext>
                  </a:extLst>
                </a:gridCol>
                <a:gridCol w="979714">
                  <a:extLst>
                    <a:ext uri="{9D8B030D-6E8A-4147-A177-3AD203B41FA5}">
                      <a16:colId xmlns:a16="http://schemas.microsoft.com/office/drawing/2014/main" val="2448877213"/>
                    </a:ext>
                  </a:extLst>
                </a:gridCol>
                <a:gridCol w="947055">
                  <a:extLst>
                    <a:ext uri="{9D8B030D-6E8A-4147-A177-3AD203B41FA5}">
                      <a16:colId xmlns:a16="http://schemas.microsoft.com/office/drawing/2014/main" val="21027161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序号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接口名称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接口地址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发送方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接收方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900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31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根据条件查询导购列表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/v1/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guide-user/select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官网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导购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66995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32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根据条件查询单个导购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/v1/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guide-user/find-one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官网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导购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42123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33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官网单个客户查询</a:t>
                      </a:r>
                      <a:endParaRPr lang="zh-CN" altLang="en-U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/user/v1/users/service/single/</a:t>
                      </a:r>
                      <a:r>
                        <a:rPr lang="en-US" altLang="zh-CN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wechat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-user-data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导购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官网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89230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34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官网批量客户查询</a:t>
                      </a:r>
                      <a:endParaRPr lang="zh-CN" altLang="en-U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/user/v1/users/service/batch/</a:t>
                      </a:r>
                      <a:r>
                        <a:rPr lang="en-US" altLang="zh-CN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wechat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-user-data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导购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官网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56925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35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官网订单单个查询</a:t>
                      </a:r>
                      <a:endParaRPr lang="zh-CN" altLang="en-U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/order/v1/orders/service/single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导购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官网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8945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36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官网订单批量查询</a:t>
                      </a:r>
                      <a:endParaRPr lang="zh-CN" altLang="en-U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/order/v1/orders/service/batch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导购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官网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51764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37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官网订单商品信息表列表</a:t>
                      </a:r>
                      <a:endParaRPr lang="zh-CN" altLang="en-U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/order/v1/order-items/service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导购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官网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29407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38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官网购物车商品列表</a:t>
                      </a:r>
                      <a:endParaRPr lang="zh-CN" altLang="en-U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/order/v1/carts/service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导购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官网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8216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39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官网商品列表搜索</a:t>
                      </a:r>
                      <a:endParaRPr lang="zh-CN" altLang="en-U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/goods/v1/search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导购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官网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77438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40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官网单个商品查询</a:t>
                      </a:r>
                      <a:endParaRPr lang="zh-CN" altLang="en-U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/goods/v1/goods/single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导购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官网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10006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41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官网获取店铺列表</a:t>
                      </a:r>
                      <a:endParaRPr lang="zh-CN" altLang="en-U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/support/v1/shops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导购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官网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15229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42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官网通过</a:t>
                      </a:r>
                      <a:r>
                        <a:rPr lang="en-US" altLang="zh-CN" sz="180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sku</a:t>
                      </a:r>
                      <a:r>
                        <a:rPr lang="zh-CN" altLang="en-US" sz="180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获取商品信息</a:t>
                      </a:r>
                      <a:endParaRPr lang="zh-CN" altLang="en-U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/goods/v1/</a:t>
                      </a:r>
                      <a:r>
                        <a:rPr lang="en-US" altLang="zh-CN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skus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altLang="zh-CN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goodsinfo</a:t>
                      </a:r>
                      <a:endParaRPr lang="en-US" altLang="zh-CN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导购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官网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24286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43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官网页面列表</a:t>
                      </a:r>
                      <a:endParaRPr lang="zh-CN" altLang="en-U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/support/v1/pages/page-list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导购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官网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37021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44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官网获取太阳码</a:t>
                      </a:r>
                      <a:endParaRPr lang="zh-CN" altLang="en-U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/support/v1/get-sun-</a:t>
                      </a:r>
                      <a:r>
                        <a:rPr lang="en-US" altLang="zh-CN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qrcode</a:t>
                      </a:r>
                      <a:endParaRPr lang="en-US" altLang="zh-CN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导购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官网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58706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9681757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Rectangle 14">
            <a:extLst>
              <a:ext uri="{FF2B5EF4-FFF2-40B4-BE49-F238E27FC236}">
                <a16:creationId xmlns:a16="http://schemas.microsoft.com/office/drawing/2014/main" id="{50D08873-67A0-9647-8ED3-870B0223609A}"/>
              </a:ext>
            </a:extLst>
          </p:cNvPr>
          <p:cNvSpPr/>
          <p:nvPr/>
        </p:nvSpPr>
        <p:spPr>
          <a:xfrm>
            <a:off x="116566" y="139485"/>
            <a:ext cx="6957171" cy="523220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部署架构图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D3BAEE3-406D-2005-78B0-15B86C15FE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3900" y="621397"/>
            <a:ext cx="8659812" cy="5927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324977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Rectangle 14">
            <a:extLst>
              <a:ext uri="{FF2B5EF4-FFF2-40B4-BE49-F238E27FC236}">
                <a16:creationId xmlns:a16="http://schemas.microsoft.com/office/drawing/2014/main" id="{50D08873-67A0-9647-8ED3-870B0223609A}"/>
              </a:ext>
            </a:extLst>
          </p:cNvPr>
          <p:cNvSpPr/>
          <p:nvPr/>
        </p:nvSpPr>
        <p:spPr>
          <a:xfrm>
            <a:off x="116566" y="139485"/>
            <a:ext cx="6957171" cy="523220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数据层明细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CBF219B7-E9E7-2D26-8CEE-6B7BF5E4E4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8548082"/>
              </p:ext>
            </p:extLst>
          </p:nvPr>
        </p:nvGraphicFramePr>
        <p:xfrm>
          <a:off x="268515" y="1013581"/>
          <a:ext cx="10530114" cy="26670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754752">
                  <a:extLst>
                    <a:ext uri="{9D8B030D-6E8A-4147-A177-3AD203B41FA5}">
                      <a16:colId xmlns:a16="http://schemas.microsoft.com/office/drawing/2014/main" val="4059575179"/>
                    </a:ext>
                  </a:extLst>
                </a:gridCol>
                <a:gridCol w="7775362">
                  <a:extLst>
                    <a:ext uri="{9D8B030D-6E8A-4147-A177-3AD203B41FA5}">
                      <a16:colId xmlns:a16="http://schemas.microsoft.com/office/drawing/2014/main" val="5499673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中间件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用途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3120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err="1"/>
                        <a:t>OceanBase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关系型数据库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40435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Redis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数据缓存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39875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Elasticsearch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1.</a:t>
                      </a:r>
                      <a:r>
                        <a:rPr lang="zh-CN" altLang="en-US" dirty="0"/>
                        <a:t>客户宽表（集成企微、</a:t>
                      </a:r>
                      <a:r>
                        <a:rPr lang="en-US" altLang="zh-CN" dirty="0"/>
                        <a:t>CRM</a:t>
                      </a:r>
                      <a:r>
                        <a:rPr lang="zh-CN" altLang="en-US" dirty="0"/>
                        <a:t>、官网三个平台数据）</a:t>
                      </a:r>
                      <a:endParaRPr lang="en-US" altLang="zh-CN" dirty="0"/>
                    </a:p>
                    <a:p>
                      <a:r>
                        <a:rPr lang="en-US" altLang="zh-CN" dirty="0"/>
                        <a:t>2.</a:t>
                      </a:r>
                      <a:r>
                        <a:rPr lang="zh-CN" altLang="en-US" dirty="0"/>
                        <a:t>导购行为埋点</a:t>
                      </a:r>
                      <a:endParaRPr lang="en-US" altLang="zh-CN" dirty="0"/>
                    </a:p>
                    <a:p>
                      <a:r>
                        <a:rPr lang="en-US" altLang="zh-CN" dirty="0"/>
                        <a:t>3.</a:t>
                      </a:r>
                      <a:r>
                        <a:rPr lang="zh-CN" altLang="en-US" dirty="0"/>
                        <a:t>后台操作日志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40352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Kafka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1.CRM </a:t>
                      </a:r>
                      <a:r>
                        <a:rPr lang="zh-CN" altLang="en-US" dirty="0"/>
                        <a:t>会员中台人群包推送</a:t>
                      </a:r>
                      <a:endParaRPr lang="en-US" altLang="zh-CN" dirty="0"/>
                    </a:p>
                    <a:p>
                      <a:r>
                        <a:rPr lang="en-US" altLang="zh-CN" dirty="0"/>
                        <a:t>2.</a:t>
                      </a:r>
                      <a:r>
                        <a:rPr lang="zh-CN" altLang="en-US" dirty="0"/>
                        <a:t>会员订单事件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78388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6090205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Rectangle 14">
            <a:extLst>
              <a:ext uri="{FF2B5EF4-FFF2-40B4-BE49-F238E27FC236}">
                <a16:creationId xmlns:a16="http://schemas.microsoft.com/office/drawing/2014/main" id="{50D08873-67A0-9647-8ED3-870B0223609A}"/>
              </a:ext>
            </a:extLst>
          </p:cNvPr>
          <p:cNvSpPr/>
          <p:nvPr/>
        </p:nvSpPr>
        <p:spPr>
          <a:xfrm>
            <a:off x="116566" y="139485"/>
            <a:ext cx="6957171" cy="523220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运维部署清单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CBF219B7-E9E7-2D26-8CEE-6B7BF5E4E4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8038968"/>
              </p:ext>
            </p:extLst>
          </p:nvPr>
        </p:nvGraphicFramePr>
        <p:xfrm>
          <a:off x="268513" y="774095"/>
          <a:ext cx="10355943" cy="48209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267858">
                  <a:extLst>
                    <a:ext uri="{9D8B030D-6E8A-4147-A177-3AD203B41FA5}">
                      <a16:colId xmlns:a16="http://schemas.microsoft.com/office/drawing/2014/main" val="4059575179"/>
                    </a:ext>
                  </a:extLst>
                </a:gridCol>
                <a:gridCol w="2220686">
                  <a:extLst>
                    <a:ext uri="{9D8B030D-6E8A-4147-A177-3AD203B41FA5}">
                      <a16:colId xmlns:a16="http://schemas.microsoft.com/office/drawing/2014/main" val="4205662225"/>
                    </a:ext>
                  </a:extLst>
                </a:gridCol>
                <a:gridCol w="5867399">
                  <a:extLst>
                    <a:ext uri="{9D8B030D-6E8A-4147-A177-3AD203B41FA5}">
                      <a16:colId xmlns:a16="http://schemas.microsoft.com/office/drawing/2014/main" val="5499673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服务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服务名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仓库地址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3120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内容中心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content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https://gitlab.anta.cn/micro-guide/service/content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58101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客户中心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customer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https://gitlab.anta.cn/micro-guide/service/customer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289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导购中心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guide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https://gitlab.anta.cn/micro-guide/service/guide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07294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对外集成中心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gwout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https://gitlab.anta.cn/micro-guide/service/gwout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15613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支撑中心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support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https://gitlab.anta.cn/micro-guide/service/support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36746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导购任务中心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task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https://gitlab.anta.cn/micro-guide/service/task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14743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导购小程序网关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guide-gateway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https://gitlab.anta.cn/micro-guide/gateway/guide-gateway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65861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管理后台网关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admin-gateway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https://gitlab.anta.cn/micro-guide/gateway/admin-gateway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69361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开放接口网关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open-gateway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https://gitlab.anta.cn/micro-guide/gateway/open-gateway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50376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管理后台接口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admin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https://gitlab.anta.cn/micro-guide/app/admin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64042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982</a:t>
                      </a:r>
                      <a:r>
                        <a:rPr lang="zh-CN" altLang="en-US" dirty="0"/>
                        <a:t>创动小程序</a:t>
                      </a:r>
                      <a:r>
                        <a:rPr lang="en-US" altLang="zh-CN" dirty="0"/>
                        <a:t>BFF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bff</a:t>
                      </a:r>
                      <a:r>
                        <a:rPr lang="en-US" altLang="zh-CN" dirty="0"/>
                        <a:t>-cd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https://gitlab.anta.cn/micro-guide/app/bff-cd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297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MAIA </a:t>
                      </a:r>
                      <a:r>
                        <a:rPr lang="zh-CN" altLang="en-US" dirty="0"/>
                        <a:t>小程序 </a:t>
                      </a:r>
                      <a:r>
                        <a:rPr lang="en-US" altLang="zh-CN" dirty="0"/>
                        <a:t>BFF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bff-maia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https://gitlab.anta.cn/micro-guide/app/bff-maia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84576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5904220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Rectangle 14">
            <a:extLst>
              <a:ext uri="{FF2B5EF4-FFF2-40B4-BE49-F238E27FC236}">
                <a16:creationId xmlns:a16="http://schemas.microsoft.com/office/drawing/2014/main" id="{50D08873-67A0-9647-8ED3-870B0223609A}"/>
              </a:ext>
            </a:extLst>
          </p:cNvPr>
          <p:cNvSpPr/>
          <p:nvPr/>
        </p:nvSpPr>
        <p:spPr>
          <a:xfrm>
            <a:off x="116566" y="139485"/>
            <a:ext cx="6957171" cy="523220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安全设计方案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368A28C1-9547-2E9C-F42D-57917DED5499}"/>
              </a:ext>
            </a:extLst>
          </p:cNvPr>
          <p:cNvGraphicFramePr>
            <a:graphicFrameLocks noGrp="1"/>
          </p:cNvGraphicFramePr>
          <p:nvPr/>
        </p:nvGraphicFramePr>
        <p:xfrm>
          <a:off x="527050" y="948265"/>
          <a:ext cx="10312400" cy="4874436"/>
        </p:xfrm>
        <a:graphic>
          <a:graphicData uri="http://schemas.openxmlformats.org/drawingml/2006/table">
            <a:tbl>
              <a:tblPr firstRow="1" bandRow="1">
                <a:tableStyleId>{0660B408-B3CF-4A94-85FC-2B1E0A45F4A2}</a:tableStyleId>
              </a:tblPr>
              <a:tblGrid>
                <a:gridCol w="2086650">
                  <a:extLst>
                    <a:ext uri="{9D8B030D-6E8A-4147-A177-3AD203B41FA5}">
                      <a16:colId xmlns:a16="http://schemas.microsoft.com/office/drawing/2014/main" val="3702031563"/>
                    </a:ext>
                  </a:extLst>
                </a:gridCol>
                <a:gridCol w="8225750">
                  <a:extLst>
                    <a:ext uri="{9D8B030D-6E8A-4147-A177-3AD203B41FA5}">
                      <a16:colId xmlns:a16="http://schemas.microsoft.com/office/drawing/2014/main" val="3171951231"/>
                    </a:ext>
                  </a:extLst>
                </a:gridCol>
              </a:tblGrid>
              <a:tr h="513468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维度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方案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4674710"/>
                  </a:ext>
                </a:extLst>
              </a:tr>
              <a:tr h="513468">
                <a:tc>
                  <a:txBody>
                    <a:bodyPr/>
                    <a:lstStyle/>
                    <a:p>
                      <a:r>
                        <a:rPr lang="zh-CN" altLang="en-US" dirty="0"/>
                        <a:t>基础环境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基于华为云安全防护体系，部署在国内，五分钟增量备份，每天一次全量备份，定期可恢复性验证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0728726"/>
                  </a:ext>
                </a:extLst>
              </a:tr>
              <a:tr h="513468">
                <a:tc>
                  <a:txBody>
                    <a:bodyPr/>
                    <a:lstStyle/>
                    <a:p>
                      <a:r>
                        <a:rPr lang="zh-CN" altLang="en-US" dirty="0"/>
                        <a:t>传输安全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采用集团统一采购的</a:t>
                      </a:r>
                      <a:r>
                        <a:rPr lang="en-US" altLang="zh-C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SSL</a:t>
                      </a:r>
                      <a:r>
                        <a:rPr lang="zh-CN" alt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证书，基于</a:t>
                      </a:r>
                      <a:r>
                        <a:rPr lang="en-US" altLang="zh-C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Https</a:t>
                      </a:r>
                      <a:r>
                        <a:rPr lang="zh-CN" alt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的加密安全传输通道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7925407"/>
                  </a:ext>
                </a:extLst>
              </a:tr>
              <a:tr h="513468">
                <a:tc>
                  <a:txBody>
                    <a:bodyPr/>
                    <a:lstStyle/>
                    <a:p>
                      <a:r>
                        <a:rPr lang="zh-CN" altLang="en-US" dirty="0"/>
                        <a:t>账号安全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IAM</a:t>
                      </a:r>
                      <a:r>
                        <a:rPr lang="zh-CN" alt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登录，双因子认证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9435559"/>
                  </a:ext>
                </a:extLst>
              </a:tr>
              <a:tr h="513468">
                <a:tc>
                  <a:txBody>
                    <a:bodyPr/>
                    <a:lstStyle/>
                    <a:p>
                      <a:r>
                        <a:rPr lang="zh-CN" altLang="en-US" dirty="0"/>
                        <a:t>权限管理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功能权限</a:t>
                      </a:r>
                      <a:r>
                        <a:rPr lang="en-US" altLang="zh-C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  <a:r>
                        <a:rPr lang="zh-CN" alt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数据权限验证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1936841"/>
                  </a:ext>
                </a:extLst>
              </a:tr>
              <a:tr h="513468">
                <a:tc>
                  <a:txBody>
                    <a:bodyPr/>
                    <a:lstStyle/>
                    <a:p>
                      <a:r>
                        <a:rPr lang="zh-CN" altLang="en-US" dirty="0"/>
                        <a:t>数据安全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对用户敏感信息字段做到：加密存储，加密传输，脱敏展示。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736622"/>
                  </a:ext>
                </a:extLst>
              </a:tr>
              <a:tr h="513468">
                <a:tc>
                  <a:txBody>
                    <a:bodyPr/>
                    <a:lstStyle/>
                    <a:p>
                      <a:r>
                        <a:rPr lang="zh-CN" altLang="en-US" dirty="0"/>
                        <a:t>日志审计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管理后台行为有操作日志，如：数据添加</a:t>
                      </a:r>
                      <a:r>
                        <a:rPr lang="en-US" altLang="zh-C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&amp;</a:t>
                      </a:r>
                      <a:r>
                        <a:rPr lang="zh-CN" alt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更改、敏感信息查看等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4937825"/>
                  </a:ext>
                </a:extLst>
              </a:tr>
              <a:tr h="513468">
                <a:tc>
                  <a:txBody>
                    <a:bodyPr/>
                    <a:lstStyle/>
                    <a:p>
                      <a:r>
                        <a:rPr lang="en-US" altLang="zh-CN" dirty="0"/>
                        <a:t>API </a:t>
                      </a:r>
                      <a:r>
                        <a:rPr lang="zh-CN" altLang="en-US" dirty="0"/>
                        <a:t>接口安全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签名加密认证方式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1231317"/>
                  </a:ext>
                </a:extLst>
              </a:tr>
              <a:tr h="513468">
                <a:tc>
                  <a:txBody>
                    <a:bodyPr/>
                    <a:lstStyle/>
                    <a:p>
                      <a:r>
                        <a:rPr lang="zh-CN" altLang="en-US" dirty="0"/>
                        <a:t>业务场景安全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后台敏感数据</a:t>
                      </a:r>
                      <a:r>
                        <a:rPr lang="en-US" altLang="zh-CN" dirty="0"/>
                        <a:t>(</a:t>
                      </a:r>
                      <a:r>
                        <a:rPr lang="zh-CN" altLang="en-US" dirty="0"/>
                        <a:t>手机号</a:t>
                      </a:r>
                      <a:r>
                        <a:rPr lang="en-US" altLang="zh-CN" dirty="0"/>
                        <a:t>)</a:t>
                      </a:r>
                      <a:r>
                        <a:rPr lang="zh-CN" altLang="en-US" dirty="0"/>
                        <a:t>脱敏返回，查看或者下载会记录操作日志；</a:t>
                      </a:r>
                      <a:br>
                        <a:rPr lang="en-US" altLang="zh-CN" dirty="0"/>
                      </a:br>
                      <a:r>
                        <a:rPr lang="zh-CN" altLang="en-US" dirty="0"/>
                        <a:t>指定角色才能导出明文数据</a:t>
                      </a:r>
                      <a:r>
                        <a:rPr lang="en-US" altLang="zh-CN" dirty="0"/>
                        <a:t>;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60328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9800849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Rectangle 14">
            <a:extLst>
              <a:ext uri="{FF2B5EF4-FFF2-40B4-BE49-F238E27FC236}">
                <a16:creationId xmlns:a16="http://schemas.microsoft.com/office/drawing/2014/main" id="{50D08873-67A0-9647-8ED3-870B0223609A}"/>
              </a:ext>
            </a:extLst>
          </p:cNvPr>
          <p:cNvSpPr/>
          <p:nvPr/>
        </p:nvSpPr>
        <p:spPr>
          <a:xfrm>
            <a:off x="116566" y="139485"/>
            <a:ext cx="6957171" cy="523220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用户的角色与权限</a:t>
            </a:r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CB1D09A9-AAC8-ACDF-63FF-C059BBA72F54}"/>
              </a:ext>
            </a:extLst>
          </p:cNvPr>
          <p:cNvSpPr txBox="1"/>
          <p:nvPr/>
        </p:nvSpPr>
        <p:spPr>
          <a:xfrm>
            <a:off x="882747" y="1254484"/>
            <a:ext cx="1524000" cy="2697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75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dirty="0">
                <a:solidFill>
                  <a:srgbClr val="000000"/>
                </a:solidFill>
                <a:latin typeface="WKKETQ+MicrosoftYaHei-Bold"/>
                <a:cs typeface="WKKETQ+MicrosoftYaHei-Bold"/>
              </a:rPr>
              <a:t>一、功能权限</a:t>
            </a:r>
            <a:endParaRPr sz="1800" b="1" dirty="0">
              <a:solidFill>
                <a:srgbClr val="000000"/>
              </a:solidFill>
              <a:latin typeface="WKKETQ+MicrosoftYaHei-Bold"/>
              <a:cs typeface="WKKETQ+MicrosoftYaHei-Bold"/>
            </a:endParaRPr>
          </a:p>
        </p:txBody>
      </p:sp>
      <p:sp>
        <p:nvSpPr>
          <p:cNvPr id="4" name="object 5">
            <a:extLst>
              <a:ext uri="{FF2B5EF4-FFF2-40B4-BE49-F238E27FC236}">
                <a16:creationId xmlns:a16="http://schemas.microsoft.com/office/drawing/2014/main" id="{BBE7852A-E9CA-8522-7E6E-9A98E2D04AAD}"/>
              </a:ext>
            </a:extLst>
          </p:cNvPr>
          <p:cNvSpPr txBox="1"/>
          <p:nvPr/>
        </p:nvSpPr>
        <p:spPr>
          <a:xfrm>
            <a:off x="1252024" y="1674423"/>
            <a:ext cx="5995416" cy="2762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DengXian"/>
                <a:cs typeface="DengXian"/>
              </a:rPr>
              <a:t>基于RBAC(Role-based</a:t>
            </a:r>
            <a:r>
              <a:rPr sz="1800" spc="21" dirty="0">
                <a:solidFill>
                  <a:srgbClr val="000000"/>
                </a:solidFill>
                <a:latin typeface="DengXian"/>
                <a:cs typeface="DengXian"/>
              </a:rPr>
              <a:t> </a:t>
            </a:r>
            <a:r>
              <a:rPr sz="1800" dirty="0">
                <a:solidFill>
                  <a:srgbClr val="000000"/>
                </a:solidFill>
                <a:latin typeface="DengXian"/>
                <a:cs typeface="DengXian"/>
              </a:rPr>
              <a:t>Access Control)角色控制访问机制。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BE45708-1BAC-DE1F-1614-E0A3843CDB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668" y="1986127"/>
            <a:ext cx="6886575" cy="1952625"/>
          </a:xfrm>
          <a:prstGeom prst="rect">
            <a:avLst/>
          </a:prstGeom>
        </p:spPr>
      </p:pic>
      <p:sp>
        <p:nvSpPr>
          <p:cNvPr id="7" name="object 4">
            <a:extLst>
              <a:ext uri="{FF2B5EF4-FFF2-40B4-BE49-F238E27FC236}">
                <a16:creationId xmlns:a16="http://schemas.microsoft.com/office/drawing/2014/main" id="{3507C152-1DA1-59C4-6FAF-1EBFBA44C45B}"/>
              </a:ext>
            </a:extLst>
          </p:cNvPr>
          <p:cNvSpPr txBox="1"/>
          <p:nvPr/>
        </p:nvSpPr>
        <p:spPr>
          <a:xfrm>
            <a:off x="882747" y="4400589"/>
            <a:ext cx="1524000" cy="2697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75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b="1" dirty="0">
                <a:solidFill>
                  <a:srgbClr val="000000"/>
                </a:solidFill>
                <a:latin typeface="WKKETQ+MicrosoftYaHei-Bold"/>
                <a:cs typeface="WKKETQ+MicrosoftYaHei-Bold"/>
              </a:rPr>
              <a:t>二、数据</a:t>
            </a:r>
            <a:r>
              <a:rPr lang="zh-CN" altLang="en-US" sz="1800" b="1" dirty="0">
                <a:solidFill>
                  <a:srgbClr val="000000"/>
                </a:solidFill>
                <a:latin typeface="WKKETQ+MicrosoftYaHei-Bold"/>
                <a:cs typeface="WKKETQ+MicrosoftYaHei-Bold"/>
              </a:rPr>
              <a:t>权限</a:t>
            </a:r>
            <a:endParaRPr sz="1800" b="1" dirty="0">
              <a:solidFill>
                <a:srgbClr val="000000"/>
              </a:solidFill>
              <a:latin typeface="WKKETQ+MicrosoftYaHei-Bold"/>
              <a:cs typeface="WKKETQ+MicrosoftYaHei-Bold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60DD66EC-931A-67BE-9DA4-9B202F2724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1004406"/>
              </p:ext>
            </p:extLst>
          </p:nvPr>
        </p:nvGraphicFramePr>
        <p:xfrm>
          <a:off x="1252024" y="4986866"/>
          <a:ext cx="8128000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730662">
                  <a:extLst>
                    <a:ext uri="{9D8B030D-6E8A-4147-A177-3AD203B41FA5}">
                      <a16:colId xmlns:a16="http://schemas.microsoft.com/office/drawing/2014/main" val="712777580"/>
                    </a:ext>
                  </a:extLst>
                </a:gridCol>
                <a:gridCol w="6397338">
                  <a:extLst>
                    <a:ext uri="{9D8B030D-6E8A-4147-A177-3AD203B41FA5}">
                      <a16:colId xmlns:a16="http://schemas.microsoft.com/office/drawing/2014/main" val="27203989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维度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权限内容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27766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租户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dirty="0">
                          <a:solidFill>
                            <a:srgbClr val="000000"/>
                          </a:solidFill>
                          <a:latin typeface="OUKBLR+MicrosoftYaHei"/>
                          <a:cs typeface="OUKBLR+MicrosoftYaHei"/>
                        </a:rPr>
                        <a:t>一个租户表示一个导购体系，不同租户的导购数据不互通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19512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9706030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Rectangle 14">
            <a:extLst>
              <a:ext uri="{FF2B5EF4-FFF2-40B4-BE49-F238E27FC236}">
                <a16:creationId xmlns:a16="http://schemas.microsoft.com/office/drawing/2014/main" id="{50D08873-67A0-9647-8ED3-870B0223609A}"/>
              </a:ext>
            </a:extLst>
          </p:cNvPr>
          <p:cNvSpPr/>
          <p:nvPr/>
        </p:nvSpPr>
        <p:spPr>
          <a:xfrm>
            <a:off x="116566" y="139485"/>
            <a:ext cx="6957171" cy="523220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数据备份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恢复策略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327BEC04-5D26-40A7-468F-F6343046F3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4354709"/>
              </p:ext>
            </p:extLst>
          </p:nvPr>
        </p:nvGraphicFramePr>
        <p:xfrm>
          <a:off x="337458" y="1082151"/>
          <a:ext cx="9982199" cy="351603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458685">
                  <a:extLst>
                    <a:ext uri="{9D8B030D-6E8A-4147-A177-3AD203B41FA5}">
                      <a16:colId xmlns:a16="http://schemas.microsoft.com/office/drawing/2014/main" val="977100856"/>
                    </a:ext>
                  </a:extLst>
                </a:gridCol>
                <a:gridCol w="2383971">
                  <a:extLst>
                    <a:ext uri="{9D8B030D-6E8A-4147-A177-3AD203B41FA5}">
                      <a16:colId xmlns:a16="http://schemas.microsoft.com/office/drawing/2014/main" val="248220757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270075152"/>
                    </a:ext>
                  </a:extLst>
                </a:gridCol>
                <a:gridCol w="5148943">
                  <a:extLst>
                    <a:ext uri="{9D8B030D-6E8A-4147-A177-3AD203B41FA5}">
                      <a16:colId xmlns:a16="http://schemas.microsoft.com/office/drawing/2014/main" val="4204897880"/>
                    </a:ext>
                  </a:extLst>
                </a:gridCol>
              </a:tblGrid>
              <a:tr h="70645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组件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备份策略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归档策略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恢复策略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0587806"/>
                  </a:ext>
                </a:extLst>
              </a:tr>
              <a:tr h="70645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err="1"/>
                        <a:t>OceanBase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全备：周四和周日全备份</a:t>
                      </a:r>
                      <a:endParaRPr lang="en-US" altLang="zh-CN" dirty="0"/>
                    </a:p>
                    <a:p>
                      <a:r>
                        <a:rPr lang="zh-CN" altLang="en-US" dirty="0"/>
                        <a:t>增备：实时</a:t>
                      </a:r>
                      <a:endParaRPr lang="en-US" altLang="zh-CN" dirty="0"/>
                    </a:p>
                    <a:p>
                      <a:r>
                        <a:rPr lang="zh-CN" altLang="en-US" dirty="0"/>
                        <a:t>保留时长：</a:t>
                      </a:r>
                      <a:r>
                        <a:rPr lang="en-US" altLang="zh-CN" dirty="0"/>
                        <a:t>15</a:t>
                      </a:r>
                      <a:r>
                        <a:rPr lang="zh-CN" altLang="en-US" dirty="0"/>
                        <a:t>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无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3287186"/>
                  </a:ext>
                </a:extLst>
              </a:tr>
              <a:tr h="70645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Redis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无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master</a:t>
                      </a:r>
                      <a:r>
                        <a:rPr lang="zh-CN" altLang="en-US" dirty="0"/>
                        <a:t>故障，会自动飘到备库。 全部故障或者数据问题，会从备份文件恢复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2034999"/>
                  </a:ext>
                </a:extLst>
              </a:tr>
              <a:tr h="706455">
                <a:tc>
                  <a:txBody>
                    <a:bodyPr/>
                    <a:lstStyle/>
                    <a:p>
                      <a:r>
                        <a:rPr lang="en-US" altLang="zh-CN" dirty="0"/>
                        <a:t>Elasticsearch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每天</a:t>
                      </a:r>
                      <a:r>
                        <a:rPr lang="en-US" altLang="zh-CN" dirty="0"/>
                        <a:t>0</a:t>
                      </a:r>
                      <a:r>
                        <a:rPr lang="zh-CN" altLang="en-US" dirty="0"/>
                        <a:t>点一快照 保留</a:t>
                      </a:r>
                      <a:r>
                        <a:rPr lang="en-US" altLang="zh-CN" dirty="0"/>
                        <a:t>7</a:t>
                      </a:r>
                      <a:r>
                        <a:rPr lang="zh-CN" altLang="en-US" dirty="0"/>
                        <a:t>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无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可设置多副本，单节点故障，从其他节点副本恢 复 集群故障，可从快照恢复，数据内容可从</a:t>
                      </a:r>
                      <a:r>
                        <a:rPr lang="en-US" altLang="zh-CN" dirty="0" err="1"/>
                        <a:t>mysql</a:t>
                      </a:r>
                      <a:r>
                        <a:rPr lang="en-US" altLang="zh-CN" dirty="0"/>
                        <a:t> </a:t>
                      </a:r>
                      <a:r>
                        <a:rPr lang="zh-CN" altLang="en-US" dirty="0"/>
                        <a:t>补充恢复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3437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5306602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Rectangle 14">
            <a:extLst>
              <a:ext uri="{FF2B5EF4-FFF2-40B4-BE49-F238E27FC236}">
                <a16:creationId xmlns:a16="http://schemas.microsoft.com/office/drawing/2014/main" id="{50D08873-67A0-9647-8ED3-870B0223609A}"/>
              </a:ext>
            </a:extLst>
          </p:cNvPr>
          <p:cNvSpPr/>
          <p:nvPr/>
        </p:nvSpPr>
        <p:spPr>
          <a:xfrm>
            <a:off x="116566" y="139485"/>
            <a:ext cx="6957171" cy="523220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监控指标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监控方式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43435D4B-FEB3-02B1-9355-BB3FBFB243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369976"/>
              </p:ext>
            </p:extLst>
          </p:nvPr>
        </p:nvGraphicFramePr>
        <p:xfrm>
          <a:off x="827315" y="1335442"/>
          <a:ext cx="9800769" cy="20269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752599">
                  <a:extLst>
                    <a:ext uri="{9D8B030D-6E8A-4147-A177-3AD203B41FA5}">
                      <a16:colId xmlns:a16="http://schemas.microsoft.com/office/drawing/2014/main" val="3949399175"/>
                    </a:ext>
                  </a:extLst>
                </a:gridCol>
                <a:gridCol w="4256314">
                  <a:extLst>
                    <a:ext uri="{9D8B030D-6E8A-4147-A177-3AD203B41FA5}">
                      <a16:colId xmlns:a16="http://schemas.microsoft.com/office/drawing/2014/main" val="1739787560"/>
                    </a:ext>
                  </a:extLst>
                </a:gridCol>
                <a:gridCol w="3791856">
                  <a:extLst>
                    <a:ext uri="{9D8B030D-6E8A-4147-A177-3AD203B41FA5}">
                      <a16:colId xmlns:a16="http://schemas.microsoft.com/office/drawing/2014/main" val="13723747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维度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指标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方式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09094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资源监控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Cpu</a:t>
                      </a:r>
                      <a:r>
                        <a:rPr lang="zh-CN" altLang="en-US" dirty="0"/>
                        <a:t>利用率，内存利用率，磁盘使用率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基于阿里云监控组件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54045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网络监控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带宽流量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基于阿里云监控组件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6722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应用链路监控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请求接口，请求数量，接口响应时间，</a:t>
                      </a:r>
                      <a:r>
                        <a:rPr lang="en-US" altLang="zh-CN" dirty="0"/>
                        <a:t>QPS</a:t>
                      </a:r>
                      <a:r>
                        <a:rPr lang="zh-CN" altLang="en-US" dirty="0"/>
                        <a:t>，错误率，链路信息，异常信 息，日志详情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观测云</a:t>
                      </a:r>
                      <a:r>
                        <a:rPr lang="en-US" altLang="zh-CN" dirty="0"/>
                        <a:t>+</a:t>
                      </a:r>
                      <a:r>
                        <a:rPr lang="zh-CN" altLang="en-US" dirty="0"/>
                        <a:t>阿里云监控组件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87048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9721149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08039ADE-4767-425F-849E-F9C7AADA8181}"/>
              </a:ext>
            </a:extLst>
          </p:cNvPr>
          <p:cNvSpPr/>
          <p:nvPr/>
        </p:nvSpPr>
        <p:spPr>
          <a:xfrm>
            <a:off x="81508" y="1041937"/>
            <a:ext cx="1221877" cy="4475196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7405D92-CB1B-44AB-BB43-1A5E0F8A66E5}"/>
              </a:ext>
            </a:extLst>
          </p:cNvPr>
          <p:cNvSpPr/>
          <p:nvPr/>
        </p:nvSpPr>
        <p:spPr>
          <a:xfrm>
            <a:off x="1461727" y="1875105"/>
            <a:ext cx="9192306" cy="596542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1" name="矩形 170">
            <a:extLst>
              <a:ext uri="{FF2B5EF4-FFF2-40B4-BE49-F238E27FC236}">
                <a16:creationId xmlns:a16="http://schemas.microsoft.com/office/drawing/2014/main" id="{E60424C8-1CCC-AC4D-83F7-D79FCC1A1B4A}"/>
              </a:ext>
            </a:extLst>
          </p:cNvPr>
          <p:cNvSpPr/>
          <p:nvPr/>
        </p:nvSpPr>
        <p:spPr>
          <a:xfrm>
            <a:off x="1461728" y="1029884"/>
            <a:ext cx="9192305" cy="709169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highlight>
                <a:srgbClr val="FFFF00"/>
              </a:highligh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6" name="Rectangle 14">
            <a:extLst>
              <a:ext uri="{FF2B5EF4-FFF2-40B4-BE49-F238E27FC236}">
                <a16:creationId xmlns:a16="http://schemas.microsoft.com/office/drawing/2014/main" id="{E5A8D19E-34A1-44F1-AB00-38B6DDAB8D8D}"/>
              </a:ext>
            </a:extLst>
          </p:cNvPr>
          <p:cNvSpPr/>
          <p:nvPr/>
        </p:nvSpPr>
        <p:spPr>
          <a:xfrm>
            <a:off x="12408" y="81149"/>
            <a:ext cx="4117405" cy="52322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技术架构</a:t>
            </a:r>
          </a:p>
        </p:txBody>
      </p:sp>
      <p:sp>
        <p:nvSpPr>
          <p:cNvPr id="185" name="矩形 184">
            <a:extLst>
              <a:ext uri="{FF2B5EF4-FFF2-40B4-BE49-F238E27FC236}">
                <a16:creationId xmlns:a16="http://schemas.microsoft.com/office/drawing/2014/main" id="{6566E4E0-051E-E440-9635-13AE115892D4}"/>
              </a:ext>
            </a:extLst>
          </p:cNvPr>
          <p:cNvSpPr/>
          <p:nvPr/>
        </p:nvSpPr>
        <p:spPr>
          <a:xfrm>
            <a:off x="1461727" y="2603713"/>
            <a:ext cx="9192306" cy="1777686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1" name="矩形 190">
            <a:extLst>
              <a:ext uri="{FF2B5EF4-FFF2-40B4-BE49-F238E27FC236}">
                <a16:creationId xmlns:a16="http://schemas.microsoft.com/office/drawing/2014/main" id="{4A76C7B1-08D5-614C-A522-B617A913333D}"/>
              </a:ext>
            </a:extLst>
          </p:cNvPr>
          <p:cNvSpPr/>
          <p:nvPr/>
        </p:nvSpPr>
        <p:spPr>
          <a:xfrm>
            <a:off x="10812375" y="1041937"/>
            <a:ext cx="1154304" cy="4467664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2" name="矩形 201">
            <a:extLst>
              <a:ext uri="{FF2B5EF4-FFF2-40B4-BE49-F238E27FC236}">
                <a16:creationId xmlns:a16="http://schemas.microsoft.com/office/drawing/2014/main" id="{81556DB8-F093-4343-9EFA-6242ED9B5E33}"/>
              </a:ext>
            </a:extLst>
          </p:cNvPr>
          <p:cNvSpPr/>
          <p:nvPr/>
        </p:nvSpPr>
        <p:spPr>
          <a:xfrm>
            <a:off x="1459121" y="4553097"/>
            <a:ext cx="9177864" cy="956503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13" name="矩形 212">
            <a:extLst>
              <a:ext uri="{FF2B5EF4-FFF2-40B4-BE49-F238E27FC236}">
                <a16:creationId xmlns:a16="http://schemas.microsoft.com/office/drawing/2014/main" id="{7A24A90B-E3F0-FC48-95B2-560CCB72170B}"/>
              </a:ext>
            </a:extLst>
          </p:cNvPr>
          <p:cNvSpPr/>
          <p:nvPr/>
        </p:nvSpPr>
        <p:spPr>
          <a:xfrm>
            <a:off x="1608476" y="1091570"/>
            <a:ext cx="4394536" cy="535750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215" name="矩形 214">
            <a:extLst>
              <a:ext uri="{FF2B5EF4-FFF2-40B4-BE49-F238E27FC236}">
                <a16:creationId xmlns:a16="http://schemas.microsoft.com/office/drawing/2014/main" id="{68F72CC2-BE7C-DA46-A23A-78C753E4AC73}"/>
              </a:ext>
            </a:extLst>
          </p:cNvPr>
          <p:cNvSpPr/>
          <p:nvPr/>
        </p:nvSpPr>
        <p:spPr>
          <a:xfrm>
            <a:off x="6161354" y="1104414"/>
            <a:ext cx="4394536" cy="535750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94" name="矩形 193">
            <a:extLst>
              <a:ext uri="{FF2B5EF4-FFF2-40B4-BE49-F238E27FC236}">
                <a16:creationId xmlns:a16="http://schemas.microsoft.com/office/drawing/2014/main" id="{818BB11F-9C82-B742-9887-7AABEA7B22A6}"/>
              </a:ext>
            </a:extLst>
          </p:cNvPr>
          <p:cNvSpPr/>
          <p:nvPr/>
        </p:nvSpPr>
        <p:spPr>
          <a:xfrm>
            <a:off x="7990666" y="1971956"/>
            <a:ext cx="2475330" cy="37913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Spring</a:t>
            </a:r>
            <a:r>
              <a:rPr kumimoji="1"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Cloud</a:t>
            </a:r>
            <a:r>
              <a:rPr kumimoji="1"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Gateway</a:t>
            </a:r>
            <a:endParaRPr kumimoji="1"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6" name="矩形 215">
            <a:extLst>
              <a:ext uri="{FF2B5EF4-FFF2-40B4-BE49-F238E27FC236}">
                <a16:creationId xmlns:a16="http://schemas.microsoft.com/office/drawing/2014/main" id="{331353D1-64FD-394D-AE67-EDC37551DA16}"/>
              </a:ext>
            </a:extLst>
          </p:cNvPr>
          <p:cNvSpPr/>
          <p:nvPr/>
        </p:nvSpPr>
        <p:spPr>
          <a:xfrm>
            <a:off x="2082463" y="1984139"/>
            <a:ext cx="2475330" cy="37913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WAF</a:t>
            </a:r>
            <a:endParaRPr kumimoji="1"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0" name="矩形 219">
            <a:extLst>
              <a:ext uri="{FF2B5EF4-FFF2-40B4-BE49-F238E27FC236}">
                <a16:creationId xmlns:a16="http://schemas.microsoft.com/office/drawing/2014/main" id="{B784892A-636A-8342-9A08-0ACEC871652D}"/>
              </a:ext>
            </a:extLst>
          </p:cNvPr>
          <p:cNvSpPr/>
          <p:nvPr/>
        </p:nvSpPr>
        <p:spPr>
          <a:xfrm>
            <a:off x="5104106" y="1984139"/>
            <a:ext cx="2475330" cy="37913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ELB</a:t>
            </a:r>
            <a:endParaRPr kumimoji="1"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1" name="矩形 220">
            <a:extLst>
              <a:ext uri="{FF2B5EF4-FFF2-40B4-BE49-F238E27FC236}">
                <a16:creationId xmlns:a16="http://schemas.microsoft.com/office/drawing/2014/main" id="{27BEE9AA-F0B6-9642-BE0A-1981D5053EB6}"/>
              </a:ext>
            </a:extLst>
          </p:cNvPr>
          <p:cNvSpPr/>
          <p:nvPr/>
        </p:nvSpPr>
        <p:spPr>
          <a:xfrm>
            <a:off x="3436890" y="2899878"/>
            <a:ext cx="1488601" cy="561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Spring</a:t>
            </a:r>
            <a:r>
              <a:rPr kumimoji="1"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Cloud</a:t>
            </a:r>
            <a:r>
              <a:rPr kumimoji="1"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2021.0.3</a:t>
            </a:r>
            <a:endParaRPr kumimoji="1"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3" name="矩形 242">
            <a:extLst>
              <a:ext uri="{FF2B5EF4-FFF2-40B4-BE49-F238E27FC236}">
                <a16:creationId xmlns:a16="http://schemas.microsoft.com/office/drawing/2014/main" id="{CDFE2078-0B79-3A47-9835-B94CAF8465AF}"/>
              </a:ext>
            </a:extLst>
          </p:cNvPr>
          <p:cNvSpPr/>
          <p:nvPr/>
        </p:nvSpPr>
        <p:spPr>
          <a:xfrm>
            <a:off x="1734521" y="2910923"/>
            <a:ext cx="1488601" cy="561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JDK</a:t>
            </a:r>
            <a:r>
              <a:rPr kumimoji="1"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17</a:t>
            </a:r>
            <a:endParaRPr kumimoji="1"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6" name="矩形 245">
            <a:extLst>
              <a:ext uri="{FF2B5EF4-FFF2-40B4-BE49-F238E27FC236}">
                <a16:creationId xmlns:a16="http://schemas.microsoft.com/office/drawing/2014/main" id="{C886A341-8FE1-F548-9958-355EDC17415F}"/>
              </a:ext>
            </a:extLst>
          </p:cNvPr>
          <p:cNvSpPr/>
          <p:nvPr/>
        </p:nvSpPr>
        <p:spPr>
          <a:xfrm>
            <a:off x="5260038" y="2930577"/>
            <a:ext cx="1488601" cy="561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Spring</a:t>
            </a:r>
            <a:r>
              <a:rPr kumimoji="1"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Boot</a:t>
            </a:r>
            <a:r>
              <a:rPr kumimoji="1"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2.7.2</a:t>
            </a:r>
            <a:endParaRPr kumimoji="1"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7" name="矩形 246">
            <a:extLst>
              <a:ext uri="{FF2B5EF4-FFF2-40B4-BE49-F238E27FC236}">
                <a16:creationId xmlns:a16="http://schemas.microsoft.com/office/drawing/2014/main" id="{D1539C54-38BD-0547-99CA-2628875F4D13}"/>
              </a:ext>
            </a:extLst>
          </p:cNvPr>
          <p:cNvSpPr/>
          <p:nvPr/>
        </p:nvSpPr>
        <p:spPr>
          <a:xfrm>
            <a:off x="7034245" y="2910923"/>
            <a:ext cx="1488601" cy="561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Openfeign</a:t>
            </a:r>
            <a:endParaRPr kumimoji="1" lang="en-US" altLang="zh-CN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kumimoji="1"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3.1.3</a:t>
            </a:r>
            <a:endParaRPr kumimoji="1"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8" name="矩形 257">
            <a:extLst>
              <a:ext uri="{FF2B5EF4-FFF2-40B4-BE49-F238E27FC236}">
                <a16:creationId xmlns:a16="http://schemas.microsoft.com/office/drawing/2014/main" id="{975D2D2E-84D0-D349-A6BB-65DB12C34CDA}"/>
              </a:ext>
            </a:extLst>
          </p:cNvPr>
          <p:cNvSpPr/>
          <p:nvPr/>
        </p:nvSpPr>
        <p:spPr>
          <a:xfrm>
            <a:off x="8959979" y="2910923"/>
            <a:ext cx="1488601" cy="561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JPA</a:t>
            </a:r>
          </a:p>
          <a:p>
            <a:pPr algn="ctr"/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3.2.5</a:t>
            </a:r>
            <a:endParaRPr kumimoji="1"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9" name="矩形 258">
            <a:extLst>
              <a:ext uri="{FF2B5EF4-FFF2-40B4-BE49-F238E27FC236}">
                <a16:creationId xmlns:a16="http://schemas.microsoft.com/office/drawing/2014/main" id="{C5214A74-2715-9F4F-A99D-A459E63A5FFC}"/>
              </a:ext>
            </a:extLst>
          </p:cNvPr>
          <p:cNvSpPr/>
          <p:nvPr/>
        </p:nvSpPr>
        <p:spPr>
          <a:xfrm>
            <a:off x="1734264" y="3650483"/>
            <a:ext cx="1488601" cy="561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en" altLang="zh-CN" sz="16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hardingsphere</a:t>
            </a:r>
            <a:endParaRPr kumimoji="1"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0" name="矩形 259">
            <a:extLst>
              <a:ext uri="{FF2B5EF4-FFF2-40B4-BE49-F238E27FC236}">
                <a16:creationId xmlns:a16="http://schemas.microsoft.com/office/drawing/2014/main" id="{5FFB3E2B-C470-8F42-84A8-9936CB91FBDD}"/>
              </a:ext>
            </a:extLst>
          </p:cNvPr>
          <p:cNvSpPr/>
          <p:nvPr/>
        </p:nvSpPr>
        <p:spPr>
          <a:xfrm>
            <a:off x="3436633" y="3665232"/>
            <a:ext cx="1488601" cy="561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" altLang="zh-CN" sz="16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HikariCP</a:t>
            </a:r>
            <a:endParaRPr kumimoji="1"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1" name="矩形 260">
            <a:extLst>
              <a:ext uri="{FF2B5EF4-FFF2-40B4-BE49-F238E27FC236}">
                <a16:creationId xmlns:a16="http://schemas.microsoft.com/office/drawing/2014/main" id="{B9423776-1512-854E-A901-AD8C661A45B6}"/>
              </a:ext>
            </a:extLst>
          </p:cNvPr>
          <p:cNvSpPr/>
          <p:nvPr/>
        </p:nvSpPr>
        <p:spPr>
          <a:xfrm>
            <a:off x="5259781" y="3650483"/>
            <a:ext cx="1488601" cy="561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en" altLang="zh-CN" sz="16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utool</a:t>
            </a:r>
            <a:endParaRPr kumimoji="1"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2" name="矩形 261">
            <a:extLst>
              <a:ext uri="{FF2B5EF4-FFF2-40B4-BE49-F238E27FC236}">
                <a16:creationId xmlns:a16="http://schemas.microsoft.com/office/drawing/2014/main" id="{F4EBD4EC-30E1-7041-8BEF-19422236427D}"/>
              </a:ext>
            </a:extLst>
          </p:cNvPr>
          <p:cNvSpPr/>
          <p:nvPr/>
        </p:nvSpPr>
        <p:spPr>
          <a:xfrm>
            <a:off x="7045205" y="3648008"/>
            <a:ext cx="1488601" cy="561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" altLang="zh-CN" sz="16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Mapstruct</a:t>
            </a:r>
            <a:endParaRPr kumimoji="1"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3" name="矩形 262">
            <a:extLst>
              <a:ext uri="{FF2B5EF4-FFF2-40B4-BE49-F238E27FC236}">
                <a16:creationId xmlns:a16="http://schemas.microsoft.com/office/drawing/2014/main" id="{806DE51B-8357-A44F-A8AB-ED660520C3F0}"/>
              </a:ext>
            </a:extLst>
          </p:cNvPr>
          <p:cNvSpPr/>
          <p:nvPr/>
        </p:nvSpPr>
        <p:spPr>
          <a:xfrm>
            <a:off x="8969135" y="3648008"/>
            <a:ext cx="1488601" cy="561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Redisson</a:t>
            </a:r>
            <a:endParaRPr kumimoji="1"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F9E64B0C-4C5B-EC49-AA4D-22F61297EB33}"/>
              </a:ext>
            </a:extLst>
          </p:cNvPr>
          <p:cNvSpPr txBox="1"/>
          <p:nvPr/>
        </p:nvSpPr>
        <p:spPr>
          <a:xfrm>
            <a:off x="1444679" y="2556341"/>
            <a:ext cx="723275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kumimoji="1" lang="zh-CN" altLang="en-US" sz="1400" dirty="0"/>
              <a:t>服务层</a:t>
            </a:r>
          </a:p>
        </p:txBody>
      </p:sp>
      <p:sp>
        <p:nvSpPr>
          <p:cNvPr id="264" name="文本框 263">
            <a:extLst>
              <a:ext uri="{FF2B5EF4-FFF2-40B4-BE49-F238E27FC236}">
                <a16:creationId xmlns:a16="http://schemas.microsoft.com/office/drawing/2014/main" id="{225D6CF0-BD9A-E141-89BE-94D8B9B1A3BA}"/>
              </a:ext>
            </a:extLst>
          </p:cNvPr>
          <p:cNvSpPr txBox="1"/>
          <p:nvPr/>
        </p:nvSpPr>
        <p:spPr>
          <a:xfrm>
            <a:off x="1395362" y="1806020"/>
            <a:ext cx="723275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kumimoji="1" lang="zh-CN" altLang="en-US" sz="1400" dirty="0"/>
              <a:t>网关层</a:t>
            </a:r>
          </a:p>
        </p:txBody>
      </p:sp>
      <p:sp>
        <p:nvSpPr>
          <p:cNvPr id="271" name="文本框 270">
            <a:extLst>
              <a:ext uri="{FF2B5EF4-FFF2-40B4-BE49-F238E27FC236}">
                <a16:creationId xmlns:a16="http://schemas.microsoft.com/office/drawing/2014/main" id="{7CFFFD38-D0B9-1945-A032-6790B4EFE763}"/>
              </a:ext>
            </a:extLst>
          </p:cNvPr>
          <p:cNvSpPr txBox="1"/>
          <p:nvPr/>
        </p:nvSpPr>
        <p:spPr>
          <a:xfrm>
            <a:off x="1458369" y="4597428"/>
            <a:ext cx="543739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kumimoji="1" lang="zh-CN" altLang="en-US" sz="1400" dirty="0"/>
              <a:t>存储</a:t>
            </a:r>
          </a:p>
        </p:txBody>
      </p:sp>
      <p:sp>
        <p:nvSpPr>
          <p:cNvPr id="272" name="矩形 271">
            <a:extLst>
              <a:ext uri="{FF2B5EF4-FFF2-40B4-BE49-F238E27FC236}">
                <a16:creationId xmlns:a16="http://schemas.microsoft.com/office/drawing/2014/main" id="{8FAE3F68-05DC-AD4B-BE34-B52BFBAB9CBD}"/>
              </a:ext>
            </a:extLst>
          </p:cNvPr>
          <p:cNvSpPr/>
          <p:nvPr/>
        </p:nvSpPr>
        <p:spPr>
          <a:xfrm>
            <a:off x="2302261" y="4753110"/>
            <a:ext cx="1488601" cy="561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OcenanBase</a:t>
            </a:r>
            <a:endParaRPr kumimoji="1"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3" name="矩形 272">
            <a:extLst>
              <a:ext uri="{FF2B5EF4-FFF2-40B4-BE49-F238E27FC236}">
                <a16:creationId xmlns:a16="http://schemas.microsoft.com/office/drawing/2014/main" id="{99B240C5-C3B8-654E-BBA9-E8820C0AB095}"/>
              </a:ext>
            </a:extLst>
          </p:cNvPr>
          <p:cNvSpPr/>
          <p:nvPr/>
        </p:nvSpPr>
        <p:spPr>
          <a:xfrm>
            <a:off x="4129813" y="4753110"/>
            <a:ext cx="1488601" cy="561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Redis6</a:t>
            </a:r>
            <a:endParaRPr kumimoji="1"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4" name="矩形 273">
            <a:extLst>
              <a:ext uri="{FF2B5EF4-FFF2-40B4-BE49-F238E27FC236}">
                <a16:creationId xmlns:a16="http://schemas.microsoft.com/office/drawing/2014/main" id="{9117B78E-53A6-A345-AD56-4F96B28DE753}"/>
              </a:ext>
            </a:extLst>
          </p:cNvPr>
          <p:cNvSpPr/>
          <p:nvPr/>
        </p:nvSpPr>
        <p:spPr>
          <a:xfrm>
            <a:off x="6028816" y="4753110"/>
            <a:ext cx="1588046" cy="561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Elasticsearch7</a:t>
            </a:r>
            <a:endParaRPr kumimoji="1"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5" name="矩形 274">
            <a:extLst>
              <a:ext uri="{FF2B5EF4-FFF2-40B4-BE49-F238E27FC236}">
                <a16:creationId xmlns:a16="http://schemas.microsoft.com/office/drawing/2014/main" id="{7752B64A-A870-FA4B-B967-A7F0D382FD39}"/>
              </a:ext>
            </a:extLst>
          </p:cNvPr>
          <p:cNvSpPr/>
          <p:nvPr/>
        </p:nvSpPr>
        <p:spPr>
          <a:xfrm>
            <a:off x="8060544" y="4753110"/>
            <a:ext cx="1588046" cy="561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OSS</a:t>
            </a:r>
            <a:endParaRPr kumimoji="1"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6" name="矩形 275">
            <a:extLst>
              <a:ext uri="{FF2B5EF4-FFF2-40B4-BE49-F238E27FC236}">
                <a16:creationId xmlns:a16="http://schemas.microsoft.com/office/drawing/2014/main" id="{0A679775-2824-ED42-B585-469B178B633B}"/>
              </a:ext>
            </a:extLst>
          </p:cNvPr>
          <p:cNvSpPr/>
          <p:nvPr/>
        </p:nvSpPr>
        <p:spPr>
          <a:xfrm>
            <a:off x="81508" y="5657950"/>
            <a:ext cx="11900189" cy="956503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77" name="文本框 276">
            <a:extLst>
              <a:ext uri="{FF2B5EF4-FFF2-40B4-BE49-F238E27FC236}">
                <a16:creationId xmlns:a16="http://schemas.microsoft.com/office/drawing/2014/main" id="{D44AC8E2-BBA8-8843-AE8A-39B69E02A766}"/>
              </a:ext>
            </a:extLst>
          </p:cNvPr>
          <p:cNvSpPr txBox="1"/>
          <p:nvPr/>
        </p:nvSpPr>
        <p:spPr>
          <a:xfrm>
            <a:off x="20022" y="5624225"/>
            <a:ext cx="532518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kumimoji="1" lang="en-US" altLang="zh-CN" sz="1400" dirty="0"/>
              <a:t>CICD</a:t>
            </a:r>
            <a:endParaRPr kumimoji="1" lang="zh-CN" altLang="en-US" sz="1400" dirty="0"/>
          </a:p>
        </p:txBody>
      </p:sp>
      <p:sp>
        <p:nvSpPr>
          <p:cNvPr id="281" name="矩形 280">
            <a:extLst>
              <a:ext uri="{FF2B5EF4-FFF2-40B4-BE49-F238E27FC236}">
                <a16:creationId xmlns:a16="http://schemas.microsoft.com/office/drawing/2014/main" id="{E42FB233-3F70-9341-AA15-2A0841C711EA}"/>
              </a:ext>
            </a:extLst>
          </p:cNvPr>
          <p:cNvSpPr/>
          <p:nvPr/>
        </p:nvSpPr>
        <p:spPr>
          <a:xfrm>
            <a:off x="2155168" y="5754628"/>
            <a:ext cx="1188448" cy="73817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282" name="文本框 281">
            <a:extLst>
              <a:ext uri="{FF2B5EF4-FFF2-40B4-BE49-F238E27FC236}">
                <a16:creationId xmlns:a16="http://schemas.microsoft.com/office/drawing/2014/main" id="{AF5E249B-4292-DC4C-873E-B7858315BFB5}"/>
              </a:ext>
            </a:extLst>
          </p:cNvPr>
          <p:cNvSpPr txBox="1"/>
          <p:nvPr/>
        </p:nvSpPr>
        <p:spPr>
          <a:xfrm>
            <a:off x="2155168" y="5754629"/>
            <a:ext cx="1188448" cy="246221"/>
          </a:xfrm>
          <a:prstGeom prst="rect">
            <a:avLst/>
          </a:prstGeom>
          <a:solidFill>
            <a:srgbClr val="FFE1E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zh-CN" altLang="en-US" sz="1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单元测试</a:t>
            </a:r>
          </a:p>
        </p:txBody>
      </p:sp>
      <p:sp>
        <p:nvSpPr>
          <p:cNvPr id="283" name="文本框 282">
            <a:extLst>
              <a:ext uri="{FF2B5EF4-FFF2-40B4-BE49-F238E27FC236}">
                <a16:creationId xmlns:a16="http://schemas.microsoft.com/office/drawing/2014/main" id="{606BDE6D-750D-E64C-9848-57110CAD48E9}"/>
              </a:ext>
            </a:extLst>
          </p:cNvPr>
          <p:cNvSpPr txBox="1"/>
          <p:nvPr/>
        </p:nvSpPr>
        <p:spPr>
          <a:xfrm>
            <a:off x="2359701" y="6060456"/>
            <a:ext cx="779380" cy="33855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Spock</a:t>
            </a:r>
            <a:endParaRPr kumimoji="1"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8" name="矩形 277">
            <a:extLst>
              <a:ext uri="{FF2B5EF4-FFF2-40B4-BE49-F238E27FC236}">
                <a16:creationId xmlns:a16="http://schemas.microsoft.com/office/drawing/2014/main" id="{F789E41C-CAAA-974A-81FF-F9654C9F5DAB}"/>
              </a:ext>
            </a:extLst>
          </p:cNvPr>
          <p:cNvSpPr/>
          <p:nvPr/>
        </p:nvSpPr>
        <p:spPr>
          <a:xfrm>
            <a:off x="781905" y="5754629"/>
            <a:ext cx="1188448" cy="73817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279" name="文本框 278">
            <a:extLst>
              <a:ext uri="{FF2B5EF4-FFF2-40B4-BE49-F238E27FC236}">
                <a16:creationId xmlns:a16="http://schemas.microsoft.com/office/drawing/2014/main" id="{CBE12BA3-0E7A-3E4C-BD8E-56C76B9EA522}"/>
              </a:ext>
            </a:extLst>
          </p:cNvPr>
          <p:cNvSpPr txBox="1"/>
          <p:nvPr/>
        </p:nvSpPr>
        <p:spPr>
          <a:xfrm>
            <a:off x="781905" y="5754630"/>
            <a:ext cx="1188448" cy="246221"/>
          </a:xfrm>
          <a:prstGeom prst="rect">
            <a:avLst/>
          </a:prstGeom>
          <a:solidFill>
            <a:srgbClr val="FFE1E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zh-CN" altLang="en-US" sz="1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代码管理</a:t>
            </a:r>
          </a:p>
        </p:txBody>
      </p:sp>
      <p:sp>
        <p:nvSpPr>
          <p:cNvPr id="284" name="文本框 283">
            <a:extLst>
              <a:ext uri="{FF2B5EF4-FFF2-40B4-BE49-F238E27FC236}">
                <a16:creationId xmlns:a16="http://schemas.microsoft.com/office/drawing/2014/main" id="{C72F43D7-62A5-EB47-B703-96D1D89EA483}"/>
              </a:ext>
            </a:extLst>
          </p:cNvPr>
          <p:cNvSpPr txBox="1"/>
          <p:nvPr/>
        </p:nvSpPr>
        <p:spPr>
          <a:xfrm>
            <a:off x="1079153" y="6062161"/>
            <a:ext cx="468398" cy="33855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Git</a:t>
            </a:r>
            <a:endParaRPr kumimoji="1"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5" name="矩形 284">
            <a:extLst>
              <a:ext uri="{FF2B5EF4-FFF2-40B4-BE49-F238E27FC236}">
                <a16:creationId xmlns:a16="http://schemas.microsoft.com/office/drawing/2014/main" id="{B587D155-54BF-C04E-A17C-55066DCA00C6}"/>
              </a:ext>
            </a:extLst>
          </p:cNvPr>
          <p:cNvSpPr/>
          <p:nvPr/>
        </p:nvSpPr>
        <p:spPr>
          <a:xfrm>
            <a:off x="3552343" y="5754627"/>
            <a:ext cx="1188448" cy="73817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286" name="文本框 285">
            <a:extLst>
              <a:ext uri="{FF2B5EF4-FFF2-40B4-BE49-F238E27FC236}">
                <a16:creationId xmlns:a16="http://schemas.microsoft.com/office/drawing/2014/main" id="{EDA5C077-0D9A-6445-BEC8-B254B714FA50}"/>
              </a:ext>
            </a:extLst>
          </p:cNvPr>
          <p:cNvSpPr txBox="1"/>
          <p:nvPr/>
        </p:nvSpPr>
        <p:spPr>
          <a:xfrm>
            <a:off x="3552343" y="5754628"/>
            <a:ext cx="1188448" cy="246221"/>
          </a:xfrm>
          <a:prstGeom prst="rect">
            <a:avLst/>
          </a:prstGeom>
          <a:solidFill>
            <a:srgbClr val="FFE1E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zh-CN" sz="1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Lib</a:t>
            </a:r>
            <a:r>
              <a:rPr kumimoji="1" lang="zh-CN" altLang="en-US" sz="1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管理</a:t>
            </a:r>
          </a:p>
        </p:txBody>
      </p:sp>
      <p:sp>
        <p:nvSpPr>
          <p:cNvPr id="287" name="文本框 286">
            <a:extLst>
              <a:ext uri="{FF2B5EF4-FFF2-40B4-BE49-F238E27FC236}">
                <a16:creationId xmlns:a16="http://schemas.microsoft.com/office/drawing/2014/main" id="{66AC4EA4-2DBC-FD40-92AF-2A0FCE1E04B9}"/>
              </a:ext>
            </a:extLst>
          </p:cNvPr>
          <p:cNvSpPr txBox="1"/>
          <p:nvPr/>
        </p:nvSpPr>
        <p:spPr>
          <a:xfrm>
            <a:off x="3715685" y="6055690"/>
            <a:ext cx="848630" cy="33855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Maven</a:t>
            </a:r>
            <a:endParaRPr kumimoji="1"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8" name="矩形 287">
            <a:extLst>
              <a:ext uri="{FF2B5EF4-FFF2-40B4-BE49-F238E27FC236}">
                <a16:creationId xmlns:a16="http://schemas.microsoft.com/office/drawing/2014/main" id="{51A29D2F-C39C-8B44-A9BC-DC7F55B772A8}"/>
              </a:ext>
            </a:extLst>
          </p:cNvPr>
          <p:cNvSpPr/>
          <p:nvPr/>
        </p:nvSpPr>
        <p:spPr>
          <a:xfrm>
            <a:off x="6274814" y="5754458"/>
            <a:ext cx="1188448" cy="73817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9" name="文本框 288">
            <a:extLst>
              <a:ext uri="{FF2B5EF4-FFF2-40B4-BE49-F238E27FC236}">
                <a16:creationId xmlns:a16="http://schemas.microsoft.com/office/drawing/2014/main" id="{B71852BD-702C-2547-A411-7510604BBB73}"/>
              </a:ext>
            </a:extLst>
          </p:cNvPr>
          <p:cNvSpPr txBox="1"/>
          <p:nvPr/>
        </p:nvSpPr>
        <p:spPr>
          <a:xfrm>
            <a:off x="6274814" y="5754459"/>
            <a:ext cx="1188448" cy="246221"/>
          </a:xfrm>
          <a:prstGeom prst="rect">
            <a:avLst/>
          </a:prstGeom>
          <a:solidFill>
            <a:srgbClr val="FFE1E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zh-CN" altLang="en-US" sz="1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代码扫描</a:t>
            </a:r>
          </a:p>
        </p:txBody>
      </p:sp>
      <p:sp>
        <p:nvSpPr>
          <p:cNvPr id="290" name="文本框 289">
            <a:extLst>
              <a:ext uri="{FF2B5EF4-FFF2-40B4-BE49-F238E27FC236}">
                <a16:creationId xmlns:a16="http://schemas.microsoft.com/office/drawing/2014/main" id="{112C8427-D8FA-E843-B82E-975A531DDF4C}"/>
              </a:ext>
            </a:extLst>
          </p:cNvPr>
          <p:cNvSpPr txBox="1"/>
          <p:nvPr/>
        </p:nvSpPr>
        <p:spPr>
          <a:xfrm>
            <a:off x="6501906" y="6055521"/>
            <a:ext cx="752129" cy="33855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Sonar</a:t>
            </a:r>
            <a:endParaRPr kumimoji="1"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1" name="矩形 290">
            <a:extLst>
              <a:ext uri="{FF2B5EF4-FFF2-40B4-BE49-F238E27FC236}">
                <a16:creationId xmlns:a16="http://schemas.microsoft.com/office/drawing/2014/main" id="{CDEF8DC9-351D-5341-BA3E-4751E14F91DC}"/>
              </a:ext>
            </a:extLst>
          </p:cNvPr>
          <p:cNvSpPr/>
          <p:nvPr/>
        </p:nvSpPr>
        <p:spPr>
          <a:xfrm>
            <a:off x="7651541" y="5745189"/>
            <a:ext cx="1188448" cy="73817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292" name="文本框 291">
            <a:extLst>
              <a:ext uri="{FF2B5EF4-FFF2-40B4-BE49-F238E27FC236}">
                <a16:creationId xmlns:a16="http://schemas.microsoft.com/office/drawing/2014/main" id="{6C120918-72F5-9A43-B073-C3649078CFE2}"/>
              </a:ext>
            </a:extLst>
          </p:cNvPr>
          <p:cNvSpPr txBox="1"/>
          <p:nvPr/>
        </p:nvSpPr>
        <p:spPr>
          <a:xfrm>
            <a:off x="7620545" y="5745190"/>
            <a:ext cx="1235516" cy="246221"/>
          </a:xfrm>
          <a:prstGeom prst="rect">
            <a:avLst/>
          </a:prstGeom>
          <a:solidFill>
            <a:srgbClr val="FFE1E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zh-CN" altLang="en-US" sz="1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镜像管理</a:t>
            </a:r>
          </a:p>
        </p:txBody>
      </p:sp>
      <p:sp>
        <p:nvSpPr>
          <p:cNvPr id="293" name="文本框 292">
            <a:extLst>
              <a:ext uri="{FF2B5EF4-FFF2-40B4-BE49-F238E27FC236}">
                <a16:creationId xmlns:a16="http://schemas.microsoft.com/office/drawing/2014/main" id="{1672B75D-290C-3C4D-AB79-A1D359C3E459}"/>
              </a:ext>
            </a:extLst>
          </p:cNvPr>
          <p:cNvSpPr txBox="1"/>
          <p:nvPr/>
        </p:nvSpPr>
        <p:spPr>
          <a:xfrm>
            <a:off x="7606802" y="6046252"/>
            <a:ext cx="1233799" cy="3385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Artifactory</a:t>
            </a:r>
            <a:endParaRPr kumimoji="1"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4" name="矩形 293">
            <a:extLst>
              <a:ext uri="{FF2B5EF4-FFF2-40B4-BE49-F238E27FC236}">
                <a16:creationId xmlns:a16="http://schemas.microsoft.com/office/drawing/2014/main" id="{BB77CD32-4ED5-1247-82C0-716DACCA6DBF}"/>
              </a:ext>
            </a:extLst>
          </p:cNvPr>
          <p:cNvSpPr/>
          <p:nvPr/>
        </p:nvSpPr>
        <p:spPr>
          <a:xfrm>
            <a:off x="9044961" y="5754457"/>
            <a:ext cx="1188448" cy="73817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5" name="文本框 294">
            <a:extLst>
              <a:ext uri="{FF2B5EF4-FFF2-40B4-BE49-F238E27FC236}">
                <a16:creationId xmlns:a16="http://schemas.microsoft.com/office/drawing/2014/main" id="{C0DE82FC-E841-B747-B283-5AB4B9FCE257}"/>
              </a:ext>
            </a:extLst>
          </p:cNvPr>
          <p:cNvSpPr txBox="1"/>
          <p:nvPr/>
        </p:nvSpPr>
        <p:spPr>
          <a:xfrm>
            <a:off x="9044961" y="5754458"/>
            <a:ext cx="1188448" cy="246221"/>
          </a:xfrm>
          <a:prstGeom prst="rect">
            <a:avLst/>
          </a:prstGeom>
          <a:solidFill>
            <a:srgbClr val="FFE1E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zh-CN" altLang="en-US" sz="1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容器</a:t>
            </a:r>
          </a:p>
        </p:txBody>
      </p:sp>
      <p:sp>
        <p:nvSpPr>
          <p:cNvPr id="296" name="文本框 295">
            <a:extLst>
              <a:ext uri="{FF2B5EF4-FFF2-40B4-BE49-F238E27FC236}">
                <a16:creationId xmlns:a16="http://schemas.microsoft.com/office/drawing/2014/main" id="{AF74278E-B49E-4446-AF94-603582AF5096}"/>
              </a:ext>
            </a:extLst>
          </p:cNvPr>
          <p:cNvSpPr txBox="1"/>
          <p:nvPr/>
        </p:nvSpPr>
        <p:spPr>
          <a:xfrm>
            <a:off x="9264133" y="6055520"/>
            <a:ext cx="767967" cy="33855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600" dirty="0">
                <a:solidFill>
                  <a:schemeClr val="bg1"/>
                </a:solidFill>
              </a:rPr>
              <a:t>Docker</a:t>
            </a:r>
            <a:endParaRPr kumimoji="1" lang="zh-CN" altLang="en-US" sz="1600" dirty="0">
              <a:solidFill>
                <a:schemeClr val="bg1"/>
              </a:solidFill>
            </a:endParaRPr>
          </a:p>
        </p:txBody>
      </p:sp>
      <p:sp>
        <p:nvSpPr>
          <p:cNvPr id="297" name="矩形 296">
            <a:extLst>
              <a:ext uri="{FF2B5EF4-FFF2-40B4-BE49-F238E27FC236}">
                <a16:creationId xmlns:a16="http://schemas.microsoft.com/office/drawing/2014/main" id="{FDA55853-C609-C14E-BC27-311F3EC00948}"/>
              </a:ext>
            </a:extLst>
          </p:cNvPr>
          <p:cNvSpPr/>
          <p:nvPr/>
        </p:nvSpPr>
        <p:spPr>
          <a:xfrm>
            <a:off x="10427130" y="5754456"/>
            <a:ext cx="1188448" cy="73817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8" name="文本框 297">
            <a:extLst>
              <a:ext uri="{FF2B5EF4-FFF2-40B4-BE49-F238E27FC236}">
                <a16:creationId xmlns:a16="http://schemas.microsoft.com/office/drawing/2014/main" id="{8E89ED50-E1F4-4A4D-9F3E-154FB0418228}"/>
              </a:ext>
            </a:extLst>
          </p:cNvPr>
          <p:cNvSpPr txBox="1"/>
          <p:nvPr/>
        </p:nvSpPr>
        <p:spPr>
          <a:xfrm>
            <a:off x="10427130" y="5754457"/>
            <a:ext cx="1188448" cy="246221"/>
          </a:xfrm>
          <a:prstGeom prst="rect">
            <a:avLst/>
          </a:prstGeom>
          <a:solidFill>
            <a:srgbClr val="FFE1E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zh-CN" altLang="en-US" sz="1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容器编排</a:t>
            </a:r>
          </a:p>
        </p:txBody>
      </p:sp>
      <p:sp>
        <p:nvSpPr>
          <p:cNvPr id="299" name="文本框 298">
            <a:extLst>
              <a:ext uri="{FF2B5EF4-FFF2-40B4-BE49-F238E27FC236}">
                <a16:creationId xmlns:a16="http://schemas.microsoft.com/office/drawing/2014/main" id="{9ABEB8D2-6226-E54D-9D4B-B918EFBE6F81}"/>
              </a:ext>
            </a:extLst>
          </p:cNvPr>
          <p:cNvSpPr txBox="1"/>
          <p:nvPr/>
        </p:nvSpPr>
        <p:spPr>
          <a:xfrm>
            <a:off x="10469692" y="6037740"/>
            <a:ext cx="1136785" cy="3385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600" dirty="0">
                <a:solidFill>
                  <a:schemeClr val="bg1"/>
                </a:solidFill>
              </a:rPr>
              <a:t>Kubernetes</a:t>
            </a:r>
            <a:endParaRPr kumimoji="1" lang="zh-CN" altLang="en-US" sz="1600" dirty="0">
              <a:solidFill>
                <a:schemeClr val="bg1"/>
              </a:solidFill>
            </a:endParaRPr>
          </a:p>
        </p:txBody>
      </p:sp>
      <p:sp>
        <p:nvSpPr>
          <p:cNvPr id="301" name="矩形 300">
            <a:extLst>
              <a:ext uri="{FF2B5EF4-FFF2-40B4-BE49-F238E27FC236}">
                <a16:creationId xmlns:a16="http://schemas.microsoft.com/office/drawing/2014/main" id="{220993B3-BDA2-004B-8694-ED9D7065E12A}"/>
              </a:ext>
            </a:extLst>
          </p:cNvPr>
          <p:cNvSpPr/>
          <p:nvPr/>
        </p:nvSpPr>
        <p:spPr>
          <a:xfrm>
            <a:off x="4913495" y="5754455"/>
            <a:ext cx="1188448" cy="73817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302" name="文本框 301">
            <a:extLst>
              <a:ext uri="{FF2B5EF4-FFF2-40B4-BE49-F238E27FC236}">
                <a16:creationId xmlns:a16="http://schemas.microsoft.com/office/drawing/2014/main" id="{550B2B8F-2BB5-E24F-A82F-39943448B0A7}"/>
              </a:ext>
            </a:extLst>
          </p:cNvPr>
          <p:cNvSpPr txBox="1"/>
          <p:nvPr/>
        </p:nvSpPr>
        <p:spPr>
          <a:xfrm>
            <a:off x="4913495" y="5754456"/>
            <a:ext cx="1188448" cy="246221"/>
          </a:xfrm>
          <a:prstGeom prst="rect">
            <a:avLst/>
          </a:prstGeom>
          <a:solidFill>
            <a:srgbClr val="FFE1E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zh-CN" altLang="en-US" sz="1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流水线</a:t>
            </a:r>
          </a:p>
        </p:txBody>
      </p:sp>
      <p:sp>
        <p:nvSpPr>
          <p:cNvPr id="303" name="文本框 302">
            <a:extLst>
              <a:ext uri="{FF2B5EF4-FFF2-40B4-BE49-F238E27FC236}">
                <a16:creationId xmlns:a16="http://schemas.microsoft.com/office/drawing/2014/main" id="{8543A460-0CDD-0B44-8155-9DD667F03F6E}"/>
              </a:ext>
            </a:extLst>
          </p:cNvPr>
          <p:cNvSpPr txBox="1"/>
          <p:nvPr/>
        </p:nvSpPr>
        <p:spPr>
          <a:xfrm>
            <a:off x="4909484" y="6055518"/>
            <a:ext cx="1183337" cy="33855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IT</a:t>
            </a:r>
            <a:r>
              <a:rPr kumimoji="1"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运营平台</a:t>
            </a:r>
          </a:p>
        </p:txBody>
      </p:sp>
      <p:sp>
        <p:nvSpPr>
          <p:cNvPr id="304" name="文本框 303">
            <a:extLst>
              <a:ext uri="{FF2B5EF4-FFF2-40B4-BE49-F238E27FC236}">
                <a16:creationId xmlns:a16="http://schemas.microsoft.com/office/drawing/2014/main" id="{37F2EF11-4D73-D846-BA65-BF6F60671F0C}"/>
              </a:ext>
            </a:extLst>
          </p:cNvPr>
          <p:cNvSpPr txBox="1"/>
          <p:nvPr/>
        </p:nvSpPr>
        <p:spPr>
          <a:xfrm>
            <a:off x="10750366" y="994217"/>
            <a:ext cx="902811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kumimoji="1" lang="zh-CN" altLang="en-US" sz="1400" dirty="0"/>
              <a:t>基础服务</a:t>
            </a:r>
          </a:p>
        </p:txBody>
      </p:sp>
      <p:sp>
        <p:nvSpPr>
          <p:cNvPr id="311" name="矩形 310">
            <a:extLst>
              <a:ext uri="{FF2B5EF4-FFF2-40B4-BE49-F238E27FC236}">
                <a16:creationId xmlns:a16="http://schemas.microsoft.com/office/drawing/2014/main" id="{B7031AB9-A16B-1D4C-991E-F97B159D4008}"/>
              </a:ext>
            </a:extLst>
          </p:cNvPr>
          <p:cNvSpPr/>
          <p:nvPr/>
        </p:nvSpPr>
        <p:spPr>
          <a:xfrm>
            <a:off x="10909650" y="5028533"/>
            <a:ext cx="967482" cy="370236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ELK</a:t>
            </a:r>
            <a:endParaRPr kumimoji="1"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2" name="矩形 311">
            <a:extLst>
              <a:ext uri="{FF2B5EF4-FFF2-40B4-BE49-F238E27FC236}">
                <a16:creationId xmlns:a16="http://schemas.microsoft.com/office/drawing/2014/main" id="{99B423D4-C50C-5C4A-96A2-FEE8FB4981A8}"/>
              </a:ext>
            </a:extLst>
          </p:cNvPr>
          <p:cNvSpPr/>
          <p:nvPr/>
        </p:nvSpPr>
        <p:spPr>
          <a:xfrm>
            <a:off x="10925148" y="4508674"/>
            <a:ext cx="967482" cy="37023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观测云</a:t>
            </a:r>
          </a:p>
        </p:txBody>
      </p:sp>
      <p:sp>
        <p:nvSpPr>
          <p:cNvPr id="313" name="矩形 312">
            <a:extLst>
              <a:ext uri="{FF2B5EF4-FFF2-40B4-BE49-F238E27FC236}">
                <a16:creationId xmlns:a16="http://schemas.microsoft.com/office/drawing/2014/main" id="{E8CF2DF9-21FC-A543-AFE3-EAAC60B7FEAC}"/>
              </a:ext>
            </a:extLst>
          </p:cNvPr>
          <p:cNvSpPr/>
          <p:nvPr/>
        </p:nvSpPr>
        <p:spPr>
          <a:xfrm>
            <a:off x="10922564" y="3964041"/>
            <a:ext cx="967482" cy="37023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xxl</a:t>
            </a:r>
            <a:r>
              <a:rPr kumimoji="1"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-job</a:t>
            </a:r>
            <a:endParaRPr kumimoji="1"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4" name="矩形 313">
            <a:extLst>
              <a:ext uri="{FF2B5EF4-FFF2-40B4-BE49-F238E27FC236}">
                <a16:creationId xmlns:a16="http://schemas.microsoft.com/office/drawing/2014/main" id="{16DC2F28-C1C5-074B-A033-A1C187DC4A30}"/>
              </a:ext>
            </a:extLst>
          </p:cNvPr>
          <p:cNvSpPr/>
          <p:nvPr/>
        </p:nvSpPr>
        <p:spPr>
          <a:xfrm>
            <a:off x="10907066" y="3415348"/>
            <a:ext cx="967482" cy="37023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kafka</a:t>
            </a:r>
            <a:endParaRPr kumimoji="1"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5" name="矩形 314">
            <a:extLst>
              <a:ext uri="{FF2B5EF4-FFF2-40B4-BE49-F238E27FC236}">
                <a16:creationId xmlns:a16="http://schemas.microsoft.com/office/drawing/2014/main" id="{431B51F1-0392-E54F-8F0D-10F89022C1D1}"/>
              </a:ext>
            </a:extLst>
          </p:cNvPr>
          <p:cNvSpPr/>
          <p:nvPr/>
        </p:nvSpPr>
        <p:spPr>
          <a:xfrm>
            <a:off x="10901905" y="2859994"/>
            <a:ext cx="967482" cy="37023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RocketMQ</a:t>
            </a:r>
            <a:endParaRPr kumimoji="1"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6" name="矩形 315">
            <a:extLst>
              <a:ext uri="{FF2B5EF4-FFF2-40B4-BE49-F238E27FC236}">
                <a16:creationId xmlns:a16="http://schemas.microsoft.com/office/drawing/2014/main" id="{BB901FFD-121F-BA48-85BD-77AB72DB79CA}"/>
              </a:ext>
            </a:extLst>
          </p:cNvPr>
          <p:cNvSpPr/>
          <p:nvPr/>
        </p:nvSpPr>
        <p:spPr>
          <a:xfrm>
            <a:off x="10886407" y="2299757"/>
            <a:ext cx="967482" cy="37023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k8sservice</a:t>
            </a:r>
            <a:endParaRPr kumimoji="1"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7" name="矩形 316">
            <a:extLst>
              <a:ext uri="{FF2B5EF4-FFF2-40B4-BE49-F238E27FC236}">
                <a16:creationId xmlns:a16="http://schemas.microsoft.com/office/drawing/2014/main" id="{FF6157CD-6AD3-774F-A6A0-97DB360618CC}"/>
              </a:ext>
            </a:extLst>
          </p:cNvPr>
          <p:cNvSpPr/>
          <p:nvPr/>
        </p:nvSpPr>
        <p:spPr>
          <a:xfrm>
            <a:off x="10897330" y="1785493"/>
            <a:ext cx="967482" cy="37023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eureka</a:t>
            </a:r>
            <a:endParaRPr kumimoji="1"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8" name="矩形 317">
            <a:extLst>
              <a:ext uri="{FF2B5EF4-FFF2-40B4-BE49-F238E27FC236}">
                <a16:creationId xmlns:a16="http://schemas.microsoft.com/office/drawing/2014/main" id="{B8C09818-11DD-344E-8FEC-C27342153C4B}"/>
              </a:ext>
            </a:extLst>
          </p:cNvPr>
          <p:cNvSpPr/>
          <p:nvPr/>
        </p:nvSpPr>
        <p:spPr>
          <a:xfrm>
            <a:off x="10876070" y="1301994"/>
            <a:ext cx="967482" cy="37023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apollo</a:t>
            </a:r>
            <a:endParaRPr kumimoji="1"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9" name="文本框 318">
            <a:extLst>
              <a:ext uri="{FF2B5EF4-FFF2-40B4-BE49-F238E27FC236}">
                <a16:creationId xmlns:a16="http://schemas.microsoft.com/office/drawing/2014/main" id="{0905999E-B19A-F54D-811B-B9C9CC2C3B87}"/>
              </a:ext>
            </a:extLst>
          </p:cNvPr>
          <p:cNvSpPr txBox="1"/>
          <p:nvPr/>
        </p:nvSpPr>
        <p:spPr>
          <a:xfrm>
            <a:off x="55424" y="1039369"/>
            <a:ext cx="936475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kumimoji="1" lang="zh-CN" altLang="en-US" sz="1400" dirty="0"/>
              <a:t>技术规范</a:t>
            </a:r>
          </a:p>
        </p:txBody>
      </p:sp>
      <p:sp>
        <p:nvSpPr>
          <p:cNvPr id="320" name="矩形 319">
            <a:extLst>
              <a:ext uri="{FF2B5EF4-FFF2-40B4-BE49-F238E27FC236}">
                <a16:creationId xmlns:a16="http://schemas.microsoft.com/office/drawing/2014/main" id="{27B85321-2393-3B42-807F-823085C2695E}"/>
              </a:ext>
            </a:extLst>
          </p:cNvPr>
          <p:cNvSpPr/>
          <p:nvPr/>
        </p:nvSpPr>
        <p:spPr>
          <a:xfrm>
            <a:off x="175266" y="1360589"/>
            <a:ext cx="1037854" cy="37846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工程规范</a:t>
            </a:r>
          </a:p>
        </p:txBody>
      </p:sp>
      <p:sp>
        <p:nvSpPr>
          <p:cNvPr id="321" name="矩形 320">
            <a:extLst>
              <a:ext uri="{FF2B5EF4-FFF2-40B4-BE49-F238E27FC236}">
                <a16:creationId xmlns:a16="http://schemas.microsoft.com/office/drawing/2014/main" id="{B1B40AB5-C09B-A843-A4DE-EF01067A3491}"/>
              </a:ext>
            </a:extLst>
          </p:cNvPr>
          <p:cNvSpPr/>
          <p:nvPr/>
        </p:nvSpPr>
        <p:spPr>
          <a:xfrm>
            <a:off x="150717" y="1855497"/>
            <a:ext cx="1037854" cy="37846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代码风格</a:t>
            </a:r>
          </a:p>
        </p:txBody>
      </p:sp>
      <p:sp>
        <p:nvSpPr>
          <p:cNvPr id="322" name="矩形 321">
            <a:extLst>
              <a:ext uri="{FF2B5EF4-FFF2-40B4-BE49-F238E27FC236}">
                <a16:creationId xmlns:a16="http://schemas.microsoft.com/office/drawing/2014/main" id="{4688A715-0D16-8047-81F6-E1A52995D85F}"/>
              </a:ext>
            </a:extLst>
          </p:cNvPr>
          <p:cNvSpPr/>
          <p:nvPr/>
        </p:nvSpPr>
        <p:spPr>
          <a:xfrm>
            <a:off x="150717" y="2373166"/>
            <a:ext cx="1037854" cy="37846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质量规范</a:t>
            </a:r>
          </a:p>
        </p:txBody>
      </p:sp>
      <p:sp>
        <p:nvSpPr>
          <p:cNvPr id="323" name="矩形 322">
            <a:extLst>
              <a:ext uri="{FF2B5EF4-FFF2-40B4-BE49-F238E27FC236}">
                <a16:creationId xmlns:a16="http://schemas.microsoft.com/office/drawing/2014/main" id="{64439402-8643-6C45-AF94-F5F506B1C235}"/>
              </a:ext>
            </a:extLst>
          </p:cNvPr>
          <p:cNvSpPr/>
          <p:nvPr/>
        </p:nvSpPr>
        <p:spPr>
          <a:xfrm>
            <a:off x="160722" y="2879238"/>
            <a:ext cx="1037854" cy="37846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数据库规范</a:t>
            </a:r>
          </a:p>
        </p:txBody>
      </p:sp>
      <p:sp>
        <p:nvSpPr>
          <p:cNvPr id="324" name="矩形 323">
            <a:extLst>
              <a:ext uri="{FF2B5EF4-FFF2-40B4-BE49-F238E27FC236}">
                <a16:creationId xmlns:a16="http://schemas.microsoft.com/office/drawing/2014/main" id="{092A2522-7714-BE46-836B-A1736FDD730E}"/>
              </a:ext>
            </a:extLst>
          </p:cNvPr>
          <p:cNvSpPr/>
          <p:nvPr/>
        </p:nvSpPr>
        <p:spPr>
          <a:xfrm>
            <a:off x="149476" y="3391105"/>
            <a:ext cx="1037854" cy="37846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单测规范</a:t>
            </a:r>
          </a:p>
        </p:txBody>
      </p:sp>
      <p:sp>
        <p:nvSpPr>
          <p:cNvPr id="325" name="文本框 324">
            <a:extLst>
              <a:ext uri="{FF2B5EF4-FFF2-40B4-BE49-F238E27FC236}">
                <a16:creationId xmlns:a16="http://schemas.microsoft.com/office/drawing/2014/main" id="{6669B585-9CFC-564B-B202-22A774FFD9F7}"/>
              </a:ext>
            </a:extLst>
          </p:cNvPr>
          <p:cNvSpPr txBox="1"/>
          <p:nvPr/>
        </p:nvSpPr>
        <p:spPr>
          <a:xfrm>
            <a:off x="1605353" y="1051668"/>
            <a:ext cx="723275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kumimoji="1" lang="zh-CN" altLang="en-US" sz="1400" dirty="0"/>
              <a:t>小程序</a:t>
            </a:r>
          </a:p>
        </p:txBody>
      </p:sp>
      <p:sp>
        <p:nvSpPr>
          <p:cNvPr id="326" name="文本框 325">
            <a:extLst>
              <a:ext uri="{FF2B5EF4-FFF2-40B4-BE49-F238E27FC236}">
                <a16:creationId xmlns:a16="http://schemas.microsoft.com/office/drawing/2014/main" id="{582067F3-8922-1B46-ACD6-DFA379E0F5DF}"/>
              </a:ext>
            </a:extLst>
          </p:cNvPr>
          <p:cNvSpPr txBox="1"/>
          <p:nvPr/>
        </p:nvSpPr>
        <p:spPr>
          <a:xfrm>
            <a:off x="6126996" y="1064512"/>
            <a:ext cx="543739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kumimoji="1" lang="zh-CN" altLang="en-US" sz="1400" dirty="0"/>
              <a:t>后台</a:t>
            </a:r>
          </a:p>
        </p:txBody>
      </p:sp>
      <p:sp>
        <p:nvSpPr>
          <p:cNvPr id="327" name="矩形 326">
            <a:extLst>
              <a:ext uri="{FF2B5EF4-FFF2-40B4-BE49-F238E27FC236}">
                <a16:creationId xmlns:a16="http://schemas.microsoft.com/office/drawing/2014/main" id="{6DB11546-1B1E-CE4C-8589-A55F27ACF92E}"/>
              </a:ext>
            </a:extLst>
          </p:cNvPr>
          <p:cNvSpPr/>
          <p:nvPr/>
        </p:nvSpPr>
        <p:spPr>
          <a:xfrm>
            <a:off x="160722" y="3924917"/>
            <a:ext cx="1037854" cy="37846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样式规范</a:t>
            </a:r>
          </a:p>
        </p:txBody>
      </p:sp>
      <p:sp>
        <p:nvSpPr>
          <p:cNvPr id="328" name="矩形 327">
            <a:extLst>
              <a:ext uri="{FF2B5EF4-FFF2-40B4-BE49-F238E27FC236}">
                <a16:creationId xmlns:a16="http://schemas.microsoft.com/office/drawing/2014/main" id="{DD7C3AB0-C279-9A41-8B71-8EECC43953AF}"/>
              </a:ext>
            </a:extLst>
          </p:cNvPr>
          <p:cNvSpPr/>
          <p:nvPr/>
        </p:nvSpPr>
        <p:spPr>
          <a:xfrm>
            <a:off x="159996" y="4948887"/>
            <a:ext cx="1037854" cy="37846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接口规范</a:t>
            </a:r>
          </a:p>
        </p:txBody>
      </p:sp>
      <p:sp>
        <p:nvSpPr>
          <p:cNvPr id="329" name="矩形 328">
            <a:extLst>
              <a:ext uri="{FF2B5EF4-FFF2-40B4-BE49-F238E27FC236}">
                <a16:creationId xmlns:a16="http://schemas.microsoft.com/office/drawing/2014/main" id="{BC03A94D-4652-CC4A-B80E-A759352BDAF6}"/>
              </a:ext>
            </a:extLst>
          </p:cNvPr>
          <p:cNvSpPr/>
          <p:nvPr/>
        </p:nvSpPr>
        <p:spPr>
          <a:xfrm>
            <a:off x="159996" y="4419782"/>
            <a:ext cx="1037854" cy="37846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Vue</a:t>
            </a:r>
            <a:r>
              <a:rPr kumimoji="1"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规范</a:t>
            </a:r>
          </a:p>
        </p:txBody>
      </p:sp>
      <p:sp>
        <p:nvSpPr>
          <p:cNvPr id="330" name="矩形 329">
            <a:extLst>
              <a:ext uri="{FF2B5EF4-FFF2-40B4-BE49-F238E27FC236}">
                <a16:creationId xmlns:a16="http://schemas.microsoft.com/office/drawing/2014/main" id="{13456062-0046-F544-9908-C2335506EAC8}"/>
              </a:ext>
            </a:extLst>
          </p:cNvPr>
          <p:cNvSpPr/>
          <p:nvPr/>
        </p:nvSpPr>
        <p:spPr>
          <a:xfrm>
            <a:off x="2359624" y="1157413"/>
            <a:ext cx="1037854" cy="37846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uniapp</a:t>
            </a:r>
            <a:endParaRPr kumimoji="1"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1" name="矩形 330">
            <a:extLst>
              <a:ext uri="{FF2B5EF4-FFF2-40B4-BE49-F238E27FC236}">
                <a16:creationId xmlns:a16="http://schemas.microsoft.com/office/drawing/2014/main" id="{F5B53214-F419-C44B-AB34-D79F46A407BC}"/>
              </a:ext>
            </a:extLst>
          </p:cNvPr>
          <p:cNvSpPr/>
          <p:nvPr/>
        </p:nvSpPr>
        <p:spPr>
          <a:xfrm>
            <a:off x="3550935" y="1155114"/>
            <a:ext cx="1037854" cy="37846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Vue3</a:t>
            </a:r>
            <a:endParaRPr kumimoji="1"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3" name="矩形 332">
            <a:extLst>
              <a:ext uri="{FF2B5EF4-FFF2-40B4-BE49-F238E27FC236}">
                <a16:creationId xmlns:a16="http://schemas.microsoft.com/office/drawing/2014/main" id="{7F8DFE41-D6B6-7C40-84D8-CD1DA562E59D}"/>
              </a:ext>
            </a:extLst>
          </p:cNvPr>
          <p:cNvSpPr/>
          <p:nvPr/>
        </p:nvSpPr>
        <p:spPr>
          <a:xfrm>
            <a:off x="4822420" y="1167311"/>
            <a:ext cx="1037854" cy="37846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ts</a:t>
            </a:r>
            <a:endParaRPr kumimoji="1"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4" name="矩形 333">
            <a:extLst>
              <a:ext uri="{FF2B5EF4-FFF2-40B4-BE49-F238E27FC236}">
                <a16:creationId xmlns:a16="http://schemas.microsoft.com/office/drawing/2014/main" id="{32785B78-CD73-824A-967B-EC5A54C22F9F}"/>
              </a:ext>
            </a:extLst>
          </p:cNvPr>
          <p:cNvSpPr/>
          <p:nvPr/>
        </p:nvSpPr>
        <p:spPr>
          <a:xfrm>
            <a:off x="6721596" y="1170860"/>
            <a:ext cx="1037854" cy="37846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Vue3</a:t>
            </a:r>
            <a:endParaRPr kumimoji="1"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5" name="矩形 334">
            <a:extLst>
              <a:ext uri="{FF2B5EF4-FFF2-40B4-BE49-F238E27FC236}">
                <a16:creationId xmlns:a16="http://schemas.microsoft.com/office/drawing/2014/main" id="{20938013-6C0C-D047-8522-0263A2005A2A}"/>
              </a:ext>
            </a:extLst>
          </p:cNvPr>
          <p:cNvSpPr/>
          <p:nvPr/>
        </p:nvSpPr>
        <p:spPr>
          <a:xfrm>
            <a:off x="7993079" y="1183057"/>
            <a:ext cx="1037854" cy="37846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ts</a:t>
            </a:r>
            <a:endParaRPr kumimoji="1"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6" name="矩形 335">
            <a:extLst>
              <a:ext uri="{FF2B5EF4-FFF2-40B4-BE49-F238E27FC236}">
                <a16:creationId xmlns:a16="http://schemas.microsoft.com/office/drawing/2014/main" id="{2923B24A-2832-5C44-B417-FA0A8E37EE27}"/>
              </a:ext>
            </a:extLst>
          </p:cNvPr>
          <p:cNvSpPr/>
          <p:nvPr/>
        </p:nvSpPr>
        <p:spPr>
          <a:xfrm>
            <a:off x="9235752" y="1197571"/>
            <a:ext cx="1217260" cy="37846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anta-design</a:t>
            </a:r>
            <a:endParaRPr kumimoji="1"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76706112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680707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42990</TotalTime>
  <Words>2133</Words>
  <Application>Microsoft Office PowerPoint</Application>
  <PresentationFormat>宽屏</PresentationFormat>
  <Paragraphs>773</Paragraphs>
  <Slides>20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20</vt:i4>
      </vt:variant>
    </vt:vector>
  </HeadingPairs>
  <TitlesOfParts>
    <vt:vector size="32" baseType="lpstr">
      <vt:lpstr>Microsoft YaHei Light</vt:lpstr>
      <vt:lpstr>OUKBLR+MicrosoftYaHei</vt:lpstr>
      <vt:lpstr>WKKETQ+MicrosoftYaHei-Bold</vt:lpstr>
      <vt:lpstr>DengXian</vt:lpstr>
      <vt:lpstr>DengXian</vt:lpstr>
      <vt:lpstr>Microsoft YaHei</vt:lpstr>
      <vt:lpstr>Microsoft YaHei</vt:lpstr>
      <vt:lpstr>Arial</vt:lpstr>
      <vt:lpstr>Calibri</vt:lpstr>
      <vt:lpstr>Wingdings</vt:lpstr>
      <vt:lpstr>Office 主题​​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Binangkit</dc:creator>
  <cp:lastModifiedBy>江晓灿</cp:lastModifiedBy>
  <cp:revision>6621</cp:revision>
  <dcterms:created xsi:type="dcterms:W3CDTF">2023-08-01T07:45:17Z</dcterms:created>
  <dcterms:modified xsi:type="dcterms:W3CDTF">2025-08-26T02:35:00Z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DAE0CE6168D9A0AF14A1C864003CB829_43</vt:lpwstr>
  </property>
  <property fmtid="{D5CDD505-2E9C-101B-9397-08002B2CF9AE}" pid="3" name="KSOProductBuildVer">
    <vt:lpwstr>2052-5.5.1.7991</vt:lpwstr>
  </property>
</Properties>
</file>