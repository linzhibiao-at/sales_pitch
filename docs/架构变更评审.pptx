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5"/>
  </p:notesMasterIdLst>
  <p:handoutMasterIdLst>
    <p:handoutMasterId r:id="rId16"/>
  </p:handoutMasterIdLst>
  <p:sldIdLst>
    <p:sldId id="1198" r:id="rId2"/>
    <p:sldId id="16756840" r:id="rId3"/>
    <p:sldId id="16756851" r:id="rId4"/>
    <p:sldId id="16756827" r:id="rId5"/>
    <p:sldId id="259" r:id="rId6"/>
    <p:sldId id="16756829" r:id="rId7"/>
    <p:sldId id="16756843" r:id="rId8"/>
    <p:sldId id="16756841" r:id="rId9"/>
    <p:sldId id="16756847" r:id="rId10"/>
    <p:sldId id="9693" r:id="rId11"/>
    <p:sldId id="9697" r:id="rId12"/>
    <p:sldId id="9690" r:id="rId13"/>
    <p:sldId id="1200" r:id="rId14"/>
  </p:sldIdLst>
  <p:sldSz cx="12192000" cy="6858000"/>
  <p:notesSz cx="6858000" cy="9144000"/>
  <p:defaultTextStyle>
    <a:defPPr>
      <a:defRPr lang="en-US"/>
    </a:defPPr>
    <a:lvl1pPr marL="0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5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4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0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ny Liu" initials="BL" lastIdx="3" clrIdx="0"/>
  <p:cmAuthor id="2" name="User" initials="U" lastIdx="1" clrIdx="1"/>
  <p:cmAuthor id="3" name="李晓鸥" initials="李晓鸥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17B"/>
    <a:srgbClr val="FF7D86"/>
    <a:srgbClr val="D6000F"/>
    <a:srgbClr val="FF4B58"/>
    <a:srgbClr val="FF3745"/>
    <a:srgbClr val="FF1929"/>
    <a:srgbClr val="D70000"/>
    <a:srgbClr val="929292"/>
    <a:srgbClr val="D7000F"/>
    <a:srgbClr val="FF5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3" autoAdjust="0"/>
    <p:restoredTop sz="96433" autoAdjust="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outlineViewPr>
    <p:cViewPr>
      <p:scale>
        <a:sx n="33" d="100"/>
        <a:sy n="33" d="100"/>
      </p:scale>
      <p:origin x="0" y="-1806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8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5C758-E5FE-4368-A8A3-B749530A29DC}" type="datetimeFigureOut">
              <a:rPr lang="zh-CN" altLang="en-US" smtClean="0"/>
              <a:pPr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5DCA2-2C6F-4E70-A715-0F66E8866AD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AF4DB-4C47-4782-A2E4-AF0DC385DFEF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B52D5-0F10-409C-88A1-07E8733E16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7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5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2B52D5-0F10-409C-88A1-07E8733E16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970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b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5E2970-D1E0-4EE8-A51D-BA40ABB8A0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b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5E2970-D1E0-4EE8-A51D-BA40ABB8A0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b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5E2970-D1E0-4EE8-A51D-BA40ABB8A0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1DBC348-A7B0-4A86-93D4-F66185A30A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E1C4573-FBDD-4A51-85F1-9D0843DD57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6202850"/>
            <a:ext cx="7940040" cy="63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3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12192000" cy="6197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6195701"/>
            <a:ext cx="12192000" cy="66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01C6E2-14F0-43C3-A0C5-7532A190D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6202850"/>
            <a:ext cx="7940040" cy="635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868E679-0B02-40B5-856E-5D98134C0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8957" y="207102"/>
            <a:ext cx="789286" cy="4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5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719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风格末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9255C52-E23A-481C-AD56-DFE6EC9FAB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6202850"/>
            <a:ext cx="7940040" cy="635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浅色风格正文页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0"/>
                <a:lumOff val="100000"/>
              </a:schemeClr>
            </a:gs>
            <a:gs pos="59000">
              <a:schemeClr val="bg1">
                <a:alpha val="46000"/>
                <a:lumMod val="0"/>
                <a:lumOff val="100000"/>
              </a:schemeClr>
            </a:gs>
            <a:gs pos="100000">
              <a:schemeClr val="bg1">
                <a:shade val="63000"/>
                <a:satMod val="120000"/>
                <a:alpha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052" y="60539"/>
            <a:ext cx="1551631" cy="97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0000"/>
              </a:schemeClr>
            </a:gs>
            <a:gs pos="100000">
              <a:srgbClr val="E2E2E4"/>
            </a:gs>
            <a:gs pos="68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91" r:id="rId2"/>
    <p:sldLayoutId id="2147483698" r:id="rId3"/>
    <p:sldLayoutId id="2147483706" r:id="rId4"/>
    <p:sldLayoutId id="2147483693" r:id="rId5"/>
    <p:sldLayoutId id="2147483707" r:id="rId6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9F3404-5EEB-4B1D-A8F9-ED0DBA7AA3EC}"/>
              </a:ext>
            </a:extLst>
          </p:cNvPr>
          <p:cNvSpPr/>
          <p:nvPr/>
        </p:nvSpPr>
        <p:spPr>
          <a:xfrm>
            <a:off x="3926175" y="2967335"/>
            <a:ext cx="4339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技术架构评审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CE365375-99AB-4A05-B1E3-429454EE826E}"/>
              </a:ext>
            </a:extLst>
          </p:cNvPr>
          <p:cNvSpPr txBox="1">
            <a:spLocks/>
          </p:cNvSpPr>
          <p:nvPr/>
        </p:nvSpPr>
        <p:spPr>
          <a:xfrm>
            <a:off x="220762" y="48225"/>
            <a:ext cx="8158467" cy="4339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dirty="0"/>
              <a:t>产品内容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9EF601-43C5-474C-8A6F-2E55563FE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58" y="766177"/>
            <a:ext cx="10116589" cy="532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8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D70E53B-AF46-4081-B3EB-0F08AC3C1B14}"/>
              </a:ext>
            </a:extLst>
          </p:cNvPr>
          <p:cNvSpPr/>
          <p:nvPr/>
        </p:nvSpPr>
        <p:spPr>
          <a:xfrm>
            <a:off x="81508" y="1041937"/>
            <a:ext cx="1221877" cy="447519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4C356A-5A7A-4676-B017-FD566723CD57}"/>
              </a:ext>
            </a:extLst>
          </p:cNvPr>
          <p:cNvSpPr/>
          <p:nvPr/>
        </p:nvSpPr>
        <p:spPr>
          <a:xfrm>
            <a:off x="1461727" y="1875105"/>
            <a:ext cx="9192306" cy="59654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86A0AB-59D0-4782-8C71-564589DF43E1}"/>
              </a:ext>
            </a:extLst>
          </p:cNvPr>
          <p:cNvSpPr/>
          <p:nvPr/>
        </p:nvSpPr>
        <p:spPr>
          <a:xfrm>
            <a:off x="1461728" y="1029884"/>
            <a:ext cx="9192305" cy="70916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26FEE98C-31C2-4337-BF9B-C1524B3CBD71}"/>
              </a:ext>
            </a:extLst>
          </p:cNvPr>
          <p:cNvSpPr/>
          <p:nvPr/>
        </p:nvSpPr>
        <p:spPr>
          <a:xfrm>
            <a:off x="12408" y="81149"/>
            <a:ext cx="4117405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技术架构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412315-38BD-474F-9706-91F0537C1983}"/>
              </a:ext>
            </a:extLst>
          </p:cNvPr>
          <p:cNvSpPr/>
          <p:nvPr/>
        </p:nvSpPr>
        <p:spPr>
          <a:xfrm>
            <a:off x="1461727" y="2603713"/>
            <a:ext cx="9192306" cy="177768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9F7B25-2C66-4E08-9F27-CCBC295C5044}"/>
              </a:ext>
            </a:extLst>
          </p:cNvPr>
          <p:cNvSpPr/>
          <p:nvPr/>
        </p:nvSpPr>
        <p:spPr>
          <a:xfrm>
            <a:off x="10812374" y="1041936"/>
            <a:ext cx="1204359" cy="451406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71DCA4-370B-49D6-8617-D18C0B889A77}"/>
              </a:ext>
            </a:extLst>
          </p:cNvPr>
          <p:cNvSpPr/>
          <p:nvPr/>
        </p:nvSpPr>
        <p:spPr>
          <a:xfrm>
            <a:off x="1459121" y="4553097"/>
            <a:ext cx="9177864" cy="95650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C2B8B-FC21-4A16-B7DA-5C2FFF0B5B05}"/>
              </a:ext>
            </a:extLst>
          </p:cNvPr>
          <p:cNvSpPr/>
          <p:nvPr/>
        </p:nvSpPr>
        <p:spPr>
          <a:xfrm>
            <a:off x="1608476" y="1091570"/>
            <a:ext cx="4394536" cy="53575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D6F5F1-ECF7-47EE-87A6-8E44799B2E6B}"/>
              </a:ext>
            </a:extLst>
          </p:cNvPr>
          <p:cNvSpPr/>
          <p:nvPr/>
        </p:nvSpPr>
        <p:spPr>
          <a:xfrm>
            <a:off x="6161354" y="1104414"/>
            <a:ext cx="4394536" cy="53575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8AE47C5-621D-4A1D-9E1D-C5A9164CED56}"/>
              </a:ext>
            </a:extLst>
          </p:cNvPr>
          <p:cNvSpPr/>
          <p:nvPr/>
        </p:nvSpPr>
        <p:spPr>
          <a:xfrm>
            <a:off x="7990666" y="1971956"/>
            <a:ext cx="2475330" cy="3791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Gateway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4A6510-7A12-4156-9B4E-7A10E51669F9}"/>
              </a:ext>
            </a:extLst>
          </p:cNvPr>
          <p:cNvSpPr/>
          <p:nvPr/>
        </p:nvSpPr>
        <p:spPr>
          <a:xfrm>
            <a:off x="2082463" y="1984139"/>
            <a:ext cx="2475330" cy="3791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BF9A7B-A9E7-445F-8488-42D76E7069EB}"/>
              </a:ext>
            </a:extLst>
          </p:cNvPr>
          <p:cNvSpPr/>
          <p:nvPr/>
        </p:nvSpPr>
        <p:spPr>
          <a:xfrm>
            <a:off x="5104106" y="1984139"/>
            <a:ext cx="2475330" cy="3791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ELB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161852-E02E-4413-9EBF-6472783C9D4E}"/>
              </a:ext>
            </a:extLst>
          </p:cNvPr>
          <p:cNvSpPr/>
          <p:nvPr/>
        </p:nvSpPr>
        <p:spPr>
          <a:xfrm>
            <a:off x="3436890" y="2899878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2021.0.3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D6FA6B-8B49-4380-A65E-E9C598BDD2C8}"/>
              </a:ext>
            </a:extLst>
          </p:cNvPr>
          <p:cNvSpPr/>
          <p:nvPr/>
        </p:nvSpPr>
        <p:spPr>
          <a:xfrm>
            <a:off x="1734521" y="291092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045108-B771-40E4-8194-707C7FA52598}"/>
              </a:ext>
            </a:extLst>
          </p:cNvPr>
          <p:cNvSpPr/>
          <p:nvPr/>
        </p:nvSpPr>
        <p:spPr>
          <a:xfrm>
            <a:off x="5260038" y="2930577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2.7.2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B0722F-1A5C-4CD0-8930-1B0C6977BBB7}"/>
              </a:ext>
            </a:extLst>
          </p:cNvPr>
          <p:cNvSpPr/>
          <p:nvPr/>
        </p:nvSpPr>
        <p:spPr>
          <a:xfrm>
            <a:off x="7034245" y="291092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Openfeign</a:t>
            </a:r>
            <a:endParaRPr kumimoji="1"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3.1.3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85F8EE-8B43-4B49-8A0B-2DEE31FCAEC6}"/>
              </a:ext>
            </a:extLst>
          </p:cNvPr>
          <p:cNvSpPr/>
          <p:nvPr/>
        </p:nvSpPr>
        <p:spPr>
          <a:xfrm>
            <a:off x="8959979" y="291092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JPA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3.2.5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26BF62-89D4-4B69-97FC-47A8FF278976}"/>
              </a:ext>
            </a:extLst>
          </p:cNvPr>
          <p:cNvSpPr/>
          <p:nvPr/>
        </p:nvSpPr>
        <p:spPr>
          <a:xfrm>
            <a:off x="1734264" y="365048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hardingsphere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461DB6-F78D-449D-8C34-F3F0F15B3268}"/>
              </a:ext>
            </a:extLst>
          </p:cNvPr>
          <p:cNvSpPr/>
          <p:nvPr/>
        </p:nvSpPr>
        <p:spPr>
          <a:xfrm>
            <a:off x="3436633" y="3665232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HikariCP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E5ED0E-A91C-4982-9566-AA2B9615DA1F}"/>
              </a:ext>
            </a:extLst>
          </p:cNvPr>
          <p:cNvSpPr/>
          <p:nvPr/>
        </p:nvSpPr>
        <p:spPr>
          <a:xfrm>
            <a:off x="5259781" y="365048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utool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85A326-B2F3-4B37-B4B1-18A6E64D0709}"/>
              </a:ext>
            </a:extLst>
          </p:cNvPr>
          <p:cNvSpPr/>
          <p:nvPr/>
        </p:nvSpPr>
        <p:spPr>
          <a:xfrm>
            <a:off x="7045205" y="3648008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Mapstruct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C5B41A1-6C8A-499D-9C0A-27816AE52DE9}"/>
              </a:ext>
            </a:extLst>
          </p:cNvPr>
          <p:cNvSpPr/>
          <p:nvPr/>
        </p:nvSpPr>
        <p:spPr>
          <a:xfrm>
            <a:off x="8969135" y="3648008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Redisson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F65CFC0-D67C-4D3B-A48C-54AE675DD8BC}"/>
              </a:ext>
            </a:extLst>
          </p:cNvPr>
          <p:cNvSpPr txBox="1"/>
          <p:nvPr/>
        </p:nvSpPr>
        <p:spPr>
          <a:xfrm>
            <a:off x="1444679" y="2556341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服务层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E622122-CD86-4372-91F4-CC0F4DCE0317}"/>
              </a:ext>
            </a:extLst>
          </p:cNvPr>
          <p:cNvSpPr txBox="1"/>
          <p:nvPr/>
        </p:nvSpPr>
        <p:spPr>
          <a:xfrm>
            <a:off x="1395362" y="1806020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网关层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4527C90-F7CF-4EC0-8AE7-B0FDCB7FC5D2}"/>
              </a:ext>
            </a:extLst>
          </p:cNvPr>
          <p:cNvSpPr txBox="1"/>
          <p:nvPr/>
        </p:nvSpPr>
        <p:spPr>
          <a:xfrm>
            <a:off x="1458369" y="4597429"/>
            <a:ext cx="69679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存储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314455-BA35-4B0D-B881-D0F01E85AFD6}"/>
              </a:ext>
            </a:extLst>
          </p:cNvPr>
          <p:cNvSpPr/>
          <p:nvPr/>
        </p:nvSpPr>
        <p:spPr>
          <a:xfrm>
            <a:off x="1896536" y="4742275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D3BFFDB-525D-488F-8EFD-DA149A9C164D}"/>
              </a:ext>
            </a:extLst>
          </p:cNvPr>
          <p:cNvSpPr/>
          <p:nvPr/>
        </p:nvSpPr>
        <p:spPr>
          <a:xfrm>
            <a:off x="3498098" y="4746088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Redis6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00DCDA3-82DF-4535-A3D2-8D877DC26C22}"/>
              </a:ext>
            </a:extLst>
          </p:cNvPr>
          <p:cNvSpPr/>
          <p:nvPr/>
        </p:nvSpPr>
        <p:spPr>
          <a:xfrm>
            <a:off x="5118778" y="4735627"/>
            <a:ext cx="1588046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Elasticsearch7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E7D9C9-A457-4B8B-9B27-F78EF93A1AF8}"/>
              </a:ext>
            </a:extLst>
          </p:cNvPr>
          <p:cNvSpPr/>
          <p:nvPr/>
        </p:nvSpPr>
        <p:spPr>
          <a:xfrm>
            <a:off x="6842071" y="4729010"/>
            <a:ext cx="1588046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819EA0F-9461-4E14-B48C-AB190934F5B7}"/>
              </a:ext>
            </a:extLst>
          </p:cNvPr>
          <p:cNvSpPr/>
          <p:nvPr/>
        </p:nvSpPr>
        <p:spPr>
          <a:xfrm>
            <a:off x="81508" y="5657950"/>
            <a:ext cx="11900189" cy="95650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BB8B5BB-DCE6-49D0-97FE-1ADFF39682E7}"/>
              </a:ext>
            </a:extLst>
          </p:cNvPr>
          <p:cNvSpPr txBox="1"/>
          <p:nvPr/>
        </p:nvSpPr>
        <p:spPr>
          <a:xfrm>
            <a:off x="20022" y="5624225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CICD</a:t>
            </a:r>
            <a:endParaRPr kumimoji="1" lang="zh-CN" altLang="en-US" sz="1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859A9B-3650-4EE9-B8DC-C095CBF895CB}"/>
              </a:ext>
            </a:extLst>
          </p:cNvPr>
          <p:cNvSpPr/>
          <p:nvPr/>
        </p:nvSpPr>
        <p:spPr>
          <a:xfrm>
            <a:off x="2155168" y="5754628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E452F1C-85E7-42C7-B6E0-26F52D7D49F1}"/>
              </a:ext>
            </a:extLst>
          </p:cNvPr>
          <p:cNvSpPr txBox="1"/>
          <p:nvPr/>
        </p:nvSpPr>
        <p:spPr>
          <a:xfrm>
            <a:off x="2155168" y="5754629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单元测试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6213394-4650-4A42-A398-4B6EE597CA94}"/>
              </a:ext>
            </a:extLst>
          </p:cNvPr>
          <p:cNvSpPr txBox="1"/>
          <p:nvPr/>
        </p:nvSpPr>
        <p:spPr>
          <a:xfrm>
            <a:off x="2359701" y="6060456"/>
            <a:ext cx="779380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Spock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422ABB6-F1F9-428D-94A0-3C45D6C84853}"/>
              </a:ext>
            </a:extLst>
          </p:cNvPr>
          <p:cNvSpPr/>
          <p:nvPr/>
        </p:nvSpPr>
        <p:spPr>
          <a:xfrm>
            <a:off x="781905" y="5754629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F9C202-5D36-4C59-A3C0-B48B50AA3F27}"/>
              </a:ext>
            </a:extLst>
          </p:cNvPr>
          <p:cNvSpPr txBox="1"/>
          <p:nvPr/>
        </p:nvSpPr>
        <p:spPr>
          <a:xfrm>
            <a:off x="781905" y="5754630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代码管理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79AD75E-EC5B-4283-9F0D-502C7880A4F5}"/>
              </a:ext>
            </a:extLst>
          </p:cNvPr>
          <p:cNvSpPr txBox="1"/>
          <p:nvPr/>
        </p:nvSpPr>
        <p:spPr>
          <a:xfrm>
            <a:off x="1079153" y="6062161"/>
            <a:ext cx="468398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2166196-5335-4A9E-BBB7-32CF7DF46CDF}"/>
              </a:ext>
            </a:extLst>
          </p:cNvPr>
          <p:cNvSpPr/>
          <p:nvPr/>
        </p:nvSpPr>
        <p:spPr>
          <a:xfrm>
            <a:off x="3552343" y="5754627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7FF4BE6-EFE0-43DA-A7D9-86CA00F6E97D}"/>
              </a:ext>
            </a:extLst>
          </p:cNvPr>
          <p:cNvSpPr txBox="1"/>
          <p:nvPr/>
        </p:nvSpPr>
        <p:spPr>
          <a:xfrm>
            <a:off x="3552343" y="5754628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管理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5CBBC91-5014-4E88-BBC8-3F1882365E2F}"/>
              </a:ext>
            </a:extLst>
          </p:cNvPr>
          <p:cNvSpPr txBox="1"/>
          <p:nvPr/>
        </p:nvSpPr>
        <p:spPr>
          <a:xfrm>
            <a:off x="3715685" y="6055690"/>
            <a:ext cx="848630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Maven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B358842-3FD9-4091-A3AA-41E4978749FF}"/>
              </a:ext>
            </a:extLst>
          </p:cNvPr>
          <p:cNvSpPr/>
          <p:nvPr/>
        </p:nvSpPr>
        <p:spPr>
          <a:xfrm>
            <a:off x="6274814" y="5754458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358A02E-0BFA-400C-85E1-CA97026ADC06}"/>
              </a:ext>
            </a:extLst>
          </p:cNvPr>
          <p:cNvSpPr txBox="1"/>
          <p:nvPr/>
        </p:nvSpPr>
        <p:spPr>
          <a:xfrm>
            <a:off x="6274814" y="5754459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代码扫描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2A8A7D6-37C3-4BC1-80D0-6037579D48F2}"/>
              </a:ext>
            </a:extLst>
          </p:cNvPr>
          <p:cNvSpPr txBox="1"/>
          <p:nvPr/>
        </p:nvSpPr>
        <p:spPr>
          <a:xfrm>
            <a:off x="6501906" y="6055521"/>
            <a:ext cx="752129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856F9E2-180C-46B6-B6F5-3F3FA0AFD7C6}"/>
              </a:ext>
            </a:extLst>
          </p:cNvPr>
          <p:cNvSpPr/>
          <p:nvPr/>
        </p:nvSpPr>
        <p:spPr>
          <a:xfrm>
            <a:off x="7651541" y="5745189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63887F2-E637-4CC6-A245-7A6D45A87944}"/>
              </a:ext>
            </a:extLst>
          </p:cNvPr>
          <p:cNvSpPr txBox="1"/>
          <p:nvPr/>
        </p:nvSpPr>
        <p:spPr>
          <a:xfrm>
            <a:off x="7620545" y="5745190"/>
            <a:ext cx="1235516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镜像管理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B3D5574-7685-44EE-8284-80784BF5A139}"/>
              </a:ext>
            </a:extLst>
          </p:cNvPr>
          <p:cNvSpPr txBox="1"/>
          <p:nvPr/>
        </p:nvSpPr>
        <p:spPr>
          <a:xfrm>
            <a:off x="7606802" y="6046252"/>
            <a:ext cx="123379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Artifactory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53A0AED-2105-4DCA-B624-5D1EEE2128EA}"/>
              </a:ext>
            </a:extLst>
          </p:cNvPr>
          <p:cNvSpPr/>
          <p:nvPr/>
        </p:nvSpPr>
        <p:spPr>
          <a:xfrm>
            <a:off x="9044961" y="5754457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0DAB490-6B13-4DE6-8B5D-242D44397A35}"/>
              </a:ext>
            </a:extLst>
          </p:cNvPr>
          <p:cNvSpPr txBox="1"/>
          <p:nvPr/>
        </p:nvSpPr>
        <p:spPr>
          <a:xfrm>
            <a:off x="9044961" y="5754458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00C27A0-2E5F-419A-A692-C3B11A9683DB}"/>
              </a:ext>
            </a:extLst>
          </p:cNvPr>
          <p:cNvSpPr txBox="1"/>
          <p:nvPr/>
        </p:nvSpPr>
        <p:spPr>
          <a:xfrm>
            <a:off x="9264133" y="6055520"/>
            <a:ext cx="767967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</a:rPr>
              <a:t>Docker</a:t>
            </a:r>
            <a:endParaRPr kumimoji="1"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685E88E-9206-4FB0-A290-401FC3F3E24C}"/>
              </a:ext>
            </a:extLst>
          </p:cNvPr>
          <p:cNvSpPr/>
          <p:nvPr/>
        </p:nvSpPr>
        <p:spPr>
          <a:xfrm>
            <a:off x="10427130" y="5754456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8044BCC-E473-450B-9C38-D9BEDB1D2800}"/>
              </a:ext>
            </a:extLst>
          </p:cNvPr>
          <p:cNvSpPr txBox="1"/>
          <p:nvPr/>
        </p:nvSpPr>
        <p:spPr>
          <a:xfrm>
            <a:off x="10427130" y="5754457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容器编排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27982E4-6D91-43BB-BE8C-75E9FC1A16C6}"/>
              </a:ext>
            </a:extLst>
          </p:cNvPr>
          <p:cNvSpPr txBox="1"/>
          <p:nvPr/>
        </p:nvSpPr>
        <p:spPr>
          <a:xfrm>
            <a:off x="10469692" y="6037740"/>
            <a:ext cx="113678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</a:rPr>
              <a:t>Kubernetes</a:t>
            </a:r>
            <a:endParaRPr kumimoji="1"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40186EB-1C93-43FC-AB84-B85E47E82C72}"/>
              </a:ext>
            </a:extLst>
          </p:cNvPr>
          <p:cNvSpPr/>
          <p:nvPr/>
        </p:nvSpPr>
        <p:spPr>
          <a:xfrm>
            <a:off x="4913495" y="5754455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28830EF-A8FE-4225-AC67-DEE815CE41AB}"/>
              </a:ext>
            </a:extLst>
          </p:cNvPr>
          <p:cNvSpPr txBox="1"/>
          <p:nvPr/>
        </p:nvSpPr>
        <p:spPr>
          <a:xfrm>
            <a:off x="4913495" y="5754456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D226D1A-E21F-4EFF-9385-DC51CCADFC82}"/>
              </a:ext>
            </a:extLst>
          </p:cNvPr>
          <p:cNvSpPr txBox="1"/>
          <p:nvPr/>
        </p:nvSpPr>
        <p:spPr>
          <a:xfrm>
            <a:off x="5003313" y="6055518"/>
            <a:ext cx="995680" cy="3371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运营平台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C2FD923-864D-4EFF-BAED-6341AC85EE11}"/>
              </a:ext>
            </a:extLst>
          </p:cNvPr>
          <p:cNvSpPr txBox="1"/>
          <p:nvPr/>
        </p:nvSpPr>
        <p:spPr>
          <a:xfrm>
            <a:off x="10750366" y="994217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基础服务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D6F3BA3-2503-4ED3-B2D6-872B57828A2C}"/>
              </a:ext>
            </a:extLst>
          </p:cNvPr>
          <p:cNvSpPr/>
          <p:nvPr/>
        </p:nvSpPr>
        <p:spPr>
          <a:xfrm>
            <a:off x="10921233" y="2482966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xxl</a:t>
            </a:r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-job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BDBDE1B-1B87-4684-BBDA-18DA8E6486EE}"/>
              </a:ext>
            </a:extLst>
          </p:cNvPr>
          <p:cNvSpPr/>
          <p:nvPr/>
        </p:nvSpPr>
        <p:spPr>
          <a:xfrm>
            <a:off x="10930812" y="1403939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k8sservice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8E5BB5A-3848-431F-B15C-B8E63A571E38}"/>
              </a:ext>
            </a:extLst>
          </p:cNvPr>
          <p:cNvSpPr txBox="1"/>
          <p:nvPr/>
        </p:nvSpPr>
        <p:spPr>
          <a:xfrm>
            <a:off x="55424" y="1039369"/>
            <a:ext cx="9364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技术规范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962AC12-A95C-4FD9-8964-D829BD1CF003}"/>
              </a:ext>
            </a:extLst>
          </p:cNvPr>
          <p:cNvSpPr/>
          <p:nvPr/>
        </p:nvSpPr>
        <p:spPr>
          <a:xfrm>
            <a:off x="175266" y="1360589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工程规范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2E52699-5F27-4775-BA1A-295FAB0E73E0}"/>
              </a:ext>
            </a:extLst>
          </p:cNvPr>
          <p:cNvSpPr/>
          <p:nvPr/>
        </p:nvSpPr>
        <p:spPr>
          <a:xfrm>
            <a:off x="150717" y="185549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代码风格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E09406D-444C-432A-BFAC-A2359D9E8D8C}"/>
              </a:ext>
            </a:extLst>
          </p:cNvPr>
          <p:cNvSpPr/>
          <p:nvPr/>
        </p:nvSpPr>
        <p:spPr>
          <a:xfrm>
            <a:off x="150717" y="2373166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质量规范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BEE7115-5E12-4810-9D60-289CE83F243A}"/>
              </a:ext>
            </a:extLst>
          </p:cNvPr>
          <p:cNvSpPr/>
          <p:nvPr/>
        </p:nvSpPr>
        <p:spPr>
          <a:xfrm>
            <a:off x="160722" y="2879238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数据库规范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402CE80-E1FB-4B0B-AAD1-4B0DB53020D9}"/>
              </a:ext>
            </a:extLst>
          </p:cNvPr>
          <p:cNvSpPr/>
          <p:nvPr/>
        </p:nvSpPr>
        <p:spPr>
          <a:xfrm>
            <a:off x="149476" y="3391105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单测规范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7E9B6A3-430F-4231-BA73-B4102263DD96}"/>
              </a:ext>
            </a:extLst>
          </p:cNvPr>
          <p:cNvSpPr txBox="1"/>
          <p:nvPr/>
        </p:nvSpPr>
        <p:spPr>
          <a:xfrm>
            <a:off x="1605353" y="1051668"/>
            <a:ext cx="38824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H5</a:t>
            </a:r>
            <a:endParaRPr kumimoji="1" lang="zh-CN" altLang="en-US" sz="14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226409F-2CAA-41F1-8310-E1397E5735AC}"/>
              </a:ext>
            </a:extLst>
          </p:cNvPr>
          <p:cNvSpPr txBox="1"/>
          <p:nvPr/>
        </p:nvSpPr>
        <p:spPr>
          <a:xfrm>
            <a:off x="6126996" y="106451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后台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D2E8762-092D-4C95-A130-4550B1C610A7}"/>
              </a:ext>
            </a:extLst>
          </p:cNvPr>
          <p:cNvSpPr/>
          <p:nvPr/>
        </p:nvSpPr>
        <p:spPr>
          <a:xfrm>
            <a:off x="160722" y="392491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样式规范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237FD09-A13C-4748-9EB8-FEA87DA889BF}"/>
              </a:ext>
            </a:extLst>
          </p:cNvPr>
          <p:cNvSpPr/>
          <p:nvPr/>
        </p:nvSpPr>
        <p:spPr>
          <a:xfrm>
            <a:off x="159996" y="494888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接口规范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186B8BC-CF8C-48D9-A07F-9FF1B4A7C947}"/>
              </a:ext>
            </a:extLst>
          </p:cNvPr>
          <p:cNvSpPr/>
          <p:nvPr/>
        </p:nvSpPr>
        <p:spPr>
          <a:xfrm>
            <a:off x="159996" y="4419782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F450B8D-40A2-4E2D-BF66-1A5AF30BAEF6}"/>
              </a:ext>
            </a:extLst>
          </p:cNvPr>
          <p:cNvSpPr/>
          <p:nvPr/>
        </p:nvSpPr>
        <p:spPr>
          <a:xfrm>
            <a:off x="2359624" y="1157413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uniapp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74B5B90-17A8-4981-86A3-89BC99E1C25E}"/>
              </a:ext>
            </a:extLst>
          </p:cNvPr>
          <p:cNvSpPr/>
          <p:nvPr/>
        </p:nvSpPr>
        <p:spPr>
          <a:xfrm>
            <a:off x="3550935" y="1155114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Vue3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4EEB948-0BBA-4A22-8997-0CCBA157FF7F}"/>
              </a:ext>
            </a:extLst>
          </p:cNvPr>
          <p:cNvSpPr/>
          <p:nvPr/>
        </p:nvSpPr>
        <p:spPr>
          <a:xfrm>
            <a:off x="4822420" y="1167311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EF26E1A-B72C-4B13-AB6F-CE1E81BAACE3}"/>
              </a:ext>
            </a:extLst>
          </p:cNvPr>
          <p:cNvSpPr/>
          <p:nvPr/>
        </p:nvSpPr>
        <p:spPr>
          <a:xfrm>
            <a:off x="6721596" y="1170860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Vue3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3F2CBB1-C2E3-4468-BB29-70C227816182}"/>
              </a:ext>
            </a:extLst>
          </p:cNvPr>
          <p:cNvSpPr/>
          <p:nvPr/>
        </p:nvSpPr>
        <p:spPr>
          <a:xfrm>
            <a:off x="7993079" y="118305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8A9A7A8-DC54-48E7-9069-0CDCD1BC80D4}"/>
              </a:ext>
            </a:extLst>
          </p:cNvPr>
          <p:cNvSpPr/>
          <p:nvPr/>
        </p:nvSpPr>
        <p:spPr>
          <a:xfrm>
            <a:off x="9235752" y="1197571"/>
            <a:ext cx="1217260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anta-design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5E83CDA-5EF7-483F-9D71-50DFF67D88FD}"/>
              </a:ext>
            </a:extLst>
          </p:cNvPr>
          <p:cNvSpPr/>
          <p:nvPr/>
        </p:nvSpPr>
        <p:spPr>
          <a:xfrm>
            <a:off x="8610951" y="4729010"/>
            <a:ext cx="1588046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BA9493C-B0B4-4456-B361-D48F501F4004}"/>
              </a:ext>
            </a:extLst>
          </p:cNvPr>
          <p:cNvSpPr/>
          <p:nvPr/>
        </p:nvSpPr>
        <p:spPr>
          <a:xfrm>
            <a:off x="10930812" y="1959908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Apollo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544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4"/>
          <p:cNvSpPr/>
          <p:nvPr/>
        </p:nvSpPr>
        <p:spPr>
          <a:xfrm>
            <a:off x="515320" y="127321"/>
            <a:ext cx="2644934" cy="523220"/>
          </a:xfrm>
          <a:prstGeom prst="rect">
            <a:avLst/>
          </a:prstGeom>
          <a:ln>
            <a:noFill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应用架构</a:t>
            </a:r>
          </a:p>
        </p:txBody>
      </p:sp>
      <p:sp>
        <p:nvSpPr>
          <p:cNvPr id="90" name="流程图: 可选过程 89"/>
          <p:cNvSpPr/>
          <p:nvPr/>
        </p:nvSpPr>
        <p:spPr>
          <a:xfrm>
            <a:off x="5345150" y="957381"/>
            <a:ext cx="2015376" cy="445100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</a:p>
        </p:txBody>
      </p:sp>
      <p:sp>
        <p:nvSpPr>
          <p:cNvPr id="91" name="流程图: 可选过程 90"/>
          <p:cNvSpPr/>
          <p:nvPr/>
        </p:nvSpPr>
        <p:spPr>
          <a:xfrm>
            <a:off x="9038580" y="951503"/>
            <a:ext cx="2015376" cy="445100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外部服务</a:t>
            </a:r>
          </a:p>
        </p:txBody>
      </p:sp>
      <p:sp>
        <p:nvSpPr>
          <p:cNvPr id="92" name="流程图: 可选过程 91"/>
          <p:cNvSpPr/>
          <p:nvPr/>
        </p:nvSpPr>
        <p:spPr>
          <a:xfrm>
            <a:off x="8344854" y="2722519"/>
            <a:ext cx="2873392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 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网关</a:t>
            </a:r>
          </a:p>
        </p:txBody>
      </p:sp>
      <p:sp>
        <p:nvSpPr>
          <p:cNvPr id="95" name="流程图: 可选过程 94"/>
          <p:cNvSpPr/>
          <p:nvPr/>
        </p:nvSpPr>
        <p:spPr>
          <a:xfrm>
            <a:off x="1644505" y="2694125"/>
            <a:ext cx="2873392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接口网关</a:t>
            </a:r>
          </a:p>
        </p:txBody>
      </p:sp>
      <p:sp>
        <p:nvSpPr>
          <p:cNvPr id="160" name="流程图: 可选过程 159"/>
          <p:cNvSpPr/>
          <p:nvPr/>
        </p:nvSpPr>
        <p:spPr>
          <a:xfrm>
            <a:off x="4916142" y="2735966"/>
            <a:ext cx="2873392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管理后台网关</a:t>
            </a:r>
          </a:p>
        </p:txBody>
      </p:sp>
      <p:sp>
        <p:nvSpPr>
          <p:cNvPr id="174" name="流程图: 可选过程 173"/>
          <p:cNvSpPr/>
          <p:nvPr/>
        </p:nvSpPr>
        <p:spPr>
          <a:xfrm>
            <a:off x="6654898" y="4045542"/>
            <a:ext cx="3305695" cy="547809"/>
          </a:xfrm>
          <a:prstGeom prst="flowChartAlternateProces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管理后台</a:t>
            </a:r>
          </a:p>
        </p:txBody>
      </p:sp>
      <p:cxnSp>
        <p:nvCxnSpPr>
          <p:cNvPr id="176" name="直接连接符 175"/>
          <p:cNvCxnSpPr/>
          <p:nvPr/>
        </p:nvCxnSpPr>
        <p:spPr>
          <a:xfrm>
            <a:off x="1703478" y="2206832"/>
            <a:ext cx="9252000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8" name="图形 177" descr="用户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55" y="1126365"/>
            <a:ext cx="734375" cy="734375"/>
          </a:xfrm>
          <a:prstGeom prst="rect">
            <a:avLst/>
          </a:prstGeom>
        </p:spPr>
      </p:pic>
      <p:pic>
        <p:nvPicPr>
          <p:cNvPr id="192" name="图形 191" descr="世界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93" y="2470511"/>
            <a:ext cx="734375" cy="734375"/>
          </a:xfrm>
          <a:prstGeom prst="rect">
            <a:avLst/>
          </a:prstGeom>
        </p:spPr>
      </p:pic>
      <p:pic>
        <p:nvPicPr>
          <p:cNvPr id="196" name="图形 195" descr="银行支票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91" y="3298315"/>
            <a:ext cx="722665" cy="722665"/>
          </a:xfrm>
          <a:prstGeom prst="rect">
            <a:avLst/>
          </a:prstGeom>
        </p:spPr>
      </p:pic>
      <p:pic>
        <p:nvPicPr>
          <p:cNvPr id="207" name="图形 206" descr="处理器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65" y="5542057"/>
            <a:ext cx="722665" cy="722665"/>
          </a:xfrm>
          <a:prstGeom prst="rect">
            <a:avLst/>
          </a:prstGeom>
        </p:spPr>
      </p:pic>
      <p:sp>
        <p:nvSpPr>
          <p:cNvPr id="284" name="文本框 283"/>
          <p:cNvSpPr txBox="1"/>
          <p:nvPr/>
        </p:nvSpPr>
        <p:spPr>
          <a:xfrm>
            <a:off x="816688" y="3517066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86" name="文本框 285"/>
          <p:cNvSpPr txBox="1"/>
          <p:nvPr/>
        </p:nvSpPr>
        <p:spPr>
          <a:xfrm>
            <a:off x="3031710" y="1482139"/>
            <a:ext cx="1486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HTTP/JSON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791328" y="5735112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服务层</a:t>
            </a:r>
          </a:p>
        </p:txBody>
      </p:sp>
      <p:cxnSp>
        <p:nvCxnSpPr>
          <p:cNvPr id="303" name="直接连接符 302"/>
          <p:cNvCxnSpPr/>
          <p:nvPr/>
        </p:nvCxnSpPr>
        <p:spPr>
          <a:xfrm>
            <a:off x="1870501" y="5097085"/>
            <a:ext cx="9252000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4" name="文本框 303"/>
          <p:cNvSpPr txBox="1"/>
          <p:nvPr/>
        </p:nvSpPr>
        <p:spPr>
          <a:xfrm>
            <a:off x="815025" y="1333779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表现层</a:t>
            </a:r>
          </a:p>
        </p:txBody>
      </p:sp>
      <p:cxnSp>
        <p:nvCxnSpPr>
          <p:cNvPr id="305" name="直接连接符 304"/>
          <p:cNvCxnSpPr/>
          <p:nvPr/>
        </p:nvCxnSpPr>
        <p:spPr>
          <a:xfrm>
            <a:off x="1801956" y="3686343"/>
            <a:ext cx="9252000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4" name="箭头: 下 313"/>
          <p:cNvSpPr/>
          <p:nvPr/>
        </p:nvSpPr>
        <p:spPr>
          <a:xfrm>
            <a:off x="6329478" y="1458026"/>
            <a:ext cx="298166" cy="404007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/>
          <p:cNvSpPr txBox="1"/>
          <p:nvPr/>
        </p:nvSpPr>
        <p:spPr>
          <a:xfrm>
            <a:off x="6627644" y="1482250"/>
            <a:ext cx="1486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HTTP/JSON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6" name="箭头: 下 315"/>
          <p:cNvSpPr/>
          <p:nvPr/>
        </p:nvSpPr>
        <p:spPr>
          <a:xfrm>
            <a:off x="9782382" y="1434627"/>
            <a:ext cx="298166" cy="404007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文本框 317"/>
          <p:cNvSpPr txBox="1"/>
          <p:nvPr/>
        </p:nvSpPr>
        <p:spPr>
          <a:xfrm>
            <a:off x="10080548" y="1458851"/>
            <a:ext cx="1486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HTTP/JSON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9" name="文本框 318"/>
          <p:cNvSpPr txBox="1"/>
          <p:nvPr/>
        </p:nvSpPr>
        <p:spPr>
          <a:xfrm>
            <a:off x="761840" y="2657409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网关层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B7D64D2-DF81-4767-9269-36937C8F596F}"/>
              </a:ext>
            </a:extLst>
          </p:cNvPr>
          <p:cNvSpPr/>
          <p:nvPr/>
        </p:nvSpPr>
        <p:spPr>
          <a:xfrm>
            <a:off x="341199" y="182461"/>
            <a:ext cx="96701" cy="374651"/>
          </a:xfrm>
          <a:prstGeom prst="rect">
            <a:avLst/>
          </a:prstGeom>
          <a:solidFill>
            <a:srgbClr val="C615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56" name="流程图: 可选过程 55">
            <a:extLst>
              <a:ext uri="{FF2B5EF4-FFF2-40B4-BE49-F238E27FC236}">
                <a16:creationId xmlns:a16="http://schemas.microsoft.com/office/drawing/2014/main" id="{1B72E4CF-B58D-418F-94B4-6BFAA9FDF97B}"/>
              </a:ext>
            </a:extLst>
          </p:cNvPr>
          <p:cNvSpPr/>
          <p:nvPr/>
        </p:nvSpPr>
        <p:spPr>
          <a:xfrm>
            <a:off x="2733544" y="4061356"/>
            <a:ext cx="2957493" cy="525339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海外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BFF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流程图: 可选过程 56">
            <a:extLst>
              <a:ext uri="{FF2B5EF4-FFF2-40B4-BE49-F238E27FC236}">
                <a16:creationId xmlns:a16="http://schemas.microsoft.com/office/drawing/2014/main" id="{E5F75797-D982-4DD1-82C6-3820641BB641}"/>
              </a:ext>
            </a:extLst>
          </p:cNvPr>
          <p:cNvSpPr/>
          <p:nvPr/>
        </p:nvSpPr>
        <p:spPr>
          <a:xfrm>
            <a:off x="2024022" y="923946"/>
            <a:ext cx="2015376" cy="445100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箭头: 下 59">
            <a:extLst>
              <a:ext uri="{FF2B5EF4-FFF2-40B4-BE49-F238E27FC236}">
                <a16:creationId xmlns:a16="http://schemas.microsoft.com/office/drawing/2014/main" id="{BF829A43-3D1B-4BFC-A9A1-AC8CA7CE55F6}"/>
              </a:ext>
            </a:extLst>
          </p:cNvPr>
          <p:cNvSpPr/>
          <p:nvPr/>
        </p:nvSpPr>
        <p:spPr>
          <a:xfrm>
            <a:off x="2733544" y="1441114"/>
            <a:ext cx="298166" cy="404007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流程图: 可选过程 57">
            <a:extLst>
              <a:ext uri="{FF2B5EF4-FFF2-40B4-BE49-F238E27FC236}">
                <a16:creationId xmlns:a16="http://schemas.microsoft.com/office/drawing/2014/main" id="{C7356511-7623-4428-B08D-D4BC1E5110F6}"/>
              </a:ext>
            </a:extLst>
          </p:cNvPr>
          <p:cNvSpPr/>
          <p:nvPr/>
        </p:nvSpPr>
        <p:spPr>
          <a:xfrm>
            <a:off x="2890210" y="5364624"/>
            <a:ext cx="6411580" cy="869831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服务中心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67069" y="52712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模块额外增加集成架构图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B6E61E-E230-9621-9F1C-C1EA7B1D7E05}"/>
              </a:ext>
            </a:extLst>
          </p:cNvPr>
          <p:cNvSpPr/>
          <p:nvPr/>
        </p:nvSpPr>
        <p:spPr>
          <a:xfrm>
            <a:off x="5152206" y="2022039"/>
            <a:ext cx="2305225" cy="189845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Crm</a:t>
            </a:r>
            <a:r>
              <a:rPr lang="en-US" altLang="zh-CN" sz="2400" dirty="0">
                <a:solidFill>
                  <a:prstClr val="white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WhatsApp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服务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179859-4966-4E41-3B16-66A56E08DDE4}"/>
              </a:ext>
            </a:extLst>
          </p:cNvPr>
          <p:cNvSpPr/>
          <p:nvPr/>
        </p:nvSpPr>
        <p:spPr>
          <a:xfrm>
            <a:off x="5192161" y="632716"/>
            <a:ext cx="2011680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NRS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6F3638-F525-C244-6270-27BF6A1458C1}"/>
              </a:ext>
            </a:extLst>
          </p:cNvPr>
          <p:cNvSpPr/>
          <p:nvPr/>
        </p:nvSpPr>
        <p:spPr>
          <a:xfrm>
            <a:off x="9462407" y="3457214"/>
            <a:ext cx="2011680" cy="487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用户中心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AAC6C5-5192-D195-BB46-EFDDDC12DF3C}"/>
              </a:ext>
            </a:extLst>
          </p:cNvPr>
          <p:cNvSpPr txBox="1"/>
          <p:nvPr/>
        </p:nvSpPr>
        <p:spPr>
          <a:xfrm>
            <a:off x="7736618" y="342623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后台统一认证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CF65D63-458F-E488-9DC8-791F91B9669E}"/>
              </a:ext>
            </a:extLst>
          </p:cNvPr>
          <p:cNvCxnSpPr>
            <a:cxnSpLocks/>
          </p:cNvCxnSpPr>
          <p:nvPr/>
        </p:nvCxnSpPr>
        <p:spPr>
          <a:xfrm rot="10800000">
            <a:off x="6813706" y="3880558"/>
            <a:ext cx="1775419" cy="1312234"/>
          </a:xfrm>
          <a:prstGeom prst="bentConnector3">
            <a:avLst>
              <a:gd name="adj1" fmla="val 100277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FF8E0359-8A1F-14FD-AC9D-87AD62F34738}"/>
              </a:ext>
            </a:extLst>
          </p:cNvPr>
          <p:cNvSpPr txBox="1"/>
          <p:nvPr/>
        </p:nvSpPr>
        <p:spPr>
          <a:xfrm>
            <a:off x="6886029" y="469930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运营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22607FB5-0657-9816-423E-4FC4D1D389AB}"/>
              </a:ext>
            </a:extLst>
          </p:cNvPr>
          <p:cNvSpPr/>
          <p:nvPr/>
        </p:nvSpPr>
        <p:spPr>
          <a:xfrm>
            <a:off x="2539815" y="4949971"/>
            <a:ext cx="2011680" cy="487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Whats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App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AE682C5B-2A7D-F451-1000-CCFD8D636F2E}"/>
              </a:ext>
            </a:extLst>
          </p:cNvPr>
          <p:cNvGrpSpPr/>
          <p:nvPr/>
        </p:nvGrpSpPr>
        <p:grpSpPr>
          <a:xfrm>
            <a:off x="758774" y="4656796"/>
            <a:ext cx="914400" cy="1242298"/>
            <a:chOff x="9201150" y="4567654"/>
            <a:chExt cx="914400" cy="1242298"/>
          </a:xfrm>
        </p:grpSpPr>
        <p:pic>
          <p:nvPicPr>
            <p:cNvPr id="173" name="图形 172" descr="用户">
              <a:extLst>
                <a:ext uri="{FF2B5EF4-FFF2-40B4-BE49-F238E27FC236}">
                  <a16:creationId xmlns:a16="http://schemas.microsoft.com/office/drawing/2014/main" id="{6FFF2BC1-3871-E852-F284-A0F7B91BE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01150" y="4567654"/>
              <a:ext cx="914400" cy="914400"/>
            </a:xfrm>
            <a:prstGeom prst="rect">
              <a:avLst/>
            </a:prstGeom>
          </p:spPr>
        </p:pic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D04041F3-DD71-474A-9444-E70D56447513}"/>
                </a:ext>
              </a:extLst>
            </p:cNvPr>
            <p:cNvSpPr txBox="1"/>
            <p:nvPr/>
          </p:nvSpPr>
          <p:spPr>
            <a:xfrm>
              <a:off x="9360832" y="5471398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+mn-cs"/>
                </a:rPr>
                <a:t>客户</a:t>
              </a:r>
            </a:p>
          </p:txBody>
        </p:sp>
      </p:grpSp>
      <p:sp>
        <p:nvSpPr>
          <p:cNvPr id="182" name="矩形 181">
            <a:extLst>
              <a:ext uri="{FF2B5EF4-FFF2-40B4-BE49-F238E27FC236}">
                <a16:creationId xmlns:a16="http://schemas.microsoft.com/office/drawing/2014/main" id="{9FA7DDBB-BD8B-D760-982A-3CA35970EF82}"/>
              </a:ext>
            </a:extLst>
          </p:cNvPr>
          <p:cNvSpPr/>
          <p:nvPr/>
        </p:nvSpPr>
        <p:spPr>
          <a:xfrm>
            <a:off x="1075084" y="2833004"/>
            <a:ext cx="1879604" cy="487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CRM</a:t>
            </a:r>
            <a:r>
              <a:rPr lang="zh-CN" altLang="en-US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海外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FC685F39-9CD8-9861-2FD9-36B4DAE76400}"/>
              </a:ext>
            </a:extLst>
          </p:cNvPr>
          <p:cNvSpPr txBox="1"/>
          <p:nvPr/>
        </p:nvSpPr>
        <p:spPr>
          <a:xfrm>
            <a:off x="5598742" y="132608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库存</a:t>
            </a: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127D755C-5ABA-7F82-67A6-815E488CAA7D}"/>
              </a:ext>
            </a:extLst>
          </p:cNvPr>
          <p:cNvSpPr txBox="1"/>
          <p:nvPr/>
        </p:nvSpPr>
        <p:spPr>
          <a:xfrm>
            <a:off x="3505481" y="275341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会员、券、标签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A4E369C1-B085-F9A1-35A4-97C145CFDB2D}"/>
              </a:ext>
            </a:extLst>
          </p:cNvPr>
          <p:cNvSpPr txBox="1"/>
          <p:nvPr/>
        </p:nvSpPr>
        <p:spPr>
          <a:xfrm>
            <a:off x="1772604" y="477564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使用</a:t>
            </a:r>
          </a:p>
        </p:txBody>
      </p:sp>
      <p:cxnSp>
        <p:nvCxnSpPr>
          <p:cNvPr id="217" name="连接符: 肘形 216">
            <a:extLst>
              <a:ext uri="{FF2B5EF4-FFF2-40B4-BE49-F238E27FC236}">
                <a16:creationId xmlns:a16="http://schemas.microsoft.com/office/drawing/2014/main" id="{EB2B3900-DF81-10BC-3EE4-EC8B681428E5}"/>
              </a:ext>
            </a:extLst>
          </p:cNvPr>
          <p:cNvCxnSpPr>
            <a:cxnSpLocks/>
          </p:cNvCxnSpPr>
          <p:nvPr/>
        </p:nvCxnSpPr>
        <p:spPr>
          <a:xfrm flipV="1">
            <a:off x="4543061" y="3809646"/>
            <a:ext cx="1103850" cy="1240828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9D22FD3D-ABB6-6FE0-F809-DF31CD1BFC0F}"/>
              </a:ext>
            </a:extLst>
          </p:cNvPr>
          <p:cNvSpPr txBox="1"/>
          <p:nvPr/>
        </p:nvSpPr>
        <p:spPr>
          <a:xfrm>
            <a:off x="4010363" y="4626809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事件、客户</a:t>
            </a:r>
            <a:r>
              <a:rPr lang="zh-CN" altLang="en-US" sz="1200" b="1" dirty="0">
                <a:solidFill>
                  <a:prstClr val="black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消息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、群</a:t>
            </a:r>
          </a:p>
        </p:txBody>
      </p:sp>
      <p:cxnSp>
        <p:nvCxnSpPr>
          <p:cNvPr id="226" name="连接符: 肘形 225">
            <a:extLst>
              <a:ext uri="{FF2B5EF4-FFF2-40B4-BE49-F238E27FC236}">
                <a16:creationId xmlns:a16="http://schemas.microsoft.com/office/drawing/2014/main" id="{8F4BFFCC-C7E3-2835-32A2-3693E1CAC53E}"/>
              </a:ext>
            </a:extLst>
          </p:cNvPr>
          <p:cNvCxnSpPr/>
          <p:nvPr/>
        </p:nvCxnSpPr>
        <p:spPr>
          <a:xfrm rot="10800000" flipV="1">
            <a:off x="4551496" y="3931920"/>
            <a:ext cx="1490075" cy="1402080"/>
          </a:xfrm>
          <a:prstGeom prst="bentConnector3">
            <a:avLst>
              <a:gd name="adj1" fmla="val 3976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文本框 227">
            <a:extLst>
              <a:ext uri="{FF2B5EF4-FFF2-40B4-BE49-F238E27FC236}">
                <a16:creationId xmlns:a16="http://schemas.microsoft.com/office/drawing/2014/main" id="{3E072CB9-E38D-D13A-10F2-9B8E49D136EE}"/>
              </a:ext>
            </a:extLst>
          </p:cNvPr>
          <p:cNvSpPr txBox="1"/>
          <p:nvPr/>
        </p:nvSpPr>
        <p:spPr>
          <a:xfrm>
            <a:off x="4885034" y="551124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消息</a:t>
            </a: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7DC8BB9B-50DD-42B0-7ADF-3EA78AD699C7}"/>
              </a:ext>
            </a:extLst>
          </p:cNvPr>
          <p:cNvCxnSpPr>
            <a:endCxn id="171" idx="1"/>
          </p:cNvCxnSpPr>
          <p:nvPr/>
        </p:nvCxnSpPr>
        <p:spPr>
          <a:xfrm>
            <a:off x="1606770" y="5193543"/>
            <a:ext cx="933045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E8FE7753-D534-686F-9220-187DD229591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347573" y="3700786"/>
            <a:ext cx="2114834" cy="1382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CEBB3ED6-7673-E62A-F490-6458C546C262}"/>
              </a:ext>
            </a:extLst>
          </p:cNvPr>
          <p:cNvCxnSpPr>
            <a:cxnSpLocks/>
            <a:stCxn id="182" idx="3"/>
          </p:cNvCxnSpPr>
          <p:nvPr/>
        </p:nvCxnSpPr>
        <p:spPr>
          <a:xfrm>
            <a:off x="2954688" y="3076576"/>
            <a:ext cx="2176567" cy="2563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矩形 261">
            <a:extLst>
              <a:ext uri="{FF2B5EF4-FFF2-40B4-BE49-F238E27FC236}">
                <a16:creationId xmlns:a16="http://schemas.microsoft.com/office/drawing/2014/main" id="{FAF58C81-ECA6-F417-2174-E70C793DC85B}"/>
              </a:ext>
            </a:extLst>
          </p:cNvPr>
          <p:cNvSpPr/>
          <p:nvPr/>
        </p:nvSpPr>
        <p:spPr>
          <a:xfrm>
            <a:off x="1043245" y="2035963"/>
            <a:ext cx="1879604" cy="487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ShopLine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官网</a:t>
            </a:r>
          </a:p>
        </p:txBody>
      </p:sp>
      <p:cxnSp>
        <p:nvCxnSpPr>
          <p:cNvPr id="263" name="直接箭头连接符 262">
            <a:extLst>
              <a:ext uri="{FF2B5EF4-FFF2-40B4-BE49-F238E27FC236}">
                <a16:creationId xmlns:a16="http://schemas.microsoft.com/office/drawing/2014/main" id="{EED7D427-399B-90A2-0149-B92B4FE13621}"/>
              </a:ext>
            </a:extLst>
          </p:cNvPr>
          <p:cNvCxnSpPr>
            <a:cxnSpLocks/>
          </p:cNvCxnSpPr>
          <p:nvPr/>
        </p:nvCxnSpPr>
        <p:spPr>
          <a:xfrm>
            <a:off x="2954688" y="2169564"/>
            <a:ext cx="2192891" cy="1887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文本框 263">
            <a:extLst>
              <a:ext uri="{FF2B5EF4-FFF2-40B4-BE49-F238E27FC236}">
                <a16:creationId xmlns:a16="http://schemas.microsoft.com/office/drawing/2014/main" id="{DEAA700E-036C-624C-4987-B19934D33F85}"/>
              </a:ext>
            </a:extLst>
          </p:cNvPr>
          <p:cNvSpPr txBox="1"/>
          <p:nvPr/>
        </p:nvSpPr>
        <p:spPr>
          <a:xfrm>
            <a:off x="3594366" y="190744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商品埋点数据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Light" panose="020B0502040204020203" pitchFamily="34" charset="-122"/>
              <a:ea typeface="Microsoft YaHei Light" panose="020B0502040204020203" pitchFamily="34" charset="-122"/>
              <a:cs typeface="+mn-cs"/>
            </a:endParaRPr>
          </a:p>
        </p:txBody>
      </p:sp>
      <p:cxnSp>
        <p:nvCxnSpPr>
          <p:cNvPr id="265" name="直接箭头连接符 264">
            <a:extLst>
              <a:ext uri="{FF2B5EF4-FFF2-40B4-BE49-F238E27FC236}">
                <a16:creationId xmlns:a16="http://schemas.microsoft.com/office/drawing/2014/main" id="{859550D9-B6FB-677C-37E9-044B3427FF31}"/>
              </a:ext>
            </a:extLst>
          </p:cNvPr>
          <p:cNvCxnSpPr>
            <a:cxnSpLocks/>
          </p:cNvCxnSpPr>
          <p:nvPr/>
        </p:nvCxnSpPr>
        <p:spPr>
          <a:xfrm flipH="1">
            <a:off x="2922849" y="2396710"/>
            <a:ext cx="222473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>
            <a:extLst>
              <a:ext uri="{FF2B5EF4-FFF2-40B4-BE49-F238E27FC236}">
                <a16:creationId xmlns:a16="http://schemas.microsoft.com/office/drawing/2014/main" id="{C9E412F5-D73D-ED3A-7B8B-B8859EC93DD6}"/>
              </a:ext>
            </a:extLst>
          </p:cNvPr>
          <p:cNvSpPr txBox="1"/>
          <p:nvPr/>
        </p:nvSpPr>
        <p:spPr>
          <a:xfrm>
            <a:off x="3837978" y="244656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Light" panose="020B0502040204020203" pitchFamily="34" charset="-122"/>
                <a:ea typeface="Microsoft YaHei Light" panose="020B0502040204020203" pitchFamily="34" charset="-122"/>
                <a:cs typeface="+mn-cs"/>
              </a:rPr>
              <a:t>商品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ADEBE00-838B-65BC-2532-DBB9E746F924}"/>
              </a:ext>
            </a:extLst>
          </p:cNvPr>
          <p:cNvGrpSpPr/>
          <p:nvPr/>
        </p:nvGrpSpPr>
        <p:grpSpPr>
          <a:xfrm>
            <a:off x="11221426" y="4571644"/>
            <a:ext cx="914400" cy="1242298"/>
            <a:chOff x="9201150" y="4567654"/>
            <a:chExt cx="914400" cy="1242298"/>
          </a:xfrm>
        </p:grpSpPr>
        <p:pic>
          <p:nvPicPr>
            <p:cNvPr id="5" name="图形 4" descr="用户">
              <a:extLst>
                <a:ext uri="{FF2B5EF4-FFF2-40B4-BE49-F238E27FC236}">
                  <a16:creationId xmlns:a16="http://schemas.microsoft.com/office/drawing/2014/main" id="{59E9EF38-F74B-E757-93C2-17135446B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01150" y="4567654"/>
              <a:ext cx="914400" cy="9144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6DF78AD-6669-90A7-0E86-2ED473C2D949}"/>
                </a:ext>
              </a:extLst>
            </p:cNvPr>
            <p:cNvSpPr txBox="1"/>
            <p:nvPr/>
          </p:nvSpPr>
          <p:spPr>
            <a:xfrm>
              <a:off x="9360832" y="5471398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 Light" panose="020B0502040204020203" pitchFamily="34" charset="-122"/>
                  <a:ea typeface="Microsoft YaHei Light" panose="020B0502040204020203" pitchFamily="34" charset="-122"/>
                  <a:cs typeface="+mn-cs"/>
                </a:rPr>
                <a:t>运营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33748A49-DEBC-87F6-E853-BE86D7CA4279}"/>
              </a:ext>
            </a:extLst>
          </p:cNvPr>
          <p:cNvSpPr/>
          <p:nvPr/>
        </p:nvSpPr>
        <p:spPr>
          <a:xfrm>
            <a:off x="8589125" y="4968810"/>
            <a:ext cx="2011680" cy="487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管理后台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2D23158-D94B-90B6-D7F1-68E32B1ECC05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10600805" y="5212382"/>
            <a:ext cx="841256" cy="32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64D3D9F-8452-4213-80C8-21DD311D1DF3}"/>
              </a:ext>
            </a:extLst>
          </p:cNvPr>
          <p:cNvCxnSpPr>
            <a:cxnSpLocks/>
          </p:cNvCxnSpPr>
          <p:nvPr/>
        </p:nvCxnSpPr>
        <p:spPr>
          <a:xfrm>
            <a:off x="6198001" y="1160215"/>
            <a:ext cx="0" cy="88572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E1D9D9E-07F2-4AE8-8C3C-C1FDCCBF9D69}"/>
              </a:ext>
            </a:extLst>
          </p:cNvPr>
          <p:cNvSpPr txBox="1"/>
          <p:nvPr/>
        </p:nvSpPr>
        <p:spPr>
          <a:xfrm>
            <a:off x="6304818" y="137658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运营信息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Light" panose="020B0502040204020203" pitchFamily="34" charset="-122"/>
              <a:ea typeface="Microsoft YaHei Light" panose="020B0502040204020203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12753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E2A73126-6FA2-410C-B86D-2658E044FEBD}"/>
              </a:ext>
            </a:extLst>
          </p:cNvPr>
          <p:cNvGrpSpPr/>
          <p:nvPr/>
        </p:nvGrpSpPr>
        <p:grpSpPr>
          <a:xfrm>
            <a:off x="383254" y="247144"/>
            <a:ext cx="10111874" cy="712352"/>
            <a:chOff x="383254" y="498266"/>
            <a:chExt cx="10111874" cy="712352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D0FDEA2C-169B-4CA1-B9DA-2F74D50826AA}"/>
                </a:ext>
              </a:extLst>
            </p:cNvPr>
            <p:cNvGrpSpPr/>
            <p:nvPr/>
          </p:nvGrpSpPr>
          <p:grpSpPr>
            <a:xfrm>
              <a:off x="395536" y="1138610"/>
              <a:ext cx="10099592" cy="72008"/>
              <a:chOff x="395536" y="483518"/>
              <a:chExt cx="10099592" cy="72008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C052D222-C797-489E-A0A3-A1D5A9EFA601}"/>
                  </a:ext>
                </a:extLst>
              </p:cNvPr>
              <p:cNvCxnSpPr/>
              <p:nvPr/>
            </p:nvCxnSpPr>
            <p:spPr>
              <a:xfrm>
                <a:off x="395536" y="483518"/>
                <a:ext cx="10099592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7380135-6A3A-47FC-B990-7346A4E8FCD3}"/>
                  </a:ext>
                </a:extLst>
              </p:cNvPr>
              <p:cNvSpPr/>
              <p:nvPr/>
            </p:nvSpPr>
            <p:spPr>
              <a:xfrm>
                <a:off x="395536" y="483518"/>
                <a:ext cx="2196678" cy="7200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E08E0957-9935-48D1-95E8-59000DFE3FF0}"/>
                </a:ext>
              </a:extLst>
            </p:cNvPr>
            <p:cNvSpPr txBox="1"/>
            <p:nvPr/>
          </p:nvSpPr>
          <p:spPr>
            <a:xfrm>
              <a:off x="383254" y="498266"/>
              <a:ext cx="7415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物理部署图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7278B89-4CAE-45E7-802F-5DED816DE202}"/>
              </a:ext>
            </a:extLst>
          </p:cNvPr>
          <p:cNvGrpSpPr/>
          <p:nvPr/>
        </p:nvGrpSpPr>
        <p:grpSpPr>
          <a:xfrm>
            <a:off x="7622346" y="4219917"/>
            <a:ext cx="519694" cy="575002"/>
            <a:chOff x="5843906" y="3615931"/>
            <a:chExt cx="519694" cy="575002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4BEA2BA-1560-4B3E-BC61-F51231612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3752" y="3615931"/>
              <a:ext cx="360000" cy="360000"/>
            </a:xfrm>
            <a:prstGeom prst="rect">
              <a:avLst/>
            </a:prstGeom>
          </p:spPr>
        </p:pic>
        <p:sp>
          <p:nvSpPr>
            <p:cNvPr id="33" name="文本框 90">
              <a:extLst>
                <a:ext uri="{FF2B5EF4-FFF2-40B4-BE49-F238E27FC236}">
                  <a16:creationId xmlns:a16="http://schemas.microsoft.com/office/drawing/2014/main" id="{B3D49624-9AE9-4966-8F52-030C25CC0F8C}"/>
                </a:ext>
              </a:extLst>
            </p:cNvPr>
            <p:cNvSpPr txBox="1"/>
            <p:nvPr/>
          </p:nvSpPr>
          <p:spPr>
            <a:xfrm>
              <a:off x="5843906" y="3975489"/>
              <a:ext cx="5196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master</a:t>
              </a:r>
              <a:endPara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95255258-7FD9-42BC-8F65-44CEBA657B43}"/>
              </a:ext>
            </a:extLst>
          </p:cNvPr>
          <p:cNvSpPr/>
          <p:nvPr/>
        </p:nvSpPr>
        <p:spPr>
          <a:xfrm>
            <a:off x="3925469" y="2760716"/>
            <a:ext cx="2563254" cy="1514927"/>
          </a:xfrm>
          <a:prstGeom prst="rect">
            <a:avLst/>
          </a:prstGeom>
          <a:noFill/>
          <a:ln w="12700">
            <a:solidFill>
              <a:srgbClr val="FFAF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9618581-F40E-4DA2-A803-DF3D7A319FA2}"/>
              </a:ext>
            </a:extLst>
          </p:cNvPr>
          <p:cNvGrpSpPr/>
          <p:nvPr/>
        </p:nvGrpSpPr>
        <p:grpSpPr>
          <a:xfrm>
            <a:off x="3853738" y="1317828"/>
            <a:ext cx="595035" cy="555249"/>
            <a:chOff x="3001650" y="840724"/>
            <a:chExt cx="595035" cy="555249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1DA20097-011E-479E-98A2-DFDDD2196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8968" y="840724"/>
              <a:ext cx="360000" cy="360000"/>
            </a:xfrm>
            <a:prstGeom prst="rect">
              <a:avLst/>
            </a:prstGeom>
          </p:spPr>
        </p:pic>
        <p:sp>
          <p:nvSpPr>
            <p:cNvPr id="38" name="文本框 90">
              <a:extLst>
                <a:ext uri="{FF2B5EF4-FFF2-40B4-BE49-F238E27FC236}">
                  <a16:creationId xmlns:a16="http://schemas.microsoft.com/office/drawing/2014/main" id="{A7F0DC53-7E98-4BCC-80B0-C85788E19F56}"/>
                </a:ext>
              </a:extLst>
            </p:cNvPr>
            <p:cNvSpPr txBox="1"/>
            <p:nvPr/>
          </p:nvSpPr>
          <p:spPr>
            <a:xfrm>
              <a:off x="3001650" y="1180529"/>
              <a:ext cx="5950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800" dirty="0">
                  <a:solidFill>
                    <a:srgbClr val="C00000"/>
                  </a:solidFill>
                  <a:ea typeface="微软雅黑" charset="0"/>
                </a:rPr>
                <a:t>前端域名</a:t>
              </a:r>
              <a:endParaRPr lang="en-US" altLang="zh-CN" sz="800" dirty="0">
                <a:solidFill>
                  <a:srgbClr val="C00000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9CDB8A0-1DA2-4ED7-9B2F-0DA001EACE62}"/>
              </a:ext>
            </a:extLst>
          </p:cNvPr>
          <p:cNvGrpSpPr/>
          <p:nvPr/>
        </p:nvGrpSpPr>
        <p:grpSpPr>
          <a:xfrm>
            <a:off x="5196111" y="1241158"/>
            <a:ext cx="527709" cy="555249"/>
            <a:chOff x="3035313" y="840724"/>
            <a:chExt cx="527709" cy="555249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F673107-C5E2-432B-A598-01E793AFB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8968" y="840724"/>
              <a:ext cx="360000" cy="360000"/>
            </a:xfrm>
            <a:prstGeom prst="rect">
              <a:avLst/>
            </a:prstGeom>
          </p:spPr>
        </p:pic>
        <p:sp>
          <p:nvSpPr>
            <p:cNvPr id="41" name="文本框 90">
              <a:extLst>
                <a:ext uri="{FF2B5EF4-FFF2-40B4-BE49-F238E27FC236}">
                  <a16:creationId xmlns:a16="http://schemas.microsoft.com/office/drawing/2014/main" id="{0143DE7C-FA84-48AD-8932-5D7E173E2F0D}"/>
                </a:ext>
              </a:extLst>
            </p:cNvPr>
            <p:cNvSpPr txBox="1"/>
            <p:nvPr/>
          </p:nvSpPr>
          <p:spPr>
            <a:xfrm>
              <a:off x="3035313" y="1180529"/>
              <a:ext cx="5277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800" dirty="0">
                  <a:solidFill>
                    <a:srgbClr val="C00000"/>
                  </a:solidFill>
                  <a:ea typeface="微软雅黑" charset="0"/>
                </a:rPr>
                <a:t>API</a:t>
              </a:r>
              <a:r>
                <a:rPr lang="zh-CN" altLang="en-US" sz="800" dirty="0">
                  <a:solidFill>
                    <a:srgbClr val="C00000"/>
                  </a:solidFill>
                  <a:ea typeface="微软雅黑" charset="0"/>
                </a:rPr>
                <a:t>域名</a:t>
              </a:r>
              <a:endParaRPr lang="en-US" altLang="zh-CN" sz="800" dirty="0">
                <a:solidFill>
                  <a:srgbClr val="C00000"/>
                </a:solidFill>
                <a:ea typeface="微软雅黑" panose="020B0503020204020204" pitchFamily="34" charset="-122"/>
              </a:endParaRPr>
            </a:p>
          </p:txBody>
        </p:sp>
      </p:grpSp>
      <p:cxnSp>
        <p:nvCxnSpPr>
          <p:cNvPr id="42" name="曲线连接符 37">
            <a:extLst>
              <a:ext uri="{FF2B5EF4-FFF2-40B4-BE49-F238E27FC236}">
                <a16:creationId xmlns:a16="http://schemas.microsoft.com/office/drawing/2014/main" id="{A97408A7-ABDE-4857-84D4-2BA3D30C1856}"/>
              </a:ext>
            </a:extLst>
          </p:cNvPr>
          <p:cNvCxnSpPr>
            <a:stCxn id="37" idx="2"/>
            <a:endCxn id="55" idx="0"/>
          </p:cNvCxnSpPr>
          <p:nvPr/>
        </p:nvCxnSpPr>
        <p:spPr>
          <a:xfrm rot="16200000" flipH="1">
            <a:off x="4245086" y="1583798"/>
            <a:ext cx="854070" cy="1042130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38">
            <a:extLst>
              <a:ext uri="{FF2B5EF4-FFF2-40B4-BE49-F238E27FC236}">
                <a16:creationId xmlns:a16="http://schemas.microsoft.com/office/drawing/2014/main" id="{1FD7444B-6D00-487C-8A7C-C29A35CC6FE3}"/>
              </a:ext>
            </a:extLst>
          </p:cNvPr>
          <p:cNvCxnSpPr>
            <a:stCxn id="40" idx="2"/>
            <a:endCxn id="55" idx="0"/>
          </p:cNvCxnSpPr>
          <p:nvPr/>
        </p:nvCxnSpPr>
        <p:spPr>
          <a:xfrm rot="5400000">
            <a:off x="4861106" y="1933238"/>
            <a:ext cx="930740" cy="266580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圆角矩形 39">
            <a:extLst>
              <a:ext uri="{FF2B5EF4-FFF2-40B4-BE49-F238E27FC236}">
                <a16:creationId xmlns:a16="http://schemas.microsoft.com/office/drawing/2014/main" id="{B148ADAF-CA33-47BB-9248-691AFDBDD588}"/>
              </a:ext>
            </a:extLst>
          </p:cNvPr>
          <p:cNvSpPr/>
          <p:nvPr/>
        </p:nvSpPr>
        <p:spPr>
          <a:xfrm>
            <a:off x="5251143" y="3116557"/>
            <a:ext cx="710400" cy="22620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网关</a:t>
            </a:r>
          </a:p>
        </p:txBody>
      </p:sp>
      <p:sp>
        <p:nvSpPr>
          <p:cNvPr id="45" name="圆角矩形 40">
            <a:extLst>
              <a:ext uri="{FF2B5EF4-FFF2-40B4-BE49-F238E27FC236}">
                <a16:creationId xmlns:a16="http://schemas.microsoft.com/office/drawing/2014/main" id="{D0904929-3934-44CE-99AC-F9D5AE70A83E}"/>
              </a:ext>
            </a:extLst>
          </p:cNvPr>
          <p:cNvSpPr/>
          <p:nvPr/>
        </p:nvSpPr>
        <p:spPr>
          <a:xfrm>
            <a:off x="4436984" y="3466475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sp>
        <p:nvSpPr>
          <p:cNvPr id="46" name="圆角矩形 41">
            <a:extLst>
              <a:ext uri="{FF2B5EF4-FFF2-40B4-BE49-F238E27FC236}">
                <a16:creationId xmlns:a16="http://schemas.microsoft.com/office/drawing/2014/main" id="{7E27F6ED-B372-44B9-9F28-3D8C253AB4CD}"/>
              </a:ext>
            </a:extLst>
          </p:cNvPr>
          <p:cNvSpPr/>
          <p:nvPr/>
        </p:nvSpPr>
        <p:spPr>
          <a:xfrm>
            <a:off x="5279988" y="3455701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sp>
        <p:nvSpPr>
          <p:cNvPr id="47" name="圆角矩形 42">
            <a:extLst>
              <a:ext uri="{FF2B5EF4-FFF2-40B4-BE49-F238E27FC236}">
                <a16:creationId xmlns:a16="http://schemas.microsoft.com/office/drawing/2014/main" id="{69E8C634-4E2E-4841-A104-6C7382CA1A00}"/>
              </a:ext>
            </a:extLst>
          </p:cNvPr>
          <p:cNvSpPr/>
          <p:nvPr/>
        </p:nvSpPr>
        <p:spPr>
          <a:xfrm>
            <a:off x="4436984" y="3740115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sp>
        <p:nvSpPr>
          <p:cNvPr id="48" name="圆角矩形 43">
            <a:extLst>
              <a:ext uri="{FF2B5EF4-FFF2-40B4-BE49-F238E27FC236}">
                <a16:creationId xmlns:a16="http://schemas.microsoft.com/office/drawing/2014/main" id="{02CE8AF8-82CD-444C-B882-7577123E25C6}"/>
              </a:ext>
            </a:extLst>
          </p:cNvPr>
          <p:cNvSpPr/>
          <p:nvPr/>
        </p:nvSpPr>
        <p:spPr>
          <a:xfrm>
            <a:off x="5279988" y="3729341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81D28DD-0F9C-402A-847D-2611252F5361}"/>
              </a:ext>
            </a:extLst>
          </p:cNvPr>
          <p:cNvSpPr txBox="1"/>
          <p:nvPr/>
        </p:nvSpPr>
        <p:spPr>
          <a:xfrm>
            <a:off x="4984118" y="4033271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A244674-9A4D-403F-9354-EB84D3B24EBF}"/>
              </a:ext>
            </a:extLst>
          </p:cNvPr>
          <p:cNvGrpSpPr/>
          <p:nvPr/>
        </p:nvGrpSpPr>
        <p:grpSpPr>
          <a:xfrm>
            <a:off x="7622346" y="2394264"/>
            <a:ext cx="519694" cy="582440"/>
            <a:chOff x="2251550" y="3615247"/>
            <a:chExt cx="519694" cy="582440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7F49FA5F-72A9-4255-8468-AADE42E3D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1992" y="3615247"/>
              <a:ext cx="429123" cy="429123"/>
            </a:xfrm>
            <a:prstGeom prst="rect">
              <a:avLst/>
            </a:prstGeom>
          </p:spPr>
        </p:pic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C4198F3-6356-4833-944A-CA67707F8941}"/>
                </a:ext>
              </a:extLst>
            </p:cNvPr>
            <p:cNvSpPr txBox="1"/>
            <p:nvPr/>
          </p:nvSpPr>
          <p:spPr>
            <a:xfrm>
              <a:off x="2251550" y="3982243"/>
              <a:ext cx="5196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master</a:t>
              </a:r>
              <a:endPara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9A0665D-312A-47BD-BAC6-50D84A549765}"/>
              </a:ext>
            </a:extLst>
          </p:cNvPr>
          <p:cNvGrpSpPr/>
          <p:nvPr/>
        </p:nvGrpSpPr>
        <p:grpSpPr>
          <a:xfrm>
            <a:off x="4996333" y="2531898"/>
            <a:ext cx="393706" cy="548598"/>
            <a:chOff x="6438414" y="1549514"/>
            <a:chExt cx="393706" cy="548598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46D62A00-214F-438F-98CC-319F7ADB3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8414" y="1549514"/>
              <a:ext cx="393706" cy="393706"/>
            </a:xfrm>
            <a:prstGeom prst="rect">
              <a:avLst/>
            </a:prstGeom>
          </p:spPr>
        </p:pic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83082DD6-C8BB-4B33-803A-49B344D1FCF2}"/>
                </a:ext>
              </a:extLst>
            </p:cNvPr>
            <p:cNvSpPr txBox="1"/>
            <p:nvPr/>
          </p:nvSpPr>
          <p:spPr>
            <a:xfrm>
              <a:off x="6456372" y="1882668"/>
              <a:ext cx="3577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ELB</a:t>
              </a:r>
              <a:endPara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E302B93-2C49-47A6-8FB4-A87DFF9A2187}"/>
              </a:ext>
            </a:extLst>
          </p:cNvPr>
          <p:cNvGrpSpPr/>
          <p:nvPr/>
        </p:nvGrpSpPr>
        <p:grpSpPr>
          <a:xfrm>
            <a:off x="8580991" y="2397725"/>
            <a:ext cx="453877" cy="582440"/>
            <a:chOff x="2297238" y="3615247"/>
            <a:chExt cx="453877" cy="582440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D5883C78-4F15-4E57-A05B-6E33EAA49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1992" y="3615247"/>
              <a:ext cx="429123" cy="429123"/>
            </a:xfrm>
            <a:prstGeom prst="rect">
              <a:avLst/>
            </a:prstGeom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B817A1EE-97A0-4656-BDED-ED76C6FBC47D}"/>
                </a:ext>
              </a:extLst>
            </p:cNvPr>
            <p:cNvSpPr txBox="1"/>
            <p:nvPr/>
          </p:nvSpPr>
          <p:spPr>
            <a:xfrm>
              <a:off x="2297238" y="3982243"/>
              <a:ext cx="42832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slave</a:t>
              </a:r>
              <a:endPara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476759E5-DDB8-4672-8FB1-B6822B61CDDA}"/>
              </a:ext>
            </a:extLst>
          </p:cNvPr>
          <p:cNvSpPr/>
          <p:nvPr/>
        </p:nvSpPr>
        <p:spPr>
          <a:xfrm>
            <a:off x="7439575" y="2222165"/>
            <a:ext cx="1845087" cy="750609"/>
          </a:xfrm>
          <a:prstGeom prst="rect">
            <a:avLst/>
          </a:prstGeom>
          <a:noFill/>
          <a:ln w="12700">
            <a:solidFill>
              <a:srgbClr val="FFAF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90">
            <a:extLst>
              <a:ext uri="{FF2B5EF4-FFF2-40B4-BE49-F238E27FC236}">
                <a16:creationId xmlns:a16="http://schemas.microsoft.com/office/drawing/2014/main" id="{1BB40581-CABC-40E7-AE52-FF0338331728}"/>
              </a:ext>
            </a:extLst>
          </p:cNvPr>
          <p:cNvSpPr txBox="1"/>
          <p:nvPr/>
        </p:nvSpPr>
        <p:spPr>
          <a:xfrm>
            <a:off x="7962682" y="2242175"/>
            <a:ext cx="697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  <a:r>
              <a:rPr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RDS</a:t>
            </a:r>
            <a:endParaRPr lang="zh-CN" altLang="en-US" sz="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577F6C9-BEF6-4496-9788-03A5C67983A1}"/>
              </a:ext>
            </a:extLst>
          </p:cNvPr>
          <p:cNvSpPr/>
          <p:nvPr/>
        </p:nvSpPr>
        <p:spPr>
          <a:xfrm>
            <a:off x="7439575" y="3113472"/>
            <a:ext cx="1845087" cy="750609"/>
          </a:xfrm>
          <a:prstGeom prst="rect">
            <a:avLst/>
          </a:prstGeom>
          <a:noFill/>
          <a:ln w="12700">
            <a:solidFill>
              <a:srgbClr val="FFAF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90">
            <a:extLst>
              <a:ext uri="{FF2B5EF4-FFF2-40B4-BE49-F238E27FC236}">
                <a16:creationId xmlns:a16="http://schemas.microsoft.com/office/drawing/2014/main" id="{B880BB4F-387E-4F31-A4BC-BC05F5306324}"/>
              </a:ext>
            </a:extLst>
          </p:cNvPr>
          <p:cNvSpPr txBox="1"/>
          <p:nvPr/>
        </p:nvSpPr>
        <p:spPr>
          <a:xfrm>
            <a:off x="7870510" y="3133482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  <a:r>
              <a:rPr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MQ</a:t>
            </a:r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CA0A96D-BFD7-4212-8613-CFDC8D2A7608}"/>
              </a:ext>
            </a:extLst>
          </p:cNvPr>
          <p:cNvCxnSpPr>
            <a:stCxn id="52" idx="3"/>
            <a:endCxn id="58" idx="1"/>
          </p:cNvCxnSpPr>
          <p:nvPr/>
        </p:nvCxnSpPr>
        <p:spPr>
          <a:xfrm>
            <a:off x="8121911" y="2608826"/>
            <a:ext cx="483834" cy="34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图片 64">
            <a:extLst>
              <a:ext uri="{FF2B5EF4-FFF2-40B4-BE49-F238E27FC236}">
                <a16:creationId xmlns:a16="http://schemas.microsoft.com/office/drawing/2014/main" id="{06BDD318-AF46-47F4-8E69-88C7EDAE5C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139" y="3446270"/>
            <a:ext cx="287522" cy="26226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7A77833-5AB1-4A97-924F-5E669BB3BD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735" y="3446270"/>
            <a:ext cx="287522" cy="262260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9BC39BC3-C568-4BFA-B473-51D78AEE4D7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185" y="3446270"/>
            <a:ext cx="287522" cy="262260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976B6ECB-06C7-485B-AE22-B0963F4A6054}"/>
              </a:ext>
            </a:extLst>
          </p:cNvPr>
          <p:cNvSpPr/>
          <p:nvPr/>
        </p:nvSpPr>
        <p:spPr>
          <a:xfrm>
            <a:off x="7591975" y="3331495"/>
            <a:ext cx="1544994" cy="435706"/>
          </a:xfrm>
          <a:prstGeom prst="rect">
            <a:avLst/>
          </a:prstGeom>
          <a:noFill/>
          <a:ln w="12700">
            <a:solidFill>
              <a:srgbClr val="FFAFA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1EB7C90-8697-47DC-A6B7-0D154386F0A6}"/>
              </a:ext>
            </a:extLst>
          </p:cNvPr>
          <p:cNvSpPr/>
          <p:nvPr/>
        </p:nvSpPr>
        <p:spPr>
          <a:xfrm>
            <a:off x="7439575" y="4018233"/>
            <a:ext cx="1845087" cy="750609"/>
          </a:xfrm>
          <a:prstGeom prst="rect">
            <a:avLst/>
          </a:prstGeom>
          <a:noFill/>
          <a:ln w="12700">
            <a:solidFill>
              <a:srgbClr val="FFAF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90">
            <a:extLst>
              <a:ext uri="{FF2B5EF4-FFF2-40B4-BE49-F238E27FC236}">
                <a16:creationId xmlns:a16="http://schemas.microsoft.com/office/drawing/2014/main" id="{2DD254E3-FF3F-44FE-9B1D-0C25F4038A7C}"/>
              </a:ext>
            </a:extLst>
          </p:cNvPr>
          <p:cNvSpPr txBox="1"/>
          <p:nvPr/>
        </p:nvSpPr>
        <p:spPr>
          <a:xfrm>
            <a:off x="7932226" y="4038243"/>
            <a:ext cx="7585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  <a:r>
              <a:rPr lang="en-US" altLang="zh-CN" sz="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endParaRPr lang="zh-CN" altLang="en-US" sz="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50ADF414-9F1A-4A70-86DF-C99C97DD73D6}"/>
              </a:ext>
            </a:extLst>
          </p:cNvPr>
          <p:cNvCxnSpPr/>
          <p:nvPr/>
        </p:nvCxnSpPr>
        <p:spPr>
          <a:xfrm>
            <a:off x="8121911" y="4404894"/>
            <a:ext cx="483834" cy="34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AA0351F2-54DD-46B7-B3F2-AAB6E78323E7}"/>
              </a:ext>
            </a:extLst>
          </p:cNvPr>
          <p:cNvGrpSpPr/>
          <p:nvPr/>
        </p:nvGrpSpPr>
        <p:grpSpPr>
          <a:xfrm>
            <a:off x="8657562" y="4196165"/>
            <a:ext cx="428323" cy="575002"/>
            <a:chOff x="5889591" y="3615931"/>
            <a:chExt cx="428323" cy="575002"/>
          </a:xfrm>
        </p:grpSpPr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7B6BF058-7E17-4D5C-A836-93728894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3752" y="3615931"/>
              <a:ext cx="360000" cy="360000"/>
            </a:xfrm>
            <a:prstGeom prst="rect">
              <a:avLst/>
            </a:prstGeom>
          </p:spPr>
        </p:pic>
        <p:sp>
          <p:nvSpPr>
            <p:cNvPr id="74" name="文本框 90">
              <a:extLst>
                <a:ext uri="{FF2B5EF4-FFF2-40B4-BE49-F238E27FC236}">
                  <a16:creationId xmlns:a16="http://schemas.microsoft.com/office/drawing/2014/main" id="{4361B01C-2702-43B7-A517-C93D0714F9BA}"/>
                </a:ext>
              </a:extLst>
            </p:cNvPr>
            <p:cNvSpPr txBox="1"/>
            <p:nvPr/>
          </p:nvSpPr>
          <p:spPr>
            <a:xfrm>
              <a:off x="5889591" y="3975489"/>
              <a:ext cx="42832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slave</a:t>
              </a:r>
              <a:endPara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5" name="图片 74">
            <a:extLst>
              <a:ext uri="{FF2B5EF4-FFF2-40B4-BE49-F238E27FC236}">
                <a16:creationId xmlns:a16="http://schemas.microsoft.com/office/drawing/2014/main" id="{CF6245B3-29D7-4968-9C91-18D7EE0951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735" y="5157098"/>
            <a:ext cx="360000" cy="360000"/>
          </a:xfrm>
          <a:prstGeom prst="rect">
            <a:avLst/>
          </a:prstGeom>
        </p:spPr>
      </p:pic>
      <p:sp>
        <p:nvSpPr>
          <p:cNvPr id="76" name="矩形 75">
            <a:extLst>
              <a:ext uri="{FF2B5EF4-FFF2-40B4-BE49-F238E27FC236}">
                <a16:creationId xmlns:a16="http://schemas.microsoft.com/office/drawing/2014/main" id="{6986F00C-7A8D-443B-98EC-3C21F12A939E}"/>
              </a:ext>
            </a:extLst>
          </p:cNvPr>
          <p:cNvSpPr/>
          <p:nvPr/>
        </p:nvSpPr>
        <p:spPr>
          <a:xfrm>
            <a:off x="7440452" y="4896740"/>
            <a:ext cx="1845087" cy="750609"/>
          </a:xfrm>
          <a:prstGeom prst="rect">
            <a:avLst/>
          </a:prstGeom>
          <a:noFill/>
          <a:ln w="12700">
            <a:solidFill>
              <a:srgbClr val="FFAF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EF9896B3-C430-4C2C-8594-CE24D79730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868" y="5150084"/>
            <a:ext cx="360000" cy="360000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9C480A34-DD84-41D7-9428-A9C37AF4922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900" y="5150084"/>
            <a:ext cx="360000" cy="360000"/>
          </a:xfrm>
          <a:prstGeom prst="rect">
            <a:avLst/>
          </a:prstGeom>
        </p:spPr>
      </p:pic>
      <p:sp>
        <p:nvSpPr>
          <p:cNvPr id="79" name="文本框 90">
            <a:extLst>
              <a:ext uri="{FF2B5EF4-FFF2-40B4-BE49-F238E27FC236}">
                <a16:creationId xmlns:a16="http://schemas.microsoft.com/office/drawing/2014/main" id="{DD1386D2-E141-46E6-9AAF-B9BE49770F3C}"/>
              </a:ext>
            </a:extLst>
          </p:cNvPr>
          <p:cNvSpPr txBox="1"/>
          <p:nvPr/>
        </p:nvSpPr>
        <p:spPr>
          <a:xfrm>
            <a:off x="7806519" y="4912183"/>
            <a:ext cx="11112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  <a:r>
              <a:rPr lang="en-US" altLang="zh-CN" sz="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Elasticsearch</a:t>
            </a:r>
            <a:endParaRPr lang="zh-CN" altLang="en-US" sz="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圆角矩形 144">
            <a:extLst>
              <a:ext uri="{FF2B5EF4-FFF2-40B4-BE49-F238E27FC236}">
                <a16:creationId xmlns:a16="http://schemas.microsoft.com/office/drawing/2014/main" id="{E7BF38B1-A6A6-45CC-93C6-2BD74530D2AB}"/>
              </a:ext>
            </a:extLst>
          </p:cNvPr>
          <p:cNvSpPr/>
          <p:nvPr/>
        </p:nvSpPr>
        <p:spPr>
          <a:xfrm>
            <a:off x="4401476" y="3111465"/>
            <a:ext cx="710400" cy="22620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管理网关</a:t>
            </a:r>
          </a:p>
        </p:txBody>
      </p:sp>
      <p:sp>
        <p:nvSpPr>
          <p:cNvPr id="91" name="圆角矩形 145">
            <a:extLst>
              <a:ext uri="{FF2B5EF4-FFF2-40B4-BE49-F238E27FC236}">
                <a16:creationId xmlns:a16="http://schemas.microsoft.com/office/drawing/2014/main" id="{2C8330EA-F136-4742-A546-10DD3F6D4CE0}"/>
              </a:ext>
            </a:extLst>
          </p:cNvPr>
          <p:cNvSpPr/>
          <p:nvPr/>
        </p:nvSpPr>
        <p:spPr>
          <a:xfrm>
            <a:off x="4368394" y="3505416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sp>
        <p:nvSpPr>
          <p:cNvPr id="92" name="圆角矩形 146">
            <a:extLst>
              <a:ext uri="{FF2B5EF4-FFF2-40B4-BE49-F238E27FC236}">
                <a16:creationId xmlns:a16="http://schemas.microsoft.com/office/drawing/2014/main" id="{5D982CAD-25D4-4CA4-AE63-FB9645504DD5}"/>
              </a:ext>
            </a:extLst>
          </p:cNvPr>
          <p:cNvSpPr/>
          <p:nvPr/>
        </p:nvSpPr>
        <p:spPr>
          <a:xfrm>
            <a:off x="5211398" y="3494642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sp>
        <p:nvSpPr>
          <p:cNvPr id="93" name="圆角矩形 147">
            <a:extLst>
              <a:ext uri="{FF2B5EF4-FFF2-40B4-BE49-F238E27FC236}">
                <a16:creationId xmlns:a16="http://schemas.microsoft.com/office/drawing/2014/main" id="{20229A8D-61D5-4E52-BEEB-C1BCB797C370}"/>
              </a:ext>
            </a:extLst>
          </p:cNvPr>
          <p:cNvSpPr/>
          <p:nvPr/>
        </p:nvSpPr>
        <p:spPr>
          <a:xfrm>
            <a:off x="4368394" y="3779056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sp>
        <p:nvSpPr>
          <p:cNvPr id="94" name="圆角矩形 148">
            <a:extLst>
              <a:ext uri="{FF2B5EF4-FFF2-40B4-BE49-F238E27FC236}">
                <a16:creationId xmlns:a16="http://schemas.microsoft.com/office/drawing/2014/main" id="{2F6181A9-B863-4585-A0DF-13B86F6974CE}"/>
              </a:ext>
            </a:extLst>
          </p:cNvPr>
          <p:cNvSpPr/>
          <p:nvPr/>
        </p:nvSpPr>
        <p:spPr>
          <a:xfrm>
            <a:off x="5211398" y="3768282"/>
            <a:ext cx="715698" cy="226207"/>
          </a:xfrm>
          <a:prstGeom prst="roundRect">
            <a:avLst/>
          </a:prstGeom>
          <a:solidFill>
            <a:srgbClr val="FFDDDD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</a:t>
            </a:r>
          </a:p>
        </p:txBody>
      </p:sp>
      <p:cxnSp>
        <p:nvCxnSpPr>
          <p:cNvPr id="96" name="曲线连接符 153">
            <a:extLst>
              <a:ext uri="{FF2B5EF4-FFF2-40B4-BE49-F238E27FC236}">
                <a16:creationId xmlns:a16="http://schemas.microsoft.com/office/drawing/2014/main" id="{AAFF0089-4877-4E62-89EA-32B6FA7B7E2A}"/>
              </a:ext>
            </a:extLst>
          </p:cNvPr>
          <p:cNvCxnSpPr>
            <a:stCxn id="35" idx="3"/>
            <a:endCxn id="60" idx="1"/>
          </p:cNvCxnSpPr>
          <p:nvPr/>
        </p:nvCxnSpPr>
        <p:spPr>
          <a:xfrm flipV="1">
            <a:off x="6488723" y="2597470"/>
            <a:ext cx="950852" cy="920710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曲线连接符 155">
            <a:extLst>
              <a:ext uri="{FF2B5EF4-FFF2-40B4-BE49-F238E27FC236}">
                <a16:creationId xmlns:a16="http://schemas.microsoft.com/office/drawing/2014/main" id="{2859989D-F613-4452-BC5E-C177F692F327}"/>
              </a:ext>
            </a:extLst>
          </p:cNvPr>
          <p:cNvCxnSpPr>
            <a:stCxn id="35" idx="3"/>
            <a:endCxn id="62" idx="1"/>
          </p:cNvCxnSpPr>
          <p:nvPr/>
        </p:nvCxnSpPr>
        <p:spPr>
          <a:xfrm flipV="1">
            <a:off x="6488723" y="3488777"/>
            <a:ext cx="950852" cy="29403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曲线连接符 157">
            <a:extLst>
              <a:ext uri="{FF2B5EF4-FFF2-40B4-BE49-F238E27FC236}">
                <a16:creationId xmlns:a16="http://schemas.microsoft.com/office/drawing/2014/main" id="{BF9B9B08-377C-41E6-ABC0-37A1EAF66AB0}"/>
              </a:ext>
            </a:extLst>
          </p:cNvPr>
          <p:cNvCxnSpPr>
            <a:stCxn id="35" idx="3"/>
            <a:endCxn id="69" idx="1"/>
          </p:cNvCxnSpPr>
          <p:nvPr/>
        </p:nvCxnSpPr>
        <p:spPr>
          <a:xfrm>
            <a:off x="6488723" y="3518180"/>
            <a:ext cx="950852" cy="875358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曲线连接符 159">
            <a:extLst>
              <a:ext uri="{FF2B5EF4-FFF2-40B4-BE49-F238E27FC236}">
                <a16:creationId xmlns:a16="http://schemas.microsoft.com/office/drawing/2014/main" id="{75FEB5CA-092E-4C66-85A3-5F5B5F5459CF}"/>
              </a:ext>
            </a:extLst>
          </p:cNvPr>
          <p:cNvCxnSpPr>
            <a:stCxn id="35" idx="3"/>
            <a:endCxn id="76" idx="1"/>
          </p:cNvCxnSpPr>
          <p:nvPr/>
        </p:nvCxnSpPr>
        <p:spPr>
          <a:xfrm>
            <a:off x="6488723" y="3518180"/>
            <a:ext cx="951729" cy="1753865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0">
            <a:extLst>
              <a:ext uri="{FF2B5EF4-FFF2-40B4-BE49-F238E27FC236}">
                <a16:creationId xmlns:a16="http://schemas.microsoft.com/office/drawing/2014/main" id="{20938E14-5B47-4EC9-B227-E09121E998C5}"/>
              </a:ext>
            </a:extLst>
          </p:cNvPr>
          <p:cNvSpPr txBox="1"/>
          <p:nvPr/>
        </p:nvSpPr>
        <p:spPr>
          <a:xfrm>
            <a:off x="839759" y="3011475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新加坡节点</a:t>
            </a:r>
          </a:p>
        </p:txBody>
      </p:sp>
    </p:spTree>
    <p:extLst>
      <p:ext uri="{BB962C8B-B14F-4D97-AF65-F5344CB8AC3E}">
        <p14:creationId xmlns:p14="http://schemas.microsoft.com/office/powerpoint/2010/main" val="7363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4CF4C982-22F8-4E69-BAAD-8126E4478AD5}"/>
              </a:ext>
            </a:extLst>
          </p:cNvPr>
          <p:cNvSpPr/>
          <p:nvPr/>
        </p:nvSpPr>
        <p:spPr>
          <a:xfrm>
            <a:off x="-74524" y="-49396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集成架构关系表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7D117A79-417F-402B-936B-D0F6B7107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773716"/>
              </p:ext>
            </p:extLst>
          </p:nvPr>
        </p:nvGraphicFramePr>
        <p:xfrm>
          <a:off x="640080" y="606828"/>
          <a:ext cx="10091650" cy="3840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8330">
                  <a:extLst>
                    <a:ext uri="{9D8B030D-6E8A-4147-A177-3AD203B41FA5}">
                      <a16:colId xmlns:a16="http://schemas.microsoft.com/office/drawing/2014/main" val="3071382097"/>
                    </a:ext>
                  </a:extLst>
                </a:gridCol>
                <a:gridCol w="2018330">
                  <a:extLst>
                    <a:ext uri="{9D8B030D-6E8A-4147-A177-3AD203B41FA5}">
                      <a16:colId xmlns:a16="http://schemas.microsoft.com/office/drawing/2014/main" val="3668740001"/>
                    </a:ext>
                  </a:extLst>
                </a:gridCol>
                <a:gridCol w="2018330">
                  <a:extLst>
                    <a:ext uri="{9D8B030D-6E8A-4147-A177-3AD203B41FA5}">
                      <a16:colId xmlns:a16="http://schemas.microsoft.com/office/drawing/2014/main" val="1422585703"/>
                    </a:ext>
                  </a:extLst>
                </a:gridCol>
                <a:gridCol w="2018330">
                  <a:extLst>
                    <a:ext uri="{9D8B030D-6E8A-4147-A177-3AD203B41FA5}">
                      <a16:colId xmlns:a16="http://schemas.microsoft.com/office/drawing/2014/main" val="480801664"/>
                    </a:ext>
                  </a:extLst>
                </a:gridCol>
                <a:gridCol w="2018330">
                  <a:extLst>
                    <a:ext uri="{9D8B030D-6E8A-4147-A177-3AD203B41FA5}">
                      <a16:colId xmlns:a16="http://schemas.microsoft.com/office/drawing/2014/main" val="3066317604"/>
                    </a:ext>
                  </a:extLst>
                </a:gridCol>
              </a:tblGrid>
              <a:tr h="309649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发送方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接收方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176412"/>
                  </a:ext>
                </a:extLst>
              </a:tr>
              <a:tr h="309649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会员查询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Crm-WhatsAPP</a:t>
                      </a:r>
                      <a:r>
                        <a:rPr lang="zh-CN" altLang="en-US" dirty="0"/>
                        <a:t>应用系统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31608"/>
                  </a:ext>
                </a:extLst>
              </a:tr>
              <a:tr h="309649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库存查询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Crm-WhatsAPP</a:t>
                      </a:r>
                      <a:r>
                        <a:rPr lang="zh-CN" altLang="en-US" dirty="0"/>
                        <a:t>应用系统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POS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85333"/>
                  </a:ext>
                </a:extLst>
              </a:tr>
              <a:tr h="309649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发送聊天消息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Crm-WhatsAPP</a:t>
                      </a:r>
                      <a:r>
                        <a:rPr lang="zh-CN" altLang="en-US" dirty="0"/>
                        <a:t>应用系统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Meta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511710"/>
                  </a:ext>
                </a:extLst>
              </a:tr>
              <a:tr h="309649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接收聊天消息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Meta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Crm-WhatsAPP</a:t>
                      </a:r>
                      <a:r>
                        <a:rPr lang="zh-CN" altLang="en-US" dirty="0"/>
                        <a:t>应用系统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837899"/>
                  </a:ext>
                </a:extLst>
              </a:tr>
              <a:tr h="309649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官网埋点数据回传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Crm-WhatsAPP</a:t>
                      </a:r>
                      <a:r>
                        <a:rPr lang="zh-CN" altLang="en-US" dirty="0"/>
                        <a:t>应用系统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ShopLine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190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87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78C76F23-78F1-4DA9-ACBC-18E82364BEEA}"/>
              </a:ext>
            </a:extLst>
          </p:cNvPr>
          <p:cNvSpPr/>
          <p:nvPr/>
        </p:nvSpPr>
        <p:spPr>
          <a:xfrm>
            <a:off x="-74524" y="-49396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新增资源清单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6ADE3AE6-5551-46F3-80D2-03B617C84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77667"/>
              </p:ext>
            </p:extLst>
          </p:nvPr>
        </p:nvGraphicFramePr>
        <p:xfrm>
          <a:off x="1140542" y="619432"/>
          <a:ext cx="9704440" cy="452874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26110">
                  <a:extLst>
                    <a:ext uri="{9D8B030D-6E8A-4147-A177-3AD203B41FA5}">
                      <a16:colId xmlns:a16="http://schemas.microsoft.com/office/drawing/2014/main" val="1506949036"/>
                    </a:ext>
                  </a:extLst>
                </a:gridCol>
                <a:gridCol w="2426110">
                  <a:extLst>
                    <a:ext uri="{9D8B030D-6E8A-4147-A177-3AD203B41FA5}">
                      <a16:colId xmlns:a16="http://schemas.microsoft.com/office/drawing/2014/main" val="479421171"/>
                    </a:ext>
                  </a:extLst>
                </a:gridCol>
                <a:gridCol w="2387840">
                  <a:extLst>
                    <a:ext uri="{9D8B030D-6E8A-4147-A177-3AD203B41FA5}">
                      <a16:colId xmlns:a16="http://schemas.microsoft.com/office/drawing/2014/main" val="3059345629"/>
                    </a:ext>
                  </a:extLst>
                </a:gridCol>
                <a:gridCol w="2464380">
                  <a:extLst>
                    <a:ext uri="{9D8B030D-6E8A-4147-A177-3AD203B41FA5}">
                      <a16:colId xmlns:a16="http://schemas.microsoft.com/office/drawing/2014/main" val="953943082"/>
                    </a:ext>
                  </a:extLst>
                </a:gridCol>
              </a:tblGrid>
              <a:tr h="64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</a:rPr>
                        <a:t>资源名称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</a:rPr>
                        <a:t>数量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价格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433285"/>
                  </a:ext>
                </a:extLst>
              </a:tr>
              <a:tr h="64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</a:rPr>
                        <a:t>ElasticSearch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高可用最低规格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973837"/>
                  </a:ext>
                </a:extLst>
              </a:tr>
              <a:tr h="64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Redis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最低规格 主备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049149"/>
                  </a:ext>
                </a:extLst>
              </a:tr>
              <a:tr h="64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</a:rPr>
                        <a:t>RocketMq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最低规格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635234"/>
                  </a:ext>
                </a:extLst>
              </a:tr>
              <a:tr h="64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Pod-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</a:rPr>
                        <a:t>节点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</a:rPr>
                        <a:t>核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4G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19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需要测试，得出最小部署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780962"/>
                  </a:ext>
                </a:extLst>
              </a:tr>
              <a:tr h="64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核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4G 60G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527153"/>
                  </a:ext>
                </a:extLst>
              </a:tr>
              <a:tr h="646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Apollo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直接在容器进行搭建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629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719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065C9108-DCAE-47DC-9075-F46BA4B2B320}"/>
              </a:ext>
            </a:extLst>
          </p:cNvPr>
          <p:cNvSpPr/>
          <p:nvPr/>
        </p:nvSpPr>
        <p:spPr>
          <a:xfrm>
            <a:off x="-74524" y="-49396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K8S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资源清单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3A95395-E18E-4DEC-BE3C-AD7C38503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85130"/>
              </p:ext>
            </p:extLst>
          </p:nvPr>
        </p:nvGraphicFramePr>
        <p:xfrm>
          <a:off x="992909" y="1110364"/>
          <a:ext cx="10478346" cy="5191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20198">
                  <a:extLst>
                    <a:ext uri="{9D8B030D-6E8A-4147-A177-3AD203B41FA5}">
                      <a16:colId xmlns:a16="http://schemas.microsoft.com/office/drawing/2014/main" val="1506949036"/>
                    </a:ext>
                  </a:extLst>
                </a:gridCol>
                <a:gridCol w="2152716">
                  <a:extLst>
                    <a:ext uri="{9D8B030D-6E8A-4147-A177-3AD203B41FA5}">
                      <a16:colId xmlns:a16="http://schemas.microsoft.com/office/drawing/2014/main" val="479421171"/>
                    </a:ext>
                  </a:extLst>
                </a:gridCol>
                <a:gridCol w="2152716">
                  <a:extLst>
                    <a:ext uri="{9D8B030D-6E8A-4147-A177-3AD203B41FA5}">
                      <a16:colId xmlns:a16="http://schemas.microsoft.com/office/drawing/2014/main" val="3328388328"/>
                    </a:ext>
                  </a:extLst>
                </a:gridCol>
                <a:gridCol w="2152716">
                  <a:extLst>
                    <a:ext uri="{9D8B030D-6E8A-4147-A177-3AD203B41FA5}">
                      <a16:colId xmlns:a16="http://schemas.microsoft.com/office/drawing/2014/main" val="3012590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资源名称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是否核心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资源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43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admin-gateway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97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guide-gateway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78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open-gateway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629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wahts</a:t>
                      </a:r>
                      <a:r>
                        <a:rPr lang="en-US" altLang="zh-CN" dirty="0"/>
                        <a:t>-app-service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13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task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525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customer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9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gwout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198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support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010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content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48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fronted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5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15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H5-service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13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apollo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待确认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58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858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3254" y="247144"/>
            <a:ext cx="10111874" cy="712352"/>
            <a:chOff x="383254" y="498266"/>
            <a:chExt cx="10111874" cy="712352"/>
          </a:xfrm>
        </p:grpSpPr>
        <p:grpSp>
          <p:nvGrpSpPr>
            <p:cNvPr id="3" name="组合 2"/>
            <p:cNvGrpSpPr/>
            <p:nvPr/>
          </p:nvGrpSpPr>
          <p:grpSpPr>
            <a:xfrm>
              <a:off x="395536" y="1138610"/>
              <a:ext cx="10099592" cy="72008"/>
              <a:chOff x="395536" y="483518"/>
              <a:chExt cx="10099592" cy="72008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395536" y="483518"/>
                <a:ext cx="10099592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矩形 5"/>
              <p:cNvSpPr/>
              <p:nvPr/>
            </p:nvSpPr>
            <p:spPr>
              <a:xfrm>
                <a:off x="395536" y="483518"/>
                <a:ext cx="2196678" cy="7200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4" name="TextBox 7"/>
            <p:cNvSpPr txBox="1"/>
            <p:nvPr/>
          </p:nvSpPr>
          <p:spPr>
            <a:xfrm>
              <a:off x="383254" y="498266"/>
              <a:ext cx="7415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监控指标</a:t>
              </a:r>
              <a:r>
                <a:rPr lang="en-US" altLang="zh-CN" sz="2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2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监控方式</a:t>
              </a:r>
            </a:p>
          </p:txBody>
        </p:sp>
      </p:grp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998856"/>
              </p:ext>
            </p:extLst>
          </p:nvPr>
        </p:nvGraphicFramePr>
        <p:xfrm>
          <a:off x="1318720" y="2045000"/>
          <a:ext cx="8821633" cy="1769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9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7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监控指标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监控方式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资源监控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利用率，内存利用率，磁盘使用率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基于海外观测云</a:t>
                      </a:r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Saas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版本监控组件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网络监控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带宽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流量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基于海外观测云</a:t>
                      </a:r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Saas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版本监控组件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应用链路监控</a:t>
                      </a:r>
                    </a:p>
                  </a:txBody>
                  <a:tcPr marL="83080" marR="83080" marT="41540" marB="415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请求接口，请求数量，接口响应时间，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QPS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，错误率，链路信息，异常信息，日志详情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基于海外观测云</a:t>
                      </a:r>
                      <a:r>
                        <a:rPr lang="en-US" altLang="zh-CN" sz="12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Saas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版本监控组件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3254" y="247144"/>
            <a:ext cx="10111874" cy="712352"/>
            <a:chOff x="383254" y="498266"/>
            <a:chExt cx="10111874" cy="712352"/>
          </a:xfrm>
        </p:grpSpPr>
        <p:grpSp>
          <p:nvGrpSpPr>
            <p:cNvPr id="3" name="组合 2"/>
            <p:cNvGrpSpPr/>
            <p:nvPr/>
          </p:nvGrpSpPr>
          <p:grpSpPr>
            <a:xfrm>
              <a:off x="395536" y="1138610"/>
              <a:ext cx="10099592" cy="72008"/>
              <a:chOff x="395536" y="483518"/>
              <a:chExt cx="10099592" cy="72008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395536" y="483518"/>
                <a:ext cx="10099592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矩形 5"/>
              <p:cNvSpPr/>
              <p:nvPr/>
            </p:nvSpPr>
            <p:spPr>
              <a:xfrm>
                <a:off x="395536" y="483518"/>
                <a:ext cx="2196678" cy="7200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4" name="TextBox 7"/>
            <p:cNvSpPr txBox="1"/>
            <p:nvPr/>
          </p:nvSpPr>
          <p:spPr>
            <a:xfrm>
              <a:off x="383254" y="498266"/>
              <a:ext cx="7415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安全设计方案</a:t>
              </a:r>
            </a:p>
          </p:txBody>
        </p:sp>
      </p:grp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93875" y="1799220"/>
          <a:ext cx="8821634" cy="3989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1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安全方案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基础环境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基于华为云安全防护体系，部署在新加坡本地，五分钟增量备份，每天一次全量备份，定期可恢复性验证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采用集团统一采购的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SSL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证书，基于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的加密安全传输通道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账号安全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IAM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登录，双因子认证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权限管理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功能权限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数据权限验证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对用户敏感信息字段做到：加密存储，加密传输，脱敏展示。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日志审计</a:t>
                      </a:r>
                    </a:p>
                  </a:txBody>
                  <a:tcPr marL="83080" marR="83080" marT="41540" marB="415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敏感用户行为有操作日志，如：手机号查看日志，会员查询日志，会员删除日志，积分变更日志，等级变更日志，券码查看日志，优惠券手动作废日志等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API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接口安全</a:t>
                      </a:r>
                    </a:p>
                  </a:txBody>
                  <a:tcPr marL="83080" marR="83080" marT="41540" marB="415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签名加密认证方式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业务场景安全</a:t>
                      </a:r>
                    </a:p>
                  </a:txBody>
                  <a:tcPr marL="83080" marR="83080" marT="41540" marB="415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导出有区分普通导出和高权限导出，普通导出的加密数据，高权限导出才可导出明文数据，高级导出只有特定角色才有权限。积分优惠券场景风控逻辑：通过设定业务规则限定积分优惠券的发放与使用，比如：可以指定消费门店，指定发放人群，指定限领次数，指定叠加使用规则，指定赠送上限等。针对单个会员风控有：单日限领上限，单日核销上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3254" y="247144"/>
            <a:ext cx="10111874" cy="712352"/>
            <a:chOff x="383254" y="498266"/>
            <a:chExt cx="10111874" cy="712352"/>
          </a:xfrm>
        </p:grpSpPr>
        <p:grpSp>
          <p:nvGrpSpPr>
            <p:cNvPr id="3" name="组合 2"/>
            <p:cNvGrpSpPr/>
            <p:nvPr/>
          </p:nvGrpSpPr>
          <p:grpSpPr>
            <a:xfrm>
              <a:off x="395536" y="1138610"/>
              <a:ext cx="10099592" cy="72008"/>
              <a:chOff x="395536" y="483518"/>
              <a:chExt cx="10099592" cy="72008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395536" y="483518"/>
                <a:ext cx="10099592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矩形 5"/>
              <p:cNvSpPr/>
              <p:nvPr/>
            </p:nvSpPr>
            <p:spPr>
              <a:xfrm>
                <a:off x="395536" y="483518"/>
                <a:ext cx="2196678" cy="7200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4" name="TextBox 7"/>
            <p:cNvSpPr txBox="1"/>
            <p:nvPr/>
          </p:nvSpPr>
          <p:spPr>
            <a:xfrm>
              <a:off x="383254" y="498266"/>
              <a:ext cx="7415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数据备份恢复归档策略</a:t>
              </a:r>
            </a:p>
          </p:txBody>
        </p:sp>
      </p:grp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807835"/>
              </p:ext>
            </p:extLst>
          </p:nvPr>
        </p:nvGraphicFramePr>
        <p:xfrm>
          <a:off x="695570" y="2434166"/>
          <a:ext cx="10224476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5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备份策略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归档策略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恢复策略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MySQL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每天一次全备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五分钟一次</a:t>
                      </a:r>
                      <a:r>
                        <a:rPr lang="en-US" altLang="zh-CN" dirty="0" err="1"/>
                        <a:t>Binlog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保留</a:t>
                      </a:r>
                      <a:r>
                        <a:rPr lang="en-US" altLang="zh-CN" dirty="0"/>
                        <a:t>14</a:t>
                      </a:r>
                      <a:r>
                        <a:rPr lang="zh-CN" altLang="en-US" dirty="0"/>
                        <a:t>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master</a:t>
                      </a:r>
                      <a:r>
                        <a:rPr lang="zh-CN" altLang="en-US" dirty="0"/>
                        <a:t>故障，会自动飘到备库。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全部故障或者数据问题，会从备份文件恢复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master</a:t>
                      </a:r>
                      <a:r>
                        <a:rPr lang="zh-CN" altLang="en-US" dirty="0"/>
                        <a:t>故障，会自动飘到备库。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全部故障或者数据问题，会从备份文件恢复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Elasticsearch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每天</a:t>
                      </a:r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点一快照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保留</a:t>
                      </a:r>
                      <a:r>
                        <a:rPr lang="en-US" altLang="zh-CN" dirty="0"/>
                        <a:t>7</a:t>
                      </a:r>
                      <a:r>
                        <a:rPr lang="zh-CN" altLang="en-US" dirty="0"/>
                        <a:t>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可设置多副本，单节点故障，从其他节点副本恢复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807076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49436</TotalTime>
  <Words>812</Words>
  <Application>Microsoft Office PowerPoint</Application>
  <PresentationFormat>宽屏</PresentationFormat>
  <Paragraphs>290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Microsoft YaHei Light</vt:lpstr>
      <vt:lpstr>等线</vt:lpstr>
      <vt:lpstr>微软雅黑</vt:lpstr>
      <vt:lpstr>Arial</vt:lpstr>
      <vt:lpstr>Calibri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Binangkit</dc:creator>
  <cp:lastModifiedBy>江晓灿</cp:lastModifiedBy>
  <cp:revision>2103</cp:revision>
  <dcterms:created xsi:type="dcterms:W3CDTF">2016-06-09T04:22:29Z</dcterms:created>
  <dcterms:modified xsi:type="dcterms:W3CDTF">2026-06-05T08:55:20Z</dcterms:modified>
</cp:coreProperties>
</file>