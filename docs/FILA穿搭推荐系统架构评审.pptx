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0e91820154e05" /><Relationship Type="http://schemas.openxmlformats.org/officeDocument/2006/relationships/extended-properties" Target="/docProps/app.xml" Id="Rc5d9be2eeca14675" /><Relationship Type="http://schemas.openxmlformats.org/officeDocument/2006/relationships/officeDocument" Target="/ppt/presentation.xml" Id="R3f6bfb7918e04f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c41f0175084a62"/>
  </p:sldMasterIdLst>
  <p:notesMasterIdLst>
    <p:notesMasterId xmlns:r="http://schemas.openxmlformats.org/officeDocument/2006/relationships" r:id="Rb35c8762dddb4d0a"/>
  </p:notesMasterIdLst>
  <p:sldIdLst>
    <p:sldId xmlns:r="http://schemas.openxmlformats.org/officeDocument/2006/relationships" id="256" r:id="R9f423f1482884f73"/>
    <p:sldId xmlns:r="http://schemas.openxmlformats.org/officeDocument/2006/relationships" id="257" r:id="Refd179b76a3b4d94"/>
    <p:sldId xmlns:r="http://schemas.openxmlformats.org/officeDocument/2006/relationships" id="258" r:id="R3563f8dae4684d79"/>
    <p:sldId xmlns:r="http://schemas.openxmlformats.org/officeDocument/2006/relationships" id="259" r:id="R0bca92ddae9f43bb"/>
    <p:sldId xmlns:r="http://schemas.openxmlformats.org/officeDocument/2006/relationships" id="260" r:id="Ra86b5dc27f0c4688"/>
    <p:sldId xmlns:r="http://schemas.openxmlformats.org/officeDocument/2006/relationships" id="261" r:id="R92aa2f87b39445f5"/>
    <p:sldId xmlns:r="http://schemas.openxmlformats.org/officeDocument/2006/relationships" id="262" r:id="R4148943b747d4131"/>
    <p:sldId xmlns:r="http://schemas.openxmlformats.org/officeDocument/2006/relationships" id="263" r:id="R108bbb1dd2eb4822"/>
    <p:sldId xmlns:r="http://schemas.openxmlformats.org/officeDocument/2006/relationships" id="264" r:id="R8502a8e57e454223"/>
    <p:sldId xmlns:r="http://schemas.openxmlformats.org/officeDocument/2006/relationships" id="265" r:id="Rc87673151b644c4d"/>
    <p:sldId xmlns:r="http://schemas.openxmlformats.org/officeDocument/2006/relationships" id="266" r:id="Rad27c6422e0a4b64"/>
    <p:sldId xmlns:r="http://schemas.openxmlformats.org/officeDocument/2006/relationships" id="267" r:id="R7eeab28e316442c9"/>
    <p:sldId xmlns:r="http://schemas.openxmlformats.org/officeDocument/2006/relationships" id="268" r:id="Rb70923f048ba4e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7c96e258f648fa" /><Relationship Type="http://schemas.openxmlformats.org/officeDocument/2006/relationships/slideMaster" Target="/ppt/slideMasters/slideMaster1.xml" Id="Rc4c41f0175084a62" /><Relationship Type="http://schemas.openxmlformats.org/officeDocument/2006/relationships/notesMaster" Target="/ppt/notesMasters/notesMaster1.xml" Id="Rb35c8762dddb4d0a" /><Relationship Type="http://schemas.openxmlformats.org/officeDocument/2006/relationships/presProps" Target="/ppt/presProps.xml" Id="R64f8d8b50f0d415e" /><Relationship Type="http://schemas.openxmlformats.org/officeDocument/2006/relationships/tableStyles" Target="/ppt/tableStyles.xml" Id="Rcee91bff3ef947c9" /><Relationship Type="http://schemas.openxmlformats.org/officeDocument/2006/relationships/slide" Target="/ppt/slides/slide1.xml" Id="R9f423f1482884f73" /><Relationship Type="http://schemas.openxmlformats.org/officeDocument/2006/relationships/slide" Target="/ppt/slides/slide2.xml" Id="Refd179b76a3b4d94" /><Relationship Type="http://schemas.openxmlformats.org/officeDocument/2006/relationships/slide" Target="/ppt/slides/slide3.xml" Id="R3563f8dae4684d79" /><Relationship Type="http://schemas.openxmlformats.org/officeDocument/2006/relationships/slide" Target="/ppt/slides/slide4.xml" Id="R0bca92ddae9f43bb" /><Relationship Type="http://schemas.openxmlformats.org/officeDocument/2006/relationships/slide" Target="/ppt/slides/slide5.xml" Id="Ra86b5dc27f0c4688" /><Relationship Type="http://schemas.openxmlformats.org/officeDocument/2006/relationships/slide" Target="/ppt/slides/slide6.xml" Id="R92aa2f87b39445f5" /><Relationship Type="http://schemas.openxmlformats.org/officeDocument/2006/relationships/slide" Target="/ppt/slides/slide7.xml" Id="R4148943b747d4131" /><Relationship Type="http://schemas.openxmlformats.org/officeDocument/2006/relationships/slide" Target="/ppt/slides/slide8.xml" Id="R108bbb1dd2eb4822" /><Relationship Type="http://schemas.openxmlformats.org/officeDocument/2006/relationships/slide" Target="/ppt/slides/slide9.xml" Id="R8502a8e57e454223" /><Relationship Type="http://schemas.openxmlformats.org/officeDocument/2006/relationships/slide" Target="/ppt/slides/slide10.xml" Id="Rc87673151b644c4d" /><Relationship Type="http://schemas.openxmlformats.org/officeDocument/2006/relationships/slide" Target="/ppt/slides/slide11.xml" Id="Rad27c6422e0a4b64" /><Relationship Type="http://schemas.openxmlformats.org/officeDocument/2006/relationships/slide" Target="/ppt/slides/slide12.xml" Id="R7eeab28e316442c9" /><Relationship Type="http://schemas.openxmlformats.org/officeDocument/2006/relationships/slide" Target="/ppt/slides/slide13.xml" Id="Rb70923f048ba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eade79f4448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959bf52aca43b0" /><Relationship Type="http://schemas.openxmlformats.org/officeDocument/2006/relationships/notesMaster" Target="/ppt/notesMasters/notesMaster1.xml" Id="R9942aac83caa47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ec1163b7374c19" /><Relationship Type="http://schemas.openxmlformats.org/officeDocument/2006/relationships/notesMaster" Target="/ppt/notesMasters/notesMaster1.xml" Id="R0056270da8774e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57a5ce4e964331" /><Relationship Type="http://schemas.openxmlformats.org/officeDocument/2006/relationships/notesMaster" Target="/ppt/notesMasters/notesMaster1.xml" Id="R80aab5172593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e477ae5f104ba0" /><Relationship Type="http://schemas.openxmlformats.org/officeDocument/2006/relationships/notesMaster" Target="/ppt/notesMasters/notesMaster1.xml" Id="R420247fd26c849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38a0a838bd4fd7" /><Relationship Type="http://schemas.openxmlformats.org/officeDocument/2006/relationships/notesMaster" Target="/ppt/notesMasters/notesMaster1.xml" Id="Rf9e0f0c3a92a4d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ca2ba2f1ce413e" /><Relationship Type="http://schemas.openxmlformats.org/officeDocument/2006/relationships/notesMaster" Target="/ppt/notesMasters/notesMaster1.xml" Id="Rea96ff29d22e42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c2199b87d47c2" /><Relationship Type="http://schemas.openxmlformats.org/officeDocument/2006/relationships/notesMaster" Target="/ppt/notesMasters/notesMaster1.xml" Id="R06d328bd27704a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fe0682fc584894" /><Relationship Type="http://schemas.openxmlformats.org/officeDocument/2006/relationships/notesMaster" Target="/ppt/notesMasters/notesMaster1.xml" Id="R9345d644dc5644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9c2fc7b8e94a7b" /><Relationship Type="http://schemas.openxmlformats.org/officeDocument/2006/relationships/notesMaster" Target="/ppt/notesMasters/notesMaster1.xml" Id="R8bf0ead3970843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2dc3a189474341" /><Relationship Type="http://schemas.openxmlformats.org/officeDocument/2006/relationships/notesMaster" Target="/ppt/notesMasters/notesMaster1.xml" Id="Rbb146bddbf6148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6158827fa845d8" /><Relationship Type="http://schemas.openxmlformats.org/officeDocument/2006/relationships/notesMaster" Target="/ppt/notesMasters/notesMaster1.xml" Id="R3bf10a332d9043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4a8049a6444343" /><Relationship Type="http://schemas.openxmlformats.org/officeDocument/2006/relationships/notesMaster" Target="/ppt/notesMasters/notesMaster1.xml" Id="Re1b1f963930249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df509dee224f12" /><Relationship Type="http://schemas.openxmlformats.org/officeDocument/2006/relationships/notesMaster" Target="/ppt/notesMasters/notesMaster1.xml" Id="Ra708330f4e3e43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fe9681f8e4b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52cca1dc649ad" /><Relationship Type="http://schemas.openxmlformats.org/officeDocument/2006/relationships/slideLayout" Target="/ppt/slideLayouts/slideLayout1.xml" Id="Rd84e736fc26842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4e736fc26842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487ba7cde418e" /><Relationship Type="http://schemas.openxmlformats.org/officeDocument/2006/relationships/image" Target="/ppt/media/image.jpeg" Id="Re829ce0ea15340ed" /><Relationship Type="http://schemas.openxmlformats.org/officeDocument/2006/relationships/image" Target="/ppt/media/image.png" Id="Rb2f83f0e716f4367" /><Relationship Type="http://schemas.openxmlformats.org/officeDocument/2006/relationships/notesSlide" Target="/ppt/notesSlides/notesSlide1.xml" Id="R7eafd058ceb44c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ab0f900d8485b" /><Relationship Type="http://schemas.openxmlformats.org/officeDocument/2006/relationships/image" Target="/ppt/media/image2.png" Id="R48db959fc5c84f80" /><Relationship Type="http://schemas.openxmlformats.org/officeDocument/2006/relationships/image" Target="/ppt/media/image3.png" Id="R4399f13d6c0b4f7e" /><Relationship Type="http://schemas.openxmlformats.org/officeDocument/2006/relationships/notesSlide" Target="/ppt/notesSlides/notesSlide2.xml" Id="Rea5a2332a77845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98b760d294d30" /><Relationship Type="http://schemas.openxmlformats.org/officeDocument/2006/relationships/image" Target="/ppt/media/image4.png" Id="Rf466555dc5354be4" /><Relationship Type="http://schemas.openxmlformats.org/officeDocument/2006/relationships/image" Target="/ppt/media/image5.png" Id="Rd29821b7aa7c4e58" /><Relationship Type="http://schemas.openxmlformats.org/officeDocument/2006/relationships/notesSlide" Target="/ppt/notesSlides/notesSlide3.xml" Id="R86db34e99a1946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511de7a684035" /><Relationship Type="http://schemas.openxmlformats.org/officeDocument/2006/relationships/image" Target="/ppt/media/image6.png" Id="R1f1ddd0573d94ea9" /><Relationship Type="http://schemas.openxmlformats.org/officeDocument/2006/relationships/image" Target="/ppt/media/image7.png" Id="R09fec440ddf64d70" /><Relationship Type="http://schemas.openxmlformats.org/officeDocument/2006/relationships/image" Target="/ppt/media/image8.png" Id="R02aba195ed274302" /><Relationship Type="http://schemas.openxmlformats.org/officeDocument/2006/relationships/image" Target="/ppt/media/image9.png" Id="R913891fb402348b6" /><Relationship Type="http://schemas.openxmlformats.org/officeDocument/2006/relationships/image" Target="/ppt/media/image10.png" Id="R4fb766e63b1d43d7" /><Relationship Type="http://schemas.openxmlformats.org/officeDocument/2006/relationships/image" Target="/ppt/media/image11.png" Id="Rff3f6118268c40c0" /><Relationship Type="http://schemas.openxmlformats.org/officeDocument/2006/relationships/notesSlide" Target="/ppt/notesSlides/notesSlide4.xml" Id="R5b8762a96ab7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1f7f44ef84de6" /><Relationship Type="http://schemas.openxmlformats.org/officeDocument/2006/relationships/image" Target="/ppt/media/image12.png" Id="Rac852d1f2cf544a6" /><Relationship Type="http://schemas.openxmlformats.org/officeDocument/2006/relationships/image" Target="/ppt/media/image13.png" Id="Rd5d9bf32ed13404e" /><Relationship Type="http://schemas.openxmlformats.org/officeDocument/2006/relationships/notesSlide" Target="/ppt/notesSlides/notesSlide5.xml" Id="R406c81525f8742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6a8a6ea234e38" /><Relationship Type="http://schemas.openxmlformats.org/officeDocument/2006/relationships/image" Target="/ppt/media/image14.png" Id="Rdd12df23abb94f3f" /><Relationship Type="http://schemas.openxmlformats.org/officeDocument/2006/relationships/image" Target="/ppt/media/image15.png" Id="Rbc1d8019f39841b2" /><Relationship Type="http://schemas.openxmlformats.org/officeDocument/2006/relationships/notesSlide" Target="/ppt/notesSlides/notesSlide6.xml" Id="R87b058642f3142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be9eba44347ab" /><Relationship Type="http://schemas.openxmlformats.org/officeDocument/2006/relationships/image" Target="/ppt/media/image16.png" Id="Raa70e7da19804a69" /><Relationship Type="http://schemas.openxmlformats.org/officeDocument/2006/relationships/image" Target="/ppt/media/image17.png" Id="R18db86f9945e411e" /><Relationship Type="http://schemas.openxmlformats.org/officeDocument/2006/relationships/notesSlide" Target="/ppt/notesSlides/notesSlide7.xml" Id="R685548a68c4845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36ba805674cbe" /><Relationship Type="http://schemas.openxmlformats.org/officeDocument/2006/relationships/image" Target="/ppt/media/image18.png" Id="R37e125ff8f1b4736" /><Relationship Type="http://schemas.openxmlformats.org/officeDocument/2006/relationships/image" Target="/ppt/media/image19.png" Id="R5b2e973e5f904f85" /><Relationship Type="http://schemas.openxmlformats.org/officeDocument/2006/relationships/notesSlide" Target="/ppt/notesSlides/notesSlide8.xml" Id="R2967e38d8f1449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f9bbb12cf4807" /><Relationship Type="http://schemas.openxmlformats.org/officeDocument/2006/relationships/image" Target="/ppt/media/image20.png" Id="R186d112ade3f4b11" /><Relationship Type="http://schemas.openxmlformats.org/officeDocument/2006/relationships/image" Target="/ppt/media/image21.png" Id="Rd9adc2629a1c4be1" /><Relationship Type="http://schemas.openxmlformats.org/officeDocument/2006/relationships/notesSlide" Target="/ppt/notesSlides/notesSlide9.xml" Id="R6303797d3ba74e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f22dfb78a440f" /><Relationship Type="http://schemas.openxmlformats.org/officeDocument/2006/relationships/image" Target="/ppt/media/image22.png" Id="Rc533e0d855c84bb9" /><Relationship Type="http://schemas.openxmlformats.org/officeDocument/2006/relationships/image" Target="/ppt/media/image23.png" Id="R1af0563644ec464b" /><Relationship Type="http://schemas.openxmlformats.org/officeDocument/2006/relationships/notesSlide" Target="/ppt/notesSlides/notesSlide10.xml" Id="Rad47235d23bc4b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49613d8f44bed" /><Relationship Type="http://schemas.openxmlformats.org/officeDocument/2006/relationships/image" Target="/ppt/media/image24.png" Id="Raba408e628734c06" /><Relationship Type="http://schemas.openxmlformats.org/officeDocument/2006/relationships/image" Target="/ppt/media/image25.png" Id="R716408f375774870" /><Relationship Type="http://schemas.openxmlformats.org/officeDocument/2006/relationships/notesSlide" Target="/ppt/notesSlides/notesSlide11.xml" Id="R8226ee0cda7546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e9f15d8244c13" /><Relationship Type="http://schemas.openxmlformats.org/officeDocument/2006/relationships/image" Target="/ppt/media/image26.png" Id="Rb917628933204b05" /><Relationship Type="http://schemas.openxmlformats.org/officeDocument/2006/relationships/image" Target="/ppt/media/image27.png" Id="Rf4db23ac79314669" /><Relationship Type="http://schemas.openxmlformats.org/officeDocument/2006/relationships/notesSlide" Target="/ppt/notesSlides/notesSlide12.xml" Id="Ra5de73b3c8fa4c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1ddec0b0c4257" /><Relationship Type="http://schemas.openxmlformats.org/officeDocument/2006/relationships/image" Target="/ppt/media/image2.jpeg" Id="R3ff58341996944ec" /><Relationship Type="http://schemas.openxmlformats.org/officeDocument/2006/relationships/image" Target="/ppt/media/image28.png" Id="R539ebf28747349e0" /><Relationship Type="http://schemas.openxmlformats.org/officeDocument/2006/relationships/notesSlide" Target="/ppt/notesSlides/notesSlide13.xml" Id="Rfa6259c64a1b45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9ce0ea15340ed"/>
          <a:srcRect xmlns:a="http://schemas.openxmlformats.org/drawingml/2006/main" l="11" t="0" r="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83f0e716f4367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61F4B-BB01-408F-8FDE-82851D1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22222"/>
                </a:solidFill>
              </a:defRPr>
            </a:pPr>
            <a:r>
              <a:rPr sz="2400" b="1">
                <a:solidFill>
                  <a:srgbClr val="222222"/>
                </a:solidFill>
              </a:rPr>
              <a:t>FILA 穿搭推荐系统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B8318-CB4D-4584-859D-E23F68F8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90850"/>
            <a:ext cx="1219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技术架构评审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326DD-D3E2-4D84-9303-6140A43E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图文对话推荐 / 多路召回 / ES + Milvus 索引 / 离线日更 ETL</a:t>
            </a:r>
          </a:p>
        </p:txBody>
      </p:sp>
    </p:spTree>
    <p:extLst>
      <p:ext uri="{BB962C8B-B14F-4D97-AF65-F5344CB8AC3E}">
        <p14:creationId xmlns:p14="http://schemas.microsoft.com/office/powerpoint/2010/main" val="271423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b959fc5c84f80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0F24A-6D9D-4683-A638-F1D94A44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BDECB-C99A-4115-ACD3-98CC894F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产品内容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9f13d6c0b4f7e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6CFCC-5FFF-420D-BD32-BD96AD32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7DB"/>
          </a:solidFill>
          <a:ln xmlns:a="http://schemas.openxmlformats.org/drawingml/2006/main" w="9525">
            <a:solidFill>
              <a:srgbClr val="0F77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FILA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穿搭推荐系统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E471E-1853-4246-98A7-E9AF969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66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4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7DB"/>
                </a:solidFill>
              </a:defRPr>
            </a:pPr>
            <a:r>
              <a:rPr sz="1200" b="1">
                <a:solidFill>
                  <a:srgbClr val="0F77DB"/>
                </a:solidFill>
              </a:rPr>
              <a:t>用户入口</a:t>
            </a:r>
          </a:p>
        </p:txBody>
      </p:sp>
      <p:cxnSp>
        <p:nvCxnSpPr>
          <p:cNvPr id="52" name="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562350" y="1238250"/>
            <a:ext cx="1581150" cy="2171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AA5D7"/>
            </a:solidFill>
            <a:prstDash val="soli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BF15D-4C4C-42D7-B11D-219A65EE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HTML 调试台</a:t>
            </a:r>
          </a:p>
        </p:txBody>
      </p:sp>
      <p:cxnSp>
        <p:nvCxnSpPr>
          <p:cNvPr id="54" name=""/>
          <p:cNvCxnSpPr>
            <a:stCxn xmlns:a="http://schemas.openxmlformats.org/drawingml/2006/main" id="6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V="1">
            <a:off x="1885950" y="10287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05651-74EC-45D5-8A84-ABA4816F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SSE 对话推荐</a:t>
            </a:r>
          </a:p>
        </p:txBody>
      </p:sp>
      <p:cxnSp>
        <p:nvCxnSpPr>
          <p:cNvPr id="56" name=""/>
          <p:cNvCxnSpPr>
            <a:stCxn xmlns:a="http://schemas.openxmlformats.org/drawingml/2006/main" id="6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>
            <a:off x="1885950" y="12382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6C78B-BBA2-426A-BD52-E88D81D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搭配/商品详情</a:t>
            </a:r>
          </a:p>
        </p:txBody>
      </p:sp>
      <p:cxnSp>
        <p:nvCxnSpPr>
          <p:cNvPr id="58" name=""/>
          <p:cNvCxnSpPr>
            <a:stCxn xmlns:a="http://schemas.openxmlformats.org/drawingml/2006/main" id="6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>
            <a:off x="1885950" y="12382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0B0C1-E44D-4482-B2BB-8A6B7E81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图片 Debug</a:t>
            </a:r>
          </a:p>
        </p:txBody>
      </p:sp>
      <p:cxnSp>
        <p:nvCxnSpPr>
          <p:cNvPr id="60" name=""/>
          <p:cNvCxnSpPr>
            <a:stCxn xmlns:a="http://schemas.openxmlformats.org/drawingml/2006/main" id="6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>
            <a:off x="1885950" y="12382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E24EA-977A-467E-950F-4902DF8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066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4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7DB"/>
                </a:solidFill>
              </a:defRPr>
            </a:pPr>
            <a:r>
              <a:rPr sz="1200" b="1">
                <a:solidFill>
                  <a:srgbClr val="0F77DB"/>
                </a:solidFill>
              </a:rPr>
              <a:t>在线推荐</a:t>
            </a:r>
          </a:p>
        </p:txBody>
      </p:sp>
      <p:cxnSp>
        <p:nvCxnSpPr>
          <p:cNvPr id="62" name="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086600" y="1238250"/>
            <a:ext cx="1333500" cy="2171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AA5D7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5963E-1321-488F-A34F-E39E76F3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14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意图解析</a:t>
            </a:r>
          </a:p>
        </p:txBody>
      </p: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10096500" y="1028700"/>
            <a:ext cx="209550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965DB-E024-4C70-96BD-F56419CB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238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锚点 SKU</a:t>
            </a:r>
          </a:p>
        </p:txBody>
      </p:sp>
      <p:cxnSp>
        <p:nvCxnSpPr>
          <p:cNvPr id="6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096500" y="1238250"/>
            <a:ext cx="209550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B35EA-59A8-4C70-9D70-66B89CC7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562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多路搭配召回</a:t>
            </a:r>
          </a:p>
        </p:txBody>
      </p:sp>
      <p:cxnSp>
        <p:nvCxnSpPr>
          <p:cNvPr id="68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096500" y="1238250"/>
            <a:ext cx="20955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B49CB-77E8-4A51-B6AA-571993C2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85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排序与理由</a:t>
            </a:r>
          </a:p>
        </p:txBody>
      </p:sp>
      <p:cxnSp>
        <p:nvCxnSpPr>
          <p:cNvPr id="70" name=""/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0096500" y="1238250"/>
            <a:ext cx="20955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6141C-7407-466E-A0BA-259D9F7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4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7DB"/>
                </a:solidFill>
              </a:defRPr>
            </a:pPr>
            <a:r>
              <a:rPr sz="1200" b="1">
                <a:solidFill>
                  <a:srgbClr val="0F77DB"/>
                </a:solidFill>
              </a:rPr>
              <a:t>数据资产</a:t>
            </a:r>
          </a:p>
        </p:txBody>
      </p:sp>
      <p:cxnSp>
        <p:nvCxnSpPr>
          <p:cNvPr id="72" name=""/>
          <p:cNvCxnSpPr>
            <a:stCxn xmlns:a="http://schemas.openxmlformats.org/drawingml/2006/main" id="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3467100" y="3409950"/>
            <a:ext cx="167640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AA5D7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DE927-09C8-434C-B42A-474AF31D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Hive 商品表</a:t>
            </a:r>
          </a:p>
        </p:txBody>
      </p:sp>
      <p:cxnSp>
        <p:nvCxnSpPr>
          <p:cNvPr id="74" name=""/>
          <p:cNvCxnSpPr>
            <a:stCxn xmlns:a="http://schemas.openxmlformats.org/drawingml/2006/main" id="26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V="1">
            <a:off x="1790700" y="4210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10FF4-3029-4794-81C1-4E6D715B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微导购固定搭配</a:t>
            </a:r>
          </a:p>
        </p:txBody>
      </p:sp>
      <p:cxnSp>
        <p:nvCxnSpPr>
          <p:cNvPr id="76" name=""/>
          <p:cNvCxnSpPr>
            <a:stCxn xmlns:a="http://schemas.openxmlformats.org/drawingml/2006/main" id="26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>
            <a:off x="1790700" y="44196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167401-5AF6-443E-9F3D-F549006B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SKU/SPU 目录</a:t>
            </a:r>
          </a:p>
        </p:txBody>
      </p:sp>
      <p:cxnSp>
        <p:nvCxnSpPr>
          <p:cNvPr id="78" name=""/>
          <p:cNvCxnSpPr>
            <a:stCxn xmlns:a="http://schemas.openxmlformats.org/drawingml/2006/main" id="26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>
            <a:off x="1790700" y="44196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C1C746-3128-4274-8A1C-31BBCE7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图字段选型</a:t>
            </a:r>
          </a:p>
        </p:txBody>
      </p:sp>
      <p:cxnSp>
        <p:nvCxnSpPr>
          <p:cNvPr id="80" name=""/>
          <p:cNvCxnSpPr>
            <a:stCxn xmlns:a="http://schemas.openxmlformats.org/drawingml/2006/main" id="26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>
            <a:off x="1790700" y="44196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BE393-249E-47AE-B77C-2F39115F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481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4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7DB"/>
                </a:solidFill>
              </a:defRPr>
            </a:pPr>
            <a:r>
              <a:rPr sz="1200" b="1">
                <a:solidFill>
                  <a:srgbClr val="0F77DB"/>
                </a:solidFill>
              </a:rPr>
              <a:t>运营评测</a:t>
            </a:r>
          </a:p>
        </p:txBody>
      </p:sp>
      <p:cxnSp>
        <p:nvCxnSpPr>
          <p:cNvPr id="82" name=""/>
          <p:cNvCxnSpPr>
            <a:stCxn xmlns:a="http://schemas.openxmlformats.org/drawingml/2006/main" id="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086600" y="3409950"/>
            <a:ext cx="142875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AA5D7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1FCB33-D9CD-4F12-94B5-A280115A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9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批量评测</a:t>
            </a:r>
          </a:p>
        </p:txBody>
      </p:sp>
      <p:cxnSp>
        <p:nvCxnSpPr>
          <p:cNvPr id="84" name=""/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V="1">
            <a:off x="10191750" y="4210050"/>
            <a:ext cx="209550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8673B-1EE8-4432-A95E-6D57338D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19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人工 Review</a:t>
            </a:r>
          </a:p>
        </p:txBody>
      </p:sp>
      <p:cxnSp>
        <p:nvCxnSpPr>
          <p:cNvPr id="86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10191750" y="4419600"/>
            <a:ext cx="209550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80CCDC-1E7D-4EE5-8526-F8C13054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43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缺陷分析</a:t>
            </a:r>
          </a:p>
        </p:txBody>
      </p:sp>
      <p:cxnSp>
        <p:nvCxnSpPr>
          <p:cNvPr id="88" name=""/>
          <p:cNvCxnSpPr>
            <a:stCxn xmlns:a="http://schemas.openxmlformats.org/drawingml/2006/main" id="36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0191750" y="4419600"/>
            <a:ext cx="20955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31B3B6-A6C7-4547-B33E-E04706D9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67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日志回放</a:t>
            </a:r>
          </a:p>
        </p:txBody>
      </p:sp>
      <p:cxnSp>
        <p:nvCxnSpPr>
          <p:cNvPr id="90" name=""/>
          <p:cNvCxnSpPr>
            <a:stCxn xmlns:a="http://schemas.openxmlformats.org/drawingml/2006/main" id="36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0191750" y="4419600"/>
            <a:ext cx="20955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8DB4E2"/>
            </a:solidFill>
            <a:prstDash val="soli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27502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6555dc5354be4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A2687-62A0-4E6C-B43D-2626BBF6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C504D-C146-49C5-9B54-C8815E00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技术架构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821b7aa7c4e58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202D3-E3D2-4808-82C3-233DD669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038225"/>
            <a:ext cx="1219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客户端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4305A-6A1E-4AD2-A4CC-C193E2A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38225"/>
            <a:ext cx="12001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外部服务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D74B8-8576-4FD6-AFEB-52354F2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028700"/>
            <a:ext cx="9191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0C90F-0CA4-4D4D-8170-61826229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76425"/>
            <a:ext cx="9191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3AB6B-7E93-425A-B265-CD1A1EEE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0325"/>
            <a:ext cx="9191625" cy="1781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E55A6-DFE2-4FA2-96BF-6FF8C969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52950"/>
            <a:ext cx="919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03092-7C15-4A70-8908-5F21C9CD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90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访问层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173E6-2E6A-467E-9C2B-D94011C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应用层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96322-E696-4CFE-ACAA-8C98258F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推荐编排层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25EB9-0AE1-4FFA-948E-B52C0E10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86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存储与索引层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78320-AC4A-41FB-9DED-F28DDB0D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524125"/>
            <a:ext cx="8001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浏览器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35BA1-AA14-4800-8117-F8AE0F31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200150"/>
            <a:ext cx="129540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Web 调试台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E9F70-2052-4844-A048-4AC11954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14287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Outfits 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C371D-E327-4FD1-B99D-F7A07169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200150"/>
            <a:ext cx="14287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Image Debug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97926-5682-43DC-9B93-9FF5DB7C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1524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FastAPI / Uvicorn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F147D-9B81-41A1-9F82-68D608C4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2954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SSE / REST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931F1-1DC4-413A-BFB6-1DA0A34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0250"/>
            <a:ext cx="12954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Config +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280FD-3C31-49E8-AEE6-6A4169C3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90850"/>
            <a:ext cx="1238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意图解析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Trie+LLM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554E7-7F77-4AD3-AA37-0DC0ADFB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90850"/>
            <a:ext cx="1238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锚点检索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图/文向量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472A1-D712-4A27-AFB6-76556240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0850"/>
            <a:ext cx="14287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多路召回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固定搭配+拼套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7C511-8B4D-4D40-9D8E-4937DB2E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90850"/>
            <a:ext cx="1238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排序打分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规则/模型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6B165-6975-4450-9FBC-6B5ED404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238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理由生成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LLM/模板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1318B-AE4E-4128-BA4F-FDB6C7A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12954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Elasticsearch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skus/outfits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9CFED-E473-4B18-8A59-1BB55EA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12954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Milvus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图文/文本向量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219ED-A16F-4600-8E80-8D29F3E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12954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Local JSON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D994C6-EDE2-4AFA-94A9-C76DE9AD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12954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JSONL Logs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Replay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2DD54-6039-4532-B3F3-596A8851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752600"/>
            <a:ext cx="704850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06687A-CB3A-449F-8AD5-4F1EAE16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524125"/>
            <a:ext cx="704850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Embedding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E9FC38-2FDA-4F62-BA77-5792A397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314700"/>
            <a:ext cx="704850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Try-on</a:t>
            </a:r>
          </a:p>
        </p:txBody>
      </p:sp>
      <p:cxnSp>
        <p:nvCxnSpPr>
          <p:cNvPr id="84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1095375" y="1371600"/>
            <a:ext cx="64770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390775" y="1543050"/>
            <a:ext cx="847725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3238500" y="1543050"/>
            <a:ext cx="733425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4972050" y="1543050"/>
            <a:ext cx="647700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8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086100" y="32004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552950" y="32004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210300" y="32004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9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677150" y="32004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2466975" y="2324100"/>
            <a:ext cx="7715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3933825" y="2324100"/>
            <a:ext cx="10382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3028950" y="3409950"/>
            <a:ext cx="2466975" cy="1400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23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3933825" y="3409950"/>
            <a:ext cx="809625" cy="1400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19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3238500" y="2324100"/>
            <a:ext cx="3219450" cy="2486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dash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2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7058025" y="3409950"/>
            <a:ext cx="1114425" cy="1400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dash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6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9144000" y="1943100"/>
            <a:ext cx="1857375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99" name=""/>
          <p:cNvCxnSpPr>
            <a:stCxn xmlns:a="http://schemas.openxmlformats.org/drawingml/2006/main" id="23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4552950" y="2714625"/>
            <a:ext cx="6448425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26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144000" y="3200400"/>
            <a:ext cx="185737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992404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ddd0573d94ea9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C71DE-3F21-4D9B-91A0-78B54BDD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B8184-EB3B-4A31-B907-83424EA9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应用架构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ec440ddf64d70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195ed274302"/>
          <a:stretch xmlns:a="http://schemas.openxmlformats.org/drawingml/2006/main"/>
        </p:blipFill>
        <p:spPr>
          <a:xfrm xmlns:a="http://schemas.openxmlformats.org/drawingml/2006/main">
            <a:off x="57150" y="114300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891fb402348b6"/>
          <a:stretch xmlns:a="http://schemas.openxmlformats.org/drawingml/2006/main"/>
        </p:blipFill>
        <p:spPr>
          <a:xfrm xmlns:a="http://schemas.openxmlformats.org/drawingml/2006/main">
            <a:off x="57150" y="2486025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766e63b1d43d7"/>
          <a:stretch xmlns:a="http://schemas.openxmlformats.org/drawingml/2006/main"/>
        </p:blipFill>
        <p:spPr>
          <a:xfrm xmlns:a="http://schemas.openxmlformats.org/drawingml/2006/main">
            <a:off x="57150" y="3286125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f6118268c40c0"/>
          <a:stretch xmlns:a="http://schemas.openxmlformats.org/drawingml/2006/main"/>
        </p:blipFill>
        <p:spPr>
          <a:xfrm xmlns:a="http://schemas.openxmlformats.org/drawingml/2006/main">
            <a:off x="57150" y="55530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E532A-E0C3-49C6-8A83-12C87CD1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573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表现层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BFCE4-B1D9-41AF-A9F1-5448159E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网关层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AC506-0F1A-4456-AB8E-A9A9DA6D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337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应用层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A9E8B-E139-4AEC-AA9E-4E34128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服务层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E1DDE-00BB-42A4-8B72-F59E3B87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00150"/>
            <a:ext cx="14287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调试台 / H5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C8E72-749E-43D3-BEB6-C73B317E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200150"/>
            <a:ext cx="14287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搭配预览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E5D5B-A82F-4CE6-AF18-A7A18F26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00150"/>
            <a:ext cx="14287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评测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40563-3544-4FC5-A010-FC37F8DA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17145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FastAPI 路由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C53D5-671E-440E-8F6D-AB024174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17145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StaticFiles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123A1-ABF9-4D93-A350-9832CAF7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05100"/>
            <a:ext cx="17145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SSE Streaming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70F90-C720-41FC-9A5F-E368F83B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43325"/>
            <a:ext cx="2000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RecommendService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主编排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8A7B4-9765-4BE1-8FA2-F8BBC0FA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95950"/>
            <a:ext cx="17145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DataFacade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ES +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C9BC4-39D8-410E-87AA-AE2CDBF7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95950"/>
            <a:ext cx="17145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SkuRetriever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ES/Milvus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BBF5D-73B7-4AA3-AABF-007BDE24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95950"/>
            <a:ext cx="17145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Ranking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规则/LLM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6C27F-AA67-41C4-B84E-262D8583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95950"/>
            <a:ext cx="17145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CardBuilder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结果组装</a:t>
            </a:r>
          </a:p>
        </p:txBody>
      </p:sp>
      <p:cxnSp>
        <p:nvCxnSpPr>
          <p:cNvPr id="60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628775" y="1543050"/>
            <a:ext cx="1323975" cy="11620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28775" y="1543050"/>
            <a:ext cx="3495675" cy="11620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28775" y="1543050"/>
            <a:ext cx="5943600" cy="11620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952750" y="3009900"/>
            <a:ext cx="2314575" cy="733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5267325" y="3009900"/>
            <a:ext cx="447675" cy="733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5267325" y="3009900"/>
            <a:ext cx="3209925" cy="733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628775" y="4295775"/>
            <a:ext cx="3638550" cy="14001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1628775" y="4295775"/>
            <a:ext cx="3638550" cy="14001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267325" y="4295775"/>
            <a:ext cx="5591175" cy="14001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267325" y="4295775"/>
            <a:ext cx="5591175" cy="14001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98A668-701E-46D3-958B-C5238450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48250"/>
            <a:ext cx="900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C29A23-3DD8-48C6-8665-A0E847CE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66950"/>
            <a:ext cx="900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4E78D5-A789-4F56-981C-F73288A4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257550"/>
            <a:ext cx="900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03106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52d1f2cf544a6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DBCA3-E3C5-4106-BFDD-875C285F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39D65-D7FD-4CCB-A46D-D2CCF1D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推荐链路集成架构图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9bf32ed13404e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174C9-D73D-45E2-8935-A38C0FF1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72050"/>
            <a:ext cx="8763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54BC8-F633-431E-9184-65038F00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1571625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RecommendService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意图→召回→排序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88552-706D-4FB7-856A-3E8C1BB3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33550"/>
            <a:ext cx="13144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Intent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BB073-7833-4182-BB9A-7382927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28900"/>
            <a:ext cx="13144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Image Embedding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A7203-640F-43AF-B6C2-0AFC83D8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24250"/>
            <a:ext cx="13144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Pairing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B38F4-8BA2-4900-AAFC-B35C4B7F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19200"/>
            <a:ext cx="13525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固定搭配召回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6FBAF-60DE-4264-9AE5-087DD096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14550"/>
            <a:ext cx="13525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Query2ES 拼套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65372-D04C-469B-814A-0A2A59E6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9900"/>
            <a:ext cx="13525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文本向量拼套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DB06B-E0C0-48E8-AFAA-AD7CBF69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05250"/>
            <a:ext cx="13525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互补模型召回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C9AFE-55F2-42EB-A6FD-AF7FFC8E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9906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4AAFC-1250-45BF-B67D-E2B698F1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9906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Milvus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E2408-0E71-4ED5-B589-12DED84F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19200"/>
            <a:ext cx="9906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065A6-9386-4CEC-B3BD-83264587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38700"/>
            <a:ext cx="1200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搭配卡片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理由/试穿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1914525"/>
            <a:ext cx="1857375" cy="866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048000" y="2781300"/>
            <a:ext cx="185737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048000" y="2781300"/>
            <a:ext cx="1857375" cy="923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14475" y="2781300"/>
            <a:ext cx="3390900" cy="2390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477000" y="1400175"/>
            <a:ext cx="781050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477000" y="2295525"/>
            <a:ext cx="781050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477000" y="2781300"/>
            <a:ext cx="781050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477000" y="2781300"/>
            <a:ext cx="781050" cy="1304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610600" y="140017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dash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10600" y="229552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10600" y="319087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8610600" y="3190875"/>
            <a:ext cx="110490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dash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1400175"/>
            <a:ext cx="1104900" cy="3667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2295525"/>
            <a:ext cx="1104900" cy="2771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3190875"/>
            <a:ext cx="1104900" cy="1876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4086225"/>
            <a:ext cx="1104900" cy="981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718EC7-6283-481B-ACE9-0734D6B9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19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召回前过滤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9338E-E1FC-411A-BE70-C3839326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33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去重 / 粗排 / 精排</a:t>
            </a:r>
          </a:p>
        </p:txBody>
      </p:sp>
    </p:spTree>
    <p:extLst>
      <p:ext uri="{BB962C8B-B14F-4D97-AF65-F5344CB8AC3E}">
        <p14:creationId xmlns:p14="http://schemas.microsoft.com/office/powerpoint/2010/main" val="2122413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2df23abb94f3f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C71A9-BEFF-4BA3-BB6E-33E7A85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9DB4A-8942-4AFC-8866-419FDCE9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数据与索引流向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d8019f39841b2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54178-688B-4680-B075-9B217371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2954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Hive 日更表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product_* / guide_*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42852-9C83-4129-8349-4228A2E5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12954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Catalog ETL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skus.jsonl / spu map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6215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64466-DD88-4391-ADDF-EBB89DE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12954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图片选型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display / index / tryon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43AEE-917B-4B22-9F1E-F17E6996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00300"/>
            <a:ext cx="12954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搭配构建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fila_outfits.json</a:t>
            </a:r>
          </a:p>
        </p:txBody>
      </p: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46735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B40A9-A816-49D1-9F87-C45668A8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12954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质量校验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catalog / image report</a:t>
            </a:r>
          </a:p>
        </p:txBody>
      </p: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21995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9F440-C1B4-4C70-8748-91A28D9F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12954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索引写入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ES + Milvus</a:t>
            </a:r>
          </a:p>
        </p:txBody>
      </p: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7255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04AAB-E809-44E3-8A21-0C3A02DA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1238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fila-skus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fila-outfits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626E5-21B2-4F4E-A48B-B83284E8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95750"/>
            <a:ext cx="1238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sku_vectors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text_vectors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EBC4F-BA50-4AA6-B76B-3877C1EA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95750"/>
            <a:ext cx="1333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46C0A"/>
          </a:solidFill>
          <a:ln xmlns:a="http://schemas.openxmlformats.org/drawingml/2006/main" w="9525">
            <a:solidFill>
              <a:srgbClr val="E46C0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Local JSON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fallback</a:t>
            </a:r>
          </a:p>
        </p:txBody>
      </p:sp>
      <p:cxnSp>
        <p:nvCxnSpPr>
          <p:cNvPr id="41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9096375" y="3009900"/>
            <a:ext cx="981075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0077450" y="3009900"/>
            <a:ext cx="581025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067050" y="3009900"/>
            <a:ext cx="2762250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00000"/>
            </a:solidFill>
            <a:prstDash val="dash"/>
            <a:tailEnd type="arrow" w="med" len="med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1257300" y="1066800"/>
          <a:ext xmlns:a="http://schemas.openxmlformats.org/drawingml/2006/main" cx="9677400" cy="781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95750"/>
                <a:gridCol w="3200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日更原则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运行时原则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回滚原则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原始表落 data/tables，可保留日期快照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在线统一读 ES/Milvus，ES 不可用时本地 JSON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索引同步状态记录到 data/logs，支持按步骤重跑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1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0e7da19804a69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99738-8900-4E15-BC24-AA7FCE2F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4165B-F48F-4A1D-90A6-3B43862D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集成架构关系表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b86f9945e411e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1123950" y="1200150"/>
          <a:ext xmlns:a="http://schemas.openxmlformats.org/drawingml/2006/main" cx="9906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1809750"/>
                <a:gridCol w="2476500"/>
                <a:gridCol w="2190750"/>
                <a:gridCol w="27432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序号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接口/模块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接口地址/协议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发送方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接收方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对话推荐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POST /chat / SSE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Web 调试台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RecommendService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单品互补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POST /recommend/skus / JSON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业务页面/调试台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SkuRetriever + OutfitRecall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搭配召回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POST /recommend/outfits / 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业务页面/调试台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Multi-path Recall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商品详情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GET /skus/{sku_id}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Outfits Viewer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DataFacade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搭配来源统计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GET /api/outfits/sources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运营/评测页面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ES outfits / local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ANN 调试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GET /api/search-debug/*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Search Debug 页面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Milvus / ANN Service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7932A-FD27-456D-BA5B-235F7797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00000"/>
                </a:solidFill>
              </a:defRPr>
            </a:pPr>
            <a:r>
              <a:rPr sz="1200" b="1">
                <a:solidFill>
                  <a:srgbClr val="C00000"/>
                </a:solidFill>
              </a:rPr>
              <a:t>评审重点：服务边界清晰，推荐编排仍在单进程内完成；未来若高并发上线，可优先拆分召回与排序为独立服务。</a:t>
            </a:r>
          </a:p>
        </p:txBody>
      </p:sp>
    </p:spTree>
    <p:extLst>
      <p:ext uri="{BB962C8B-B14F-4D97-AF65-F5344CB8AC3E}">
        <p14:creationId xmlns:p14="http://schemas.microsoft.com/office/powerpoint/2010/main" val="1337546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125ff8f1b4736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A084-F822-4BCF-847C-B469EAAC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EFA1F-9967-4562-831E-B21756D3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新增资源清单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e973e5f904f85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1866900" y="1219200"/>
          <a:ext xmlns:a="http://schemas.openxmlformats.org/drawingml/2006/main" cx="84582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857250"/>
                <a:gridCol w="2381250"/>
                <a:gridCol w="3219450"/>
              </a:tblGrid>
              <a:tr h="48169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资源名称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数量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配置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FastAPI Pod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2C4G 起步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承载 REST/SSE 与静态页面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Elasticsearch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 套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ES 7.9.3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skus / outfits 两索引，支持属性与文本检索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Milvus Cloud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 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HNSW / COSINE / 1024d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图文向量、文本向量、互补向量集合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离线 ETL Job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日更 + 可分步重跑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下载、清洗、选图、建索引、校验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LLM/Embedding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按调用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ANTA LLM / Ark Embedding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意图、理由、排序、图文向量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对象/文件存储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data/logs + reports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日志、回放、质量报告与 fallback 文件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873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d112ade3f4b11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CA697-74C4-4B9E-ADA2-DC6A886E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A2BD5-9C3C-4823-85F2-E299B73F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K8S资源清单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dc2629a1c4be1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2724150" y="10477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57250"/>
                <a:gridCol w="1143000"/>
                <a:gridCol w="2762250"/>
              </a:tblGrid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资源名称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数量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是否核心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资源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fila-agent-api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2C4G / HPA 待压测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fila-etl-job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CronJob / 日更触发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fila-index-sync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Job / 支持 reset 与增量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fila-static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可与 API 合并部署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milvus-cloud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托管服务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elasticsearch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 套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公司内网集群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log-volume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JSONL 日志与 replay dump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config-secret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ES/Milvus/LLM 密钥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807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3e0d855c84bb9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37698-E843-46B2-AD06-8593A8DB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8A290-B17D-4F96-95E6-A946F16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监控与可观测性方案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0563644ec464b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1809750"/>
          <a:ext xmlns:a="http://schemas.openxmlformats.org/drawingml/2006/main" cx="107442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762500"/>
                <a:gridCol w="4457700"/>
              </a:tblGrid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监控指标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监控方式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资源监控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CPU、内存、磁盘、Pod 重启次数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K8S + 统一监控平台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接口监控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QPS、P95/P99、错误率、SSE 中断率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FastAPI access log + 指标采集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召回链路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各通路召回数量、去重前后数量、耗时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record_recommend_timing + JSONL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索引质量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SKU 缺字段、图片缺失、索引同步状态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validate_data.py + data/reports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模型调用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LLM/Embedding 成功率、超时率、token/耗时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客户端封装日志 + trace_id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5EBD7-DDFD-440D-AFC9-DC25DC62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00000"/>
                </a:solidFill>
              </a:defRPr>
            </a:pPr>
            <a:r>
              <a:rPr sz="1200" b="1">
                <a:solidFill>
                  <a:srgbClr val="C00000"/>
                </a:solidFill>
              </a:rPr>
              <a:t>已具备：trace_id、SSE 阶段事件、召回 IO 日志、缺陷分析日志。需补齐：统一指标上报与告警阈值。</a:t>
            </a:r>
          </a:p>
        </p:txBody>
      </p:sp>
    </p:spTree>
    <p:extLst>
      <p:ext uri="{BB962C8B-B14F-4D97-AF65-F5344CB8AC3E}">
        <p14:creationId xmlns:p14="http://schemas.microsoft.com/office/powerpoint/2010/main" val="1743226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408e628734c06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50EC2-173A-49B5-814D-64E5C232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9EA49-6843-43B6-8A9E-662A61E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安全方案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408f375774870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914400" y="1238250"/>
          <a:ext xmlns:a="http://schemas.openxmlformats.org/drawingml/2006/main" cx="10363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8648700"/>
              </a:tblGrid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安全方案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密钥管理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ES、Milvus、LLM、Hive 密钥均由环境变量注入，禁止写入仓库；示例仅保留 .env.example。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传输安全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生产访问建议统一 HTTPS；内部 ES/Milvus/LLM 走内网或网关白名单。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数据边界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推荐只返回库内 SKU 与固定搭配/拼套结果，不自由生成库外货号，降低商品合规风险。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日志脱敏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image_base64、api_key、prompt 通过 logging.redact 与 preview 截断策略处理。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访问控制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调试台、评测页、图片 Debug 上线前需接入身份校验或仅开放内网。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故障降级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ES 不可用时本地 JSON fallback；LLM/Embedding 超时有规则/模板路径兜底。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600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7628933204b05"/>
          <a:stretch xmlns:a="http://schemas.openxmlformats.org/drawingml/2006/main"/>
        </p:blipFill>
        <p:spPr>
          <a:xfrm xmlns:a="http://schemas.openxmlformats.org/drawingml/2006/main">
            <a:off x="11487150" y="175260"/>
            <a:ext cx="400050" cy="2400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2C6B5-D253-46FA-B08F-2DF79D2F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9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D2325-D4A3-4328-8134-733B2FE0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4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备份恢复与评审结论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b23ac79314669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1009650" y="1352550"/>
          <a:ext xmlns:a="http://schemas.openxmlformats.org/drawingml/2006/main" cx="101727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857500"/>
                <a:gridCol w="2190750"/>
                <a:gridCol w="3886200"/>
              </a:tblGrid>
              <a:tr h="37465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组件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备份策略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归档策略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恢复策略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data/tables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日更快照保留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按日期归档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重跑 ETL 恢复 processed / preview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ES 索引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索引可重建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保留同步状态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从 skus/outfits 输入全量 reset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Milvus 向量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集合可重建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保留向量生成输入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从 SKU 图文/文本字段重建集合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配置/Prompt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Git 管理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版本化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回滚到上一个稳定 commit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在线日志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JSONL 滚动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按天归档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</a:rPr>
                        <a:t>用于 replay 和缺陷定位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2476500" y="4038600"/>
          <a:ext xmlns:a="http://schemas.openxmlformats.org/drawingml/2006/main" cx="7239000" cy="1066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4191000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评审项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后续动作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架构可行性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维持单进程上线，保留拆服务扩展点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数据链路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将日更 Job 与索引 Job 编排到调度平台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22222"/>
                          </a:solidFill>
                        </a:rPr>
                        <a:t>上线风险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有条件通过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222222"/>
                          </a:solidFill>
                        </a:rPr>
                        <a:t>补齐鉴权、告警、压测与回滚手册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69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58341996944ec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ebf28747349e0"/>
          <a:stretch xmlns:a="http://schemas.openxmlformats.org/drawingml/2006/main"/>
        </p:blipFill>
        <p:spPr>
          <a:xfrm xmlns:a="http://schemas.openxmlformats.org/drawingml/2006/main">
            <a:off x="1485900" y="6363617"/>
            <a:ext cx="3429000" cy="2743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56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2026-07-02T05:39:31.2330000Z</dcterms:created>
  <dcterms:modified xsi:type="dcterms:W3CDTF">2026-07-02T05:39:31.2330000Z</dcterms:modified>
</coreProperties>
</file>