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1" r:id="rId3"/>
  </p:sldMasterIdLst>
  <p:notesMasterIdLst>
    <p:notesMasterId r:id="rId6"/>
  </p:notesMasterIdLst>
  <p:sldIdLst>
    <p:sldId id="9679" r:id="rId4"/>
    <p:sldId id="9694" r:id="rId5"/>
    <p:sldId id="9696" r:id="rId7"/>
    <p:sldId id="9684" r:id="rId8"/>
    <p:sldId id="9685" r:id="rId9"/>
    <p:sldId id="9700" r:id="rId10"/>
    <p:sldId id="9698" r:id="rId11"/>
    <p:sldId id="9699" r:id="rId12"/>
    <p:sldId id="9695" r:id="rId13"/>
    <p:sldId id="9687" r:id="rId14"/>
    <p:sldId id="9688" r:id="rId15"/>
    <p:sldId id="9701" r:id="rId16"/>
    <p:sldId id="9697" r:id="rId17"/>
    <p:sldId id="9690" r:id="rId18"/>
    <p:sldId id="9691" r:id="rId19"/>
    <p:sldId id="9692" r:id="rId20"/>
    <p:sldId id="9693" r:id="rId21"/>
  </p:sldIdLst>
  <p:sldSz cx="12192000" cy="6858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YSHGEDBJB0235" initials="Z"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DDD"/>
    <a:srgbClr val="8FAADC"/>
    <a:srgbClr val="7F7F7F"/>
    <a:srgbClr val="D9D9D9"/>
    <a:srgbClr val="A32020"/>
    <a:srgbClr val="C00000"/>
    <a:srgbClr val="D41919"/>
    <a:srgbClr val="B3121A"/>
    <a:srgbClr val="3B3838"/>
    <a:srgbClr val="B913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6" Type="http://schemas.openxmlformats.org/officeDocument/2006/relationships/tags" Target="tags/tag3.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788C08-5652-4B3B-A5FA-B36E26863745}" type="datetimeFigureOut">
              <a:rPr lang="en-GB" smtClean="0"/>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91694A-6093-4E9C-818A-58C9CA6F0BA5}"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fld id="{D55E2970-D1E0-4EE8-A51D-BA40ABB8A0E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55E2970-D1E0-4EE8-A51D-BA40ABB8A0E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55E2970-D1E0-4EE8-A51D-BA40ABB8A0E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55E2970-D1E0-4EE8-A51D-BA40ABB8A0E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55E2970-D1E0-4EE8-A51D-BA40ABB8A0E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55E2970-D1E0-4EE8-A51D-BA40ABB8A0E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55E2970-D1E0-4EE8-A51D-BA40ABB8A0E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55E2970-D1E0-4EE8-A51D-BA40ABB8A0E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55E2970-D1E0-4EE8-A51D-BA40ABB8A0E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55E2970-D1E0-4EE8-A51D-BA40ABB8A0E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55E2970-D1E0-4EE8-A51D-BA40ABB8A0E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55E2970-D1E0-4EE8-A51D-BA40ABB8A0E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55E2970-D1E0-4EE8-A51D-BA40ABB8A0E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55E2970-D1E0-4EE8-A51D-BA40ABB8A0E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55E2970-D1E0-4EE8-A51D-BA40ABB8A0E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600" b="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55E2970-D1E0-4EE8-A51D-BA40ABB8A0E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4255B936-D5C9-4BEC-9D03-C11BAED2FFC9}"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24C5594-347B-49BD-8281-4588B6CF3401}"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fld id="{4255B936-D5C9-4BEC-9D03-C11BAED2FFC9}"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24C5594-347B-49BD-8281-4588B6CF3401}"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255B936-D5C9-4BEC-9D03-C11BAED2FFC9}"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24C5594-347B-49BD-8281-4588B6CF3401}"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Date Placeholder 4"/>
          <p:cNvSpPr>
            <a:spLocks noGrp="1"/>
          </p:cNvSpPr>
          <p:nvPr>
            <p:ph type="dt" sz="half" idx="10"/>
          </p:nvPr>
        </p:nvSpPr>
        <p:spPr/>
        <p:txBody>
          <a:bodyPr/>
          <a:lstStyle/>
          <a:p>
            <a:fld id="{4255B936-D5C9-4BEC-9D03-C11BAED2FFC9}"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24C5594-347B-49BD-8281-4588B6CF3401}"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7" name="Date Placeholder 6"/>
          <p:cNvSpPr>
            <a:spLocks noGrp="1"/>
          </p:cNvSpPr>
          <p:nvPr>
            <p:ph type="dt" sz="half" idx="10"/>
          </p:nvPr>
        </p:nvSpPr>
        <p:spPr/>
        <p:txBody>
          <a:bodyPr/>
          <a:lstStyle/>
          <a:p>
            <a:fld id="{4255B936-D5C9-4BEC-9D03-C11BAED2FFC9}" type="datetimeFigureOut">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24C5594-347B-49BD-8281-4588B6CF3401}"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4255B936-D5C9-4BEC-9D03-C11BAED2FFC9}" type="datetimeFigureOut">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24C5594-347B-49BD-8281-4588B6CF3401}"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5B936-D5C9-4BEC-9D03-C11BAED2FFC9}" type="datetimeFigureOut">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24C5594-347B-49BD-8281-4588B6CF3401}"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55B936-D5C9-4BEC-9D03-C11BAED2FFC9}"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24C5594-347B-49BD-8281-4588B6CF3401}"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55B936-D5C9-4BEC-9D03-C11BAED2FFC9}"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24C5594-347B-49BD-8281-4588B6CF3401}"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fld id="{4255B936-D5C9-4BEC-9D03-C11BAED2FFC9}"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24C5594-347B-49BD-8281-4588B6CF3401}"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fld id="{4255B936-D5C9-4BEC-9D03-C11BAED2FFC9}"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24C5594-347B-49BD-8281-4588B6CF3401}" type="slidenum">
              <a:rPr lang="en-GB" smtClean="0"/>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浅色风格封面">
    <p:spTree>
      <p:nvGrpSpPr>
        <p:cNvPr id="1" name=""/>
        <p:cNvGrpSpPr/>
        <p:nvPr/>
      </p:nvGrpSpPr>
      <p:grpSpPr>
        <a:xfrm>
          <a:off x="0" y="0"/>
          <a:ext cx="0" cy="0"/>
          <a:chOff x="0" y="0"/>
          <a:chExt cx="0" cy="0"/>
        </a:xfrm>
      </p:grpSpPr>
      <p:sp>
        <p:nvSpPr>
          <p:cNvPr id="5" name="Picture Placeholder 8"/>
          <p:cNvSpPr>
            <a:spLocks noGrp="1" noChangeAspect="1"/>
          </p:cNvSpPr>
          <p:nvPr>
            <p:ph type="pic" sz="quarter" idx="10"/>
          </p:nvPr>
        </p:nvSpPr>
        <p:spPr>
          <a:xfrm>
            <a:off x="0" y="0"/>
            <a:ext cx="12192000" cy="6197600"/>
          </a:xfrm>
          <a:prstGeom prst="rect">
            <a:avLst/>
          </a:prstGeom>
        </p:spPr>
        <p:txBody>
          <a:bodyPr>
            <a:normAutofit/>
          </a:bodyPr>
          <a:lstStyle>
            <a:lvl1pPr marL="0" indent="0">
              <a:buNone/>
              <a:defRPr sz="2100">
                <a:solidFill>
                  <a:schemeClr val="bg1">
                    <a:lumMod val="75000"/>
                  </a:schemeClr>
                </a:solidFill>
              </a:defRPr>
            </a:lvl1pPr>
          </a:lstStyle>
          <a:p>
            <a:endParaRPr lang="en-US" dirty="0"/>
          </a:p>
        </p:txBody>
      </p:sp>
      <p:sp>
        <p:nvSpPr>
          <p:cNvPr id="6" name="矩形 5"/>
          <p:cNvSpPr/>
          <p:nvPr userDrawn="1"/>
        </p:nvSpPr>
        <p:spPr>
          <a:xfrm>
            <a:off x="0" y="6195701"/>
            <a:ext cx="12192000" cy="662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30285" y="6245465"/>
            <a:ext cx="7731430" cy="57924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140FBE-7ED2-4BB1-AEC1-8C6B1A51BFB5}"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7FFACC3-9BC2-4A33-8C81-3D23349A028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140FBE-7ED2-4BB1-AEC1-8C6B1A51BFB5}"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7FFACC3-9BC2-4A33-8C81-3D23349A028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140FBE-7ED2-4BB1-AEC1-8C6B1A51BFB5}"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7FFACC3-9BC2-4A33-8C81-3D23349A028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140FBE-7ED2-4BB1-AEC1-8C6B1A51BFB5}"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7FFACC3-9BC2-4A33-8C81-3D23349A028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140FBE-7ED2-4BB1-AEC1-8C6B1A51BFB5}"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7FFACC3-9BC2-4A33-8C81-3D23349A028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140FBE-7ED2-4BB1-AEC1-8C6B1A51BFB5}"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7FFACC3-9BC2-4A33-8C81-3D23349A028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140FBE-7ED2-4BB1-AEC1-8C6B1A51BFB5}"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7FFACC3-9BC2-4A33-8C81-3D23349A028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140FBE-7ED2-4BB1-AEC1-8C6B1A51BFB5}"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7FFACC3-9BC2-4A33-8C81-3D23349A028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140FBE-7ED2-4BB1-AEC1-8C6B1A51BFB5}"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7FFACC3-9BC2-4A33-8C81-3D23349A028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140FBE-7ED2-4BB1-AEC1-8C6B1A51BFB5}"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7FFACC3-9BC2-4A33-8C81-3D23349A028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140FBE-7ED2-4BB1-AEC1-8C6B1A51BFB5}"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7FFACC3-9BC2-4A33-8C81-3D23349A028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showMasterSp="0">
  <p:cSld name="灰色无logo">
    <p:spTree>
      <p:nvGrpSpPr>
        <p:cNvPr id="1" name=""/>
        <p:cNvGrpSpPr/>
        <p:nvPr/>
      </p:nvGrpSpPr>
      <p:grpSpPr>
        <a:xfrm>
          <a:off x="0" y="0"/>
          <a:ext cx="0" cy="0"/>
          <a:chOff x="0" y="0"/>
          <a:chExt cx="0" cy="0"/>
        </a:xfrm>
      </p:grpSpPr>
      <p:sp>
        <p:nvSpPr>
          <p:cNvPr id="52" name="组合 1"/>
          <p:cNvSpPr/>
          <p:nvPr/>
        </p:nvSpPr>
        <p:spPr>
          <a:xfrm>
            <a:off x="-9567" y="373930"/>
            <a:ext cx="217518" cy="381017"/>
          </a:xfrm>
          <a:prstGeom prst="rect">
            <a:avLst/>
          </a:prstGeom>
          <a:solidFill>
            <a:srgbClr val="1A52A4"/>
          </a:solidFill>
          <a:ln w="12700">
            <a:miter lim="400000"/>
          </a:ln>
        </p:spPr>
        <p:txBody>
          <a:bodyPr lIns="0" tIns="0" rIns="0" bIns="0" anchor="ctr"/>
          <a:lstStyle/>
          <a:p>
            <a:pPr marL="0" marR="0" lvl="0" indent="0" algn="ctr" defTabSz="914400" rtl="0" eaLnBrk="1" fontAlgn="auto" latinLnBrk="0" hangingPunct="1">
              <a:lnSpc>
                <a:spcPct val="120000"/>
              </a:lnSpc>
              <a:spcBef>
                <a:spcPts val="0"/>
              </a:spcBef>
              <a:spcAft>
                <a:spcPts val="0"/>
              </a:spcAft>
              <a:buClrTx/>
              <a:buSzTx/>
              <a:buFontTx/>
              <a:buNone/>
              <a:defRPr sz="1500">
                <a:solidFill>
                  <a:srgbClr val="FFFFFF"/>
                </a:solidFill>
                <a:latin typeface="Arial" panose="020B0604020202020204"/>
                <a:ea typeface="Arial" panose="020B0604020202020204"/>
                <a:cs typeface="Arial" panose="020B0604020202020204"/>
                <a:sym typeface="Arial" panose="020B0604020202020204"/>
              </a:defRPr>
            </a:pPr>
            <a:endParaRPr kumimoji="0" sz="1500" b="0" i="0" u="none" strike="noStrike" kern="1200" cap="none" spc="0" normalizeH="0" baseline="0" noProof="0">
              <a:ln>
                <a:noFill/>
              </a:ln>
              <a:solidFill>
                <a:srgbClr val="FFFFFF"/>
              </a:solidFill>
              <a:effectLst/>
              <a:uLnTx/>
              <a:uFillTx/>
              <a:latin typeface="Arial" panose="020B0604020202020204"/>
              <a:cs typeface="Arial" panose="020B0604020202020204"/>
              <a:sym typeface="Arial" panose="020B0604020202020204"/>
            </a:endParaRPr>
          </a:p>
        </p:txBody>
      </p:sp>
      <p:sp>
        <p:nvSpPr>
          <p:cNvPr id="53" name="幻灯片编号"/>
          <p:cNvSpPr txBox="1">
            <a:spLocks noGrp="1"/>
          </p:cNvSpPr>
          <p:nvPr>
            <p:ph type="sldNum" sz="quarter" idx="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CB4B4D-7CA3-9044-876B-883B54F8677D}" type="slidenum">
              <a:rPr kumimoji="0" sz="1200" b="0" i="0" u="none" strike="noStrike" kern="1200" cap="none" spc="0" normalizeH="0" baseline="0" noProof="0">
                <a:ln>
                  <a:noFill/>
                </a:ln>
                <a:solidFill>
                  <a:prstClr val="black">
                    <a:tint val="75000"/>
                  </a:prstClr>
                </a:solidFill>
                <a:effectLst/>
                <a:uLnTx/>
                <a:uFillTx/>
                <a:latin typeface="等线" panose="02010600030101010101" charset="-122"/>
                <a:ea typeface="+mn-ea"/>
                <a:cs typeface="+mn-cs"/>
              </a:rPr>
            </a:fld>
            <a:endParaRPr kumimoji="0" sz="1200" b="0" i="0" u="none" strike="noStrike" kern="1200" cap="none" spc="0" normalizeH="0" baseline="0" noProof="0">
              <a:ln>
                <a:noFill/>
              </a:ln>
              <a:solidFill>
                <a:prstClr val="black">
                  <a:tint val="75000"/>
                </a:prstClr>
              </a:solidFill>
              <a:effectLst/>
              <a:uLnTx/>
              <a:uFillTx/>
              <a:latin typeface="等线" panose="02010600030101010101" charset="-122"/>
              <a:ea typeface="+mn-ea"/>
              <a:cs typeface="+mn-cs"/>
            </a:endParaRPr>
          </a:p>
        </p:txBody>
      </p:sp>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96875" y="196781"/>
            <a:ext cx="3881081" cy="927963"/>
          </a:xfrm>
          <a:prstGeom prst="rect">
            <a:avLst/>
          </a:prstGeom>
        </p:spPr>
      </p:pic>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screen"/>
          <a:stretch>
            <a:fillRect/>
          </a:stretch>
        </p:blipFill>
        <p:spPr>
          <a:xfrm>
            <a:off x="8310413" y="0"/>
            <a:ext cx="3881587" cy="927963"/>
          </a:xfrm>
          <a:prstGeom prst="rect">
            <a:avLst/>
          </a:prstGeom>
        </p:spPr>
      </p:pic>
      <p:sp>
        <p:nvSpPr>
          <p:cNvPr id="3" name="组合 1"/>
          <p:cNvSpPr/>
          <p:nvPr userDrawn="1"/>
        </p:nvSpPr>
        <p:spPr>
          <a:xfrm>
            <a:off x="0" y="273479"/>
            <a:ext cx="312676" cy="381004"/>
          </a:xfrm>
          <a:prstGeom prst="rect">
            <a:avLst/>
          </a:prstGeom>
          <a:solidFill>
            <a:srgbClr val="35507B"/>
          </a:solidFill>
          <a:ln w="12700">
            <a:miter lim="400000"/>
          </a:ln>
        </p:spPr>
        <p:txBody>
          <a:bodyPr lIns="0" tIns="0" rIns="0" bIns="0" anchor="ctr"/>
          <a:lstStyle/>
          <a:p>
            <a:pPr marL="0" marR="0" lvl="0" indent="0" algn="just" defTabSz="914400" rtl="0" eaLnBrk="1" fontAlgn="auto" latinLnBrk="0" hangingPunct="1">
              <a:lnSpc>
                <a:spcPct val="150000"/>
              </a:lnSpc>
              <a:spcBef>
                <a:spcPts val="0"/>
              </a:spcBef>
              <a:spcAft>
                <a:spcPts val="0"/>
              </a:spcAft>
              <a:buClrTx/>
              <a:buSzTx/>
              <a:buFontTx/>
              <a:buNone/>
              <a:defRPr sz="1500">
                <a:solidFill>
                  <a:srgbClr val="FFFFFF"/>
                </a:solidFill>
                <a:latin typeface="Arial" panose="020B0604020202020204"/>
                <a:ea typeface="Arial" panose="020B0604020202020204"/>
                <a:cs typeface="Arial" panose="020B0604020202020204"/>
                <a:sym typeface="Arial" panose="020B0604020202020204"/>
              </a:defRPr>
            </a:pPr>
            <a:endParaRPr kumimoji="0" sz="1500" b="0" i="0" u="none" strike="noStrike" kern="1200" cap="none" spc="0" normalizeH="0" baseline="0" noProof="0">
              <a:ln>
                <a:noFill/>
              </a:ln>
              <a:solidFill>
                <a:srgbClr val="FFFFFF"/>
              </a:solidFill>
              <a:effectLst/>
              <a:uLnTx/>
              <a:uFillTx/>
              <a:latin typeface="Arial" panose="020B0604020202020204"/>
              <a:cs typeface="Arial" panose="020B0604020202020204"/>
              <a:sym typeface="Arial" panose="020B0604020202020204"/>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80730" y="195004"/>
            <a:ext cx="10515600" cy="533326"/>
          </a:xfrm>
          <a:prstGeom prst="rect">
            <a:avLst/>
          </a:prstGeom>
        </p:spPr>
        <p:txBody>
          <a:bodyPr/>
          <a:lstStyle>
            <a:lvl1pPr>
              <a:defRPr sz="2400"/>
            </a:lvl1pPr>
          </a:lstStyle>
          <a:p>
            <a:r>
              <a:rPr lang="zh-CN" altLang="en-US"/>
              <a:t>单击此处编辑母版标题样式</a:t>
            </a:r>
            <a:endParaRPr lang="zh-CN" altLang="en-US"/>
          </a:p>
        </p:txBody>
      </p:sp>
    </p:spTree>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浅色风格正文页">
    <p:bg>
      <p:bgPr>
        <a:gradFill>
          <a:gsLst>
            <a:gs pos="0">
              <a:schemeClr val="bg1">
                <a:tint val="93000"/>
                <a:satMod val="150000"/>
                <a:shade val="98000"/>
                <a:lumMod val="102000"/>
              </a:schemeClr>
            </a:gs>
            <a:gs pos="50000">
              <a:schemeClr val="bg1">
                <a:tint val="98000"/>
                <a:satMod val="130000"/>
                <a:shade val="90000"/>
                <a:lumMod val="0"/>
                <a:lumOff val="100000"/>
              </a:schemeClr>
            </a:gs>
            <a:gs pos="59000">
              <a:schemeClr val="bg1">
                <a:alpha val="46000"/>
                <a:lumMod val="0"/>
                <a:lumOff val="100000"/>
              </a:schemeClr>
            </a:gs>
            <a:gs pos="100000">
              <a:schemeClr val="bg1">
                <a:shade val="63000"/>
                <a:satMod val="120000"/>
                <a:alpha val="40000"/>
              </a:schemeClr>
            </a:gs>
          </a:gsLst>
          <a:lin ang="5400000" scaled="0"/>
        </a:gra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49052" y="60539"/>
            <a:ext cx="1551631" cy="970701"/>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浅色风格封面">
    <p:spTree>
      <p:nvGrpSpPr>
        <p:cNvPr id="1" name=""/>
        <p:cNvGrpSpPr/>
        <p:nvPr/>
      </p:nvGrpSpPr>
      <p:grpSpPr>
        <a:xfrm>
          <a:off x="0" y="0"/>
          <a:ext cx="0" cy="0"/>
          <a:chOff x="0" y="0"/>
          <a:chExt cx="0" cy="0"/>
        </a:xfrm>
      </p:grpSpPr>
      <p:sp>
        <p:nvSpPr>
          <p:cNvPr id="5" name="Picture Placeholder 8"/>
          <p:cNvSpPr>
            <a:spLocks noGrp="1" noChangeAspect="1"/>
          </p:cNvSpPr>
          <p:nvPr>
            <p:ph type="pic" sz="quarter" idx="10"/>
          </p:nvPr>
        </p:nvSpPr>
        <p:spPr>
          <a:xfrm>
            <a:off x="0" y="0"/>
            <a:ext cx="12192000" cy="6197600"/>
          </a:xfrm>
          <a:prstGeom prst="rect">
            <a:avLst/>
          </a:prstGeom>
        </p:spPr>
        <p:txBody>
          <a:bodyPr>
            <a:normAutofit/>
          </a:bodyPr>
          <a:lstStyle>
            <a:lvl1pPr marL="0" indent="0">
              <a:buNone/>
              <a:defRPr sz="2100">
                <a:solidFill>
                  <a:schemeClr val="bg1">
                    <a:lumMod val="75000"/>
                  </a:schemeClr>
                </a:solidFill>
              </a:defRPr>
            </a:lvl1pPr>
          </a:lstStyle>
          <a:p>
            <a:endParaRPr lang="en-US" dirty="0"/>
          </a:p>
        </p:txBody>
      </p:sp>
      <p:sp>
        <p:nvSpPr>
          <p:cNvPr id="6" name="矩形 5"/>
          <p:cNvSpPr/>
          <p:nvPr userDrawn="1"/>
        </p:nvSpPr>
        <p:spPr>
          <a:xfrm>
            <a:off x="0" y="6195701"/>
            <a:ext cx="12192000" cy="662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charset="-122"/>
              <a:cs typeface="+mn-cs"/>
            </a:endParaRPr>
          </a:p>
        </p:txBody>
      </p:sp>
      <p:pic>
        <p:nvPicPr>
          <p:cNvPr id="7" name="图片 6"/>
          <p:cNvPicPr>
            <a:picLocks noChangeAspect="1"/>
          </p:cNvPicPr>
          <p:nvPr userDrawn="1"/>
        </p:nvPicPr>
        <p:blipFill rotWithShape="1">
          <a:blip r:embed="rId2"/>
          <a:srcRect t="8764" b="8764"/>
          <a:stretch>
            <a:fillRect/>
          </a:stretch>
        </p:blipFill>
        <p:spPr>
          <a:xfrm>
            <a:off x="3005784" y="6203578"/>
            <a:ext cx="6132623" cy="62264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28.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55B936-D5C9-4BEC-9D03-C11BAED2FFC9}" type="datetimeFigureOut">
              <a:rPr lang="en-GB" smtClean="0"/>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4C5594-347B-49BD-8281-4588B6CF3401}"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53140FBE-7ED2-4BB1-AEC1-8C6B1A51BFB5}"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A7FFACC3-9BC2-4A33-8C81-3D23349A028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7.png"/><Relationship Id="rId1" Type="http://schemas.openxmlformats.org/officeDocument/2006/relationships/image" Target="../media/image6.jpe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7.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7.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7.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1" Type="http://schemas.openxmlformats.org/officeDocument/2006/relationships/notesSlide" Target="../notesSlides/notesSlide11.xml"/><Relationship Id="rId10" Type="http://schemas.openxmlformats.org/officeDocument/2006/relationships/slideLayout" Target="../slideLayouts/slideLayout27.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7.xml"/><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1">
            <a:extLst>
              <a:ext uri="{28A0092B-C50C-407E-A947-70E740481C1C}">
                <a14:useLocalDpi xmlns:a14="http://schemas.microsoft.com/office/drawing/2010/main" val="0"/>
              </a:ext>
            </a:extLst>
          </a:blip>
          <a:srcRect b="9445"/>
          <a:stretch>
            <a:fillRect/>
          </a:stretch>
        </p:blipFill>
        <p:spPr>
          <a:xfrm>
            <a:off x="0" y="0"/>
            <a:ext cx="12192000" cy="6210300"/>
          </a:xfrm>
          <a:prstGeom prst="rect">
            <a:avLst/>
          </a:prstGeom>
        </p:spPr>
      </p:pic>
      <p:sp>
        <p:nvSpPr>
          <p:cNvPr id="3" name="Rectangle 14"/>
          <p:cNvSpPr/>
          <p:nvPr/>
        </p:nvSpPr>
        <p:spPr>
          <a:xfrm>
            <a:off x="1545098" y="2747450"/>
            <a:ext cx="9079518" cy="1451679"/>
          </a:xfrm>
          <a:prstGeom prst="rect">
            <a:avLst/>
          </a:prstGeom>
        </p:spPr>
        <p:txBody>
          <a:bodyPr wrap="square">
            <a:spAutoFit/>
          </a:bodyPr>
          <a:lstStyle/>
          <a:p>
            <a:pPr algn="ctr">
              <a:lnSpc>
                <a:spcPts val="4800"/>
              </a:lnSpc>
              <a:spcAft>
                <a:spcPts val="1000"/>
              </a:spcAft>
            </a:pPr>
            <a:r>
              <a:rPr lang="zh-CN" altLang="en-US" sz="4800" b="1" dirty="0" smtClean="0">
                <a:latin typeface="微软雅黑" panose="020B0503020204020204" pitchFamily="34" charset="-122"/>
                <a:ea typeface="微软雅黑" panose="020B0503020204020204" pitchFamily="34" charset="-122"/>
                <a:cs typeface="Open Sans" panose="020B0606030504020204" pitchFamily="34" charset="0"/>
              </a:rPr>
              <a:t>东南亚</a:t>
            </a:r>
            <a:r>
              <a:rPr lang="en-US" altLang="zh-CN" sz="4800" b="1" dirty="0" smtClean="0">
                <a:latin typeface="微软雅黑" panose="020B0503020204020204" pitchFamily="34" charset="-122"/>
                <a:ea typeface="微软雅黑" panose="020B0503020204020204" pitchFamily="34" charset="-122"/>
                <a:cs typeface="Open Sans" panose="020B0606030504020204" pitchFamily="34" charset="0"/>
              </a:rPr>
              <a:t>CRM</a:t>
            </a:r>
            <a:r>
              <a:rPr lang="zh-CN" altLang="en-US" sz="4800" b="1" dirty="0" smtClean="0">
                <a:latin typeface="微软雅黑" panose="020B0503020204020204" pitchFamily="34" charset="-122"/>
                <a:ea typeface="微软雅黑" panose="020B0503020204020204" pitchFamily="34" charset="-122"/>
                <a:cs typeface="Open Sans" panose="020B0606030504020204" pitchFamily="34" charset="0"/>
              </a:rPr>
              <a:t>项目</a:t>
            </a:r>
            <a:endParaRPr lang="en-US" altLang="zh-CN" sz="4800" b="1" dirty="0" smtClean="0">
              <a:latin typeface="微软雅黑" panose="020B0503020204020204" pitchFamily="34" charset="-122"/>
              <a:ea typeface="微软雅黑" panose="020B0503020204020204" pitchFamily="34" charset="-122"/>
              <a:cs typeface="Open Sans" panose="020B0606030504020204" pitchFamily="34" charset="0"/>
            </a:endParaRPr>
          </a:p>
          <a:p>
            <a:pPr algn="ctr">
              <a:lnSpc>
                <a:spcPts val="4800"/>
              </a:lnSpc>
              <a:spcAft>
                <a:spcPts val="1000"/>
              </a:spcAft>
            </a:pPr>
            <a:r>
              <a:rPr lang="zh-CN" altLang="en-US" sz="4800" b="1" dirty="0" smtClean="0">
                <a:latin typeface="微软雅黑" panose="020B0503020204020204" pitchFamily="34" charset="-122"/>
                <a:ea typeface="微软雅黑" panose="020B0503020204020204" pitchFamily="34" charset="-122"/>
                <a:cs typeface="Open Sans" panose="020B0606030504020204" pitchFamily="34" charset="0"/>
              </a:rPr>
              <a:t>技术架构方案</a:t>
            </a:r>
            <a:endParaRPr lang="en-US" altLang="zh-CN" sz="4800" b="1" dirty="0">
              <a:latin typeface="微软雅黑" panose="020B0503020204020204" pitchFamily="34" charset="-122"/>
              <a:ea typeface="微软雅黑" panose="020B0503020204020204" pitchFamily="34" charset="-122"/>
              <a:cs typeface="Open Sans" panose="020B0606030504020204" pitchFamily="34" charset="0"/>
            </a:endParaRPr>
          </a:p>
        </p:txBody>
      </p:sp>
      <p:sp>
        <p:nvSpPr>
          <p:cNvPr id="8" name="矩形 7"/>
          <p:cNvSpPr/>
          <p:nvPr/>
        </p:nvSpPr>
        <p:spPr>
          <a:xfrm>
            <a:off x="11449050" y="5734655"/>
            <a:ext cx="552450" cy="26035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1400" dirty="0" smtClean="0">
                <a:solidFill>
                  <a:schemeClr val="tx1"/>
                </a:solidFill>
                <a:latin typeface="微软雅黑" panose="020B0503020204020204" pitchFamily="34" charset="-122"/>
                <a:ea typeface="微软雅黑" panose="020B0503020204020204" pitchFamily="34" charset="-122"/>
              </a:rPr>
              <a:t>机密</a:t>
            </a:r>
            <a:endParaRPr lang="zh-CN" altLang="en-US" sz="1400" dirty="0">
              <a:solidFill>
                <a:schemeClr val="tx1"/>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3925" y="82546"/>
            <a:ext cx="2777988" cy="1737911"/>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TextBox 7"/>
            <p:cNvSpPr txBox="1"/>
            <p:nvPr/>
          </p:nvSpPr>
          <p:spPr>
            <a:xfrm>
              <a:off x="383254" y="498266"/>
              <a:ext cx="7415271"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项目背景：核心痛点</a:t>
              </a:r>
              <a:r>
                <a:rPr lang="en-US" altLang="zh-CN" sz="2800" b="1" dirty="0">
                  <a:latin typeface="微软雅黑" panose="020B0503020204020204" pitchFamily="34" charset="-122"/>
                  <a:ea typeface="微软雅黑" panose="020B0503020204020204" pitchFamily="34" charset="-122"/>
                </a:rPr>
                <a:t>&amp;</a:t>
              </a:r>
              <a:r>
                <a:rPr lang="zh-CN" altLang="en-US" sz="2800" b="1" dirty="0">
                  <a:latin typeface="微软雅黑" panose="020B0503020204020204" pitchFamily="34" charset="-122"/>
                  <a:ea typeface="微软雅黑" panose="020B0503020204020204" pitchFamily="34" charset="-122"/>
                </a:rPr>
                <a:t>应用场景</a:t>
              </a:r>
              <a:endParaRPr lang="zh-CN" altLang="en-US" sz="2800" b="1" dirty="0">
                <a:latin typeface="微软雅黑" panose="020B0503020204020204" pitchFamily="34" charset="-122"/>
                <a:ea typeface="微软雅黑" panose="020B0503020204020204" pitchFamily="34" charset="-122"/>
              </a:endParaRPr>
            </a:p>
          </p:txBody>
        </p:sp>
      </p:grpSp>
      <p:sp>
        <p:nvSpPr>
          <p:cNvPr id="43" name="iŝḻïḑê"/>
          <p:cNvSpPr/>
          <p:nvPr/>
        </p:nvSpPr>
        <p:spPr>
          <a:xfrm>
            <a:off x="409332" y="1406176"/>
            <a:ext cx="458631" cy="1962619"/>
          </a:xfrm>
          <a:prstGeom prst="rect">
            <a:avLst/>
          </a:prstGeom>
          <a:solidFill>
            <a:srgbClr val="2F549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zh-CN" altLang="en-US" sz="2400" b="1"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目标</a:t>
            </a:r>
            <a:endParaRPr lang="zh-CN" altLang="en-US" sz="2400" b="1"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endParaRPr>
          </a:p>
        </p:txBody>
      </p:sp>
      <p:sp>
        <p:nvSpPr>
          <p:cNvPr id="95" name="ïṧḻiḍê"/>
          <p:cNvSpPr/>
          <p:nvPr/>
        </p:nvSpPr>
        <p:spPr bwMode="auto">
          <a:xfrm>
            <a:off x="1025525" y="1388110"/>
            <a:ext cx="3310890" cy="1962785"/>
          </a:xfrm>
          <a:prstGeom prst="rect">
            <a:avLst/>
          </a:prstGeom>
          <a:solidFill>
            <a:srgbClr val="2F5498"/>
          </a:solidFill>
          <a:ln>
            <a:noFill/>
          </a:ln>
        </p:spPr>
        <p:txBody>
          <a:bodyPr wrap="square" lIns="91440" tIns="45720" rIns="91440" bIns="45720" anchor="ctr" anchorCtr="0">
            <a:noAutofit/>
          </a:bodyPr>
          <a:lstStyle/>
          <a:p>
            <a:r>
              <a:rPr kumimoji="1" lang="en-US" altLang="zh-CN" sz="2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   </a:t>
            </a:r>
            <a:r>
              <a:rPr kumimoji="1" lang="zh-CN" altLang="en-US" sz="2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目标</a:t>
            </a:r>
            <a:r>
              <a:rPr kumimoji="1" lang="en-US" altLang="zh-CN" sz="2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01</a:t>
            </a:r>
            <a:endParaRPr kumimoji="1" lang="en-US" altLang="zh-CN" sz="2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endParaRPr>
          </a:p>
          <a:p>
            <a:endParaRPr kumimoji="1" lang="en-US" altLang="zh-CN" sz="1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endParaRPr>
          </a:p>
          <a:p>
            <a:r>
              <a:rPr kumimoji="1" lang="en-US" altLang="zh-CN" sz="1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     </a:t>
            </a:r>
            <a:r>
              <a:rPr kumimoji="1" lang="zh-CN" altLang="en-US" sz="1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全渠道会员互通</a:t>
            </a:r>
            <a:endParaRPr kumimoji="1" lang="zh-CN" altLang="en-US" sz="1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endParaRPr>
          </a:p>
        </p:txBody>
      </p:sp>
      <p:sp>
        <p:nvSpPr>
          <p:cNvPr id="99" name="ïṧḻiḍê"/>
          <p:cNvSpPr/>
          <p:nvPr/>
        </p:nvSpPr>
        <p:spPr bwMode="auto">
          <a:xfrm>
            <a:off x="4590415" y="1383030"/>
            <a:ext cx="3315335" cy="1962785"/>
          </a:xfrm>
          <a:prstGeom prst="rect">
            <a:avLst/>
          </a:prstGeom>
          <a:solidFill>
            <a:srgbClr val="2F5498"/>
          </a:solidFill>
          <a:ln>
            <a:noFill/>
          </a:ln>
        </p:spPr>
        <p:txBody>
          <a:bodyPr wrap="square" lIns="91440" tIns="45720" rIns="91440" bIns="45720" anchor="ctr" anchorCtr="0">
            <a:noAutofit/>
          </a:bodyPr>
          <a:lstStyle/>
          <a:p>
            <a:pPr defTabSz="914400"/>
            <a:r>
              <a:rPr kumimoji="1" lang="en-US" altLang="zh-CN" sz="2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   </a:t>
            </a:r>
            <a:r>
              <a:rPr kumimoji="1" lang="zh-CN" altLang="en-US" sz="2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目标</a:t>
            </a:r>
            <a:r>
              <a:rPr kumimoji="1" lang="en-US" altLang="zh-CN" sz="2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02</a:t>
            </a:r>
            <a:endParaRPr kumimoji="1" lang="en-US" altLang="zh-CN" sz="2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endParaRPr>
          </a:p>
          <a:p>
            <a:pPr defTabSz="914400"/>
            <a:endParaRPr kumimoji="1" lang="en-US" altLang="zh-CN" sz="1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endParaRPr>
          </a:p>
          <a:p>
            <a:pPr defTabSz="914400"/>
            <a:r>
              <a:rPr kumimoji="1" lang="en-US" altLang="zh-CN" sz="1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     </a:t>
            </a:r>
            <a:r>
              <a:rPr kumimoji="1" lang="zh-CN" altLang="en-US" sz="1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批量自动化营销工具</a:t>
            </a:r>
            <a:endParaRPr kumimoji="1" lang="zh-CN" altLang="en-US" sz="1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endParaRPr>
          </a:p>
        </p:txBody>
      </p:sp>
      <p:sp>
        <p:nvSpPr>
          <p:cNvPr id="100" name="ïṧḻiḍê"/>
          <p:cNvSpPr/>
          <p:nvPr/>
        </p:nvSpPr>
        <p:spPr bwMode="auto">
          <a:xfrm>
            <a:off x="8154670" y="1362075"/>
            <a:ext cx="3310890" cy="1962785"/>
          </a:xfrm>
          <a:prstGeom prst="rect">
            <a:avLst/>
          </a:prstGeom>
          <a:solidFill>
            <a:srgbClr val="2F5498"/>
          </a:solidFill>
          <a:ln>
            <a:noFill/>
          </a:ln>
        </p:spPr>
        <p:txBody>
          <a:bodyPr wrap="square" lIns="91440" tIns="45720" rIns="91440" bIns="45720" anchor="ctr" anchorCtr="0">
            <a:noAutofit/>
          </a:bodyPr>
          <a:lstStyle/>
          <a:p>
            <a:pPr defTabSz="914400"/>
            <a:r>
              <a:rPr kumimoji="1" lang="en-US" altLang="zh-CN" sz="2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   </a:t>
            </a:r>
            <a:r>
              <a:rPr kumimoji="1" lang="zh-CN" altLang="en-US" sz="2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目标</a:t>
            </a:r>
            <a:r>
              <a:rPr kumimoji="1" lang="en-US" altLang="zh-CN" sz="2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03</a:t>
            </a:r>
            <a:endParaRPr kumimoji="1" lang="en-US" altLang="zh-CN" sz="2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endParaRPr>
          </a:p>
          <a:p>
            <a:pPr defTabSz="914400"/>
            <a:endParaRPr kumimoji="1" lang="en-US" altLang="zh-CN" sz="1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endParaRPr>
          </a:p>
          <a:p>
            <a:pPr defTabSz="914400"/>
            <a:r>
              <a:rPr kumimoji="1" lang="en-US" altLang="zh-CN" sz="1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     </a:t>
            </a:r>
            <a:r>
              <a:rPr kumimoji="1" lang="zh-CN" altLang="en-US" sz="1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多维度的会员政策</a:t>
            </a:r>
            <a:endParaRPr kumimoji="1" lang="zh-CN" altLang="en-US" sz="1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endParaRPr>
          </a:p>
        </p:txBody>
      </p:sp>
      <p:sp>
        <p:nvSpPr>
          <p:cNvPr id="104" name="ïṧḻiḍê"/>
          <p:cNvSpPr/>
          <p:nvPr/>
        </p:nvSpPr>
        <p:spPr bwMode="auto">
          <a:xfrm>
            <a:off x="1025525" y="5029200"/>
            <a:ext cx="3310890" cy="1570990"/>
          </a:xfrm>
          <a:prstGeom prst="rect">
            <a:avLst/>
          </a:prstGeom>
          <a:noFill/>
          <a:ln>
            <a:solidFill>
              <a:schemeClr val="bg1">
                <a:lumMod val="65000"/>
              </a:schemeClr>
            </a:solidFill>
            <a:prstDash val="dash"/>
          </a:ln>
        </p:spPr>
        <p:txBody>
          <a:bodyPr wrap="square" lIns="91440" tIns="45720" rIns="91440" bIns="45720" anchor="t" anchorCtr="0">
            <a:noAutofit/>
          </a:bodyPr>
          <a:lstStyle/>
          <a:p>
            <a:pPr algn="ctr" defTabSz="914400"/>
            <a:endParaRPr kumimoji="1" lang="zh-CN" altLang="en-US" b="1" dirty="0">
              <a:latin typeface="阿里汉仪智能黑体" panose="00020600040101010101" pitchFamily="18" charset="-122"/>
              <a:ea typeface="阿里汉仪智能黑体" panose="00020600040101010101" pitchFamily="18" charset="-122"/>
              <a:sym typeface="Arial" panose="020B0604020202020204" pitchFamily="34" charset="0"/>
            </a:endParaRPr>
          </a:p>
          <a:p>
            <a:pPr algn="ctr" defTabSz="914400"/>
            <a:r>
              <a:rPr kumimoji="1" lang="zh-CN" altLang="en-US" b="1" dirty="0">
                <a:latin typeface="阿里汉仪智能黑体" panose="00020600040101010101" pitchFamily="18" charset="-122"/>
                <a:ea typeface="阿里汉仪智能黑体" panose="00020600040101010101" pitchFamily="18" charset="-122"/>
                <a:sym typeface="Arial" panose="020B0604020202020204" pitchFamily="34" charset="0"/>
              </a:rPr>
              <a:t>会员权益割裂</a:t>
            </a:r>
            <a:endParaRPr kumimoji="1" lang="en-US" altLang="zh-CN" b="1" dirty="0">
              <a:latin typeface="阿里汉仪智能黑体" panose="00020600040101010101" pitchFamily="18" charset="-122"/>
              <a:ea typeface="阿里汉仪智能黑体" panose="00020600040101010101" pitchFamily="18" charset="-122"/>
              <a:sym typeface="Arial" panose="020B0604020202020204" pitchFamily="34" charset="0"/>
            </a:endParaRPr>
          </a:p>
          <a:p>
            <a:pPr algn="ctr" defTabSz="914400"/>
            <a:endParaRPr kumimoji="1" lang="en-US" altLang="zh-CN" b="1" dirty="0">
              <a:latin typeface="阿里汉仪智能黑体" panose="00020600040101010101" pitchFamily="18" charset="-122"/>
              <a:ea typeface="阿里汉仪智能黑体" panose="00020600040101010101" pitchFamily="18" charset="-122"/>
              <a:sym typeface="Arial" panose="020B0604020202020204" pitchFamily="34" charset="0"/>
            </a:endParaRPr>
          </a:p>
          <a:p>
            <a:pPr algn="ctr" defTabSz="914400"/>
            <a:r>
              <a:rPr kumimoji="1" lang="zh-CN" altLang="en-US" sz="1400" dirty="0">
                <a:latin typeface="阿里汉仪智能黑体" panose="00020600040101010101" pitchFamily="18" charset="-122"/>
                <a:ea typeface="阿里汉仪智能黑体" panose="00020600040101010101" pitchFamily="18" charset="-122"/>
                <a:sym typeface="Arial" panose="020B0604020202020204" pitchFamily="34" charset="0"/>
              </a:rPr>
              <a:t>线下，官网，电商不能叠加及共享</a:t>
            </a:r>
            <a:endParaRPr kumimoji="1" lang="zh-CN" altLang="en-US" sz="1400" dirty="0">
              <a:latin typeface="阿里汉仪智能黑体" panose="00020600040101010101" pitchFamily="18" charset="-122"/>
              <a:ea typeface="阿里汉仪智能黑体" panose="00020600040101010101" pitchFamily="18" charset="-122"/>
              <a:sym typeface="Arial" panose="020B0604020202020204" pitchFamily="34" charset="0"/>
            </a:endParaRPr>
          </a:p>
        </p:txBody>
      </p:sp>
      <p:sp>
        <p:nvSpPr>
          <p:cNvPr id="106" name="ïṧḻiḍê"/>
          <p:cNvSpPr/>
          <p:nvPr/>
        </p:nvSpPr>
        <p:spPr bwMode="auto">
          <a:xfrm>
            <a:off x="4590415" y="5029200"/>
            <a:ext cx="3310890" cy="1570990"/>
          </a:xfrm>
          <a:prstGeom prst="rect">
            <a:avLst/>
          </a:prstGeom>
          <a:noFill/>
          <a:ln>
            <a:solidFill>
              <a:schemeClr val="bg1">
                <a:lumMod val="65000"/>
              </a:schemeClr>
            </a:solidFill>
            <a:prstDash val="dash"/>
          </a:ln>
        </p:spPr>
        <p:txBody>
          <a:bodyPr wrap="square" lIns="91440" tIns="45720" rIns="91440" bIns="45720" anchor="t" anchorCtr="0">
            <a:noAutofit/>
          </a:bodyPr>
          <a:lstStyle/>
          <a:p>
            <a:pPr algn="ctr" defTabSz="914400"/>
            <a:endParaRPr kumimoji="1" lang="zh-CN" altLang="en-US" b="1" dirty="0">
              <a:latin typeface="阿里汉仪智能黑体" panose="00020600040101010101" pitchFamily="18" charset="-122"/>
              <a:ea typeface="阿里汉仪智能黑体" panose="00020600040101010101" pitchFamily="18" charset="-122"/>
              <a:sym typeface="Arial" panose="020B0604020202020204" pitchFamily="34" charset="0"/>
            </a:endParaRPr>
          </a:p>
          <a:p>
            <a:pPr algn="ctr" defTabSz="914400"/>
            <a:r>
              <a:rPr kumimoji="1" lang="zh-CN" altLang="en-US" b="1" dirty="0">
                <a:latin typeface="阿里汉仪智能黑体" panose="00020600040101010101" pitchFamily="18" charset="-122"/>
                <a:ea typeface="阿里汉仪智能黑体" panose="00020600040101010101" pitchFamily="18" charset="-122"/>
                <a:sym typeface="Arial" panose="020B0604020202020204" pitchFamily="34" charset="0"/>
              </a:rPr>
              <a:t>会员营</a:t>
            </a:r>
            <a:r>
              <a:rPr kumimoji="1" lang="zh-CN" altLang="en-US" b="1">
                <a:latin typeface="阿里汉仪智能黑体" panose="00020600040101010101" pitchFamily="18" charset="-122"/>
                <a:ea typeface="阿里汉仪智能黑体" panose="00020600040101010101" pitchFamily="18" charset="-122"/>
                <a:sym typeface="Arial" panose="020B0604020202020204" pitchFamily="34" charset="0"/>
              </a:rPr>
              <a:t>销不便捷</a:t>
            </a:r>
            <a:endParaRPr kumimoji="1" lang="en-US" altLang="zh-CN" b="1" dirty="0">
              <a:latin typeface="阿里汉仪智能黑体" panose="00020600040101010101" pitchFamily="18" charset="-122"/>
              <a:ea typeface="阿里汉仪智能黑体" panose="00020600040101010101" pitchFamily="18" charset="-122"/>
              <a:sym typeface="Arial" panose="020B0604020202020204" pitchFamily="34" charset="0"/>
            </a:endParaRPr>
          </a:p>
          <a:p>
            <a:pPr algn="ctr" defTabSz="914400"/>
            <a:endParaRPr kumimoji="1" lang="en-US" altLang="zh-CN" b="1" dirty="0">
              <a:latin typeface="阿里汉仪智能黑体" panose="00020600040101010101" pitchFamily="18" charset="-122"/>
              <a:ea typeface="阿里汉仪智能黑体" panose="00020600040101010101" pitchFamily="18" charset="-122"/>
              <a:sym typeface="Arial" panose="020B0604020202020204" pitchFamily="34" charset="0"/>
            </a:endParaRPr>
          </a:p>
          <a:p>
            <a:pPr algn="ctr" defTabSz="914400"/>
            <a:r>
              <a:rPr kumimoji="1" lang="zh-CN" altLang="en-US" sz="1400" dirty="0">
                <a:latin typeface="阿里汉仪智能黑体" panose="00020600040101010101" pitchFamily="18" charset="-122"/>
                <a:ea typeface="阿里汉仪智能黑体" panose="00020600040101010101" pitchFamily="18" charset="-122"/>
                <a:sym typeface="Arial" panose="020B0604020202020204" pitchFamily="34" charset="0"/>
              </a:rPr>
              <a:t>活动仅能由导购通过电话或个人聊天工具通知会员且只能人工操作发券</a:t>
            </a:r>
            <a:endParaRPr kumimoji="1" lang="zh-CN" altLang="en-US" sz="1400" dirty="0">
              <a:latin typeface="阿里汉仪智能黑体" panose="00020600040101010101" pitchFamily="18" charset="-122"/>
              <a:ea typeface="阿里汉仪智能黑体" panose="00020600040101010101" pitchFamily="18" charset="-122"/>
              <a:sym typeface="Arial" panose="020B0604020202020204" pitchFamily="34" charset="0"/>
            </a:endParaRPr>
          </a:p>
        </p:txBody>
      </p:sp>
      <p:sp>
        <p:nvSpPr>
          <p:cNvPr id="10" name="ïṧḻiḍê"/>
          <p:cNvSpPr/>
          <p:nvPr>
            <p:custDataLst>
              <p:tags r:id="rId1"/>
            </p:custDataLst>
          </p:nvPr>
        </p:nvSpPr>
        <p:spPr bwMode="auto">
          <a:xfrm>
            <a:off x="8154670" y="5023485"/>
            <a:ext cx="3310890" cy="1570990"/>
          </a:xfrm>
          <a:prstGeom prst="rect">
            <a:avLst/>
          </a:prstGeom>
          <a:noFill/>
          <a:ln>
            <a:solidFill>
              <a:schemeClr val="bg1">
                <a:lumMod val="65000"/>
              </a:schemeClr>
            </a:solidFill>
            <a:prstDash val="dash"/>
          </a:ln>
        </p:spPr>
        <p:txBody>
          <a:bodyPr wrap="square" lIns="91440" tIns="45720" rIns="91440" bIns="45720" anchor="t" anchorCtr="0">
            <a:noAutofit/>
          </a:bodyPr>
          <a:lstStyle/>
          <a:p>
            <a:pPr algn="ctr" defTabSz="914400"/>
            <a:endParaRPr kumimoji="1" lang="zh-CN" altLang="en-US" b="1" dirty="0">
              <a:latin typeface="阿里汉仪智能黑体" panose="00020600040101010101" pitchFamily="18" charset="-122"/>
              <a:ea typeface="阿里汉仪智能黑体" panose="00020600040101010101" pitchFamily="18" charset="-122"/>
              <a:sym typeface="Arial" panose="020B0604020202020204" pitchFamily="34" charset="0"/>
            </a:endParaRPr>
          </a:p>
          <a:p>
            <a:pPr algn="ctr" defTabSz="914400"/>
            <a:r>
              <a:rPr kumimoji="1" lang="zh-CN" altLang="en-US" b="1" dirty="0">
                <a:latin typeface="阿里汉仪智能黑体" panose="00020600040101010101" pitchFamily="18" charset="-122"/>
                <a:ea typeface="阿里汉仪智能黑体" panose="00020600040101010101" pitchFamily="18" charset="-122"/>
                <a:sym typeface="Arial" panose="020B0604020202020204" pitchFamily="34" charset="0"/>
              </a:rPr>
              <a:t>会员政策单一</a:t>
            </a:r>
            <a:endParaRPr kumimoji="1" lang="en-US" altLang="zh-CN" b="1" dirty="0">
              <a:latin typeface="阿里汉仪智能黑体" panose="00020600040101010101" pitchFamily="18" charset="-122"/>
              <a:ea typeface="阿里汉仪智能黑体" panose="00020600040101010101" pitchFamily="18" charset="-122"/>
              <a:sym typeface="Arial" panose="020B0604020202020204" pitchFamily="34" charset="0"/>
            </a:endParaRPr>
          </a:p>
          <a:p>
            <a:pPr algn="ctr" defTabSz="914400"/>
            <a:endParaRPr kumimoji="1" lang="en-US" altLang="zh-CN" sz="1400" b="1" dirty="0">
              <a:latin typeface="阿里汉仪智能黑体" panose="00020600040101010101" pitchFamily="18" charset="-122"/>
              <a:ea typeface="阿里汉仪智能黑体" panose="00020600040101010101" pitchFamily="18" charset="-122"/>
              <a:sym typeface="Arial" panose="020B0604020202020204" pitchFamily="34" charset="0"/>
            </a:endParaRPr>
          </a:p>
          <a:p>
            <a:pPr algn="ctr" defTabSz="914400"/>
            <a:r>
              <a:rPr kumimoji="1" lang="zh-CN" altLang="en-US" sz="1400" dirty="0">
                <a:latin typeface="阿里汉仪智能黑体" panose="00020600040101010101" pitchFamily="18" charset="-122"/>
                <a:ea typeface="阿里汉仪智能黑体" panose="00020600040101010101" pitchFamily="18" charset="-122"/>
                <a:sym typeface="Arial" panose="020B0604020202020204" pitchFamily="34" charset="0"/>
              </a:rPr>
              <a:t>仅能按金额维度升降级</a:t>
            </a:r>
            <a:endParaRPr kumimoji="1" lang="en-US" altLang="zh-CN" sz="1400" dirty="0">
              <a:latin typeface="阿里汉仪智能黑体" panose="00020600040101010101" pitchFamily="18" charset="-122"/>
              <a:ea typeface="阿里汉仪智能黑体" panose="00020600040101010101" pitchFamily="18" charset="-122"/>
              <a:sym typeface="Arial" panose="020B0604020202020204" pitchFamily="34" charset="0"/>
            </a:endParaRPr>
          </a:p>
          <a:p>
            <a:pPr algn="ctr" defTabSz="914400"/>
            <a:r>
              <a:rPr kumimoji="1" lang="zh-CN" altLang="en-US" sz="1400" dirty="0">
                <a:latin typeface="阿里汉仪智能黑体" panose="00020600040101010101" pitchFamily="18" charset="-122"/>
                <a:ea typeface="阿里汉仪智能黑体" panose="00020600040101010101" pitchFamily="18" charset="-122"/>
                <a:sym typeface="Arial" panose="020B0604020202020204" pitchFamily="34" charset="0"/>
              </a:rPr>
              <a:t>无法按购买次数，金额定义会员身份</a:t>
            </a:r>
            <a:endParaRPr kumimoji="1" lang="zh-CN" altLang="en-US" sz="1400" dirty="0">
              <a:latin typeface="阿里汉仪智能黑体" panose="00020600040101010101" pitchFamily="18" charset="-122"/>
              <a:ea typeface="阿里汉仪智能黑体" panose="00020600040101010101" pitchFamily="18" charset="-122"/>
              <a:sym typeface="Arial" panose="020B0604020202020204" pitchFamily="34" charset="0"/>
            </a:endParaRPr>
          </a:p>
        </p:txBody>
      </p:sp>
      <p:sp>
        <p:nvSpPr>
          <p:cNvPr id="8" name="ïṧḻiḍê"/>
          <p:cNvSpPr/>
          <p:nvPr>
            <p:custDataLst>
              <p:tags r:id="rId2"/>
            </p:custDataLst>
          </p:nvPr>
        </p:nvSpPr>
        <p:spPr bwMode="auto">
          <a:xfrm>
            <a:off x="383254" y="3907973"/>
            <a:ext cx="11303207" cy="465720"/>
          </a:xfrm>
          <a:prstGeom prst="rect">
            <a:avLst/>
          </a:prstGeom>
          <a:solidFill>
            <a:srgbClr val="00AFEF"/>
          </a:solid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1400" b="1"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全渠道会员互通项目</a:t>
            </a:r>
            <a:endParaRPr kumimoji="1" lang="zh-CN" altLang="en-US" sz="1400" b="1"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endParaRPr>
          </a:p>
        </p:txBody>
      </p:sp>
      <p:sp>
        <p:nvSpPr>
          <p:cNvPr id="35" name="iŝḻïḑê"/>
          <p:cNvSpPr/>
          <p:nvPr/>
        </p:nvSpPr>
        <p:spPr>
          <a:xfrm>
            <a:off x="409903" y="5011316"/>
            <a:ext cx="458631" cy="1583205"/>
          </a:xfrm>
          <a:prstGeom prst="rect">
            <a:avLst/>
          </a:prstGeom>
          <a:solidFill>
            <a:srgbClr val="2F549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zh-CN" altLang="en-US" sz="2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rPr>
              <a:t>痛点</a:t>
            </a:r>
            <a:endParaRPr lang="zh-CN" altLang="en-US" sz="2400" dirty="0">
              <a:solidFill>
                <a:schemeClr val="bg1"/>
              </a:solidFill>
              <a:latin typeface="阿里汉仪智能黑体" panose="00020600040101010101" pitchFamily="18" charset="-122"/>
              <a:ea typeface="阿里汉仪智能黑体" panose="00020600040101010101" pitchFamily="18" charset="-122"/>
              <a:sym typeface="Arial" panose="020B0604020202020204" pitchFamily="34" charset="0"/>
            </a:endParaRPr>
          </a:p>
        </p:txBody>
      </p:sp>
      <p:pic>
        <p:nvPicPr>
          <p:cNvPr id="14" name="图片 13"/>
          <p:cNvPicPr>
            <a:picLocks noChangeAspect="1"/>
          </p:cNvPicPr>
          <p:nvPr/>
        </p:nvPicPr>
        <p:blipFill>
          <a:blip r:embed="rId3"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6712197" y="1965391"/>
            <a:ext cx="626546" cy="626546"/>
          </a:xfrm>
          <a:prstGeom prst="rect">
            <a:avLst/>
          </a:prstGeom>
          <a:solidFill>
            <a:srgbClr val="2F5399"/>
          </a:solidFill>
        </p:spPr>
      </p:pic>
      <p:pic>
        <p:nvPicPr>
          <p:cNvPr id="15" name="图片 14"/>
          <p:cNvPicPr>
            <a:picLocks noChangeAspect="1"/>
          </p:cNvPicPr>
          <p:nvPr/>
        </p:nvPicPr>
        <p:blipFill>
          <a:blip r:embed="rId4"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0181230" y="1881571"/>
            <a:ext cx="666851" cy="666851"/>
          </a:xfrm>
          <a:prstGeom prst="rect">
            <a:avLst/>
          </a:prstGeom>
          <a:solidFill>
            <a:srgbClr val="2F5399"/>
          </a:solidFill>
        </p:spPr>
      </p:pic>
      <p:pic>
        <p:nvPicPr>
          <p:cNvPr id="16" name="图片 15"/>
          <p:cNvPicPr>
            <a:picLocks noChangeAspect="1"/>
          </p:cNvPicPr>
          <p:nvPr/>
        </p:nvPicPr>
        <p:blipFill>
          <a:blip r:embed="rId5"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2907917" y="2085257"/>
            <a:ext cx="507128" cy="507128"/>
          </a:xfrm>
          <a:prstGeom prst="rect">
            <a:avLst/>
          </a:prstGeom>
          <a:solidFill>
            <a:srgbClr val="2F5399"/>
          </a:solidFill>
        </p:spPr>
      </p:pic>
      <p:sp>
        <p:nvSpPr>
          <p:cNvPr id="17" name="右箭头 16"/>
          <p:cNvSpPr/>
          <p:nvPr/>
        </p:nvSpPr>
        <p:spPr>
          <a:xfrm rot="16200000">
            <a:off x="6034246" y="3145287"/>
            <a:ext cx="363040" cy="860716"/>
          </a:xfrm>
          <a:prstGeom prst="rightArrow">
            <a:avLst/>
          </a:prstGeom>
          <a:solidFill>
            <a:srgbClr val="2F54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右箭头 44"/>
          <p:cNvSpPr/>
          <p:nvPr/>
        </p:nvSpPr>
        <p:spPr>
          <a:xfrm rot="16200000">
            <a:off x="6034246" y="4223760"/>
            <a:ext cx="363040" cy="860716"/>
          </a:xfrm>
          <a:prstGeom prst="rightArrow">
            <a:avLst/>
          </a:prstGeom>
          <a:solidFill>
            <a:srgbClr val="2F54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charset="-122"/>
                  <a:cs typeface="+mn-cs"/>
                </a:endParaRPr>
              </a:p>
            </p:txBody>
          </p:sp>
        </p:grpSp>
        <p:sp>
          <p:nvSpPr>
            <p:cNvPr id="4" name="TextBox 7"/>
            <p:cNvSpPr txBox="1"/>
            <p:nvPr/>
          </p:nvSpPr>
          <p:spPr>
            <a:xfrm>
              <a:off x="383254" y="498266"/>
              <a:ext cx="7415271" cy="523220"/>
            </a:xfrm>
            <a:prstGeom prst="rect">
              <a:avLst/>
            </a:prstGeom>
            <a:noFill/>
          </p:spPr>
          <p:txBody>
            <a:bodyPr wrap="square" rtlCol="0">
              <a:spAutoFit/>
            </a:bodyPr>
            <a:lstStyle/>
            <a:p>
              <a:pPr lvl="0"/>
              <a:r>
                <a:rPr lang="zh-CN" altLang="en-US" sz="2800" b="1" dirty="0">
                  <a:solidFill>
                    <a:prstClr val="black"/>
                  </a:solidFill>
                  <a:latin typeface="微软雅黑" panose="020B0503020204020204" pitchFamily="34" charset="-122"/>
                  <a:ea typeface="微软雅黑" panose="020B0503020204020204" pitchFamily="34" charset="-122"/>
                </a:rPr>
                <a:t>项目技术指标</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grpSp>
      <p:graphicFrame>
        <p:nvGraphicFramePr>
          <p:cNvPr id="8" name="表格 7"/>
          <p:cNvGraphicFramePr>
            <a:graphicFrameLocks noGrp="1"/>
          </p:cNvGraphicFramePr>
          <p:nvPr/>
        </p:nvGraphicFramePr>
        <p:xfrm>
          <a:off x="549306" y="1004613"/>
          <a:ext cx="10801564" cy="4112502"/>
        </p:xfrm>
        <a:graphic>
          <a:graphicData uri="http://schemas.openxmlformats.org/drawingml/2006/table">
            <a:tbl>
              <a:tblPr firstRow="1" bandRow="1">
                <a:tableStyleId>{5C22544A-7EE6-4342-B048-85BDC9FD1C3A}</a:tableStyleId>
              </a:tblPr>
              <a:tblGrid>
                <a:gridCol w="955906"/>
                <a:gridCol w="1889793"/>
                <a:gridCol w="1767663"/>
                <a:gridCol w="2730536"/>
                <a:gridCol w="1825148"/>
                <a:gridCol w="1632518"/>
              </a:tblGrid>
              <a:tr h="319418">
                <a:tc>
                  <a:txBody>
                    <a:bodyPr/>
                    <a:lstStyle/>
                    <a:p>
                      <a:pPr algn="l">
                        <a:buNone/>
                      </a:pP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algn="l">
                        <a:buNone/>
                      </a:pPr>
                      <a:r>
                        <a:rPr lang="zh-CN" altLang="en-US" sz="1400" dirty="0" smtClean="0">
                          <a:latin typeface="微软雅黑" panose="020B0503020204020204" pitchFamily="34" charset="-122"/>
                          <a:ea typeface="微软雅黑" panose="020B0503020204020204" pitchFamily="34" charset="-122"/>
                        </a:rPr>
                        <a:t>场景</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algn="l">
                        <a:buNone/>
                      </a:pPr>
                      <a:r>
                        <a:rPr lang="zh-CN" altLang="en-US" sz="1400" dirty="0" smtClean="0">
                          <a:latin typeface="微软雅黑" panose="020B0503020204020204" pitchFamily="34" charset="-122"/>
                          <a:ea typeface="微软雅黑" panose="020B0503020204020204" pitchFamily="34" charset="-122"/>
                        </a:rPr>
                        <a:t>最大并发数</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400" dirty="0" smtClean="0">
                          <a:latin typeface="微软雅黑" panose="020B0503020204020204" pitchFamily="34" charset="-122"/>
                          <a:ea typeface="微软雅黑" panose="020B0503020204020204" pitchFamily="34" charset="-122"/>
                        </a:rPr>
                        <a:t>平均响应时间</a:t>
                      </a:r>
                      <a:r>
                        <a:rPr lang="en-US" altLang="zh-CN" sz="1400" dirty="0" smtClean="0">
                          <a:latin typeface="微软雅黑" panose="020B0503020204020204" pitchFamily="34" charset="-122"/>
                          <a:ea typeface="微软雅黑" panose="020B0503020204020204" pitchFamily="34" charset="-122"/>
                        </a:rPr>
                        <a:t>(s)</a:t>
                      </a:r>
                      <a:endParaRPr lang="zh-CN" altLang="en-US" sz="1400" dirty="0" smtClean="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smtClean="0">
                          <a:latin typeface="微软雅黑" panose="020B0503020204020204" pitchFamily="34" charset="-122"/>
                          <a:ea typeface="微软雅黑" panose="020B0503020204020204" pitchFamily="34" charset="-122"/>
                        </a:rPr>
                        <a:t>TPS(</a:t>
                      </a:r>
                      <a:r>
                        <a:rPr lang="zh-CN" altLang="en-US" sz="1400" dirty="0" smtClean="0">
                          <a:latin typeface="微软雅黑" panose="020B0503020204020204" pitchFamily="34" charset="-122"/>
                          <a:ea typeface="微软雅黑" panose="020B0503020204020204" pitchFamily="34" charset="-122"/>
                        </a:rPr>
                        <a:t>单位</a:t>
                      </a:r>
                      <a:r>
                        <a:rPr lang="en-US" altLang="zh-CN" sz="1400" dirty="0" smtClean="0">
                          <a:latin typeface="微软雅黑" panose="020B0503020204020204" pitchFamily="34" charset="-122"/>
                          <a:ea typeface="微软雅黑" panose="020B0503020204020204" pitchFamily="34" charset="-122"/>
                        </a:rPr>
                        <a:t>/s)</a:t>
                      </a:r>
                      <a:endParaRPr lang="zh-CN" altLang="en-US" sz="1400" dirty="0" smtClean="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algn="l">
                        <a:buNone/>
                      </a:pPr>
                      <a:r>
                        <a:rPr lang="zh-CN" altLang="en-US" sz="1400" dirty="0" smtClean="0">
                          <a:latin typeface="微软雅黑" panose="020B0503020204020204" pitchFamily="34" charset="-122"/>
                          <a:ea typeface="微软雅黑" panose="020B0503020204020204" pitchFamily="34" charset="-122"/>
                        </a:rPr>
                        <a:t>成功率</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r>
              <a:tr h="199636">
                <a:tc>
                  <a:txBody>
                    <a:bodyPr/>
                    <a:lstStyle/>
                    <a:p>
                      <a:pPr algn="ctr" fontAlgn="ctr"/>
                      <a:r>
                        <a:rPr lang="en-US" altLang="zh-CN" sz="1000" dirty="0">
                          <a:effectLst/>
                          <a:latin typeface="等线" panose="02010600030101010101" charset="-122"/>
                          <a:ea typeface="等线" panose="02010600030101010101" charset="-122"/>
                        </a:rPr>
                        <a:t>1</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l" fontAlgn="ctr"/>
                      <a:r>
                        <a:rPr lang="zh-CN" altLang="en-US" sz="1000">
                          <a:effectLst/>
                          <a:latin typeface="等线" panose="02010600030101010101" charset="-122"/>
                          <a:ea typeface="等线" panose="02010600030101010101" charset="-122"/>
                        </a:rPr>
                        <a:t>会员</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注册</a:t>
                      </a:r>
                      <a:endParaRPr lang="zh-CN" altLang="en-US" sz="100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500</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0.196</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2458</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100%</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2</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fontAlgn="ctr"/>
                      <a:r>
                        <a:rPr lang="zh-CN" altLang="en-US" sz="1000">
                          <a:effectLst/>
                          <a:latin typeface="等线" panose="02010600030101010101" charset="-122"/>
                          <a:ea typeface="等线" panose="02010600030101010101" charset="-122"/>
                        </a:rPr>
                        <a:t>会员</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查询</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手机号</a:t>
                      </a:r>
                      <a:endParaRPr lang="zh-CN" altLang="en-US" sz="100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500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0.066</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7708</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100%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a:effectLst/>
                          <a:latin typeface="等线" panose="02010600030101010101" charset="-122"/>
                          <a:ea typeface="等线" panose="02010600030101010101" charset="-122"/>
                        </a:rPr>
                        <a:t>3</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fontAlgn="ctr"/>
                      <a:r>
                        <a:rPr lang="zh-CN" altLang="en-US" sz="1000">
                          <a:effectLst/>
                          <a:latin typeface="等线" panose="02010600030101010101" charset="-122"/>
                          <a:ea typeface="等线" panose="02010600030101010101" charset="-122"/>
                        </a:rPr>
                        <a:t>会员</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查询升级条件</a:t>
                      </a:r>
                      <a:endParaRPr lang="zh-CN" altLang="en-US" sz="100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500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0.05</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9570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100%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4</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fontAlgn="ctr"/>
                      <a:r>
                        <a:rPr lang="zh-CN" altLang="en-US" sz="1000" dirty="0">
                          <a:effectLst/>
                          <a:latin typeface="等线" panose="02010600030101010101" charset="-122"/>
                          <a:ea typeface="等线" panose="02010600030101010101" charset="-122"/>
                        </a:rPr>
                        <a:t>积分</a:t>
                      </a:r>
                      <a:r>
                        <a:rPr lang="en-US" altLang="zh-CN" sz="1000" dirty="0">
                          <a:effectLst/>
                          <a:latin typeface="等线" panose="02010600030101010101" charset="-122"/>
                          <a:ea typeface="等线" panose="02010600030101010101" charset="-122"/>
                        </a:rPr>
                        <a:t>_</a:t>
                      </a:r>
                      <a:r>
                        <a:rPr lang="zh-CN" altLang="en-US" sz="1000" dirty="0">
                          <a:effectLst/>
                          <a:latin typeface="等线" panose="02010600030101010101" charset="-122"/>
                          <a:ea typeface="等线" panose="02010600030101010101" charset="-122"/>
                        </a:rPr>
                        <a:t>抵现</a:t>
                      </a:r>
                      <a:endParaRPr lang="zh-CN" altLang="en-US"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500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0.078</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6260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100%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5</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l" fontAlgn="ctr"/>
                      <a:r>
                        <a:rPr lang="zh-CN" altLang="en-US" sz="1000" dirty="0">
                          <a:effectLst/>
                          <a:latin typeface="等线" panose="02010600030101010101" charset="-122"/>
                          <a:ea typeface="等线" panose="02010600030101010101" charset="-122"/>
                        </a:rPr>
                        <a:t>积分</a:t>
                      </a:r>
                      <a:r>
                        <a:rPr lang="en-US" altLang="zh-CN" sz="1000" dirty="0">
                          <a:effectLst/>
                          <a:latin typeface="等线" panose="02010600030101010101" charset="-122"/>
                          <a:ea typeface="等线" panose="02010600030101010101" charset="-122"/>
                        </a:rPr>
                        <a:t>_</a:t>
                      </a:r>
                      <a:r>
                        <a:rPr lang="zh-CN" altLang="en-US" sz="1000" dirty="0">
                          <a:effectLst/>
                          <a:latin typeface="等线" panose="02010600030101010101" charset="-122"/>
                          <a:ea typeface="等线" panose="02010600030101010101" charset="-122"/>
                        </a:rPr>
                        <a:t>增加</a:t>
                      </a:r>
                      <a:r>
                        <a:rPr lang="en-US" altLang="zh-CN" sz="1000" dirty="0">
                          <a:effectLst/>
                          <a:latin typeface="等线" panose="02010600030101010101" charset="-122"/>
                          <a:ea typeface="等线" panose="02010600030101010101" charset="-122"/>
                        </a:rPr>
                        <a:t>_</a:t>
                      </a:r>
                      <a:r>
                        <a:rPr lang="en-US" sz="1000" dirty="0" err="1">
                          <a:effectLst/>
                          <a:latin typeface="等线" panose="02010600030101010101" charset="-122"/>
                          <a:ea typeface="等线" panose="02010600030101010101" charset="-122"/>
                        </a:rPr>
                        <a:t>pos</a:t>
                      </a:r>
                      <a:endParaRPr lang="en-US"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500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0.145</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3382</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100%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6</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l" fontAlgn="ctr"/>
                      <a:r>
                        <a:rPr lang="zh-CN" altLang="en-US" sz="1000">
                          <a:effectLst/>
                          <a:latin typeface="等线" panose="02010600030101010101" charset="-122"/>
                          <a:ea typeface="等线" panose="02010600030101010101" charset="-122"/>
                        </a:rPr>
                        <a:t>积分</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减少</a:t>
                      </a:r>
                      <a:r>
                        <a:rPr lang="en-US" altLang="zh-CN" sz="1000">
                          <a:effectLst/>
                          <a:latin typeface="等线" panose="02010600030101010101" charset="-122"/>
                          <a:ea typeface="等线" panose="02010600030101010101" charset="-122"/>
                        </a:rPr>
                        <a:t>_</a:t>
                      </a:r>
                      <a:r>
                        <a:rPr lang="en-US" sz="1000">
                          <a:effectLst/>
                          <a:latin typeface="等线" panose="02010600030101010101" charset="-122"/>
                          <a:ea typeface="等线" panose="02010600030101010101" charset="-122"/>
                        </a:rPr>
                        <a:t>pos</a:t>
                      </a:r>
                      <a:endParaRPr lang="en-US" sz="100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500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0.327</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1510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100%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7</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fontAlgn="ctr"/>
                      <a:r>
                        <a:rPr lang="zh-CN" altLang="en-US" sz="1000">
                          <a:effectLst/>
                          <a:latin typeface="等线" panose="02010600030101010101" charset="-122"/>
                          <a:ea typeface="等线" panose="02010600030101010101" charset="-122"/>
                        </a:rPr>
                        <a:t>积分</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可用积分查询</a:t>
                      </a:r>
                      <a:r>
                        <a:rPr lang="en-US" altLang="zh-CN" sz="1000">
                          <a:effectLst/>
                          <a:latin typeface="等线" panose="02010600030101010101" charset="-122"/>
                          <a:ea typeface="等线" panose="02010600030101010101" charset="-122"/>
                        </a:rPr>
                        <a:t>_pos</a:t>
                      </a:r>
                      <a:endParaRPr lang="en-US" altLang="zh-CN" sz="100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500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0.11</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6043</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100%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8</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fontAlgn="ctr"/>
                      <a:r>
                        <a:rPr lang="zh-CN" altLang="en-US" sz="1000">
                          <a:effectLst/>
                          <a:latin typeface="等线" panose="02010600030101010101" charset="-122"/>
                          <a:ea typeface="等线" panose="02010600030101010101" charset="-122"/>
                        </a:rPr>
                        <a:t>积分</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即将过期积分查询</a:t>
                      </a:r>
                      <a:endParaRPr lang="zh-CN" altLang="en-US" sz="100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500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0.096</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5051</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100%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9</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fontAlgn="ctr"/>
                      <a:r>
                        <a:rPr lang="zh-CN" altLang="en-US" sz="1000">
                          <a:effectLst/>
                          <a:latin typeface="等线" panose="02010600030101010101" charset="-122"/>
                          <a:ea typeface="等线" panose="02010600030101010101" charset="-122"/>
                        </a:rPr>
                        <a:t>积分</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变动查询</a:t>
                      </a:r>
                      <a:r>
                        <a:rPr lang="en-US" altLang="zh-CN" sz="1000">
                          <a:effectLst/>
                          <a:latin typeface="等线" panose="02010600030101010101" charset="-122"/>
                          <a:ea typeface="等线" panose="02010600030101010101" charset="-122"/>
                        </a:rPr>
                        <a:t>_pos</a:t>
                      </a:r>
                      <a:endParaRPr lang="en-US" altLang="zh-CN" sz="100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500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0.176</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2716</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100%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10</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l" fontAlgn="ctr"/>
                      <a:r>
                        <a:rPr lang="zh-CN" altLang="en-US" sz="1000">
                          <a:effectLst/>
                          <a:latin typeface="等线" panose="02010600030101010101" charset="-122"/>
                          <a:ea typeface="等线" panose="02010600030101010101" charset="-122"/>
                        </a:rPr>
                        <a:t>优惠券</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领取</a:t>
                      </a:r>
                      <a:r>
                        <a:rPr lang="en-US" altLang="zh-CN" sz="1000">
                          <a:effectLst/>
                          <a:latin typeface="等线" panose="02010600030101010101" charset="-122"/>
                          <a:ea typeface="等线" panose="02010600030101010101" charset="-122"/>
                        </a:rPr>
                        <a:t>_</a:t>
                      </a:r>
                      <a:r>
                        <a:rPr lang="en-US" sz="1000">
                          <a:effectLst/>
                          <a:latin typeface="等线" panose="02010600030101010101" charset="-122"/>
                          <a:ea typeface="等线" panose="02010600030101010101" charset="-122"/>
                        </a:rPr>
                        <a:t>pos</a:t>
                      </a:r>
                      <a:endParaRPr lang="en-US" sz="100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500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0.178</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2762</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100%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11</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l" fontAlgn="ctr"/>
                      <a:r>
                        <a:rPr lang="zh-CN" altLang="en-US" sz="1000">
                          <a:effectLst/>
                          <a:latin typeface="等线" panose="02010600030101010101" charset="-122"/>
                          <a:ea typeface="等线" panose="02010600030101010101" charset="-122"/>
                        </a:rPr>
                        <a:t>优惠券</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列表查询</a:t>
                      </a:r>
                      <a:r>
                        <a:rPr lang="en-US" altLang="zh-CN" sz="1000">
                          <a:effectLst/>
                          <a:latin typeface="等线" panose="02010600030101010101" charset="-122"/>
                          <a:ea typeface="等线" panose="02010600030101010101" charset="-122"/>
                        </a:rPr>
                        <a:t>_</a:t>
                      </a:r>
                      <a:r>
                        <a:rPr lang="en-US" sz="1000">
                          <a:effectLst/>
                          <a:latin typeface="等线" panose="02010600030101010101" charset="-122"/>
                          <a:ea typeface="等线" panose="02010600030101010101" charset="-122"/>
                        </a:rPr>
                        <a:t>pos</a:t>
                      </a:r>
                      <a:endParaRPr lang="en-US" sz="100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500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0.147</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3359</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100%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12</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l" fontAlgn="ctr"/>
                      <a:r>
                        <a:rPr lang="zh-CN" altLang="en-US" sz="1000">
                          <a:effectLst/>
                          <a:latin typeface="等线" panose="02010600030101010101" charset="-122"/>
                          <a:ea typeface="等线" panose="02010600030101010101" charset="-122"/>
                        </a:rPr>
                        <a:t>优惠券</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规则查询</a:t>
                      </a:r>
                      <a:endParaRPr lang="zh-CN" altLang="en-US" sz="100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500</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0.096</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5107</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100%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13</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l" fontAlgn="ctr"/>
                      <a:r>
                        <a:rPr lang="zh-CN" altLang="en-US" sz="1000">
                          <a:effectLst/>
                          <a:latin typeface="等线" panose="02010600030101010101" charset="-122"/>
                          <a:ea typeface="等线" panose="02010600030101010101" charset="-122"/>
                        </a:rPr>
                        <a:t>优惠券</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券项目规则查询</a:t>
                      </a:r>
                      <a:endParaRPr lang="zh-CN" altLang="en-US" sz="100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500</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0.084</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5855</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100%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14</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l" fontAlgn="ctr"/>
                      <a:r>
                        <a:rPr lang="zh-CN" altLang="en-US" sz="1000" dirty="0">
                          <a:effectLst/>
                          <a:latin typeface="等线" panose="02010600030101010101" charset="-122"/>
                          <a:ea typeface="等线" panose="02010600030101010101" charset="-122"/>
                        </a:rPr>
                        <a:t>优惠券</a:t>
                      </a:r>
                      <a:r>
                        <a:rPr lang="en-US" altLang="zh-CN" sz="1000" dirty="0">
                          <a:effectLst/>
                          <a:latin typeface="等线" panose="02010600030101010101" charset="-122"/>
                          <a:ea typeface="等线" panose="02010600030101010101" charset="-122"/>
                        </a:rPr>
                        <a:t>_</a:t>
                      </a:r>
                      <a:r>
                        <a:rPr lang="zh-CN" altLang="en-US" sz="1000" dirty="0">
                          <a:effectLst/>
                          <a:latin typeface="等线" panose="02010600030101010101" charset="-122"/>
                          <a:ea typeface="等线" panose="02010600030101010101" charset="-122"/>
                        </a:rPr>
                        <a:t>验证</a:t>
                      </a:r>
                      <a:r>
                        <a:rPr lang="en-US" altLang="zh-CN" sz="1000" dirty="0">
                          <a:effectLst/>
                          <a:latin typeface="等线" panose="02010600030101010101" charset="-122"/>
                          <a:ea typeface="等线" panose="02010600030101010101" charset="-122"/>
                        </a:rPr>
                        <a:t>_</a:t>
                      </a:r>
                      <a:r>
                        <a:rPr lang="en-US" sz="1000" dirty="0">
                          <a:effectLst/>
                          <a:latin typeface="等线" panose="02010600030101010101" charset="-122"/>
                          <a:ea typeface="等线" panose="02010600030101010101" charset="-122"/>
                        </a:rPr>
                        <a:t>POS</a:t>
                      </a:r>
                      <a:endParaRPr lang="en-US"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500</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0.133</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3631</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100%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15</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l" fontAlgn="ctr"/>
                      <a:r>
                        <a:rPr lang="zh-CN" altLang="en-US" sz="1000" dirty="0">
                          <a:effectLst/>
                          <a:latin typeface="等线" panose="02010600030101010101" charset="-122"/>
                          <a:ea typeface="等线" panose="02010600030101010101" charset="-122"/>
                        </a:rPr>
                        <a:t>优惠券</a:t>
                      </a:r>
                      <a:r>
                        <a:rPr lang="en-US" altLang="zh-CN" sz="1000" dirty="0">
                          <a:effectLst/>
                          <a:latin typeface="等线" panose="02010600030101010101" charset="-122"/>
                          <a:ea typeface="等线" panose="02010600030101010101" charset="-122"/>
                        </a:rPr>
                        <a:t>_</a:t>
                      </a:r>
                      <a:r>
                        <a:rPr lang="zh-CN" altLang="en-US" sz="1000" dirty="0">
                          <a:effectLst/>
                          <a:latin typeface="等线" panose="02010600030101010101" charset="-122"/>
                          <a:ea typeface="等线" panose="02010600030101010101" charset="-122"/>
                        </a:rPr>
                        <a:t>核销</a:t>
                      </a:r>
                      <a:r>
                        <a:rPr lang="en-US" altLang="zh-CN" sz="1000" dirty="0">
                          <a:effectLst/>
                          <a:latin typeface="等线" panose="02010600030101010101" charset="-122"/>
                          <a:ea typeface="等线" panose="02010600030101010101" charset="-122"/>
                        </a:rPr>
                        <a:t>_</a:t>
                      </a:r>
                      <a:r>
                        <a:rPr lang="en-US" sz="1000" dirty="0" err="1">
                          <a:effectLst/>
                          <a:latin typeface="等线" panose="02010600030101010101" charset="-122"/>
                          <a:ea typeface="等线" panose="02010600030101010101" charset="-122"/>
                        </a:rPr>
                        <a:t>pos</a:t>
                      </a:r>
                      <a:endParaRPr lang="en-US"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500</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0.192</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2580</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smtClean="0">
                          <a:solidFill>
                            <a:schemeClr val="dk1"/>
                          </a:solidFill>
                          <a:effectLst/>
                          <a:latin typeface="等线" panose="02010600030101010101" charset="-122"/>
                          <a:ea typeface="+mn-ea"/>
                          <a:cs typeface="+mn-cs"/>
                        </a:rPr>
                        <a:t>100%</a:t>
                      </a:r>
                      <a:endParaRPr lang="en-US" altLang="zh-CN" sz="1000" kern="1200" dirty="0">
                        <a:solidFill>
                          <a:schemeClr val="dk1"/>
                        </a:solidFill>
                        <a:effectLst/>
                        <a:latin typeface="等线" panose="02010600030101010101" charset="-122"/>
                        <a:ea typeface="+mn-ea"/>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16</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l" fontAlgn="ctr"/>
                      <a:r>
                        <a:rPr lang="zh-CN" altLang="en-US" sz="1000">
                          <a:effectLst/>
                          <a:latin typeface="等线" panose="02010600030101010101" charset="-122"/>
                          <a:ea typeface="等线" panose="02010600030101010101" charset="-122"/>
                        </a:rPr>
                        <a:t>优惠券</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核销</a:t>
                      </a:r>
                      <a:r>
                        <a:rPr lang="en-US" altLang="zh-CN" sz="1000">
                          <a:effectLst/>
                          <a:latin typeface="等线" panose="02010600030101010101" charset="-122"/>
                          <a:ea typeface="等线" panose="02010600030101010101" charset="-122"/>
                        </a:rPr>
                        <a:t>_</a:t>
                      </a:r>
                      <a:r>
                        <a:rPr lang="en-US" sz="1000">
                          <a:effectLst/>
                          <a:latin typeface="等线" panose="02010600030101010101" charset="-122"/>
                          <a:ea typeface="等线" panose="02010600030101010101" charset="-122"/>
                        </a:rPr>
                        <a:t>pos_</a:t>
                      </a:r>
                      <a:r>
                        <a:rPr lang="zh-CN" altLang="en-US" sz="1000">
                          <a:effectLst/>
                          <a:latin typeface="等线" panose="02010600030101010101" charset="-122"/>
                          <a:ea typeface="等线" panose="02010600030101010101" charset="-122"/>
                        </a:rPr>
                        <a:t>多券</a:t>
                      </a:r>
                      <a:endParaRPr lang="zh-CN" altLang="en-US" sz="100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500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0.254</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1942</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smtClean="0">
                          <a:solidFill>
                            <a:schemeClr val="dk1"/>
                          </a:solidFill>
                          <a:effectLst/>
                          <a:latin typeface="等线" panose="02010600030101010101" charset="-122"/>
                          <a:ea typeface="+mn-ea"/>
                          <a:cs typeface="+mn-cs"/>
                        </a:rPr>
                        <a:t>100%</a:t>
                      </a:r>
                      <a:endParaRPr lang="en-US" altLang="zh-CN" sz="1000" kern="1200" dirty="0">
                        <a:solidFill>
                          <a:schemeClr val="dk1"/>
                        </a:solidFill>
                        <a:effectLst/>
                        <a:latin typeface="等线" panose="02010600030101010101" charset="-122"/>
                        <a:ea typeface="+mn-ea"/>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17</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l" fontAlgn="ctr"/>
                      <a:r>
                        <a:rPr lang="zh-CN" altLang="en-US" sz="1000">
                          <a:effectLst/>
                          <a:latin typeface="等线" panose="02010600030101010101" charset="-122"/>
                          <a:ea typeface="等线" panose="02010600030101010101" charset="-122"/>
                        </a:rPr>
                        <a:t>优惠券</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反核销</a:t>
                      </a:r>
                      <a:r>
                        <a:rPr lang="en-US" altLang="zh-CN" sz="1000">
                          <a:effectLst/>
                          <a:latin typeface="等线" panose="02010600030101010101" charset="-122"/>
                          <a:ea typeface="等线" panose="02010600030101010101" charset="-122"/>
                        </a:rPr>
                        <a:t>_</a:t>
                      </a:r>
                      <a:r>
                        <a:rPr lang="en-US" sz="1000">
                          <a:effectLst/>
                          <a:latin typeface="等线" panose="02010600030101010101" charset="-122"/>
                          <a:ea typeface="等线" panose="02010600030101010101" charset="-122"/>
                        </a:rPr>
                        <a:t>pos</a:t>
                      </a:r>
                      <a:endParaRPr lang="en-US" sz="100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500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0.143</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3459</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100%</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18</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l" fontAlgn="ctr"/>
                      <a:r>
                        <a:rPr lang="zh-CN" altLang="en-US" sz="1000">
                          <a:effectLst/>
                          <a:latin typeface="等线" panose="02010600030101010101" charset="-122"/>
                          <a:ea typeface="等线" panose="02010600030101010101" charset="-122"/>
                        </a:rPr>
                        <a:t>订单</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上传</a:t>
                      </a:r>
                      <a:r>
                        <a:rPr lang="en-US" altLang="zh-CN" sz="1000">
                          <a:effectLst/>
                          <a:latin typeface="等线" panose="02010600030101010101" charset="-122"/>
                          <a:ea typeface="等线" panose="02010600030101010101" charset="-122"/>
                        </a:rPr>
                        <a:t>_</a:t>
                      </a:r>
                      <a:r>
                        <a:rPr lang="en-US" sz="1000">
                          <a:effectLst/>
                          <a:latin typeface="等线" panose="02010600030101010101" charset="-122"/>
                          <a:ea typeface="等线" panose="02010600030101010101" charset="-122"/>
                        </a:rPr>
                        <a:t>pos</a:t>
                      </a:r>
                      <a:endParaRPr lang="en-US" sz="100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50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0.042</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1143</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100%</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199636">
                <a:tc>
                  <a:txBody>
                    <a:bodyPr/>
                    <a:lstStyle/>
                    <a:p>
                      <a:pPr algn="ctr" fontAlgn="ctr"/>
                      <a:r>
                        <a:rPr lang="en-US" altLang="zh-CN" sz="1000" dirty="0" smtClean="0">
                          <a:effectLst/>
                          <a:latin typeface="等线" panose="02010600030101010101" charset="-122"/>
                          <a:ea typeface="等线" panose="02010600030101010101" charset="-122"/>
                        </a:rPr>
                        <a:t>19</a:t>
                      </a:r>
                      <a:endParaRPr lang="en-US" altLang="zh-CN" sz="1000" dirty="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l" fontAlgn="ctr"/>
                      <a:r>
                        <a:rPr lang="zh-CN" altLang="en-US" sz="1000">
                          <a:effectLst/>
                          <a:latin typeface="等线" panose="02010600030101010101" charset="-122"/>
                          <a:ea typeface="等线" panose="02010600030101010101" charset="-122"/>
                        </a:rPr>
                        <a:t>订单</a:t>
                      </a:r>
                      <a:r>
                        <a:rPr lang="en-US" altLang="zh-CN" sz="1000">
                          <a:effectLst/>
                          <a:latin typeface="等线" panose="02010600030101010101" charset="-122"/>
                          <a:ea typeface="等线" panose="02010600030101010101" charset="-122"/>
                        </a:rPr>
                        <a:t>_</a:t>
                      </a:r>
                      <a:r>
                        <a:rPr lang="zh-CN" altLang="en-US" sz="1000">
                          <a:effectLst/>
                          <a:latin typeface="等线" panose="02010600030101010101" charset="-122"/>
                          <a:ea typeface="等线" panose="02010600030101010101" charset="-122"/>
                        </a:rPr>
                        <a:t>列表查询</a:t>
                      </a:r>
                      <a:r>
                        <a:rPr lang="en-US" altLang="zh-CN" sz="1000">
                          <a:effectLst/>
                          <a:latin typeface="等线" panose="02010600030101010101" charset="-122"/>
                          <a:ea typeface="等线" panose="02010600030101010101" charset="-122"/>
                        </a:rPr>
                        <a:t>_pos</a:t>
                      </a:r>
                      <a:endParaRPr lang="en-US" altLang="zh-CN" sz="1000">
                        <a:effectLst/>
                        <a:latin typeface="等线" panose="02010600030101010101" charset="-122"/>
                        <a:ea typeface="等线" panose="02010600030101010101" charset="-122"/>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500</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0.184</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a:solidFill>
                            <a:schemeClr val="dk1"/>
                          </a:solidFill>
                          <a:effectLst/>
                          <a:latin typeface="等线" panose="02010600030101010101" charset="-122"/>
                          <a:ea typeface="等线" panose="02010600030101010101" charset="-122"/>
                          <a:cs typeface="+mn-cs"/>
                        </a:rPr>
                        <a:t>2676</a:t>
                      </a:r>
                      <a:endParaRPr lang="en-US" altLang="zh-CN" sz="1000" kern="120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fontAlgn="ctr" latinLnBrk="0" hangingPunct="1"/>
                      <a:r>
                        <a:rPr lang="en-US" altLang="zh-CN" sz="1000" kern="1200" dirty="0">
                          <a:solidFill>
                            <a:schemeClr val="dk1"/>
                          </a:solidFill>
                          <a:effectLst/>
                          <a:latin typeface="等线" panose="02010600030101010101" charset="-122"/>
                          <a:ea typeface="等线" panose="02010600030101010101" charset="-122"/>
                          <a:cs typeface="+mn-cs"/>
                        </a:rPr>
                        <a:t>100%</a:t>
                      </a:r>
                      <a:endParaRPr lang="en-US" altLang="zh-CN" sz="1000" kern="1200" dirty="0">
                        <a:solidFill>
                          <a:schemeClr val="dk1"/>
                        </a:solidFill>
                        <a:effectLst/>
                        <a:latin typeface="等线" panose="02010600030101010101" charset="-122"/>
                        <a:ea typeface="等线" panose="02010600030101010101"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bl>
          </a:graphicData>
        </a:graphic>
      </p:graphicFrame>
      <p:sp>
        <p:nvSpPr>
          <p:cNvPr id="7" name="文本框 6"/>
          <p:cNvSpPr txBox="1"/>
          <p:nvPr/>
        </p:nvSpPr>
        <p:spPr>
          <a:xfrm>
            <a:off x="1099038" y="5767754"/>
            <a:ext cx="5724644" cy="369332"/>
          </a:xfrm>
          <a:prstGeom prst="rect">
            <a:avLst/>
          </a:prstGeom>
          <a:noFill/>
        </p:spPr>
        <p:txBody>
          <a:bodyPr wrap="none" rtlCol="0">
            <a:spAutoFit/>
          </a:bodyPr>
          <a:lstStyle/>
          <a:p>
            <a:r>
              <a:rPr lang="zh-CN" altLang="en-US" dirty="0" smtClean="0"/>
              <a:t>由于资源预算已定，届时以东南亚资源压测数据为准。</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charset="-122"/>
                  <a:cs typeface="+mn-cs"/>
                </a:endParaRPr>
              </a:p>
            </p:txBody>
          </p:sp>
        </p:grpSp>
        <p:sp>
          <p:nvSpPr>
            <p:cNvPr id="4" name="TextBox 7"/>
            <p:cNvSpPr txBox="1"/>
            <p:nvPr/>
          </p:nvSpPr>
          <p:spPr>
            <a:xfrm>
              <a:off x="383254" y="498266"/>
              <a:ext cx="7415271" cy="523220"/>
            </a:xfrm>
            <a:prstGeom prst="rect">
              <a:avLst/>
            </a:prstGeom>
            <a:noFill/>
          </p:spPr>
          <p:txBody>
            <a:bodyPr wrap="square" rtlCol="0">
              <a:spAutoFit/>
            </a:bodyPr>
            <a:lstStyle/>
            <a:p>
              <a:pPr lvl="0"/>
              <a:r>
                <a:rPr lang="zh-CN" altLang="en-US" sz="2800" b="1" dirty="0" smtClean="0">
                  <a:solidFill>
                    <a:prstClr val="black"/>
                  </a:solidFill>
                  <a:latin typeface="微软雅黑" panose="020B0503020204020204" pitchFamily="34" charset="-122"/>
                  <a:ea typeface="微软雅黑" panose="020B0503020204020204" pitchFamily="34" charset="-122"/>
                </a:rPr>
                <a:t>功能架构图</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grpSp>
      <p:pic>
        <p:nvPicPr>
          <p:cNvPr id="7" name="图片 39" descr="610f8731f89ab0974be2de7e343145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4396" y="1152233"/>
            <a:ext cx="10636917" cy="554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charset="-122"/>
                  <a:cs typeface="+mn-cs"/>
                </a:endParaRPr>
              </a:p>
            </p:txBody>
          </p:sp>
        </p:grpSp>
        <p:sp>
          <p:nvSpPr>
            <p:cNvPr id="4" name="TextBox 7"/>
            <p:cNvSpPr txBox="1"/>
            <p:nvPr/>
          </p:nvSpPr>
          <p:spPr>
            <a:xfrm>
              <a:off x="383254" y="498266"/>
              <a:ext cx="7415271" cy="523220"/>
            </a:xfrm>
            <a:prstGeom prst="rect">
              <a:avLst/>
            </a:prstGeom>
            <a:noFill/>
          </p:spPr>
          <p:txBody>
            <a:bodyPr wrap="square" rtlCol="0">
              <a:spAutoFit/>
            </a:bodyPr>
            <a:lstStyle/>
            <a:p>
              <a:pPr lvl="0"/>
              <a:r>
                <a:rPr lang="zh-CN" altLang="en-US" sz="2800" b="1" dirty="0" smtClean="0">
                  <a:solidFill>
                    <a:prstClr val="black"/>
                  </a:solidFill>
                  <a:latin typeface="微软雅黑" panose="020B0503020204020204" pitchFamily="34" charset="-122"/>
                  <a:ea typeface="微软雅黑" panose="020B0503020204020204" pitchFamily="34" charset="-122"/>
                </a:rPr>
                <a:t>应用架构图</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grpSp>
      <p:sp>
        <p:nvSpPr>
          <p:cNvPr id="11" name="Freeform 94"/>
          <p:cNvSpPr>
            <a:spLocks noChangeAspect="1" noEditPoints="1"/>
          </p:cNvSpPr>
          <p:nvPr/>
        </p:nvSpPr>
        <p:spPr bwMode="auto">
          <a:xfrm>
            <a:off x="665360" y="5875030"/>
            <a:ext cx="481013" cy="481013"/>
          </a:xfrm>
          <a:custGeom>
            <a:avLst/>
            <a:gdLst>
              <a:gd name="T0" fmla="*/ 188 w 200"/>
              <a:gd name="T1" fmla="*/ 0 h 200"/>
              <a:gd name="T2" fmla="*/ 13 w 200"/>
              <a:gd name="T3" fmla="*/ 0 h 200"/>
              <a:gd name="T4" fmla="*/ 0 w 200"/>
              <a:gd name="T5" fmla="*/ 13 h 200"/>
              <a:gd name="T6" fmla="*/ 0 w 200"/>
              <a:gd name="T7" fmla="*/ 188 h 200"/>
              <a:gd name="T8" fmla="*/ 13 w 200"/>
              <a:gd name="T9" fmla="*/ 200 h 200"/>
              <a:gd name="T10" fmla="*/ 188 w 200"/>
              <a:gd name="T11" fmla="*/ 200 h 200"/>
              <a:gd name="T12" fmla="*/ 200 w 200"/>
              <a:gd name="T13" fmla="*/ 188 h 200"/>
              <a:gd name="T14" fmla="*/ 200 w 200"/>
              <a:gd name="T15" fmla="*/ 13 h 200"/>
              <a:gd name="T16" fmla="*/ 188 w 200"/>
              <a:gd name="T17" fmla="*/ 0 h 200"/>
              <a:gd name="T18" fmla="*/ 153 w 200"/>
              <a:gd name="T19" fmla="*/ 164 h 200"/>
              <a:gd name="T20" fmla="*/ 127 w 200"/>
              <a:gd name="T21" fmla="*/ 140 h 200"/>
              <a:gd name="T22" fmla="*/ 151 w 200"/>
              <a:gd name="T23" fmla="*/ 114 h 200"/>
              <a:gd name="T24" fmla="*/ 177 w 200"/>
              <a:gd name="T25" fmla="*/ 138 h 200"/>
              <a:gd name="T26" fmla="*/ 153 w 200"/>
              <a:gd name="T27" fmla="*/ 164 h 200"/>
              <a:gd name="T28" fmla="*/ 69 w 200"/>
              <a:gd name="T29" fmla="*/ 135 h 200"/>
              <a:gd name="T30" fmla="*/ 30 w 200"/>
              <a:gd name="T31" fmla="*/ 99 h 200"/>
              <a:gd name="T32" fmla="*/ 67 w 200"/>
              <a:gd name="T33" fmla="*/ 60 h 200"/>
              <a:gd name="T34" fmla="*/ 105 w 200"/>
              <a:gd name="T35" fmla="*/ 96 h 200"/>
              <a:gd name="T36" fmla="*/ 69 w 200"/>
              <a:gd name="T37" fmla="*/ 135 h 200"/>
              <a:gd name="T38" fmla="*/ 137 w 200"/>
              <a:gd name="T39" fmla="*/ 29 h 200"/>
              <a:gd name="T40" fmla="*/ 156 w 200"/>
              <a:gd name="T41" fmla="*/ 47 h 200"/>
              <a:gd name="T42" fmla="*/ 138 w 200"/>
              <a:gd name="T43" fmla="*/ 66 h 200"/>
              <a:gd name="T44" fmla="*/ 119 w 200"/>
              <a:gd name="T45" fmla="*/ 48 h 200"/>
              <a:gd name="T46" fmla="*/ 137 w 200"/>
              <a:gd name="T47" fmla="*/ 2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0" h="200">
                <a:moveTo>
                  <a:pt x="188" y="0"/>
                </a:moveTo>
                <a:cubicBezTo>
                  <a:pt x="13" y="0"/>
                  <a:pt x="13" y="0"/>
                  <a:pt x="13" y="0"/>
                </a:cubicBezTo>
                <a:cubicBezTo>
                  <a:pt x="6" y="0"/>
                  <a:pt x="0" y="6"/>
                  <a:pt x="0" y="13"/>
                </a:cubicBezTo>
                <a:cubicBezTo>
                  <a:pt x="0" y="188"/>
                  <a:pt x="0" y="188"/>
                  <a:pt x="0" y="188"/>
                </a:cubicBezTo>
                <a:cubicBezTo>
                  <a:pt x="0" y="195"/>
                  <a:pt x="6" y="200"/>
                  <a:pt x="13" y="200"/>
                </a:cubicBezTo>
                <a:cubicBezTo>
                  <a:pt x="188" y="200"/>
                  <a:pt x="188" y="200"/>
                  <a:pt x="188" y="200"/>
                </a:cubicBezTo>
                <a:cubicBezTo>
                  <a:pt x="195" y="200"/>
                  <a:pt x="200" y="195"/>
                  <a:pt x="200" y="188"/>
                </a:cubicBezTo>
                <a:cubicBezTo>
                  <a:pt x="200" y="13"/>
                  <a:pt x="200" y="13"/>
                  <a:pt x="200" y="13"/>
                </a:cubicBezTo>
                <a:cubicBezTo>
                  <a:pt x="200" y="6"/>
                  <a:pt x="195" y="0"/>
                  <a:pt x="188" y="0"/>
                </a:cubicBezTo>
                <a:close/>
                <a:moveTo>
                  <a:pt x="153" y="164"/>
                </a:moveTo>
                <a:cubicBezTo>
                  <a:pt x="139" y="165"/>
                  <a:pt x="127" y="154"/>
                  <a:pt x="127" y="140"/>
                </a:cubicBezTo>
                <a:cubicBezTo>
                  <a:pt x="126" y="126"/>
                  <a:pt x="137" y="115"/>
                  <a:pt x="151" y="114"/>
                </a:cubicBezTo>
                <a:cubicBezTo>
                  <a:pt x="165" y="114"/>
                  <a:pt x="176" y="124"/>
                  <a:pt x="177" y="138"/>
                </a:cubicBezTo>
                <a:cubicBezTo>
                  <a:pt x="177" y="152"/>
                  <a:pt x="166" y="164"/>
                  <a:pt x="153" y="164"/>
                </a:cubicBezTo>
                <a:close/>
                <a:moveTo>
                  <a:pt x="69" y="135"/>
                </a:moveTo>
                <a:cubicBezTo>
                  <a:pt x="49" y="136"/>
                  <a:pt x="31" y="119"/>
                  <a:pt x="30" y="99"/>
                </a:cubicBezTo>
                <a:cubicBezTo>
                  <a:pt x="30" y="78"/>
                  <a:pt x="46" y="61"/>
                  <a:pt x="67" y="60"/>
                </a:cubicBezTo>
                <a:cubicBezTo>
                  <a:pt x="87" y="59"/>
                  <a:pt x="105" y="75"/>
                  <a:pt x="105" y="96"/>
                </a:cubicBezTo>
                <a:cubicBezTo>
                  <a:pt x="106" y="117"/>
                  <a:pt x="90" y="134"/>
                  <a:pt x="69" y="135"/>
                </a:cubicBezTo>
                <a:close/>
                <a:moveTo>
                  <a:pt x="137" y="29"/>
                </a:moveTo>
                <a:cubicBezTo>
                  <a:pt x="147" y="29"/>
                  <a:pt x="156" y="37"/>
                  <a:pt x="156" y="47"/>
                </a:cubicBezTo>
                <a:cubicBezTo>
                  <a:pt x="157" y="57"/>
                  <a:pt x="149" y="66"/>
                  <a:pt x="138" y="66"/>
                </a:cubicBezTo>
                <a:cubicBezTo>
                  <a:pt x="128" y="67"/>
                  <a:pt x="119" y="59"/>
                  <a:pt x="119" y="48"/>
                </a:cubicBezTo>
                <a:cubicBezTo>
                  <a:pt x="119" y="38"/>
                  <a:pt x="127" y="29"/>
                  <a:pt x="137" y="29"/>
                </a:cubicBezTo>
                <a:close/>
              </a:path>
            </a:pathLst>
          </a:cu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12" name="TextBox 81"/>
          <p:cNvSpPr txBox="1"/>
          <p:nvPr/>
        </p:nvSpPr>
        <p:spPr>
          <a:xfrm>
            <a:off x="1074784" y="5946259"/>
            <a:ext cx="963533" cy="338554"/>
          </a:xfrm>
          <a:prstGeom prst="rect">
            <a:avLst/>
          </a:prstGeom>
          <a:noFill/>
        </p:spPr>
        <p:txBody>
          <a:bodyPr wrap="square" rtlCol="0">
            <a:spAutoFit/>
          </a:bodyPr>
          <a:lstStyle/>
          <a:p>
            <a:pPr algn="ctr" defTabSz="914400">
              <a:defRPr/>
            </a:pPr>
            <a:r>
              <a:rPr lang="zh-CN" altLang="en-US" sz="1600" b="1" dirty="0" smtClean="0">
                <a:solidFill>
                  <a:srgbClr val="C00000"/>
                </a:solidFill>
                <a:latin typeface="微软雅黑" panose="020B0503020204020204" pitchFamily="34" charset="-122"/>
                <a:ea typeface="微软雅黑" panose="020B0503020204020204" pitchFamily="34" charset="-122"/>
                <a:cs typeface="+mn-ea"/>
                <a:sym typeface="Georgia" panose="02040502050405020303" pitchFamily="18" charset="0"/>
              </a:rPr>
              <a:t>数据层</a:t>
            </a:r>
            <a:endParaRPr lang="en-US" sz="1600" b="1" dirty="0">
              <a:solidFill>
                <a:srgbClr val="C00000"/>
              </a:solidFill>
              <a:latin typeface="微软雅黑" panose="020B0503020204020204" pitchFamily="34" charset="-122"/>
              <a:ea typeface="微软雅黑" panose="020B0503020204020204" pitchFamily="34" charset="-122"/>
              <a:cs typeface="+mn-ea"/>
              <a:sym typeface="Georgia" panose="02040502050405020303" pitchFamily="18" charset="0"/>
            </a:endParaRPr>
          </a:p>
        </p:txBody>
      </p:sp>
      <p:sp>
        <p:nvSpPr>
          <p:cNvPr id="17" name="文本框 16"/>
          <p:cNvSpPr txBox="1"/>
          <p:nvPr/>
        </p:nvSpPr>
        <p:spPr>
          <a:xfrm>
            <a:off x="1047923" y="4004060"/>
            <a:ext cx="984211" cy="338554"/>
          </a:xfrm>
          <a:prstGeom prst="rect">
            <a:avLst/>
          </a:prstGeom>
          <a:noFill/>
        </p:spPr>
        <p:txBody>
          <a:bodyPr wrap="square">
            <a:spAutoFit/>
          </a:bodyPr>
          <a:lstStyle/>
          <a:p>
            <a:pPr algn="ctr">
              <a:lnSpc>
                <a:spcPct val="100000"/>
              </a:lnSpc>
            </a:pPr>
            <a:r>
              <a:rPr lang="zh-CN" altLang="en-US" sz="1600" b="1" dirty="0">
                <a:solidFill>
                  <a:srgbClr val="C00000"/>
                </a:solidFill>
                <a:latin typeface="微软雅黑" panose="020B0503020204020204" pitchFamily="34" charset="-122"/>
                <a:ea typeface="微软雅黑" panose="020B0503020204020204" pitchFamily="34" charset="-122"/>
              </a:rPr>
              <a:t>服务层</a:t>
            </a:r>
            <a:endParaRPr lang="en-US" sz="1600" b="1" dirty="0">
              <a:solidFill>
                <a:srgbClr val="C00000"/>
              </a:solidFill>
              <a:latin typeface="微软雅黑" panose="020B0503020204020204" pitchFamily="34" charset="-122"/>
              <a:ea typeface="微软雅黑" panose="020B0503020204020204" pitchFamily="34" charset="-122"/>
            </a:endParaRPr>
          </a:p>
        </p:txBody>
      </p:sp>
      <p:sp>
        <p:nvSpPr>
          <p:cNvPr id="18" name="Freeform 27"/>
          <p:cNvSpPr>
            <a:spLocks noChangeAspect="1" noEditPoints="1"/>
          </p:cNvSpPr>
          <p:nvPr/>
        </p:nvSpPr>
        <p:spPr bwMode="auto">
          <a:xfrm>
            <a:off x="659177" y="3966453"/>
            <a:ext cx="480116" cy="387590"/>
          </a:xfrm>
          <a:custGeom>
            <a:avLst/>
            <a:gdLst>
              <a:gd name="T0" fmla="*/ 303 w 303"/>
              <a:gd name="T1" fmla="*/ 56 h 246"/>
              <a:gd name="T2" fmla="*/ 76 w 303"/>
              <a:gd name="T3" fmla="*/ 56 h 246"/>
              <a:gd name="T4" fmla="*/ 76 w 303"/>
              <a:gd name="T5" fmla="*/ 0 h 246"/>
              <a:gd name="T6" fmla="*/ 303 w 303"/>
              <a:gd name="T7" fmla="*/ 0 h 246"/>
              <a:gd name="T8" fmla="*/ 303 w 303"/>
              <a:gd name="T9" fmla="*/ 56 h 246"/>
              <a:gd name="T10" fmla="*/ 38 w 303"/>
              <a:gd name="T11" fmla="*/ 56 h 246"/>
              <a:gd name="T12" fmla="*/ 0 w 303"/>
              <a:gd name="T13" fmla="*/ 56 h 246"/>
              <a:gd name="T14" fmla="*/ 0 w 303"/>
              <a:gd name="T15" fmla="*/ 0 h 246"/>
              <a:gd name="T16" fmla="*/ 38 w 303"/>
              <a:gd name="T17" fmla="*/ 0 h 246"/>
              <a:gd name="T18" fmla="*/ 38 w 303"/>
              <a:gd name="T19" fmla="*/ 56 h 246"/>
              <a:gd name="T20" fmla="*/ 303 w 303"/>
              <a:gd name="T21" fmla="*/ 152 h 246"/>
              <a:gd name="T22" fmla="*/ 76 w 303"/>
              <a:gd name="T23" fmla="*/ 152 h 246"/>
              <a:gd name="T24" fmla="*/ 76 w 303"/>
              <a:gd name="T25" fmla="*/ 94 h 246"/>
              <a:gd name="T26" fmla="*/ 303 w 303"/>
              <a:gd name="T27" fmla="*/ 94 h 246"/>
              <a:gd name="T28" fmla="*/ 303 w 303"/>
              <a:gd name="T29" fmla="*/ 152 h 246"/>
              <a:gd name="T30" fmla="*/ 38 w 303"/>
              <a:gd name="T31" fmla="*/ 152 h 246"/>
              <a:gd name="T32" fmla="*/ 0 w 303"/>
              <a:gd name="T33" fmla="*/ 152 h 246"/>
              <a:gd name="T34" fmla="*/ 0 w 303"/>
              <a:gd name="T35" fmla="*/ 94 h 246"/>
              <a:gd name="T36" fmla="*/ 38 w 303"/>
              <a:gd name="T37" fmla="*/ 94 h 246"/>
              <a:gd name="T38" fmla="*/ 38 w 303"/>
              <a:gd name="T39" fmla="*/ 152 h 246"/>
              <a:gd name="T40" fmla="*/ 303 w 303"/>
              <a:gd name="T41" fmla="*/ 246 h 246"/>
              <a:gd name="T42" fmla="*/ 76 w 303"/>
              <a:gd name="T43" fmla="*/ 246 h 246"/>
              <a:gd name="T44" fmla="*/ 76 w 303"/>
              <a:gd name="T45" fmla="*/ 189 h 246"/>
              <a:gd name="T46" fmla="*/ 303 w 303"/>
              <a:gd name="T47" fmla="*/ 189 h 246"/>
              <a:gd name="T48" fmla="*/ 303 w 303"/>
              <a:gd name="T49" fmla="*/ 246 h 246"/>
              <a:gd name="T50" fmla="*/ 38 w 303"/>
              <a:gd name="T51" fmla="*/ 246 h 246"/>
              <a:gd name="T52" fmla="*/ 0 w 303"/>
              <a:gd name="T53" fmla="*/ 246 h 246"/>
              <a:gd name="T54" fmla="*/ 0 w 303"/>
              <a:gd name="T55" fmla="*/ 189 h 246"/>
              <a:gd name="T56" fmla="*/ 38 w 303"/>
              <a:gd name="T57" fmla="*/ 189 h 246"/>
              <a:gd name="T58" fmla="*/ 38 w 303"/>
              <a:gd name="T59" fmla="*/ 24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3" h="246">
                <a:moveTo>
                  <a:pt x="303" y="56"/>
                </a:moveTo>
                <a:lnTo>
                  <a:pt x="76" y="56"/>
                </a:lnTo>
                <a:lnTo>
                  <a:pt x="76" y="0"/>
                </a:lnTo>
                <a:lnTo>
                  <a:pt x="303" y="0"/>
                </a:lnTo>
                <a:lnTo>
                  <a:pt x="303" y="56"/>
                </a:lnTo>
                <a:close/>
                <a:moveTo>
                  <a:pt x="38" y="56"/>
                </a:moveTo>
                <a:lnTo>
                  <a:pt x="0" y="56"/>
                </a:lnTo>
                <a:lnTo>
                  <a:pt x="0" y="0"/>
                </a:lnTo>
                <a:lnTo>
                  <a:pt x="38" y="0"/>
                </a:lnTo>
                <a:lnTo>
                  <a:pt x="38" y="56"/>
                </a:lnTo>
                <a:close/>
                <a:moveTo>
                  <a:pt x="303" y="152"/>
                </a:moveTo>
                <a:lnTo>
                  <a:pt x="76" y="152"/>
                </a:lnTo>
                <a:lnTo>
                  <a:pt x="76" y="94"/>
                </a:lnTo>
                <a:lnTo>
                  <a:pt x="303" y="94"/>
                </a:lnTo>
                <a:lnTo>
                  <a:pt x="303" y="152"/>
                </a:lnTo>
                <a:close/>
                <a:moveTo>
                  <a:pt x="38" y="152"/>
                </a:moveTo>
                <a:lnTo>
                  <a:pt x="0" y="152"/>
                </a:lnTo>
                <a:lnTo>
                  <a:pt x="0" y="94"/>
                </a:lnTo>
                <a:lnTo>
                  <a:pt x="38" y="94"/>
                </a:lnTo>
                <a:lnTo>
                  <a:pt x="38" y="152"/>
                </a:lnTo>
                <a:close/>
                <a:moveTo>
                  <a:pt x="303" y="246"/>
                </a:moveTo>
                <a:lnTo>
                  <a:pt x="76" y="246"/>
                </a:lnTo>
                <a:lnTo>
                  <a:pt x="76" y="189"/>
                </a:lnTo>
                <a:lnTo>
                  <a:pt x="303" y="189"/>
                </a:lnTo>
                <a:lnTo>
                  <a:pt x="303" y="246"/>
                </a:lnTo>
                <a:close/>
                <a:moveTo>
                  <a:pt x="38" y="246"/>
                </a:moveTo>
                <a:lnTo>
                  <a:pt x="0" y="246"/>
                </a:lnTo>
                <a:lnTo>
                  <a:pt x="0" y="189"/>
                </a:lnTo>
                <a:lnTo>
                  <a:pt x="38" y="189"/>
                </a:lnTo>
                <a:lnTo>
                  <a:pt x="38" y="246"/>
                </a:lnTo>
                <a:close/>
              </a:path>
            </a:pathLst>
          </a:cu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cxnSp>
        <p:nvCxnSpPr>
          <p:cNvPr id="25" name="直接连接符 24"/>
          <p:cNvCxnSpPr/>
          <p:nvPr/>
        </p:nvCxnSpPr>
        <p:spPr>
          <a:xfrm>
            <a:off x="2045185" y="5543466"/>
            <a:ext cx="9709995" cy="0"/>
          </a:xfrm>
          <a:prstGeom prst="line">
            <a:avLst/>
          </a:prstGeom>
          <a:ln w="19050">
            <a:solidFill>
              <a:srgbClr val="C00000"/>
            </a:solidFill>
            <a:prstDash val="dashDot"/>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2088508" y="2104710"/>
            <a:ext cx="9709995" cy="0"/>
          </a:xfrm>
          <a:prstGeom prst="line">
            <a:avLst/>
          </a:prstGeom>
          <a:ln w="19050">
            <a:solidFill>
              <a:srgbClr val="C00000"/>
            </a:solidFill>
            <a:prstDash val="dashDot"/>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5728921" y="5214796"/>
            <a:ext cx="2307683" cy="307777"/>
          </a:xfrm>
          <a:prstGeom prst="rect">
            <a:avLst/>
          </a:prstGeom>
          <a:noFill/>
        </p:spPr>
        <p:txBody>
          <a:bodyPr wrap="none" rtlCol="0">
            <a:spAutoFit/>
          </a:bodyPr>
          <a:lstStyle/>
          <a:p>
            <a:r>
              <a:rPr lang="en-US" altLang="zh-CN" sz="1400" b="1" dirty="0">
                <a:solidFill>
                  <a:srgbClr val="C00000"/>
                </a:solidFill>
                <a:latin typeface="微软雅黑" panose="020B0503020204020204" pitchFamily="34" charset="-122"/>
                <a:ea typeface="微软雅黑" panose="020B0503020204020204" pitchFamily="34" charset="-122"/>
              </a:rPr>
              <a:t>Spring Cloud </a:t>
            </a:r>
            <a:r>
              <a:rPr lang="zh-CN" altLang="en-US" sz="1400" b="1" dirty="0">
                <a:solidFill>
                  <a:srgbClr val="C00000"/>
                </a:solidFill>
                <a:latin typeface="微软雅黑" panose="020B0503020204020204" pitchFamily="34" charset="-122"/>
                <a:ea typeface="微软雅黑" panose="020B0503020204020204" pitchFamily="34" charset="-122"/>
              </a:rPr>
              <a:t>微服务体系</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49" name="圆角矩形 48"/>
          <p:cNvSpPr/>
          <p:nvPr/>
        </p:nvSpPr>
        <p:spPr>
          <a:xfrm>
            <a:off x="2088508" y="2206378"/>
            <a:ext cx="4588419" cy="321960"/>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dirty="0" smtClean="0"/>
              <a:t>管理后台网</a:t>
            </a:r>
            <a:r>
              <a:rPr lang="zh-CN" altLang="en-US" sz="1400" dirty="0"/>
              <a:t>关</a:t>
            </a:r>
            <a:endParaRPr lang="zh-CN" altLang="en-US" sz="1400" dirty="0"/>
          </a:p>
        </p:txBody>
      </p:sp>
      <p:sp>
        <p:nvSpPr>
          <p:cNvPr id="50" name="圆角矩形 49"/>
          <p:cNvSpPr/>
          <p:nvPr/>
        </p:nvSpPr>
        <p:spPr>
          <a:xfrm>
            <a:off x="6811598" y="2206378"/>
            <a:ext cx="4785055" cy="321960"/>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400" dirty="0"/>
              <a:t>API</a:t>
            </a:r>
            <a:r>
              <a:rPr lang="zh-CN" altLang="en-US" sz="1400" dirty="0"/>
              <a:t>网关</a:t>
            </a:r>
            <a:endParaRPr lang="zh-CN" altLang="en-US" sz="1400" dirty="0"/>
          </a:p>
        </p:txBody>
      </p:sp>
      <p:sp>
        <p:nvSpPr>
          <p:cNvPr id="53" name="Freeform 42"/>
          <p:cNvSpPr>
            <a:spLocks noChangeAspect="1" noEditPoints="1"/>
          </p:cNvSpPr>
          <p:nvPr/>
        </p:nvSpPr>
        <p:spPr bwMode="auto">
          <a:xfrm>
            <a:off x="659177" y="1410047"/>
            <a:ext cx="493377" cy="416537"/>
          </a:xfrm>
          <a:custGeom>
            <a:avLst/>
            <a:gdLst>
              <a:gd name="T0" fmla="*/ 201 w 210"/>
              <a:gd name="T1" fmla="*/ 150 h 178"/>
              <a:gd name="T2" fmla="*/ 105 w 210"/>
              <a:gd name="T3" fmla="*/ 112 h 178"/>
              <a:gd name="T4" fmla="*/ 9 w 210"/>
              <a:gd name="T5" fmla="*/ 150 h 178"/>
              <a:gd name="T6" fmla="*/ 23 w 210"/>
              <a:gd name="T7" fmla="*/ 178 h 178"/>
              <a:gd name="T8" fmla="*/ 187 w 210"/>
              <a:gd name="T9" fmla="*/ 178 h 178"/>
              <a:gd name="T10" fmla="*/ 201 w 210"/>
              <a:gd name="T11" fmla="*/ 150 h 178"/>
              <a:gd name="T12" fmla="*/ 105 w 210"/>
              <a:gd name="T13" fmla="*/ 81 h 178"/>
              <a:gd name="T14" fmla="*/ 146 w 210"/>
              <a:gd name="T15" fmla="*/ 40 h 178"/>
              <a:gd name="T16" fmla="*/ 105 w 210"/>
              <a:gd name="T17" fmla="*/ 0 h 178"/>
              <a:gd name="T18" fmla="*/ 64 w 210"/>
              <a:gd name="T19" fmla="*/ 40 h 178"/>
              <a:gd name="T20" fmla="*/ 105 w 210"/>
              <a:gd name="T21" fmla="*/ 8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0" h="178">
                <a:moveTo>
                  <a:pt x="201" y="150"/>
                </a:moveTo>
                <a:cubicBezTo>
                  <a:pt x="184" y="127"/>
                  <a:pt x="148" y="112"/>
                  <a:pt x="105" y="112"/>
                </a:cubicBezTo>
                <a:cubicBezTo>
                  <a:pt x="62" y="112"/>
                  <a:pt x="26" y="127"/>
                  <a:pt x="9" y="150"/>
                </a:cubicBezTo>
                <a:cubicBezTo>
                  <a:pt x="0" y="161"/>
                  <a:pt x="8" y="178"/>
                  <a:pt x="23" y="178"/>
                </a:cubicBezTo>
                <a:cubicBezTo>
                  <a:pt x="187" y="178"/>
                  <a:pt x="187" y="178"/>
                  <a:pt x="187" y="178"/>
                </a:cubicBezTo>
                <a:cubicBezTo>
                  <a:pt x="202" y="178"/>
                  <a:pt x="210" y="161"/>
                  <a:pt x="201" y="150"/>
                </a:cubicBezTo>
                <a:close/>
                <a:moveTo>
                  <a:pt x="105" y="81"/>
                </a:moveTo>
                <a:cubicBezTo>
                  <a:pt x="127" y="81"/>
                  <a:pt x="146" y="63"/>
                  <a:pt x="146" y="40"/>
                </a:cubicBezTo>
                <a:cubicBezTo>
                  <a:pt x="146" y="18"/>
                  <a:pt x="127" y="0"/>
                  <a:pt x="105" y="0"/>
                </a:cubicBezTo>
                <a:cubicBezTo>
                  <a:pt x="83" y="0"/>
                  <a:pt x="64" y="18"/>
                  <a:pt x="64" y="40"/>
                </a:cubicBezTo>
                <a:cubicBezTo>
                  <a:pt x="64" y="63"/>
                  <a:pt x="83" y="81"/>
                  <a:pt x="105" y="81"/>
                </a:cubicBezTo>
                <a:close/>
              </a:path>
            </a:pathLst>
          </a:cu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lt1"/>
              </a:solidFill>
            </a:endParaRPr>
          </a:p>
        </p:txBody>
      </p:sp>
      <p:sp>
        <p:nvSpPr>
          <p:cNvPr id="54" name="文本框 53"/>
          <p:cNvSpPr txBox="1"/>
          <p:nvPr/>
        </p:nvSpPr>
        <p:spPr>
          <a:xfrm>
            <a:off x="1089755" y="2375721"/>
            <a:ext cx="871035" cy="338554"/>
          </a:xfrm>
          <a:prstGeom prst="rect">
            <a:avLst/>
          </a:prstGeom>
          <a:noFill/>
        </p:spPr>
        <p:txBody>
          <a:bodyPr wrap="square">
            <a:spAutoFit/>
          </a:bodyPr>
          <a:lstStyle/>
          <a:p>
            <a:r>
              <a:rPr lang="zh-CN" altLang="en-US" sz="1600" dirty="0" smtClean="0">
                <a:solidFill>
                  <a:srgbClr val="C00000"/>
                </a:solidFill>
              </a:rPr>
              <a:t>网关层</a:t>
            </a:r>
            <a:endParaRPr lang="en-GB" sz="1600" dirty="0">
              <a:solidFill>
                <a:srgbClr val="C00000"/>
              </a:solidFill>
            </a:endParaRPr>
          </a:p>
        </p:txBody>
      </p:sp>
      <p:sp>
        <p:nvSpPr>
          <p:cNvPr id="55" name="Freeform 13"/>
          <p:cNvSpPr>
            <a:spLocks noChangeAspect="1" noEditPoints="1"/>
          </p:cNvSpPr>
          <p:nvPr/>
        </p:nvSpPr>
        <p:spPr bwMode="auto">
          <a:xfrm>
            <a:off x="609639" y="2290735"/>
            <a:ext cx="483794" cy="460486"/>
          </a:xfrm>
          <a:custGeom>
            <a:avLst/>
            <a:gdLst>
              <a:gd name="T0" fmla="*/ 190 w 200"/>
              <a:gd name="T1" fmla="*/ 52 h 192"/>
              <a:gd name="T2" fmla="*/ 166 w 200"/>
              <a:gd name="T3" fmla="*/ 90 h 192"/>
              <a:gd name="T4" fmla="*/ 153 w 200"/>
              <a:gd name="T5" fmla="*/ 102 h 192"/>
              <a:gd name="T6" fmla="*/ 106 w 200"/>
              <a:gd name="T7" fmla="*/ 140 h 192"/>
              <a:gd name="T8" fmla="*/ 153 w 200"/>
              <a:gd name="T9" fmla="*/ 102 h 192"/>
              <a:gd name="T10" fmla="*/ 190 w 200"/>
              <a:gd name="T11" fmla="*/ 140 h 192"/>
              <a:gd name="T12" fmla="*/ 166 w 200"/>
              <a:gd name="T13" fmla="*/ 102 h 192"/>
              <a:gd name="T14" fmla="*/ 40 w 200"/>
              <a:gd name="T15" fmla="*/ 52 h 192"/>
              <a:gd name="T16" fmla="*/ 0 w 200"/>
              <a:gd name="T17" fmla="*/ 90 h 192"/>
              <a:gd name="T18" fmla="*/ 40 w 200"/>
              <a:gd name="T19" fmla="*/ 52 h 192"/>
              <a:gd name="T20" fmla="*/ 0 w 200"/>
              <a:gd name="T21" fmla="*/ 102 h 192"/>
              <a:gd name="T22" fmla="*/ 40 w 200"/>
              <a:gd name="T23" fmla="*/ 140 h 192"/>
              <a:gd name="T24" fmla="*/ 94 w 200"/>
              <a:gd name="T25" fmla="*/ 189 h 192"/>
              <a:gd name="T26" fmla="*/ 58 w 200"/>
              <a:gd name="T27" fmla="*/ 152 h 192"/>
              <a:gd name="T28" fmla="*/ 53 w 200"/>
              <a:gd name="T29" fmla="*/ 140 h 192"/>
              <a:gd name="T30" fmla="*/ 94 w 200"/>
              <a:gd name="T31" fmla="*/ 102 h 192"/>
              <a:gd name="T32" fmla="*/ 53 w 200"/>
              <a:gd name="T33" fmla="*/ 140 h 192"/>
              <a:gd name="T34" fmla="*/ 94 w 200"/>
              <a:gd name="T35" fmla="*/ 90 h 192"/>
              <a:gd name="T36" fmla="*/ 53 w 200"/>
              <a:gd name="T37" fmla="*/ 52 h 192"/>
              <a:gd name="T38" fmla="*/ 44 w 200"/>
              <a:gd name="T39" fmla="*/ 152 h 192"/>
              <a:gd name="T40" fmla="*/ 72 w 200"/>
              <a:gd name="T41" fmla="*/ 192 h 192"/>
              <a:gd name="T42" fmla="*/ 72 w 200"/>
              <a:gd name="T43" fmla="*/ 0 h 192"/>
              <a:gd name="T44" fmla="*/ 44 w 200"/>
              <a:gd name="T45" fmla="*/ 39 h 192"/>
              <a:gd name="T46" fmla="*/ 156 w 200"/>
              <a:gd name="T47" fmla="*/ 39 h 192"/>
              <a:gd name="T48" fmla="*/ 128 w 200"/>
              <a:gd name="T49" fmla="*/ 0 h 192"/>
              <a:gd name="T50" fmla="*/ 106 w 200"/>
              <a:gd name="T51" fmla="*/ 152 h 192"/>
              <a:gd name="T52" fmla="*/ 142 w 200"/>
              <a:gd name="T53" fmla="*/ 152 h 192"/>
              <a:gd name="T54" fmla="*/ 106 w 200"/>
              <a:gd name="T55" fmla="*/ 3 h 192"/>
              <a:gd name="T56" fmla="*/ 142 w 200"/>
              <a:gd name="T57" fmla="*/ 39 h 192"/>
              <a:gd name="T58" fmla="*/ 128 w 200"/>
              <a:gd name="T59" fmla="*/ 192 h 192"/>
              <a:gd name="T60" fmla="*/ 156 w 200"/>
              <a:gd name="T61" fmla="*/ 152 h 192"/>
              <a:gd name="T62" fmla="*/ 58 w 200"/>
              <a:gd name="T63" fmla="*/ 39 h 192"/>
              <a:gd name="T64" fmla="*/ 94 w 200"/>
              <a:gd name="T65" fmla="*/ 3 h 192"/>
              <a:gd name="T66" fmla="*/ 106 w 200"/>
              <a:gd name="T67" fmla="*/ 52 h 192"/>
              <a:gd name="T68" fmla="*/ 153 w 200"/>
              <a:gd name="T69" fmla="*/ 90 h 192"/>
              <a:gd name="T70" fmla="*/ 106 w 200"/>
              <a:gd name="T71" fmla="*/ 5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0" h="192">
                <a:moveTo>
                  <a:pt x="200" y="90"/>
                </a:moveTo>
                <a:cubicBezTo>
                  <a:pt x="199" y="76"/>
                  <a:pt x="196" y="64"/>
                  <a:pt x="190" y="52"/>
                </a:cubicBezTo>
                <a:cubicBezTo>
                  <a:pt x="160" y="52"/>
                  <a:pt x="160" y="52"/>
                  <a:pt x="160" y="52"/>
                </a:cubicBezTo>
                <a:cubicBezTo>
                  <a:pt x="163" y="64"/>
                  <a:pt x="165" y="76"/>
                  <a:pt x="166" y="90"/>
                </a:cubicBezTo>
                <a:lnTo>
                  <a:pt x="200" y="90"/>
                </a:lnTo>
                <a:close/>
                <a:moveTo>
                  <a:pt x="153" y="102"/>
                </a:moveTo>
                <a:cubicBezTo>
                  <a:pt x="106" y="102"/>
                  <a:pt x="106" y="102"/>
                  <a:pt x="106" y="102"/>
                </a:cubicBezTo>
                <a:cubicBezTo>
                  <a:pt x="106" y="140"/>
                  <a:pt x="106" y="140"/>
                  <a:pt x="106" y="140"/>
                </a:cubicBezTo>
                <a:cubicBezTo>
                  <a:pt x="147" y="140"/>
                  <a:pt x="147" y="140"/>
                  <a:pt x="147" y="140"/>
                </a:cubicBezTo>
                <a:cubicBezTo>
                  <a:pt x="151" y="128"/>
                  <a:pt x="153" y="116"/>
                  <a:pt x="153" y="102"/>
                </a:cubicBezTo>
                <a:close/>
                <a:moveTo>
                  <a:pt x="160" y="140"/>
                </a:moveTo>
                <a:cubicBezTo>
                  <a:pt x="190" y="140"/>
                  <a:pt x="190" y="140"/>
                  <a:pt x="190" y="140"/>
                </a:cubicBezTo>
                <a:cubicBezTo>
                  <a:pt x="196" y="128"/>
                  <a:pt x="199" y="116"/>
                  <a:pt x="200" y="102"/>
                </a:cubicBezTo>
                <a:cubicBezTo>
                  <a:pt x="166" y="102"/>
                  <a:pt x="166" y="102"/>
                  <a:pt x="166" y="102"/>
                </a:cubicBezTo>
                <a:cubicBezTo>
                  <a:pt x="165" y="116"/>
                  <a:pt x="163" y="128"/>
                  <a:pt x="160" y="140"/>
                </a:cubicBezTo>
                <a:close/>
                <a:moveTo>
                  <a:pt x="40" y="52"/>
                </a:moveTo>
                <a:cubicBezTo>
                  <a:pt x="10" y="52"/>
                  <a:pt x="10" y="52"/>
                  <a:pt x="10" y="52"/>
                </a:cubicBezTo>
                <a:cubicBezTo>
                  <a:pt x="4" y="64"/>
                  <a:pt x="1" y="76"/>
                  <a:pt x="0" y="90"/>
                </a:cubicBezTo>
                <a:cubicBezTo>
                  <a:pt x="34" y="90"/>
                  <a:pt x="34" y="90"/>
                  <a:pt x="34" y="90"/>
                </a:cubicBezTo>
                <a:cubicBezTo>
                  <a:pt x="35" y="76"/>
                  <a:pt x="37" y="64"/>
                  <a:pt x="40" y="52"/>
                </a:cubicBezTo>
                <a:close/>
                <a:moveTo>
                  <a:pt x="34" y="102"/>
                </a:moveTo>
                <a:cubicBezTo>
                  <a:pt x="0" y="102"/>
                  <a:pt x="0" y="102"/>
                  <a:pt x="0" y="102"/>
                </a:cubicBezTo>
                <a:cubicBezTo>
                  <a:pt x="1" y="116"/>
                  <a:pt x="4" y="128"/>
                  <a:pt x="10" y="140"/>
                </a:cubicBezTo>
                <a:cubicBezTo>
                  <a:pt x="40" y="140"/>
                  <a:pt x="40" y="140"/>
                  <a:pt x="40" y="140"/>
                </a:cubicBezTo>
                <a:cubicBezTo>
                  <a:pt x="37" y="128"/>
                  <a:pt x="35" y="116"/>
                  <a:pt x="34" y="102"/>
                </a:cubicBezTo>
                <a:close/>
                <a:moveTo>
                  <a:pt x="94" y="189"/>
                </a:moveTo>
                <a:cubicBezTo>
                  <a:pt x="94" y="152"/>
                  <a:pt x="94" y="152"/>
                  <a:pt x="94" y="152"/>
                </a:cubicBezTo>
                <a:cubicBezTo>
                  <a:pt x="58" y="152"/>
                  <a:pt x="58" y="152"/>
                  <a:pt x="58" y="152"/>
                </a:cubicBezTo>
                <a:cubicBezTo>
                  <a:pt x="66" y="172"/>
                  <a:pt x="79" y="186"/>
                  <a:pt x="94" y="189"/>
                </a:cubicBezTo>
                <a:close/>
                <a:moveTo>
                  <a:pt x="53" y="140"/>
                </a:moveTo>
                <a:cubicBezTo>
                  <a:pt x="94" y="140"/>
                  <a:pt x="94" y="140"/>
                  <a:pt x="94" y="140"/>
                </a:cubicBezTo>
                <a:cubicBezTo>
                  <a:pt x="94" y="102"/>
                  <a:pt x="94" y="102"/>
                  <a:pt x="94" y="102"/>
                </a:cubicBezTo>
                <a:cubicBezTo>
                  <a:pt x="47" y="102"/>
                  <a:pt x="47" y="102"/>
                  <a:pt x="47" y="102"/>
                </a:cubicBezTo>
                <a:cubicBezTo>
                  <a:pt x="47" y="116"/>
                  <a:pt x="49" y="128"/>
                  <a:pt x="53" y="140"/>
                </a:cubicBezTo>
                <a:close/>
                <a:moveTo>
                  <a:pt x="47" y="90"/>
                </a:moveTo>
                <a:cubicBezTo>
                  <a:pt x="94" y="90"/>
                  <a:pt x="94" y="90"/>
                  <a:pt x="94" y="90"/>
                </a:cubicBezTo>
                <a:cubicBezTo>
                  <a:pt x="94" y="52"/>
                  <a:pt x="94" y="52"/>
                  <a:pt x="94" y="52"/>
                </a:cubicBezTo>
                <a:cubicBezTo>
                  <a:pt x="53" y="52"/>
                  <a:pt x="53" y="52"/>
                  <a:pt x="53" y="52"/>
                </a:cubicBezTo>
                <a:cubicBezTo>
                  <a:pt x="49" y="63"/>
                  <a:pt x="47" y="76"/>
                  <a:pt x="47" y="90"/>
                </a:cubicBezTo>
                <a:close/>
                <a:moveTo>
                  <a:pt x="44" y="152"/>
                </a:moveTo>
                <a:cubicBezTo>
                  <a:pt x="17" y="152"/>
                  <a:pt x="17" y="152"/>
                  <a:pt x="17" y="152"/>
                </a:cubicBezTo>
                <a:cubicBezTo>
                  <a:pt x="30" y="171"/>
                  <a:pt x="49" y="185"/>
                  <a:pt x="72" y="192"/>
                </a:cubicBezTo>
                <a:cubicBezTo>
                  <a:pt x="60" y="183"/>
                  <a:pt x="51" y="169"/>
                  <a:pt x="44" y="152"/>
                </a:cubicBezTo>
                <a:close/>
                <a:moveTo>
                  <a:pt x="72" y="0"/>
                </a:moveTo>
                <a:cubicBezTo>
                  <a:pt x="49" y="6"/>
                  <a:pt x="30" y="21"/>
                  <a:pt x="17" y="39"/>
                </a:cubicBezTo>
                <a:cubicBezTo>
                  <a:pt x="44" y="39"/>
                  <a:pt x="44" y="39"/>
                  <a:pt x="44" y="39"/>
                </a:cubicBezTo>
                <a:cubicBezTo>
                  <a:pt x="51" y="22"/>
                  <a:pt x="60" y="8"/>
                  <a:pt x="72" y="0"/>
                </a:cubicBezTo>
                <a:close/>
                <a:moveTo>
                  <a:pt x="156" y="39"/>
                </a:moveTo>
                <a:cubicBezTo>
                  <a:pt x="183" y="39"/>
                  <a:pt x="183" y="39"/>
                  <a:pt x="183" y="39"/>
                </a:cubicBezTo>
                <a:cubicBezTo>
                  <a:pt x="170" y="21"/>
                  <a:pt x="151" y="6"/>
                  <a:pt x="128" y="0"/>
                </a:cubicBezTo>
                <a:cubicBezTo>
                  <a:pt x="140" y="8"/>
                  <a:pt x="149" y="22"/>
                  <a:pt x="156" y="39"/>
                </a:cubicBezTo>
                <a:close/>
                <a:moveTo>
                  <a:pt x="106" y="152"/>
                </a:moveTo>
                <a:cubicBezTo>
                  <a:pt x="106" y="189"/>
                  <a:pt x="106" y="189"/>
                  <a:pt x="106" y="189"/>
                </a:cubicBezTo>
                <a:cubicBezTo>
                  <a:pt x="121" y="186"/>
                  <a:pt x="134" y="172"/>
                  <a:pt x="142" y="152"/>
                </a:cubicBezTo>
                <a:lnTo>
                  <a:pt x="106" y="152"/>
                </a:lnTo>
                <a:close/>
                <a:moveTo>
                  <a:pt x="106" y="3"/>
                </a:moveTo>
                <a:cubicBezTo>
                  <a:pt x="106" y="39"/>
                  <a:pt x="106" y="39"/>
                  <a:pt x="106" y="39"/>
                </a:cubicBezTo>
                <a:cubicBezTo>
                  <a:pt x="142" y="39"/>
                  <a:pt x="142" y="39"/>
                  <a:pt x="142" y="39"/>
                </a:cubicBezTo>
                <a:cubicBezTo>
                  <a:pt x="134" y="20"/>
                  <a:pt x="121" y="6"/>
                  <a:pt x="106" y="3"/>
                </a:cubicBezTo>
                <a:close/>
                <a:moveTo>
                  <a:pt x="128" y="192"/>
                </a:moveTo>
                <a:cubicBezTo>
                  <a:pt x="151" y="185"/>
                  <a:pt x="170" y="171"/>
                  <a:pt x="183" y="152"/>
                </a:cubicBezTo>
                <a:cubicBezTo>
                  <a:pt x="156" y="152"/>
                  <a:pt x="156" y="152"/>
                  <a:pt x="156" y="152"/>
                </a:cubicBezTo>
                <a:cubicBezTo>
                  <a:pt x="149" y="170"/>
                  <a:pt x="140" y="183"/>
                  <a:pt x="128" y="192"/>
                </a:cubicBezTo>
                <a:close/>
                <a:moveTo>
                  <a:pt x="58" y="39"/>
                </a:moveTo>
                <a:cubicBezTo>
                  <a:pt x="94" y="39"/>
                  <a:pt x="94" y="39"/>
                  <a:pt x="94" y="39"/>
                </a:cubicBezTo>
                <a:cubicBezTo>
                  <a:pt x="94" y="3"/>
                  <a:pt x="94" y="3"/>
                  <a:pt x="94" y="3"/>
                </a:cubicBezTo>
                <a:cubicBezTo>
                  <a:pt x="79" y="6"/>
                  <a:pt x="66" y="20"/>
                  <a:pt x="58" y="39"/>
                </a:cubicBezTo>
                <a:close/>
                <a:moveTo>
                  <a:pt x="106" y="52"/>
                </a:moveTo>
                <a:cubicBezTo>
                  <a:pt x="106" y="90"/>
                  <a:pt x="106" y="90"/>
                  <a:pt x="106" y="90"/>
                </a:cubicBezTo>
                <a:cubicBezTo>
                  <a:pt x="153" y="90"/>
                  <a:pt x="153" y="90"/>
                  <a:pt x="153" y="90"/>
                </a:cubicBezTo>
                <a:cubicBezTo>
                  <a:pt x="153" y="76"/>
                  <a:pt x="151" y="63"/>
                  <a:pt x="147" y="52"/>
                </a:cubicBezTo>
                <a:lnTo>
                  <a:pt x="106" y="52"/>
                </a:lnTo>
                <a:close/>
              </a:path>
            </a:pathLst>
          </a:cu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60" name="矩形 59"/>
          <p:cNvSpPr/>
          <p:nvPr/>
        </p:nvSpPr>
        <p:spPr>
          <a:xfrm>
            <a:off x="2396382" y="1410047"/>
            <a:ext cx="1031700" cy="360684"/>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a:t>浏览器</a:t>
            </a:r>
            <a:endParaRPr lang="en-GB" dirty="0"/>
          </a:p>
        </p:txBody>
      </p:sp>
      <p:sp>
        <p:nvSpPr>
          <p:cNvPr id="61" name="矩形 60"/>
          <p:cNvSpPr/>
          <p:nvPr/>
        </p:nvSpPr>
        <p:spPr>
          <a:xfrm>
            <a:off x="3777362" y="1406133"/>
            <a:ext cx="1031700" cy="360684"/>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a:t>浏览器</a:t>
            </a:r>
            <a:endParaRPr lang="en-GB" dirty="0"/>
          </a:p>
        </p:txBody>
      </p:sp>
      <p:sp>
        <p:nvSpPr>
          <p:cNvPr id="62" name="矩形 61"/>
          <p:cNvSpPr/>
          <p:nvPr/>
        </p:nvSpPr>
        <p:spPr>
          <a:xfrm>
            <a:off x="5230282" y="1414519"/>
            <a:ext cx="1031700" cy="360684"/>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a:t>浏览器</a:t>
            </a:r>
            <a:endParaRPr lang="en-GB" dirty="0"/>
          </a:p>
        </p:txBody>
      </p:sp>
      <p:sp>
        <p:nvSpPr>
          <p:cNvPr id="63" name="文本框 62"/>
          <p:cNvSpPr txBox="1"/>
          <p:nvPr/>
        </p:nvSpPr>
        <p:spPr>
          <a:xfrm>
            <a:off x="1184845" y="1492226"/>
            <a:ext cx="859352" cy="338554"/>
          </a:xfrm>
          <a:prstGeom prst="rect">
            <a:avLst/>
          </a:prstGeom>
          <a:noFill/>
        </p:spPr>
        <p:txBody>
          <a:bodyPr wrap="square">
            <a:spAutoFit/>
          </a:bodyPr>
          <a:lstStyle/>
          <a:p>
            <a:r>
              <a:rPr lang="zh-CN" altLang="en-US" sz="1600" b="1" dirty="0" smtClean="0">
                <a:solidFill>
                  <a:srgbClr val="C00000"/>
                </a:solidFill>
                <a:latin typeface="微软雅黑" panose="020B0503020204020204" pitchFamily="34" charset="-122"/>
                <a:ea typeface="微软雅黑" panose="020B0503020204020204" pitchFamily="34" charset="-122"/>
              </a:rPr>
              <a:t>表现层</a:t>
            </a:r>
            <a:endParaRPr lang="en-GB" sz="1600" dirty="0">
              <a:solidFill>
                <a:srgbClr val="C00000"/>
              </a:solidFill>
            </a:endParaRPr>
          </a:p>
        </p:txBody>
      </p:sp>
      <p:sp>
        <p:nvSpPr>
          <p:cNvPr id="66" name="Down Arrow 110"/>
          <p:cNvSpPr/>
          <p:nvPr/>
        </p:nvSpPr>
        <p:spPr>
          <a:xfrm>
            <a:off x="2855361" y="1817021"/>
            <a:ext cx="113742" cy="165213"/>
          </a:xfrm>
          <a:prstGeom prst="downArrow">
            <a:avLst/>
          </a:prstGeom>
          <a:noFill/>
          <a:ln w="19050">
            <a:solidFill>
              <a:srgbClr val="B9131A"/>
            </a:solidFill>
          </a:ln>
          <a:effectLst/>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latin typeface="微软雅黑" panose="020B0503020204020204" pitchFamily="34" charset="-122"/>
              <a:ea typeface="微软雅黑" panose="020B0503020204020204" pitchFamily="34" charset="-122"/>
            </a:endParaRPr>
          </a:p>
        </p:txBody>
      </p:sp>
      <p:sp>
        <p:nvSpPr>
          <p:cNvPr id="67" name="Down Arrow 110"/>
          <p:cNvSpPr/>
          <p:nvPr/>
        </p:nvSpPr>
        <p:spPr>
          <a:xfrm>
            <a:off x="4234299" y="1821243"/>
            <a:ext cx="113742" cy="165213"/>
          </a:xfrm>
          <a:prstGeom prst="downArrow">
            <a:avLst/>
          </a:prstGeom>
          <a:noFill/>
          <a:ln w="19050">
            <a:solidFill>
              <a:srgbClr val="B9131A"/>
            </a:solidFill>
          </a:ln>
          <a:effectLst/>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latin typeface="微软雅黑" panose="020B0503020204020204" pitchFamily="34" charset="-122"/>
              <a:ea typeface="微软雅黑" panose="020B0503020204020204" pitchFamily="34" charset="-122"/>
            </a:endParaRPr>
          </a:p>
        </p:txBody>
      </p:sp>
      <p:sp>
        <p:nvSpPr>
          <p:cNvPr id="68" name="Down Arrow 110"/>
          <p:cNvSpPr/>
          <p:nvPr/>
        </p:nvSpPr>
        <p:spPr>
          <a:xfrm>
            <a:off x="5711359" y="1817381"/>
            <a:ext cx="113742" cy="165213"/>
          </a:xfrm>
          <a:prstGeom prst="downArrow">
            <a:avLst/>
          </a:prstGeom>
          <a:noFill/>
          <a:ln w="19050">
            <a:solidFill>
              <a:srgbClr val="B9131A"/>
            </a:solidFill>
          </a:ln>
          <a:effectLst/>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latin typeface="微软雅黑" panose="020B0503020204020204" pitchFamily="34" charset="-122"/>
              <a:ea typeface="微软雅黑" panose="020B0503020204020204" pitchFamily="34" charset="-122"/>
            </a:endParaRPr>
          </a:p>
        </p:txBody>
      </p:sp>
      <p:sp>
        <p:nvSpPr>
          <p:cNvPr id="70" name="矩形 69"/>
          <p:cNvSpPr/>
          <p:nvPr/>
        </p:nvSpPr>
        <p:spPr>
          <a:xfrm>
            <a:off x="7520754" y="1414519"/>
            <a:ext cx="1031700" cy="360684"/>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a:t>私域</a:t>
            </a:r>
            <a:endParaRPr lang="en-GB" dirty="0"/>
          </a:p>
        </p:txBody>
      </p:sp>
      <p:sp>
        <p:nvSpPr>
          <p:cNvPr id="71" name="矩形 70"/>
          <p:cNvSpPr/>
          <p:nvPr/>
        </p:nvSpPr>
        <p:spPr>
          <a:xfrm>
            <a:off x="9754017" y="1409106"/>
            <a:ext cx="1031700" cy="360684"/>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a:t>公域</a:t>
            </a:r>
            <a:endParaRPr lang="en-GB" dirty="0"/>
          </a:p>
        </p:txBody>
      </p:sp>
      <p:sp>
        <p:nvSpPr>
          <p:cNvPr id="72" name="Down Arrow 110"/>
          <p:cNvSpPr/>
          <p:nvPr/>
        </p:nvSpPr>
        <p:spPr>
          <a:xfrm>
            <a:off x="7979733" y="1815195"/>
            <a:ext cx="113742" cy="165213"/>
          </a:xfrm>
          <a:prstGeom prst="downArrow">
            <a:avLst/>
          </a:prstGeom>
          <a:noFill/>
          <a:ln w="19050">
            <a:solidFill>
              <a:srgbClr val="B9131A"/>
            </a:solidFill>
          </a:ln>
          <a:effectLst/>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latin typeface="微软雅黑" panose="020B0503020204020204" pitchFamily="34" charset="-122"/>
              <a:ea typeface="微软雅黑" panose="020B0503020204020204" pitchFamily="34" charset="-122"/>
            </a:endParaRPr>
          </a:p>
        </p:txBody>
      </p:sp>
      <p:sp>
        <p:nvSpPr>
          <p:cNvPr id="73" name="Down Arrow 110"/>
          <p:cNvSpPr/>
          <p:nvPr/>
        </p:nvSpPr>
        <p:spPr>
          <a:xfrm>
            <a:off x="10212996" y="1815007"/>
            <a:ext cx="113742" cy="165213"/>
          </a:xfrm>
          <a:prstGeom prst="downArrow">
            <a:avLst/>
          </a:prstGeom>
          <a:noFill/>
          <a:ln w="19050">
            <a:solidFill>
              <a:srgbClr val="B9131A"/>
            </a:solidFill>
          </a:ln>
          <a:effectLst/>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latin typeface="微软雅黑" panose="020B0503020204020204" pitchFamily="34" charset="-122"/>
              <a:ea typeface="微软雅黑" panose="020B0503020204020204" pitchFamily="34" charset="-122"/>
            </a:endParaRPr>
          </a:p>
        </p:txBody>
      </p:sp>
      <p:sp>
        <p:nvSpPr>
          <p:cNvPr id="75" name="圆角矩形 74"/>
          <p:cNvSpPr/>
          <p:nvPr/>
        </p:nvSpPr>
        <p:spPr>
          <a:xfrm>
            <a:off x="2521353" y="3823274"/>
            <a:ext cx="1826688" cy="450437"/>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000" dirty="0" smtClean="0"/>
              <a:t>会员中心</a:t>
            </a:r>
            <a:endParaRPr lang="zh-CN" altLang="en-US" sz="1000" dirty="0"/>
          </a:p>
        </p:txBody>
      </p:sp>
      <p:sp>
        <p:nvSpPr>
          <p:cNvPr id="77" name="圆角矩形 76"/>
          <p:cNvSpPr/>
          <p:nvPr/>
        </p:nvSpPr>
        <p:spPr>
          <a:xfrm>
            <a:off x="4551006" y="3814988"/>
            <a:ext cx="1826688" cy="450437"/>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000" dirty="0" smtClean="0"/>
              <a:t>优惠券中心</a:t>
            </a:r>
            <a:endParaRPr lang="zh-CN" altLang="en-US" sz="1000" dirty="0"/>
          </a:p>
        </p:txBody>
      </p:sp>
      <p:sp>
        <p:nvSpPr>
          <p:cNvPr id="79" name="圆角矩形 78"/>
          <p:cNvSpPr/>
          <p:nvPr/>
        </p:nvSpPr>
        <p:spPr>
          <a:xfrm>
            <a:off x="2529173" y="3175592"/>
            <a:ext cx="1826688" cy="450437"/>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000" dirty="0" smtClean="0"/>
              <a:t>营销中心</a:t>
            </a:r>
            <a:endParaRPr lang="zh-CN" altLang="en-US" sz="1000" dirty="0"/>
          </a:p>
        </p:txBody>
      </p:sp>
      <p:sp>
        <p:nvSpPr>
          <p:cNvPr id="82" name="圆角矩形 81"/>
          <p:cNvSpPr/>
          <p:nvPr/>
        </p:nvSpPr>
        <p:spPr>
          <a:xfrm>
            <a:off x="6580659" y="3817389"/>
            <a:ext cx="1826688" cy="450437"/>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000" dirty="0" smtClean="0"/>
              <a:t>标签中心</a:t>
            </a:r>
            <a:endParaRPr lang="zh-CN" altLang="en-US" sz="1000" dirty="0"/>
          </a:p>
        </p:txBody>
      </p:sp>
      <p:sp>
        <p:nvSpPr>
          <p:cNvPr id="83" name="圆角矩形 82"/>
          <p:cNvSpPr/>
          <p:nvPr/>
        </p:nvSpPr>
        <p:spPr>
          <a:xfrm>
            <a:off x="2521353" y="4654076"/>
            <a:ext cx="1826688" cy="450437"/>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000" dirty="0" smtClean="0"/>
              <a:t>数据中心</a:t>
            </a:r>
            <a:endParaRPr lang="zh-CN" altLang="en-US" sz="1000" dirty="0"/>
          </a:p>
        </p:txBody>
      </p:sp>
      <p:sp>
        <p:nvSpPr>
          <p:cNvPr id="86" name="圆角矩形 85"/>
          <p:cNvSpPr/>
          <p:nvPr/>
        </p:nvSpPr>
        <p:spPr>
          <a:xfrm>
            <a:off x="8610312" y="3804837"/>
            <a:ext cx="1826688" cy="450437"/>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000" dirty="0" smtClean="0"/>
              <a:t>权限中心</a:t>
            </a:r>
            <a:endParaRPr lang="zh-CN" altLang="en-US" sz="1000" dirty="0"/>
          </a:p>
        </p:txBody>
      </p:sp>
      <p:sp>
        <p:nvSpPr>
          <p:cNvPr id="7" name="流程图: 磁盘 6"/>
          <p:cNvSpPr/>
          <p:nvPr/>
        </p:nvSpPr>
        <p:spPr>
          <a:xfrm>
            <a:off x="2185135" y="5875030"/>
            <a:ext cx="848211" cy="409783"/>
          </a:xfrm>
          <a:prstGeom prst="flowChartMagneticDisk">
            <a:avLst/>
          </a:prstGeom>
          <a:solidFill>
            <a:srgbClr val="C00000"/>
          </a:solidFill>
          <a:ln>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000" dirty="0" smtClean="0">
                <a:solidFill>
                  <a:schemeClr val="bg1"/>
                </a:solidFill>
                <a:latin typeface="微软雅黑" panose="020B0503020204020204" pitchFamily="34" charset="-122"/>
                <a:ea typeface="微软雅黑" panose="020B0503020204020204" pitchFamily="34" charset="-122"/>
              </a:rPr>
              <a:t>会员库</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89" name="流程图: 磁盘 88"/>
          <p:cNvSpPr/>
          <p:nvPr/>
        </p:nvSpPr>
        <p:spPr>
          <a:xfrm>
            <a:off x="4090889" y="5910644"/>
            <a:ext cx="848211" cy="409783"/>
          </a:xfrm>
          <a:prstGeom prst="flowChartMagneticDisk">
            <a:avLst/>
          </a:prstGeom>
          <a:solidFill>
            <a:srgbClr val="C00000"/>
          </a:solidFill>
          <a:ln>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000" dirty="0" smtClean="0">
                <a:solidFill>
                  <a:schemeClr val="bg1"/>
                </a:solidFill>
                <a:latin typeface="微软雅黑" panose="020B0503020204020204" pitchFamily="34" charset="-122"/>
                <a:ea typeface="微软雅黑" panose="020B0503020204020204" pitchFamily="34" charset="-122"/>
              </a:rPr>
              <a:t>优惠券库</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91" name="流程图: 磁盘 90"/>
          <p:cNvSpPr/>
          <p:nvPr/>
        </p:nvSpPr>
        <p:spPr>
          <a:xfrm>
            <a:off x="6057888" y="5926610"/>
            <a:ext cx="848211" cy="409783"/>
          </a:xfrm>
          <a:prstGeom prst="flowChartMagneticDisk">
            <a:avLst/>
          </a:prstGeom>
          <a:solidFill>
            <a:srgbClr val="C00000"/>
          </a:solidFill>
          <a:ln>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000" dirty="0" smtClean="0">
                <a:solidFill>
                  <a:schemeClr val="bg1"/>
                </a:solidFill>
                <a:latin typeface="微软雅黑" panose="020B0503020204020204" pitchFamily="34" charset="-122"/>
                <a:ea typeface="微软雅黑" panose="020B0503020204020204" pitchFamily="34" charset="-122"/>
              </a:rPr>
              <a:t>标签元数据</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92" name="流程图: 磁盘 91"/>
          <p:cNvSpPr/>
          <p:nvPr/>
        </p:nvSpPr>
        <p:spPr>
          <a:xfrm>
            <a:off x="10071022" y="5887429"/>
            <a:ext cx="848211" cy="409783"/>
          </a:xfrm>
          <a:prstGeom prst="flowChartMagneticDisk">
            <a:avLst/>
          </a:prstGeom>
          <a:solidFill>
            <a:srgbClr val="C00000"/>
          </a:solidFill>
          <a:ln>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000" dirty="0" smtClean="0">
                <a:solidFill>
                  <a:schemeClr val="bg1"/>
                </a:solidFill>
                <a:latin typeface="微软雅黑" panose="020B0503020204020204" pitchFamily="34" charset="-122"/>
                <a:ea typeface="微软雅黑" panose="020B0503020204020204" pitchFamily="34" charset="-122"/>
              </a:rPr>
              <a:t>基础库</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93" name="流程图: 磁盘 92"/>
          <p:cNvSpPr/>
          <p:nvPr/>
        </p:nvSpPr>
        <p:spPr>
          <a:xfrm>
            <a:off x="8142588" y="5910644"/>
            <a:ext cx="848211" cy="409783"/>
          </a:xfrm>
          <a:prstGeom prst="flowChartMagneticDisk">
            <a:avLst/>
          </a:prstGeom>
          <a:solidFill>
            <a:srgbClr val="C00000"/>
          </a:solidFill>
          <a:ln>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000" dirty="0" smtClean="0">
                <a:solidFill>
                  <a:schemeClr val="bg1"/>
                </a:solidFill>
                <a:latin typeface="微软雅黑" panose="020B0503020204020204" pitchFamily="34" charset="-122"/>
                <a:ea typeface="微软雅黑" panose="020B0503020204020204" pitchFamily="34" charset="-122"/>
              </a:rPr>
              <a:t>标签库</a:t>
            </a:r>
            <a:r>
              <a:rPr lang="en-US" altLang="zh-CN" sz="1000" dirty="0" smtClean="0">
                <a:solidFill>
                  <a:schemeClr val="bg1"/>
                </a:solidFill>
                <a:latin typeface="微软雅黑" panose="020B0503020204020204" pitchFamily="34" charset="-122"/>
                <a:ea typeface="微软雅黑" panose="020B0503020204020204" pitchFamily="34" charset="-122"/>
              </a:rPr>
              <a:t>(</a:t>
            </a:r>
            <a:r>
              <a:rPr lang="en-US" altLang="zh-CN" sz="1000" dirty="0" err="1" smtClean="0">
                <a:solidFill>
                  <a:schemeClr val="bg1"/>
                </a:solidFill>
                <a:latin typeface="微软雅黑" panose="020B0503020204020204" pitchFamily="34" charset="-122"/>
                <a:ea typeface="微软雅黑" panose="020B0503020204020204" pitchFamily="34" charset="-122"/>
              </a:rPr>
              <a:t>ck</a:t>
            </a:r>
            <a:r>
              <a:rPr lang="en-US" altLang="zh-CN" sz="1000" dirty="0" smtClean="0">
                <a:solidFill>
                  <a:schemeClr val="bg1"/>
                </a:solidFill>
                <a:latin typeface="微软雅黑" panose="020B0503020204020204" pitchFamily="34" charset="-122"/>
                <a:ea typeface="微软雅黑" panose="020B0503020204020204" pitchFamily="34" charset="-122"/>
              </a:rPr>
              <a:t>)</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95" name="文本框 94"/>
          <p:cNvSpPr txBox="1"/>
          <p:nvPr/>
        </p:nvSpPr>
        <p:spPr>
          <a:xfrm>
            <a:off x="1995176" y="4735203"/>
            <a:ext cx="501403" cy="307777"/>
          </a:xfrm>
          <a:prstGeom prst="rect">
            <a:avLst/>
          </a:prstGeom>
          <a:noFill/>
        </p:spPr>
        <p:txBody>
          <a:bodyPr wrap="square">
            <a:spAutoFit/>
          </a:bodyPr>
          <a:lstStyle/>
          <a:p>
            <a:pPr algn="ctr">
              <a:lnSpc>
                <a:spcPct val="100000"/>
              </a:lnSpc>
            </a:pPr>
            <a:r>
              <a:rPr lang="en-US" altLang="zh-CN" sz="1400" b="1" dirty="0" smtClean="0">
                <a:solidFill>
                  <a:srgbClr val="C00000"/>
                </a:solidFill>
                <a:latin typeface="微软雅黑" panose="020B0503020204020204" pitchFamily="34" charset="-122"/>
                <a:ea typeface="微软雅黑" panose="020B0503020204020204" pitchFamily="34" charset="-122"/>
              </a:rPr>
              <a:t>L0</a:t>
            </a:r>
            <a:endParaRPr lang="en-US" sz="1400" b="1" dirty="0">
              <a:solidFill>
                <a:srgbClr val="C00000"/>
              </a:solidFill>
              <a:latin typeface="微软雅黑" panose="020B0503020204020204" pitchFamily="34" charset="-122"/>
              <a:ea typeface="微软雅黑" panose="020B0503020204020204" pitchFamily="34" charset="-122"/>
            </a:endParaRPr>
          </a:p>
        </p:txBody>
      </p:sp>
      <p:sp>
        <p:nvSpPr>
          <p:cNvPr id="96" name="文本框 95"/>
          <p:cNvSpPr txBox="1"/>
          <p:nvPr/>
        </p:nvSpPr>
        <p:spPr>
          <a:xfrm>
            <a:off x="1999592" y="3907346"/>
            <a:ext cx="501403" cy="307777"/>
          </a:xfrm>
          <a:prstGeom prst="rect">
            <a:avLst/>
          </a:prstGeom>
          <a:noFill/>
        </p:spPr>
        <p:txBody>
          <a:bodyPr wrap="square">
            <a:spAutoFit/>
          </a:bodyPr>
          <a:lstStyle/>
          <a:p>
            <a:pPr algn="ctr">
              <a:lnSpc>
                <a:spcPct val="100000"/>
              </a:lnSpc>
            </a:pPr>
            <a:r>
              <a:rPr lang="en-US" altLang="zh-CN" sz="1400" b="1" dirty="0" smtClean="0">
                <a:solidFill>
                  <a:srgbClr val="C00000"/>
                </a:solidFill>
                <a:latin typeface="微软雅黑" panose="020B0503020204020204" pitchFamily="34" charset="-122"/>
                <a:ea typeface="微软雅黑" panose="020B0503020204020204" pitchFamily="34" charset="-122"/>
              </a:rPr>
              <a:t>L1</a:t>
            </a:r>
            <a:endParaRPr lang="en-US" sz="1400" b="1" dirty="0">
              <a:solidFill>
                <a:srgbClr val="C00000"/>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1990742" y="3243782"/>
            <a:ext cx="501403" cy="307777"/>
          </a:xfrm>
          <a:prstGeom prst="rect">
            <a:avLst/>
          </a:prstGeom>
          <a:noFill/>
        </p:spPr>
        <p:txBody>
          <a:bodyPr wrap="square">
            <a:spAutoFit/>
          </a:bodyPr>
          <a:lstStyle/>
          <a:p>
            <a:pPr algn="ctr">
              <a:lnSpc>
                <a:spcPct val="100000"/>
              </a:lnSpc>
            </a:pPr>
            <a:r>
              <a:rPr lang="en-US" altLang="zh-CN" sz="1400" b="1" dirty="0" smtClean="0">
                <a:solidFill>
                  <a:srgbClr val="C00000"/>
                </a:solidFill>
                <a:latin typeface="微软雅黑" panose="020B0503020204020204" pitchFamily="34" charset="-122"/>
                <a:ea typeface="微软雅黑" panose="020B0503020204020204" pitchFamily="34" charset="-122"/>
              </a:rPr>
              <a:t>L2</a:t>
            </a:r>
            <a:endParaRPr lang="en-US" sz="1400" b="1" dirty="0">
              <a:solidFill>
                <a:srgbClr val="C00000"/>
              </a:solidFill>
              <a:latin typeface="微软雅黑" panose="020B0503020204020204" pitchFamily="34" charset="-122"/>
              <a:ea typeface="微软雅黑" panose="020B0503020204020204" pitchFamily="34" charset="-122"/>
            </a:endParaRPr>
          </a:p>
        </p:txBody>
      </p:sp>
      <p:cxnSp>
        <p:nvCxnSpPr>
          <p:cNvPr id="98" name="直接连接符 97"/>
          <p:cNvCxnSpPr/>
          <p:nvPr/>
        </p:nvCxnSpPr>
        <p:spPr>
          <a:xfrm>
            <a:off x="2051101" y="3048418"/>
            <a:ext cx="9709995" cy="0"/>
          </a:xfrm>
          <a:prstGeom prst="line">
            <a:avLst/>
          </a:prstGeom>
          <a:ln w="19050">
            <a:solidFill>
              <a:srgbClr val="C00000"/>
            </a:solidFill>
            <a:prstDash val="dashDot"/>
          </a:ln>
        </p:spPr>
        <p:style>
          <a:lnRef idx="1">
            <a:schemeClr val="accent1"/>
          </a:lnRef>
          <a:fillRef idx="0">
            <a:schemeClr val="accent1"/>
          </a:fillRef>
          <a:effectRef idx="0">
            <a:schemeClr val="accent1"/>
          </a:effectRef>
          <a:fontRef idx="minor">
            <a:schemeClr val="tx1"/>
          </a:fontRef>
        </p:style>
      </p:cxnSp>
      <p:sp>
        <p:nvSpPr>
          <p:cNvPr id="99" name="文本框 98"/>
          <p:cNvSpPr txBox="1"/>
          <p:nvPr/>
        </p:nvSpPr>
        <p:spPr>
          <a:xfrm>
            <a:off x="4187887" y="1808617"/>
            <a:ext cx="1242350" cy="246221"/>
          </a:xfrm>
          <a:prstGeom prst="rect">
            <a:avLst/>
          </a:prstGeom>
          <a:noFill/>
        </p:spPr>
        <p:txBody>
          <a:bodyPr wrap="square">
            <a:spAutoFit/>
          </a:bodyPr>
          <a:lstStyle/>
          <a:p>
            <a:pPr algn="ctr">
              <a:lnSpc>
                <a:spcPct val="100000"/>
              </a:lnSpc>
            </a:pPr>
            <a:r>
              <a:rPr lang="en-US" altLang="zh-CN" sz="1000" b="1" dirty="0" smtClean="0">
                <a:solidFill>
                  <a:srgbClr val="C00000"/>
                </a:solidFill>
                <a:latin typeface="微软雅黑" panose="020B0503020204020204" pitchFamily="34" charset="-122"/>
                <a:ea typeface="微软雅黑" panose="020B0503020204020204" pitchFamily="34" charset="-122"/>
              </a:rPr>
              <a:t>Http/JSON</a:t>
            </a:r>
            <a:endParaRPr lang="en-US" sz="1000" b="1" dirty="0">
              <a:solidFill>
                <a:srgbClr val="C00000"/>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979733" y="1786213"/>
            <a:ext cx="1242350" cy="246221"/>
          </a:xfrm>
          <a:prstGeom prst="rect">
            <a:avLst/>
          </a:prstGeom>
          <a:noFill/>
        </p:spPr>
        <p:txBody>
          <a:bodyPr wrap="square">
            <a:spAutoFit/>
          </a:bodyPr>
          <a:lstStyle/>
          <a:p>
            <a:pPr algn="ctr">
              <a:lnSpc>
                <a:spcPct val="100000"/>
              </a:lnSpc>
            </a:pPr>
            <a:r>
              <a:rPr lang="en-US" altLang="zh-CN" sz="1000" b="1" dirty="0" smtClean="0">
                <a:solidFill>
                  <a:srgbClr val="C00000"/>
                </a:solidFill>
                <a:latin typeface="微软雅黑" panose="020B0503020204020204" pitchFamily="34" charset="-122"/>
                <a:ea typeface="微软雅黑" panose="020B0503020204020204" pitchFamily="34" charset="-122"/>
              </a:rPr>
              <a:t>Http/JSON</a:t>
            </a:r>
            <a:endParaRPr lang="en-US" sz="1000" b="1" dirty="0">
              <a:solidFill>
                <a:srgbClr val="C00000"/>
              </a:solidFill>
              <a:latin typeface="微软雅黑" panose="020B0503020204020204" pitchFamily="34" charset="-122"/>
              <a:ea typeface="微软雅黑" panose="020B0503020204020204" pitchFamily="34" charset="-122"/>
            </a:endParaRPr>
          </a:p>
        </p:txBody>
      </p:sp>
      <p:sp>
        <p:nvSpPr>
          <p:cNvPr id="101" name="文本框 100"/>
          <p:cNvSpPr txBox="1"/>
          <p:nvPr/>
        </p:nvSpPr>
        <p:spPr>
          <a:xfrm>
            <a:off x="10164542" y="1778107"/>
            <a:ext cx="1242350" cy="246221"/>
          </a:xfrm>
          <a:prstGeom prst="rect">
            <a:avLst/>
          </a:prstGeom>
          <a:noFill/>
        </p:spPr>
        <p:txBody>
          <a:bodyPr wrap="square">
            <a:spAutoFit/>
          </a:bodyPr>
          <a:lstStyle/>
          <a:p>
            <a:pPr algn="ctr">
              <a:lnSpc>
                <a:spcPct val="100000"/>
              </a:lnSpc>
            </a:pPr>
            <a:r>
              <a:rPr lang="en-US" altLang="zh-CN" sz="1000" b="1" dirty="0" smtClean="0">
                <a:solidFill>
                  <a:srgbClr val="C00000"/>
                </a:solidFill>
                <a:latin typeface="微软雅黑" panose="020B0503020204020204" pitchFamily="34" charset="-122"/>
                <a:ea typeface="微软雅黑" panose="020B0503020204020204" pitchFamily="34" charset="-122"/>
              </a:rPr>
              <a:t>Http/JSON</a:t>
            </a:r>
            <a:endParaRPr lang="en-US" sz="1000" b="1" dirty="0">
              <a:solidFill>
                <a:srgbClr val="C00000"/>
              </a:solidFill>
              <a:latin typeface="微软雅黑" panose="020B0503020204020204" pitchFamily="34" charset="-122"/>
              <a:ea typeface="微软雅黑" panose="020B0503020204020204" pitchFamily="34" charset="-122"/>
            </a:endParaRPr>
          </a:p>
        </p:txBody>
      </p:sp>
      <p:sp>
        <p:nvSpPr>
          <p:cNvPr id="102" name="圆角矩形 101"/>
          <p:cNvSpPr/>
          <p:nvPr/>
        </p:nvSpPr>
        <p:spPr>
          <a:xfrm>
            <a:off x="2088508" y="2649311"/>
            <a:ext cx="2457115" cy="321960"/>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dirty="0" smtClean="0"/>
              <a:t>授权</a:t>
            </a:r>
            <a:endParaRPr lang="zh-CN" altLang="en-US" sz="1400" dirty="0"/>
          </a:p>
        </p:txBody>
      </p:sp>
      <p:sp>
        <p:nvSpPr>
          <p:cNvPr id="103" name="圆角矩形 102"/>
          <p:cNvSpPr/>
          <p:nvPr/>
        </p:nvSpPr>
        <p:spPr>
          <a:xfrm>
            <a:off x="4679054" y="2642911"/>
            <a:ext cx="2457115" cy="321960"/>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dirty="0" smtClean="0"/>
              <a:t>熔断</a:t>
            </a:r>
            <a:r>
              <a:rPr lang="en-US" altLang="zh-CN" sz="1400" dirty="0" smtClean="0"/>
              <a:t>/</a:t>
            </a:r>
            <a:r>
              <a:rPr lang="zh-CN" altLang="en-US" sz="1400" dirty="0" smtClean="0"/>
              <a:t>降级</a:t>
            </a:r>
            <a:endParaRPr lang="zh-CN" altLang="en-US" sz="1400" dirty="0"/>
          </a:p>
        </p:txBody>
      </p:sp>
      <p:sp>
        <p:nvSpPr>
          <p:cNvPr id="104" name="圆角矩形 103"/>
          <p:cNvSpPr/>
          <p:nvPr/>
        </p:nvSpPr>
        <p:spPr>
          <a:xfrm>
            <a:off x="7263887" y="2652157"/>
            <a:ext cx="4332766" cy="321960"/>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400" dirty="0" smtClean="0"/>
              <a:t>API</a:t>
            </a:r>
            <a:r>
              <a:rPr lang="zh-CN" altLang="en-US" sz="1400" dirty="0" smtClean="0"/>
              <a:t>聚合层</a:t>
            </a:r>
            <a:endParaRPr lang="zh-CN" alt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charset="-122"/>
                  <a:cs typeface="+mn-cs"/>
                </a:endParaRPr>
              </a:p>
            </p:txBody>
          </p:sp>
        </p:grpSp>
        <p:sp>
          <p:nvSpPr>
            <p:cNvPr id="4" name="TextBox 7"/>
            <p:cNvSpPr txBox="1"/>
            <p:nvPr/>
          </p:nvSpPr>
          <p:spPr>
            <a:xfrm>
              <a:off x="383254" y="498266"/>
              <a:ext cx="7415271" cy="523220"/>
            </a:xfrm>
            <a:prstGeom prst="rect">
              <a:avLst/>
            </a:prstGeom>
            <a:noFill/>
          </p:spPr>
          <p:txBody>
            <a:bodyPr wrap="square" rtlCol="0">
              <a:spAutoFit/>
            </a:bodyPr>
            <a:lstStyle/>
            <a:p>
              <a:pPr lvl="0"/>
              <a:r>
                <a:rPr lang="zh-CN" altLang="en-US" sz="2800" b="1" dirty="0" smtClean="0">
                  <a:solidFill>
                    <a:prstClr val="black"/>
                  </a:solidFill>
                  <a:latin typeface="微软雅黑" panose="020B0503020204020204" pitchFamily="34" charset="-122"/>
                  <a:ea typeface="微软雅黑" panose="020B0503020204020204" pitchFamily="34" charset="-122"/>
                </a:rPr>
                <a:t>数据架构图</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grpSp>
      <p:sp>
        <p:nvSpPr>
          <p:cNvPr id="91" name="矩形 90"/>
          <p:cNvSpPr/>
          <p:nvPr/>
        </p:nvSpPr>
        <p:spPr>
          <a:xfrm>
            <a:off x="5125018" y="3392531"/>
            <a:ext cx="1637480" cy="731812"/>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smtClean="0"/>
              <a:t>应用系统</a:t>
            </a:r>
            <a:endParaRPr lang="en-GB" dirty="0"/>
          </a:p>
        </p:txBody>
      </p:sp>
      <p:sp>
        <p:nvSpPr>
          <p:cNvPr id="126" name="矩形 125"/>
          <p:cNvSpPr/>
          <p:nvPr/>
        </p:nvSpPr>
        <p:spPr>
          <a:xfrm>
            <a:off x="7279328" y="1621997"/>
            <a:ext cx="3221553" cy="1116622"/>
          </a:xfrm>
          <a:prstGeom prst="rect">
            <a:avLst/>
          </a:prstGeom>
          <a:noFill/>
          <a:ln w="19050">
            <a:solidFill>
              <a:srgbClr val="C00000"/>
            </a:solidFill>
            <a:prstDash val="lgDashDot"/>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127" name="流程图: 磁盘 126"/>
          <p:cNvSpPr/>
          <p:nvPr/>
        </p:nvSpPr>
        <p:spPr>
          <a:xfrm>
            <a:off x="7412457" y="1770705"/>
            <a:ext cx="1072914" cy="735720"/>
          </a:xfrm>
          <a:prstGeom prst="flowChartMagneticDisk">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err="1">
                <a:solidFill>
                  <a:srgbClr val="C00000"/>
                </a:solidFill>
                <a:latin typeface="微软雅黑" panose="020B0503020204020204" pitchFamily="34" charset="-122"/>
                <a:ea typeface="微软雅黑" panose="020B0503020204020204" pitchFamily="34" charset="-122"/>
              </a:rPr>
              <a:t>c</a:t>
            </a:r>
            <a:r>
              <a:rPr lang="en-US" altLang="zh-CN" sz="1000" dirty="0" err="1" smtClean="0">
                <a:solidFill>
                  <a:srgbClr val="C00000"/>
                </a:solidFill>
                <a:latin typeface="微软雅黑" panose="020B0503020204020204" pitchFamily="34" charset="-122"/>
                <a:ea typeface="微软雅黑" panose="020B0503020204020204" pitchFamily="34" charset="-122"/>
              </a:rPr>
              <a:t>lickhouse</a:t>
            </a:r>
            <a:endParaRPr lang="en-US" altLang="zh-CN" sz="1000" dirty="0" smtClean="0">
              <a:solidFill>
                <a:srgbClr val="C00000"/>
              </a:solidFill>
              <a:latin typeface="微软雅黑" panose="020B0503020204020204" pitchFamily="34" charset="-122"/>
              <a:ea typeface="微软雅黑" panose="020B0503020204020204" pitchFamily="34" charset="-122"/>
            </a:endParaRPr>
          </a:p>
          <a:p>
            <a:pPr algn="ctr"/>
            <a:r>
              <a:rPr lang="zh-CN" altLang="en-US" sz="1000" dirty="0" smtClean="0">
                <a:solidFill>
                  <a:srgbClr val="C00000"/>
                </a:solidFill>
                <a:latin typeface="微软雅黑" panose="020B0503020204020204" pitchFamily="34" charset="-122"/>
                <a:ea typeface="微软雅黑" panose="020B0503020204020204" pitchFamily="34" charset="-122"/>
              </a:rPr>
              <a:t>主库</a:t>
            </a:r>
            <a:endParaRPr lang="zh-CN" altLang="en-US" sz="1000" dirty="0">
              <a:solidFill>
                <a:srgbClr val="C00000"/>
              </a:solidFill>
              <a:latin typeface="微软雅黑" panose="020B0503020204020204" pitchFamily="34" charset="-122"/>
              <a:ea typeface="微软雅黑" panose="020B0503020204020204" pitchFamily="34" charset="-122"/>
            </a:endParaRPr>
          </a:p>
        </p:txBody>
      </p:sp>
      <p:sp>
        <p:nvSpPr>
          <p:cNvPr id="128" name="流程图: 磁盘 127"/>
          <p:cNvSpPr/>
          <p:nvPr/>
        </p:nvSpPr>
        <p:spPr>
          <a:xfrm>
            <a:off x="9214524" y="1770705"/>
            <a:ext cx="1072914" cy="735720"/>
          </a:xfrm>
          <a:prstGeom prst="flowChartMagneticDisk">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err="1" smtClean="0">
                <a:solidFill>
                  <a:srgbClr val="C00000"/>
                </a:solidFill>
                <a:latin typeface="微软雅黑" panose="020B0503020204020204" pitchFamily="34" charset="-122"/>
                <a:ea typeface="微软雅黑" panose="020B0503020204020204" pitchFamily="34" charset="-122"/>
              </a:rPr>
              <a:t>clickhouse</a:t>
            </a:r>
            <a:endParaRPr lang="en-US" altLang="zh-CN" sz="1000" dirty="0" smtClean="0">
              <a:solidFill>
                <a:srgbClr val="C00000"/>
              </a:solidFill>
              <a:latin typeface="微软雅黑" panose="020B0503020204020204" pitchFamily="34" charset="-122"/>
              <a:ea typeface="微软雅黑" panose="020B0503020204020204" pitchFamily="34" charset="-122"/>
            </a:endParaRPr>
          </a:p>
          <a:p>
            <a:pPr algn="ctr"/>
            <a:r>
              <a:rPr lang="zh-CN" altLang="en-US" sz="1000" dirty="0" smtClean="0">
                <a:solidFill>
                  <a:srgbClr val="C00000"/>
                </a:solidFill>
                <a:latin typeface="微软雅黑" panose="020B0503020204020204" pitchFamily="34" charset="-122"/>
                <a:ea typeface="微软雅黑" panose="020B0503020204020204" pitchFamily="34" charset="-122"/>
              </a:rPr>
              <a:t>从库</a:t>
            </a:r>
            <a:endParaRPr lang="zh-CN" altLang="en-US" sz="1000" dirty="0">
              <a:solidFill>
                <a:srgbClr val="C00000"/>
              </a:solidFill>
              <a:latin typeface="微软雅黑" panose="020B0503020204020204" pitchFamily="34" charset="-122"/>
              <a:ea typeface="微软雅黑" panose="020B0503020204020204" pitchFamily="34" charset="-122"/>
            </a:endParaRPr>
          </a:p>
        </p:txBody>
      </p:sp>
      <p:cxnSp>
        <p:nvCxnSpPr>
          <p:cNvPr id="129" name="直接箭头连接符 128"/>
          <p:cNvCxnSpPr>
            <a:stCxn id="127" idx="4"/>
            <a:endCxn id="128" idx="2"/>
          </p:cNvCxnSpPr>
          <p:nvPr/>
        </p:nvCxnSpPr>
        <p:spPr>
          <a:xfrm>
            <a:off x="8485371" y="2138565"/>
            <a:ext cx="729153"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1" name="矩形 130"/>
          <p:cNvSpPr/>
          <p:nvPr/>
        </p:nvSpPr>
        <p:spPr>
          <a:xfrm>
            <a:off x="1082779" y="3239915"/>
            <a:ext cx="3221553" cy="1116622"/>
          </a:xfrm>
          <a:prstGeom prst="rect">
            <a:avLst/>
          </a:prstGeom>
          <a:noFill/>
          <a:ln w="19050">
            <a:solidFill>
              <a:srgbClr val="C00000"/>
            </a:solidFill>
            <a:prstDash val="lgDashDot"/>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132" name="流程图: 磁盘 131"/>
          <p:cNvSpPr/>
          <p:nvPr/>
        </p:nvSpPr>
        <p:spPr>
          <a:xfrm>
            <a:off x="1215908" y="3388623"/>
            <a:ext cx="1072914" cy="735720"/>
          </a:xfrm>
          <a:prstGeom prst="flowChartMagneticDisk">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smtClean="0">
                <a:solidFill>
                  <a:srgbClr val="C00000"/>
                </a:solidFill>
                <a:latin typeface="微软雅黑" panose="020B0503020204020204" pitchFamily="34" charset="-122"/>
                <a:ea typeface="微软雅黑" panose="020B0503020204020204" pitchFamily="34" charset="-122"/>
              </a:rPr>
              <a:t>MySQL</a:t>
            </a:r>
            <a:endParaRPr lang="en-US" altLang="zh-CN" sz="1000" dirty="0" smtClean="0">
              <a:solidFill>
                <a:srgbClr val="C00000"/>
              </a:solidFill>
              <a:latin typeface="微软雅黑" panose="020B0503020204020204" pitchFamily="34" charset="-122"/>
              <a:ea typeface="微软雅黑" panose="020B0503020204020204" pitchFamily="34" charset="-122"/>
            </a:endParaRPr>
          </a:p>
          <a:p>
            <a:pPr algn="ctr"/>
            <a:r>
              <a:rPr lang="zh-CN" altLang="en-US" sz="1000" dirty="0" smtClean="0">
                <a:solidFill>
                  <a:srgbClr val="C00000"/>
                </a:solidFill>
                <a:latin typeface="微软雅黑" panose="020B0503020204020204" pitchFamily="34" charset="-122"/>
                <a:ea typeface="微软雅黑" panose="020B0503020204020204" pitchFamily="34" charset="-122"/>
              </a:rPr>
              <a:t>主库</a:t>
            </a:r>
            <a:endParaRPr lang="zh-CN" altLang="en-US" sz="1000" dirty="0">
              <a:solidFill>
                <a:srgbClr val="C00000"/>
              </a:solidFill>
              <a:latin typeface="微软雅黑" panose="020B0503020204020204" pitchFamily="34" charset="-122"/>
              <a:ea typeface="微软雅黑" panose="020B0503020204020204" pitchFamily="34" charset="-122"/>
            </a:endParaRPr>
          </a:p>
        </p:txBody>
      </p:sp>
      <p:sp>
        <p:nvSpPr>
          <p:cNvPr id="133" name="流程图: 磁盘 132"/>
          <p:cNvSpPr/>
          <p:nvPr/>
        </p:nvSpPr>
        <p:spPr>
          <a:xfrm>
            <a:off x="3017975" y="3388623"/>
            <a:ext cx="1072914" cy="735720"/>
          </a:xfrm>
          <a:prstGeom prst="flowChartMagneticDisk">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smtClean="0">
                <a:solidFill>
                  <a:srgbClr val="C00000"/>
                </a:solidFill>
                <a:latin typeface="微软雅黑" panose="020B0503020204020204" pitchFamily="34" charset="-122"/>
                <a:ea typeface="微软雅黑" panose="020B0503020204020204" pitchFamily="34" charset="-122"/>
              </a:rPr>
              <a:t>MySQL</a:t>
            </a:r>
            <a:endParaRPr lang="en-US" altLang="zh-CN" sz="1000" dirty="0" smtClean="0">
              <a:solidFill>
                <a:srgbClr val="C00000"/>
              </a:solidFill>
              <a:latin typeface="微软雅黑" panose="020B0503020204020204" pitchFamily="34" charset="-122"/>
              <a:ea typeface="微软雅黑" panose="020B0503020204020204" pitchFamily="34" charset="-122"/>
            </a:endParaRPr>
          </a:p>
          <a:p>
            <a:pPr algn="ctr"/>
            <a:r>
              <a:rPr lang="zh-CN" altLang="en-US" sz="1000" dirty="0" smtClean="0">
                <a:solidFill>
                  <a:srgbClr val="C00000"/>
                </a:solidFill>
                <a:latin typeface="微软雅黑" panose="020B0503020204020204" pitchFamily="34" charset="-122"/>
                <a:ea typeface="微软雅黑" panose="020B0503020204020204" pitchFamily="34" charset="-122"/>
              </a:rPr>
              <a:t>从库</a:t>
            </a:r>
            <a:endParaRPr lang="zh-CN" altLang="en-US" sz="1000" dirty="0">
              <a:solidFill>
                <a:srgbClr val="C00000"/>
              </a:solidFill>
              <a:latin typeface="微软雅黑" panose="020B0503020204020204" pitchFamily="34" charset="-122"/>
              <a:ea typeface="微软雅黑" panose="020B0503020204020204" pitchFamily="34" charset="-122"/>
            </a:endParaRPr>
          </a:p>
        </p:txBody>
      </p:sp>
      <p:cxnSp>
        <p:nvCxnSpPr>
          <p:cNvPr id="134" name="直接箭头连接符 133"/>
          <p:cNvCxnSpPr>
            <a:stCxn id="132" idx="4"/>
            <a:endCxn id="133" idx="2"/>
          </p:cNvCxnSpPr>
          <p:nvPr/>
        </p:nvCxnSpPr>
        <p:spPr>
          <a:xfrm>
            <a:off x="2288822" y="3756483"/>
            <a:ext cx="729153"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5" name="流程图: 文档 134"/>
          <p:cNvSpPr/>
          <p:nvPr/>
        </p:nvSpPr>
        <p:spPr>
          <a:xfrm>
            <a:off x="7639887" y="4681124"/>
            <a:ext cx="973882" cy="746776"/>
          </a:xfrm>
          <a:prstGeom prst="flowChartDocument">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136" name="流程图: 文档 135"/>
          <p:cNvSpPr/>
          <p:nvPr/>
        </p:nvSpPr>
        <p:spPr>
          <a:xfrm>
            <a:off x="7569202" y="4774672"/>
            <a:ext cx="973882" cy="746776"/>
          </a:xfrm>
          <a:prstGeom prst="flowChartDocument">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137" name="流程图: 文档 136"/>
          <p:cNvSpPr/>
          <p:nvPr/>
        </p:nvSpPr>
        <p:spPr>
          <a:xfrm>
            <a:off x="7461184" y="4876011"/>
            <a:ext cx="973882" cy="746776"/>
          </a:xfrm>
          <a:prstGeom prst="flowChartDocument">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smtClean="0">
                <a:solidFill>
                  <a:srgbClr val="C00000"/>
                </a:solidFill>
                <a:latin typeface="微软雅黑" panose="020B0503020204020204" pitchFamily="34" charset="-122"/>
                <a:ea typeface="微软雅黑" panose="020B0503020204020204" pitchFamily="34" charset="-122"/>
              </a:rPr>
              <a:t>ES</a:t>
            </a:r>
            <a:endParaRPr lang="en-US" altLang="zh-CN" sz="1000" dirty="0" smtClean="0">
              <a:solidFill>
                <a:srgbClr val="C00000"/>
              </a:solidFill>
              <a:latin typeface="微软雅黑" panose="020B0503020204020204" pitchFamily="34" charset="-122"/>
              <a:ea typeface="微软雅黑" panose="020B0503020204020204" pitchFamily="34" charset="-122"/>
            </a:endParaRPr>
          </a:p>
          <a:p>
            <a:pPr algn="ctr"/>
            <a:r>
              <a:rPr lang="zh-CN" altLang="en-US" sz="1000" dirty="0" smtClean="0">
                <a:solidFill>
                  <a:srgbClr val="C00000"/>
                </a:solidFill>
                <a:latin typeface="微软雅黑" panose="020B0503020204020204" pitchFamily="34" charset="-122"/>
                <a:ea typeface="微软雅黑" panose="020B0503020204020204" pitchFamily="34" charset="-122"/>
              </a:rPr>
              <a:t>主</a:t>
            </a:r>
            <a:endParaRPr lang="zh-CN" altLang="en-US" sz="1000" dirty="0">
              <a:solidFill>
                <a:srgbClr val="C00000"/>
              </a:solidFill>
              <a:latin typeface="微软雅黑" panose="020B0503020204020204" pitchFamily="34" charset="-122"/>
              <a:ea typeface="微软雅黑" panose="020B0503020204020204" pitchFamily="34" charset="-122"/>
            </a:endParaRPr>
          </a:p>
        </p:txBody>
      </p:sp>
      <p:sp>
        <p:nvSpPr>
          <p:cNvPr id="139" name="流程图: 文档 138"/>
          <p:cNvSpPr/>
          <p:nvPr/>
        </p:nvSpPr>
        <p:spPr>
          <a:xfrm>
            <a:off x="9287398" y="4681124"/>
            <a:ext cx="973882" cy="746776"/>
          </a:xfrm>
          <a:prstGeom prst="flowChartDocument">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140" name="流程图: 文档 139"/>
          <p:cNvSpPr/>
          <p:nvPr/>
        </p:nvSpPr>
        <p:spPr>
          <a:xfrm>
            <a:off x="9216713" y="4774672"/>
            <a:ext cx="973882" cy="746776"/>
          </a:xfrm>
          <a:prstGeom prst="flowChartDocument">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141" name="流程图: 文档 140"/>
          <p:cNvSpPr/>
          <p:nvPr/>
        </p:nvSpPr>
        <p:spPr>
          <a:xfrm>
            <a:off x="9108695" y="4876011"/>
            <a:ext cx="973882" cy="746776"/>
          </a:xfrm>
          <a:prstGeom prst="flowChartDocument">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smtClean="0">
                <a:solidFill>
                  <a:srgbClr val="C00000"/>
                </a:solidFill>
                <a:latin typeface="微软雅黑" panose="020B0503020204020204" pitchFamily="34" charset="-122"/>
                <a:ea typeface="微软雅黑" panose="020B0503020204020204" pitchFamily="34" charset="-122"/>
              </a:rPr>
              <a:t>ES</a:t>
            </a:r>
            <a:endParaRPr lang="en-US" altLang="zh-CN" sz="1000" dirty="0" smtClean="0">
              <a:solidFill>
                <a:srgbClr val="C00000"/>
              </a:solidFill>
              <a:latin typeface="微软雅黑" panose="020B0503020204020204" pitchFamily="34" charset="-122"/>
              <a:ea typeface="微软雅黑" panose="020B0503020204020204" pitchFamily="34" charset="-122"/>
            </a:endParaRPr>
          </a:p>
          <a:p>
            <a:pPr algn="ctr"/>
            <a:r>
              <a:rPr lang="zh-CN" altLang="en-US" sz="1000" dirty="0" smtClean="0">
                <a:solidFill>
                  <a:srgbClr val="C00000"/>
                </a:solidFill>
                <a:latin typeface="微软雅黑" panose="020B0503020204020204" pitchFamily="34" charset="-122"/>
                <a:ea typeface="微软雅黑" panose="020B0503020204020204" pitchFamily="34" charset="-122"/>
              </a:rPr>
              <a:t>从</a:t>
            </a:r>
            <a:endParaRPr lang="zh-CN" altLang="en-US" sz="1000" dirty="0">
              <a:solidFill>
                <a:srgbClr val="C00000"/>
              </a:solidFill>
              <a:latin typeface="微软雅黑" panose="020B0503020204020204" pitchFamily="34" charset="-122"/>
              <a:ea typeface="微软雅黑" panose="020B0503020204020204" pitchFamily="34" charset="-122"/>
            </a:endParaRPr>
          </a:p>
        </p:txBody>
      </p:sp>
      <p:sp>
        <p:nvSpPr>
          <p:cNvPr id="142" name="矩形 141"/>
          <p:cNvSpPr/>
          <p:nvPr/>
        </p:nvSpPr>
        <p:spPr>
          <a:xfrm>
            <a:off x="7273575" y="4589749"/>
            <a:ext cx="3221553" cy="1116622"/>
          </a:xfrm>
          <a:prstGeom prst="rect">
            <a:avLst/>
          </a:prstGeom>
          <a:noFill/>
          <a:ln w="19050">
            <a:solidFill>
              <a:srgbClr val="C00000"/>
            </a:solidFill>
            <a:prstDash val="lgDashDot"/>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cxnSp>
        <p:nvCxnSpPr>
          <p:cNvPr id="5130" name="曲线连接符 5129"/>
          <p:cNvCxnSpPr>
            <a:stCxn id="131" idx="2"/>
            <a:endCxn id="142" idx="1"/>
          </p:cNvCxnSpPr>
          <p:nvPr/>
        </p:nvCxnSpPr>
        <p:spPr>
          <a:xfrm rot="16200000" flipH="1">
            <a:off x="4587804" y="2462288"/>
            <a:ext cx="791523" cy="4580019"/>
          </a:xfrm>
          <a:prstGeom prst="curvedConnector2">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132" name="曲线连接符 5131"/>
          <p:cNvCxnSpPr>
            <a:stCxn id="131" idx="0"/>
            <a:endCxn id="34" idx="1"/>
          </p:cNvCxnSpPr>
          <p:nvPr/>
        </p:nvCxnSpPr>
        <p:spPr>
          <a:xfrm rot="5400000" flipH="1" flipV="1">
            <a:off x="2601892" y="1937805"/>
            <a:ext cx="1393775" cy="1210447"/>
          </a:xfrm>
          <a:prstGeom prst="curvedConnector2">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134" name="曲线连接符 5133"/>
          <p:cNvCxnSpPr>
            <a:stCxn id="142" idx="0"/>
            <a:endCxn id="126" idx="2"/>
          </p:cNvCxnSpPr>
          <p:nvPr/>
        </p:nvCxnSpPr>
        <p:spPr>
          <a:xfrm rot="5400000" flipH="1" flipV="1">
            <a:off x="7961663" y="3661308"/>
            <a:ext cx="1851130" cy="5753"/>
          </a:xfrm>
          <a:prstGeom prst="curved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135" name="文本框 5134"/>
          <p:cNvSpPr txBox="1"/>
          <p:nvPr/>
        </p:nvSpPr>
        <p:spPr>
          <a:xfrm>
            <a:off x="4769975" y="2404452"/>
            <a:ext cx="1585692" cy="400110"/>
          </a:xfrm>
          <a:prstGeom prst="rect">
            <a:avLst/>
          </a:prstGeom>
          <a:noFill/>
        </p:spPr>
        <p:txBody>
          <a:bodyPr wrap="none" rtlCol="0">
            <a:spAutoFit/>
          </a:bodyPr>
          <a:lstStyle/>
          <a:p>
            <a:pPr algn="ctr"/>
            <a:r>
              <a:rPr lang="zh-CN" altLang="en-US" sz="1000" dirty="0" smtClean="0">
                <a:solidFill>
                  <a:srgbClr val="C00000"/>
                </a:solidFill>
                <a:latin typeface="微软雅黑" panose="020B0503020204020204" pitchFamily="34" charset="-122"/>
                <a:ea typeface="微软雅黑" panose="020B0503020204020204" pitchFamily="34" charset="-122"/>
              </a:rPr>
              <a:t>日志数据 </a:t>
            </a:r>
            <a:r>
              <a:rPr lang="en-US" altLang="zh-CN" sz="1000" dirty="0" smtClean="0">
                <a:solidFill>
                  <a:srgbClr val="C00000"/>
                </a:solidFill>
                <a:latin typeface="微软雅黑" panose="020B0503020204020204" pitchFamily="34" charset="-122"/>
                <a:ea typeface="微软雅黑" panose="020B0503020204020204" pitchFamily="34" charset="-122"/>
              </a:rPr>
              <a:t>– Kafka/flume</a:t>
            </a:r>
            <a:endParaRPr lang="en-US" altLang="zh-CN" sz="1000" dirty="0" smtClean="0">
              <a:solidFill>
                <a:srgbClr val="C00000"/>
              </a:solidFill>
              <a:latin typeface="微软雅黑" panose="020B0503020204020204" pitchFamily="34" charset="-122"/>
              <a:ea typeface="微软雅黑" panose="020B0503020204020204" pitchFamily="34" charset="-122"/>
            </a:endParaRPr>
          </a:p>
          <a:p>
            <a:pPr algn="ctr"/>
            <a:r>
              <a:rPr lang="zh-CN" altLang="en-US" sz="1000" dirty="0" smtClean="0">
                <a:solidFill>
                  <a:srgbClr val="C00000"/>
                </a:solidFill>
                <a:latin typeface="微软雅黑" panose="020B0503020204020204" pitchFamily="34" charset="-122"/>
                <a:ea typeface="微软雅黑" panose="020B0503020204020204" pitchFamily="34" charset="-122"/>
              </a:rPr>
              <a:t>准实时</a:t>
            </a:r>
            <a:endParaRPr lang="zh-CN" altLang="en-US" sz="1000" dirty="0">
              <a:solidFill>
                <a:srgbClr val="C00000"/>
              </a:solidFill>
              <a:latin typeface="微软雅黑" panose="020B0503020204020204" pitchFamily="34" charset="-122"/>
              <a:ea typeface="微软雅黑" panose="020B0503020204020204" pitchFamily="34" charset="-122"/>
            </a:endParaRPr>
          </a:p>
        </p:txBody>
      </p:sp>
      <p:sp>
        <p:nvSpPr>
          <p:cNvPr id="150" name="文本框 149"/>
          <p:cNvSpPr txBox="1"/>
          <p:nvPr/>
        </p:nvSpPr>
        <p:spPr>
          <a:xfrm>
            <a:off x="2069675" y="2035272"/>
            <a:ext cx="1183337" cy="400110"/>
          </a:xfrm>
          <a:prstGeom prst="rect">
            <a:avLst/>
          </a:prstGeom>
          <a:noFill/>
        </p:spPr>
        <p:txBody>
          <a:bodyPr wrap="none" rtlCol="0">
            <a:spAutoFit/>
          </a:bodyPr>
          <a:lstStyle>
            <a:defPPr>
              <a:defRPr lang="en-US"/>
            </a:defPPr>
            <a:lvl1pPr algn="ctr">
              <a:defRPr sz="1000">
                <a:solidFill>
                  <a:srgbClr val="C00000"/>
                </a:solidFill>
                <a:latin typeface="微软雅黑" panose="020B0503020204020204" pitchFamily="34" charset="-122"/>
                <a:ea typeface="微软雅黑" panose="020B0503020204020204" pitchFamily="34" charset="-122"/>
              </a:defRPr>
            </a:lvl1pPr>
          </a:lstStyle>
          <a:p>
            <a:r>
              <a:rPr lang="zh-CN" altLang="en-US" dirty="0"/>
              <a:t>业务数据 </a:t>
            </a:r>
            <a:r>
              <a:rPr lang="en-US" altLang="zh-CN" dirty="0"/>
              <a:t>- </a:t>
            </a:r>
            <a:r>
              <a:rPr lang="en-US" altLang="zh-CN" dirty="0" err="1"/>
              <a:t>Datax</a:t>
            </a:r>
            <a:endParaRPr lang="en-US" altLang="zh-CN" dirty="0"/>
          </a:p>
          <a:p>
            <a:r>
              <a:rPr lang="en-US" altLang="zh-CN" dirty="0"/>
              <a:t>T+1</a:t>
            </a:r>
            <a:endParaRPr lang="zh-CN" altLang="en-US" dirty="0"/>
          </a:p>
        </p:txBody>
      </p:sp>
      <p:sp>
        <p:nvSpPr>
          <p:cNvPr id="151" name="文本框 150"/>
          <p:cNvSpPr txBox="1"/>
          <p:nvPr/>
        </p:nvSpPr>
        <p:spPr>
          <a:xfrm>
            <a:off x="8022100" y="3255187"/>
            <a:ext cx="1183336" cy="400110"/>
          </a:xfrm>
          <a:prstGeom prst="rect">
            <a:avLst/>
          </a:prstGeom>
          <a:noFill/>
        </p:spPr>
        <p:txBody>
          <a:bodyPr wrap="none" rtlCol="0">
            <a:spAutoFit/>
          </a:bodyPr>
          <a:lstStyle>
            <a:defPPr>
              <a:defRPr lang="en-US"/>
            </a:defPPr>
            <a:lvl1pPr algn="ctr">
              <a:defRPr sz="1000">
                <a:solidFill>
                  <a:srgbClr val="C00000"/>
                </a:solidFill>
                <a:latin typeface="微软雅黑" panose="020B0503020204020204" pitchFamily="34" charset="-122"/>
                <a:ea typeface="微软雅黑" panose="020B0503020204020204" pitchFamily="34" charset="-122"/>
              </a:defRPr>
            </a:lvl1pPr>
          </a:lstStyle>
          <a:p>
            <a:r>
              <a:rPr lang="zh-CN" altLang="en-US" dirty="0"/>
              <a:t>业务数据 </a:t>
            </a:r>
            <a:r>
              <a:rPr lang="en-US" altLang="zh-CN" dirty="0"/>
              <a:t>- </a:t>
            </a:r>
            <a:r>
              <a:rPr lang="en-US" altLang="zh-CN" dirty="0" err="1"/>
              <a:t>Datax</a:t>
            </a:r>
            <a:endParaRPr lang="en-US" altLang="zh-CN" dirty="0"/>
          </a:p>
          <a:p>
            <a:r>
              <a:rPr lang="en-US" altLang="zh-CN" dirty="0"/>
              <a:t>T+1</a:t>
            </a:r>
            <a:endParaRPr lang="zh-CN" altLang="en-US" dirty="0"/>
          </a:p>
        </p:txBody>
      </p:sp>
      <p:sp>
        <p:nvSpPr>
          <p:cNvPr id="152" name="文本框 151"/>
          <p:cNvSpPr txBox="1"/>
          <p:nvPr/>
        </p:nvSpPr>
        <p:spPr>
          <a:xfrm>
            <a:off x="4862766" y="4827050"/>
            <a:ext cx="524503" cy="400110"/>
          </a:xfrm>
          <a:prstGeom prst="rect">
            <a:avLst/>
          </a:prstGeom>
          <a:noFill/>
        </p:spPr>
        <p:txBody>
          <a:bodyPr wrap="none" rtlCol="0">
            <a:spAutoFit/>
          </a:bodyPr>
          <a:lstStyle>
            <a:defPPr>
              <a:defRPr lang="en-US"/>
            </a:defPPr>
            <a:lvl1pPr algn="ctr">
              <a:defRPr sz="1000">
                <a:solidFill>
                  <a:srgbClr val="C00000"/>
                </a:solidFill>
                <a:latin typeface="微软雅黑" panose="020B0503020204020204" pitchFamily="34" charset="-122"/>
                <a:ea typeface="微软雅黑" panose="020B0503020204020204" pitchFamily="34" charset="-122"/>
              </a:defRPr>
            </a:lvl1pPr>
          </a:lstStyle>
          <a:p>
            <a:r>
              <a:rPr lang="en-US" altLang="zh-CN" dirty="0"/>
              <a:t>Canal</a:t>
            </a:r>
            <a:endParaRPr lang="en-US" altLang="zh-CN" dirty="0"/>
          </a:p>
          <a:p>
            <a:r>
              <a:rPr lang="zh-CN" altLang="en-US" dirty="0"/>
              <a:t>实时</a:t>
            </a:r>
            <a:endParaRPr lang="zh-CN" altLang="en-US" dirty="0"/>
          </a:p>
        </p:txBody>
      </p:sp>
      <p:cxnSp>
        <p:nvCxnSpPr>
          <p:cNvPr id="153" name="直接箭头连接符 152"/>
          <p:cNvCxnSpPr>
            <a:stCxn id="137" idx="3"/>
            <a:endCxn id="141" idx="1"/>
          </p:cNvCxnSpPr>
          <p:nvPr/>
        </p:nvCxnSpPr>
        <p:spPr>
          <a:xfrm>
            <a:off x="8435066" y="5249399"/>
            <a:ext cx="673629"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8" name="左右箭头 157"/>
          <p:cNvSpPr/>
          <p:nvPr/>
        </p:nvSpPr>
        <p:spPr>
          <a:xfrm>
            <a:off x="4402500" y="3728172"/>
            <a:ext cx="641839" cy="81298"/>
          </a:xfrm>
          <a:prstGeom prst="leftRightArrow">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159" name="左右箭头 158"/>
          <p:cNvSpPr/>
          <p:nvPr/>
        </p:nvSpPr>
        <p:spPr>
          <a:xfrm rot="19217376">
            <a:off x="6778878" y="3037311"/>
            <a:ext cx="641839" cy="81298"/>
          </a:xfrm>
          <a:prstGeom prst="leftRightArrow">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160" name="左右箭头 159"/>
          <p:cNvSpPr/>
          <p:nvPr/>
        </p:nvSpPr>
        <p:spPr>
          <a:xfrm rot="2113163">
            <a:off x="6773760" y="4217097"/>
            <a:ext cx="641839" cy="81298"/>
          </a:xfrm>
          <a:prstGeom prst="leftRightArrow">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34" name="矩形 33"/>
          <p:cNvSpPr/>
          <p:nvPr/>
        </p:nvSpPr>
        <p:spPr>
          <a:xfrm>
            <a:off x="3904003" y="1480234"/>
            <a:ext cx="1637480" cy="731812"/>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smtClean="0"/>
              <a:t>数仓</a:t>
            </a:r>
            <a:endParaRPr lang="en-GB" dirty="0"/>
          </a:p>
        </p:txBody>
      </p:sp>
      <p:cxnSp>
        <p:nvCxnSpPr>
          <p:cNvPr id="9" name="曲线连接符 8"/>
          <p:cNvCxnSpPr>
            <a:stCxn id="34" idx="3"/>
            <a:endCxn id="126" idx="1"/>
          </p:cNvCxnSpPr>
          <p:nvPr/>
        </p:nvCxnSpPr>
        <p:spPr>
          <a:xfrm>
            <a:off x="5541483" y="1846140"/>
            <a:ext cx="1737845" cy="334168"/>
          </a:xfrm>
          <a:prstGeom prst="curved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曲线连接符 10"/>
          <p:cNvCxnSpPr>
            <a:stCxn id="131" idx="0"/>
            <a:endCxn id="126" idx="1"/>
          </p:cNvCxnSpPr>
          <p:nvPr/>
        </p:nvCxnSpPr>
        <p:spPr>
          <a:xfrm rot="5400000" flipH="1" flipV="1">
            <a:off x="4456639" y="417226"/>
            <a:ext cx="1059607" cy="4585772"/>
          </a:xfrm>
          <a:prstGeom prst="curvedConnector2">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5985676" y="1665164"/>
            <a:ext cx="697628" cy="246221"/>
          </a:xfrm>
          <a:prstGeom prst="rect">
            <a:avLst/>
          </a:prstGeom>
          <a:noFill/>
        </p:spPr>
        <p:txBody>
          <a:bodyPr wrap="none" rtlCol="0">
            <a:spAutoFit/>
          </a:bodyPr>
          <a:lstStyle/>
          <a:p>
            <a:pPr algn="ctr"/>
            <a:r>
              <a:rPr lang="zh-CN" altLang="en-US" sz="1000" dirty="0" smtClean="0">
                <a:solidFill>
                  <a:srgbClr val="C00000"/>
                </a:solidFill>
                <a:latin typeface="微软雅黑" panose="020B0503020204020204" pitchFamily="34" charset="-122"/>
                <a:ea typeface="微软雅黑" panose="020B0503020204020204" pitchFamily="34" charset="-122"/>
              </a:rPr>
              <a:t>标签数据</a:t>
            </a:r>
            <a:endParaRPr lang="zh-CN" altLang="en-US" sz="100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矩形 84"/>
          <p:cNvSpPr/>
          <p:nvPr/>
        </p:nvSpPr>
        <p:spPr>
          <a:xfrm>
            <a:off x="2449485" y="5561701"/>
            <a:ext cx="2014284" cy="719696"/>
          </a:xfrm>
          <a:prstGeom prst="rect">
            <a:avLst/>
          </a:prstGeom>
          <a:noFill/>
          <a:ln w="19050">
            <a:solidFill>
              <a:srgbClr val="C00000"/>
            </a:solidFill>
            <a:prstDash val="lgDashDot"/>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charset="-122"/>
                  <a:cs typeface="+mn-cs"/>
                </a:endParaRPr>
              </a:p>
            </p:txBody>
          </p:sp>
        </p:grpSp>
        <p:sp>
          <p:nvSpPr>
            <p:cNvPr id="4" name="TextBox 7"/>
            <p:cNvSpPr txBox="1"/>
            <p:nvPr/>
          </p:nvSpPr>
          <p:spPr>
            <a:xfrm>
              <a:off x="383254" y="498266"/>
              <a:ext cx="7415271" cy="523220"/>
            </a:xfrm>
            <a:prstGeom prst="rect">
              <a:avLst/>
            </a:prstGeom>
            <a:noFill/>
          </p:spPr>
          <p:txBody>
            <a:bodyPr wrap="square" rtlCol="0">
              <a:spAutoFit/>
            </a:bodyPr>
            <a:lstStyle/>
            <a:p>
              <a:pPr lvl="0"/>
              <a:r>
                <a:rPr lang="zh-CN" altLang="en-US" sz="2800" b="1" dirty="0" smtClean="0">
                  <a:solidFill>
                    <a:prstClr val="black"/>
                  </a:solidFill>
                  <a:latin typeface="微软雅黑" panose="020B0503020204020204" pitchFamily="34" charset="-122"/>
                  <a:ea typeface="微软雅黑" panose="020B0503020204020204" pitchFamily="34" charset="-122"/>
                </a:rPr>
                <a:t>技术架构图</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grpSp>
      <p:sp>
        <p:nvSpPr>
          <p:cNvPr id="8" name="圆角矩形 7"/>
          <p:cNvSpPr/>
          <p:nvPr/>
        </p:nvSpPr>
        <p:spPr>
          <a:xfrm>
            <a:off x="2188486" y="6450638"/>
            <a:ext cx="9282023" cy="319177"/>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dirty="0" smtClean="0"/>
              <a:t>CAAS/centos7.9</a:t>
            </a:r>
            <a:endParaRPr lang="zh-CN" altLang="en-US" dirty="0"/>
          </a:p>
        </p:txBody>
      </p:sp>
      <p:sp>
        <p:nvSpPr>
          <p:cNvPr id="9" name="Freeform 17"/>
          <p:cNvSpPr>
            <a:spLocks noChangeAspect="1"/>
          </p:cNvSpPr>
          <p:nvPr/>
        </p:nvSpPr>
        <p:spPr bwMode="auto">
          <a:xfrm>
            <a:off x="665360" y="6348859"/>
            <a:ext cx="481013" cy="412751"/>
          </a:xfrm>
          <a:custGeom>
            <a:avLst/>
            <a:gdLst>
              <a:gd name="T0" fmla="*/ 151 w 303"/>
              <a:gd name="T1" fmla="*/ 0 h 260"/>
              <a:gd name="T2" fmla="*/ 0 w 303"/>
              <a:gd name="T3" fmla="*/ 152 h 260"/>
              <a:gd name="T4" fmla="*/ 44 w 303"/>
              <a:gd name="T5" fmla="*/ 152 h 260"/>
              <a:gd name="T6" fmla="*/ 44 w 303"/>
              <a:gd name="T7" fmla="*/ 260 h 260"/>
              <a:gd name="T8" fmla="*/ 259 w 303"/>
              <a:gd name="T9" fmla="*/ 260 h 260"/>
              <a:gd name="T10" fmla="*/ 259 w 303"/>
              <a:gd name="T11" fmla="*/ 152 h 260"/>
              <a:gd name="T12" fmla="*/ 303 w 303"/>
              <a:gd name="T13" fmla="*/ 152 h 260"/>
              <a:gd name="T14" fmla="*/ 151 w 303"/>
              <a:gd name="T15" fmla="*/ 0 h 2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3" h="260">
                <a:moveTo>
                  <a:pt x="151" y="0"/>
                </a:moveTo>
                <a:lnTo>
                  <a:pt x="0" y="152"/>
                </a:lnTo>
                <a:lnTo>
                  <a:pt x="44" y="152"/>
                </a:lnTo>
                <a:lnTo>
                  <a:pt x="44" y="260"/>
                </a:lnTo>
                <a:lnTo>
                  <a:pt x="259" y="260"/>
                </a:lnTo>
                <a:lnTo>
                  <a:pt x="259" y="152"/>
                </a:lnTo>
                <a:lnTo>
                  <a:pt x="303" y="152"/>
                </a:lnTo>
                <a:lnTo>
                  <a:pt x="151" y="0"/>
                </a:lnTo>
                <a:close/>
              </a:path>
            </a:pathLst>
          </a:cu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0" name="TextBox 82"/>
          <p:cNvSpPr txBox="1"/>
          <p:nvPr/>
        </p:nvSpPr>
        <p:spPr>
          <a:xfrm>
            <a:off x="1003176" y="6423056"/>
            <a:ext cx="1120489" cy="338554"/>
          </a:xfrm>
          <a:prstGeom prst="rect">
            <a:avLst/>
          </a:prstGeom>
          <a:noFill/>
        </p:spPr>
        <p:txBody>
          <a:bodyPr wrap="square" rtlCol="0">
            <a:spAutoFit/>
          </a:bodyPr>
          <a:lstStyle/>
          <a:p>
            <a:pPr algn="ctr" defTabSz="914400">
              <a:defRPr/>
            </a:pPr>
            <a:r>
              <a:rPr lang="en-US" sz="1600" b="1" dirty="0">
                <a:solidFill>
                  <a:srgbClr val="C00000"/>
                </a:solidFill>
                <a:latin typeface="微软雅黑" panose="020B0503020204020204" pitchFamily="34" charset="-122"/>
                <a:ea typeface="微软雅黑" panose="020B0503020204020204" pitchFamily="34" charset="-122"/>
                <a:cs typeface="+mn-ea"/>
                <a:sym typeface="Georgia" panose="02040502050405020303" pitchFamily="18" charset="0"/>
              </a:rPr>
              <a:t>IAAS层</a:t>
            </a:r>
            <a:endParaRPr lang="en-US" sz="1600" b="1" dirty="0">
              <a:solidFill>
                <a:srgbClr val="C00000"/>
              </a:solidFill>
              <a:latin typeface="微软雅黑" panose="020B0503020204020204" pitchFamily="34" charset="-122"/>
              <a:ea typeface="微软雅黑" panose="020B0503020204020204" pitchFamily="34" charset="-122"/>
              <a:cs typeface="+mn-ea"/>
              <a:sym typeface="Georgia" panose="02040502050405020303" pitchFamily="18" charset="0"/>
            </a:endParaRPr>
          </a:p>
        </p:txBody>
      </p:sp>
      <p:sp>
        <p:nvSpPr>
          <p:cNvPr id="11" name="Freeform 94"/>
          <p:cNvSpPr>
            <a:spLocks noChangeAspect="1" noEditPoints="1"/>
          </p:cNvSpPr>
          <p:nvPr/>
        </p:nvSpPr>
        <p:spPr bwMode="auto">
          <a:xfrm>
            <a:off x="664463" y="5680518"/>
            <a:ext cx="481013" cy="481013"/>
          </a:xfrm>
          <a:custGeom>
            <a:avLst/>
            <a:gdLst>
              <a:gd name="T0" fmla="*/ 188 w 200"/>
              <a:gd name="T1" fmla="*/ 0 h 200"/>
              <a:gd name="T2" fmla="*/ 13 w 200"/>
              <a:gd name="T3" fmla="*/ 0 h 200"/>
              <a:gd name="T4" fmla="*/ 0 w 200"/>
              <a:gd name="T5" fmla="*/ 13 h 200"/>
              <a:gd name="T6" fmla="*/ 0 w 200"/>
              <a:gd name="T7" fmla="*/ 188 h 200"/>
              <a:gd name="T8" fmla="*/ 13 w 200"/>
              <a:gd name="T9" fmla="*/ 200 h 200"/>
              <a:gd name="T10" fmla="*/ 188 w 200"/>
              <a:gd name="T11" fmla="*/ 200 h 200"/>
              <a:gd name="T12" fmla="*/ 200 w 200"/>
              <a:gd name="T13" fmla="*/ 188 h 200"/>
              <a:gd name="T14" fmla="*/ 200 w 200"/>
              <a:gd name="T15" fmla="*/ 13 h 200"/>
              <a:gd name="T16" fmla="*/ 188 w 200"/>
              <a:gd name="T17" fmla="*/ 0 h 200"/>
              <a:gd name="T18" fmla="*/ 153 w 200"/>
              <a:gd name="T19" fmla="*/ 164 h 200"/>
              <a:gd name="T20" fmla="*/ 127 w 200"/>
              <a:gd name="T21" fmla="*/ 140 h 200"/>
              <a:gd name="T22" fmla="*/ 151 w 200"/>
              <a:gd name="T23" fmla="*/ 114 h 200"/>
              <a:gd name="T24" fmla="*/ 177 w 200"/>
              <a:gd name="T25" fmla="*/ 138 h 200"/>
              <a:gd name="T26" fmla="*/ 153 w 200"/>
              <a:gd name="T27" fmla="*/ 164 h 200"/>
              <a:gd name="T28" fmla="*/ 69 w 200"/>
              <a:gd name="T29" fmla="*/ 135 h 200"/>
              <a:gd name="T30" fmla="*/ 30 w 200"/>
              <a:gd name="T31" fmla="*/ 99 h 200"/>
              <a:gd name="T32" fmla="*/ 67 w 200"/>
              <a:gd name="T33" fmla="*/ 60 h 200"/>
              <a:gd name="T34" fmla="*/ 105 w 200"/>
              <a:gd name="T35" fmla="*/ 96 h 200"/>
              <a:gd name="T36" fmla="*/ 69 w 200"/>
              <a:gd name="T37" fmla="*/ 135 h 200"/>
              <a:gd name="T38" fmla="*/ 137 w 200"/>
              <a:gd name="T39" fmla="*/ 29 h 200"/>
              <a:gd name="T40" fmla="*/ 156 w 200"/>
              <a:gd name="T41" fmla="*/ 47 h 200"/>
              <a:gd name="T42" fmla="*/ 138 w 200"/>
              <a:gd name="T43" fmla="*/ 66 h 200"/>
              <a:gd name="T44" fmla="*/ 119 w 200"/>
              <a:gd name="T45" fmla="*/ 48 h 200"/>
              <a:gd name="T46" fmla="*/ 137 w 200"/>
              <a:gd name="T47" fmla="*/ 2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0" h="200">
                <a:moveTo>
                  <a:pt x="188" y="0"/>
                </a:moveTo>
                <a:cubicBezTo>
                  <a:pt x="13" y="0"/>
                  <a:pt x="13" y="0"/>
                  <a:pt x="13" y="0"/>
                </a:cubicBezTo>
                <a:cubicBezTo>
                  <a:pt x="6" y="0"/>
                  <a:pt x="0" y="6"/>
                  <a:pt x="0" y="13"/>
                </a:cubicBezTo>
                <a:cubicBezTo>
                  <a:pt x="0" y="188"/>
                  <a:pt x="0" y="188"/>
                  <a:pt x="0" y="188"/>
                </a:cubicBezTo>
                <a:cubicBezTo>
                  <a:pt x="0" y="195"/>
                  <a:pt x="6" y="200"/>
                  <a:pt x="13" y="200"/>
                </a:cubicBezTo>
                <a:cubicBezTo>
                  <a:pt x="188" y="200"/>
                  <a:pt x="188" y="200"/>
                  <a:pt x="188" y="200"/>
                </a:cubicBezTo>
                <a:cubicBezTo>
                  <a:pt x="195" y="200"/>
                  <a:pt x="200" y="195"/>
                  <a:pt x="200" y="188"/>
                </a:cubicBezTo>
                <a:cubicBezTo>
                  <a:pt x="200" y="13"/>
                  <a:pt x="200" y="13"/>
                  <a:pt x="200" y="13"/>
                </a:cubicBezTo>
                <a:cubicBezTo>
                  <a:pt x="200" y="6"/>
                  <a:pt x="195" y="0"/>
                  <a:pt x="188" y="0"/>
                </a:cubicBezTo>
                <a:close/>
                <a:moveTo>
                  <a:pt x="153" y="164"/>
                </a:moveTo>
                <a:cubicBezTo>
                  <a:pt x="139" y="165"/>
                  <a:pt x="127" y="154"/>
                  <a:pt x="127" y="140"/>
                </a:cubicBezTo>
                <a:cubicBezTo>
                  <a:pt x="126" y="126"/>
                  <a:pt x="137" y="115"/>
                  <a:pt x="151" y="114"/>
                </a:cubicBezTo>
                <a:cubicBezTo>
                  <a:pt x="165" y="114"/>
                  <a:pt x="176" y="124"/>
                  <a:pt x="177" y="138"/>
                </a:cubicBezTo>
                <a:cubicBezTo>
                  <a:pt x="177" y="152"/>
                  <a:pt x="166" y="164"/>
                  <a:pt x="153" y="164"/>
                </a:cubicBezTo>
                <a:close/>
                <a:moveTo>
                  <a:pt x="69" y="135"/>
                </a:moveTo>
                <a:cubicBezTo>
                  <a:pt x="49" y="136"/>
                  <a:pt x="31" y="119"/>
                  <a:pt x="30" y="99"/>
                </a:cubicBezTo>
                <a:cubicBezTo>
                  <a:pt x="30" y="78"/>
                  <a:pt x="46" y="61"/>
                  <a:pt x="67" y="60"/>
                </a:cubicBezTo>
                <a:cubicBezTo>
                  <a:pt x="87" y="59"/>
                  <a:pt x="105" y="75"/>
                  <a:pt x="105" y="96"/>
                </a:cubicBezTo>
                <a:cubicBezTo>
                  <a:pt x="106" y="117"/>
                  <a:pt x="90" y="134"/>
                  <a:pt x="69" y="135"/>
                </a:cubicBezTo>
                <a:close/>
                <a:moveTo>
                  <a:pt x="137" y="29"/>
                </a:moveTo>
                <a:cubicBezTo>
                  <a:pt x="147" y="29"/>
                  <a:pt x="156" y="37"/>
                  <a:pt x="156" y="47"/>
                </a:cubicBezTo>
                <a:cubicBezTo>
                  <a:pt x="157" y="57"/>
                  <a:pt x="149" y="66"/>
                  <a:pt x="138" y="66"/>
                </a:cubicBezTo>
                <a:cubicBezTo>
                  <a:pt x="128" y="67"/>
                  <a:pt x="119" y="59"/>
                  <a:pt x="119" y="48"/>
                </a:cubicBezTo>
                <a:cubicBezTo>
                  <a:pt x="119" y="38"/>
                  <a:pt x="127" y="29"/>
                  <a:pt x="137" y="29"/>
                </a:cubicBezTo>
                <a:close/>
              </a:path>
            </a:pathLst>
          </a:cu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12" name="TextBox 81"/>
          <p:cNvSpPr txBox="1"/>
          <p:nvPr/>
        </p:nvSpPr>
        <p:spPr>
          <a:xfrm>
            <a:off x="1073887" y="5751747"/>
            <a:ext cx="963533" cy="338554"/>
          </a:xfrm>
          <a:prstGeom prst="rect">
            <a:avLst/>
          </a:prstGeom>
          <a:noFill/>
        </p:spPr>
        <p:txBody>
          <a:bodyPr wrap="square" rtlCol="0">
            <a:spAutoFit/>
          </a:bodyPr>
          <a:lstStyle/>
          <a:p>
            <a:pPr algn="ctr" defTabSz="914400">
              <a:defRPr/>
            </a:pPr>
            <a:r>
              <a:rPr lang="zh-CN" altLang="en-US" sz="1600" b="1" dirty="0" smtClean="0">
                <a:solidFill>
                  <a:srgbClr val="C00000"/>
                </a:solidFill>
                <a:latin typeface="微软雅黑" panose="020B0503020204020204" pitchFamily="34" charset="-122"/>
                <a:ea typeface="微软雅黑" panose="020B0503020204020204" pitchFamily="34" charset="-122"/>
                <a:cs typeface="+mn-ea"/>
                <a:sym typeface="Georgia" panose="02040502050405020303" pitchFamily="18" charset="0"/>
              </a:rPr>
              <a:t>数</a:t>
            </a:r>
            <a:r>
              <a:rPr lang="zh-CN" altLang="en-US" sz="1600" b="1" dirty="0">
                <a:solidFill>
                  <a:srgbClr val="C00000"/>
                </a:solidFill>
                <a:latin typeface="微软雅黑" panose="020B0503020204020204" pitchFamily="34" charset="-122"/>
                <a:ea typeface="微软雅黑" panose="020B0503020204020204" pitchFamily="34" charset="-122"/>
                <a:cs typeface="+mn-ea"/>
                <a:sym typeface="Georgia" panose="02040502050405020303" pitchFamily="18" charset="0"/>
              </a:rPr>
              <a:t>据层</a:t>
            </a:r>
            <a:endParaRPr lang="en-US" sz="1600" b="1" dirty="0">
              <a:solidFill>
                <a:srgbClr val="C00000"/>
              </a:solidFill>
              <a:latin typeface="微软雅黑" panose="020B0503020204020204" pitchFamily="34" charset="-122"/>
              <a:ea typeface="微软雅黑" panose="020B0503020204020204" pitchFamily="34" charset="-122"/>
              <a:cs typeface="+mn-ea"/>
              <a:sym typeface="Georgia" panose="02040502050405020303" pitchFamily="18" charset="0"/>
            </a:endParaRPr>
          </a:p>
        </p:txBody>
      </p:sp>
      <p:sp>
        <p:nvSpPr>
          <p:cNvPr id="17" name="文本框 16"/>
          <p:cNvSpPr txBox="1"/>
          <p:nvPr/>
        </p:nvSpPr>
        <p:spPr>
          <a:xfrm>
            <a:off x="1054106" y="4040815"/>
            <a:ext cx="984211" cy="338554"/>
          </a:xfrm>
          <a:prstGeom prst="rect">
            <a:avLst/>
          </a:prstGeom>
          <a:noFill/>
        </p:spPr>
        <p:txBody>
          <a:bodyPr wrap="square">
            <a:spAutoFit/>
          </a:bodyPr>
          <a:lstStyle/>
          <a:p>
            <a:pPr algn="ctr">
              <a:lnSpc>
                <a:spcPct val="100000"/>
              </a:lnSpc>
            </a:pPr>
            <a:r>
              <a:rPr lang="zh-CN" altLang="en-US" sz="1600" b="1" dirty="0">
                <a:solidFill>
                  <a:srgbClr val="C00000"/>
                </a:solidFill>
                <a:latin typeface="微软雅黑" panose="020B0503020204020204" pitchFamily="34" charset="-122"/>
                <a:ea typeface="微软雅黑" panose="020B0503020204020204" pitchFamily="34" charset="-122"/>
              </a:rPr>
              <a:t>服务层</a:t>
            </a:r>
            <a:endParaRPr lang="en-US" sz="1600" b="1" dirty="0">
              <a:solidFill>
                <a:srgbClr val="C00000"/>
              </a:solidFill>
              <a:latin typeface="微软雅黑" panose="020B0503020204020204" pitchFamily="34" charset="-122"/>
              <a:ea typeface="微软雅黑" panose="020B0503020204020204" pitchFamily="34" charset="-122"/>
            </a:endParaRPr>
          </a:p>
        </p:txBody>
      </p:sp>
      <p:sp>
        <p:nvSpPr>
          <p:cNvPr id="18" name="Freeform 27"/>
          <p:cNvSpPr>
            <a:spLocks noChangeAspect="1" noEditPoints="1"/>
          </p:cNvSpPr>
          <p:nvPr/>
        </p:nvSpPr>
        <p:spPr bwMode="auto">
          <a:xfrm>
            <a:off x="665360" y="4003208"/>
            <a:ext cx="480116" cy="387590"/>
          </a:xfrm>
          <a:custGeom>
            <a:avLst/>
            <a:gdLst>
              <a:gd name="T0" fmla="*/ 303 w 303"/>
              <a:gd name="T1" fmla="*/ 56 h 246"/>
              <a:gd name="T2" fmla="*/ 76 w 303"/>
              <a:gd name="T3" fmla="*/ 56 h 246"/>
              <a:gd name="T4" fmla="*/ 76 w 303"/>
              <a:gd name="T5" fmla="*/ 0 h 246"/>
              <a:gd name="T6" fmla="*/ 303 w 303"/>
              <a:gd name="T7" fmla="*/ 0 h 246"/>
              <a:gd name="T8" fmla="*/ 303 w 303"/>
              <a:gd name="T9" fmla="*/ 56 h 246"/>
              <a:gd name="T10" fmla="*/ 38 w 303"/>
              <a:gd name="T11" fmla="*/ 56 h 246"/>
              <a:gd name="T12" fmla="*/ 0 w 303"/>
              <a:gd name="T13" fmla="*/ 56 h 246"/>
              <a:gd name="T14" fmla="*/ 0 w 303"/>
              <a:gd name="T15" fmla="*/ 0 h 246"/>
              <a:gd name="T16" fmla="*/ 38 w 303"/>
              <a:gd name="T17" fmla="*/ 0 h 246"/>
              <a:gd name="T18" fmla="*/ 38 w 303"/>
              <a:gd name="T19" fmla="*/ 56 h 246"/>
              <a:gd name="T20" fmla="*/ 303 w 303"/>
              <a:gd name="T21" fmla="*/ 152 h 246"/>
              <a:gd name="T22" fmla="*/ 76 w 303"/>
              <a:gd name="T23" fmla="*/ 152 h 246"/>
              <a:gd name="T24" fmla="*/ 76 w 303"/>
              <a:gd name="T25" fmla="*/ 94 h 246"/>
              <a:gd name="T26" fmla="*/ 303 w 303"/>
              <a:gd name="T27" fmla="*/ 94 h 246"/>
              <a:gd name="T28" fmla="*/ 303 w 303"/>
              <a:gd name="T29" fmla="*/ 152 h 246"/>
              <a:gd name="T30" fmla="*/ 38 w 303"/>
              <a:gd name="T31" fmla="*/ 152 h 246"/>
              <a:gd name="T32" fmla="*/ 0 w 303"/>
              <a:gd name="T33" fmla="*/ 152 h 246"/>
              <a:gd name="T34" fmla="*/ 0 w 303"/>
              <a:gd name="T35" fmla="*/ 94 h 246"/>
              <a:gd name="T36" fmla="*/ 38 w 303"/>
              <a:gd name="T37" fmla="*/ 94 h 246"/>
              <a:gd name="T38" fmla="*/ 38 w 303"/>
              <a:gd name="T39" fmla="*/ 152 h 246"/>
              <a:gd name="T40" fmla="*/ 303 w 303"/>
              <a:gd name="T41" fmla="*/ 246 h 246"/>
              <a:gd name="T42" fmla="*/ 76 w 303"/>
              <a:gd name="T43" fmla="*/ 246 h 246"/>
              <a:gd name="T44" fmla="*/ 76 w 303"/>
              <a:gd name="T45" fmla="*/ 189 h 246"/>
              <a:gd name="T46" fmla="*/ 303 w 303"/>
              <a:gd name="T47" fmla="*/ 189 h 246"/>
              <a:gd name="T48" fmla="*/ 303 w 303"/>
              <a:gd name="T49" fmla="*/ 246 h 246"/>
              <a:gd name="T50" fmla="*/ 38 w 303"/>
              <a:gd name="T51" fmla="*/ 246 h 246"/>
              <a:gd name="T52" fmla="*/ 0 w 303"/>
              <a:gd name="T53" fmla="*/ 246 h 246"/>
              <a:gd name="T54" fmla="*/ 0 w 303"/>
              <a:gd name="T55" fmla="*/ 189 h 246"/>
              <a:gd name="T56" fmla="*/ 38 w 303"/>
              <a:gd name="T57" fmla="*/ 189 h 246"/>
              <a:gd name="T58" fmla="*/ 38 w 303"/>
              <a:gd name="T59" fmla="*/ 24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3" h="246">
                <a:moveTo>
                  <a:pt x="303" y="56"/>
                </a:moveTo>
                <a:lnTo>
                  <a:pt x="76" y="56"/>
                </a:lnTo>
                <a:lnTo>
                  <a:pt x="76" y="0"/>
                </a:lnTo>
                <a:lnTo>
                  <a:pt x="303" y="0"/>
                </a:lnTo>
                <a:lnTo>
                  <a:pt x="303" y="56"/>
                </a:lnTo>
                <a:close/>
                <a:moveTo>
                  <a:pt x="38" y="56"/>
                </a:moveTo>
                <a:lnTo>
                  <a:pt x="0" y="56"/>
                </a:lnTo>
                <a:lnTo>
                  <a:pt x="0" y="0"/>
                </a:lnTo>
                <a:lnTo>
                  <a:pt x="38" y="0"/>
                </a:lnTo>
                <a:lnTo>
                  <a:pt x="38" y="56"/>
                </a:lnTo>
                <a:close/>
                <a:moveTo>
                  <a:pt x="303" y="152"/>
                </a:moveTo>
                <a:lnTo>
                  <a:pt x="76" y="152"/>
                </a:lnTo>
                <a:lnTo>
                  <a:pt x="76" y="94"/>
                </a:lnTo>
                <a:lnTo>
                  <a:pt x="303" y="94"/>
                </a:lnTo>
                <a:lnTo>
                  <a:pt x="303" y="152"/>
                </a:lnTo>
                <a:close/>
                <a:moveTo>
                  <a:pt x="38" y="152"/>
                </a:moveTo>
                <a:lnTo>
                  <a:pt x="0" y="152"/>
                </a:lnTo>
                <a:lnTo>
                  <a:pt x="0" y="94"/>
                </a:lnTo>
                <a:lnTo>
                  <a:pt x="38" y="94"/>
                </a:lnTo>
                <a:lnTo>
                  <a:pt x="38" y="152"/>
                </a:lnTo>
                <a:close/>
                <a:moveTo>
                  <a:pt x="303" y="246"/>
                </a:moveTo>
                <a:lnTo>
                  <a:pt x="76" y="246"/>
                </a:lnTo>
                <a:lnTo>
                  <a:pt x="76" y="189"/>
                </a:lnTo>
                <a:lnTo>
                  <a:pt x="303" y="189"/>
                </a:lnTo>
                <a:lnTo>
                  <a:pt x="303" y="246"/>
                </a:lnTo>
                <a:close/>
                <a:moveTo>
                  <a:pt x="38" y="246"/>
                </a:moveTo>
                <a:lnTo>
                  <a:pt x="0" y="246"/>
                </a:lnTo>
                <a:lnTo>
                  <a:pt x="0" y="189"/>
                </a:lnTo>
                <a:lnTo>
                  <a:pt x="38" y="189"/>
                </a:lnTo>
                <a:lnTo>
                  <a:pt x="38" y="246"/>
                </a:lnTo>
                <a:close/>
              </a:path>
            </a:pathLst>
          </a:cu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cxnSp>
        <p:nvCxnSpPr>
          <p:cNvPr id="24" name="直接连接符 23"/>
          <p:cNvCxnSpPr/>
          <p:nvPr/>
        </p:nvCxnSpPr>
        <p:spPr>
          <a:xfrm>
            <a:off x="2045186" y="6357064"/>
            <a:ext cx="9709995" cy="0"/>
          </a:xfrm>
          <a:prstGeom prst="line">
            <a:avLst/>
          </a:prstGeom>
          <a:ln w="19050">
            <a:solidFill>
              <a:srgbClr val="C00000"/>
            </a:solidFill>
            <a:prstDash val="dashDot"/>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045185" y="5429169"/>
            <a:ext cx="9709995" cy="0"/>
          </a:xfrm>
          <a:prstGeom prst="line">
            <a:avLst/>
          </a:prstGeom>
          <a:ln w="19050">
            <a:solidFill>
              <a:srgbClr val="C00000"/>
            </a:solidFill>
            <a:prstDash val="dashDot"/>
          </a:ln>
        </p:spPr>
        <p:style>
          <a:lnRef idx="1">
            <a:schemeClr val="accent1"/>
          </a:lnRef>
          <a:fillRef idx="0">
            <a:schemeClr val="accent1"/>
          </a:fillRef>
          <a:effectRef idx="0">
            <a:schemeClr val="accent1"/>
          </a:effectRef>
          <a:fontRef idx="minor">
            <a:schemeClr val="tx1"/>
          </a:fontRef>
        </p:style>
      </p:cxnSp>
      <p:sp>
        <p:nvSpPr>
          <p:cNvPr id="26" name="圆角矩形 25"/>
          <p:cNvSpPr/>
          <p:nvPr/>
        </p:nvSpPr>
        <p:spPr>
          <a:xfrm>
            <a:off x="9087833" y="3307380"/>
            <a:ext cx="327803" cy="1708369"/>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dirty="0" smtClean="0"/>
              <a:t>集成服务</a:t>
            </a:r>
            <a:endParaRPr lang="zh-CN" altLang="en-US" dirty="0"/>
          </a:p>
        </p:txBody>
      </p:sp>
      <p:sp>
        <p:nvSpPr>
          <p:cNvPr id="28" name="圆角矩形 27"/>
          <p:cNvSpPr/>
          <p:nvPr/>
        </p:nvSpPr>
        <p:spPr>
          <a:xfrm>
            <a:off x="3159743" y="3512973"/>
            <a:ext cx="841678" cy="221364"/>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100" dirty="0"/>
              <a:t>负载均衡</a:t>
            </a:r>
            <a:endParaRPr lang="zh-CN" altLang="en-US" sz="1100" dirty="0"/>
          </a:p>
        </p:txBody>
      </p:sp>
      <p:sp>
        <p:nvSpPr>
          <p:cNvPr id="29" name="圆角矩形 28"/>
          <p:cNvSpPr/>
          <p:nvPr/>
        </p:nvSpPr>
        <p:spPr>
          <a:xfrm>
            <a:off x="2156298" y="3516705"/>
            <a:ext cx="841678" cy="221364"/>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100" dirty="0"/>
              <a:t>链路追踪</a:t>
            </a:r>
            <a:endParaRPr lang="zh-CN" altLang="en-US" sz="1100" dirty="0"/>
          </a:p>
        </p:txBody>
      </p:sp>
      <p:sp>
        <p:nvSpPr>
          <p:cNvPr id="30" name="圆角矩形 29"/>
          <p:cNvSpPr/>
          <p:nvPr/>
        </p:nvSpPr>
        <p:spPr>
          <a:xfrm>
            <a:off x="3159743" y="4111223"/>
            <a:ext cx="841678" cy="221364"/>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100" dirty="0"/>
              <a:t>日志采集</a:t>
            </a:r>
            <a:endParaRPr lang="zh-CN" altLang="en-US" sz="1100" dirty="0"/>
          </a:p>
        </p:txBody>
      </p:sp>
      <p:sp>
        <p:nvSpPr>
          <p:cNvPr id="31" name="圆角矩形 30"/>
          <p:cNvSpPr/>
          <p:nvPr/>
        </p:nvSpPr>
        <p:spPr>
          <a:xfrm>
            <a:off x="2156298" y="4111224"/>
            <a:ext cx="841678" cy="221364"/>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100" dirty="0"/>
              <a:t>监控告警</a:t>
            </a:r>
            <a:endParaRPr lang="zh-CN" altLang="en-US" sz="1100" dirty="0"/>
          </a:p>
        </p:txBody>
      </p:sp>
      <p:cxnSp>
        <p:nvCxnSpPr>
          <p:cNvPr id="34" name="直接连接符 33"/>
          <p:cNvCxnSpPr/>
          <p:nvPr/>
        </p:nvCxnSpPr>
        <p:spPr>
          <a:xfrm flipV="1">
            <a:off x="4114614" y="3316822"/>
            <a:ext cx="0" cy="1918791"/>
          </a:xfrm>
          <a:prstGeom prst="line">
            <a:avLst/>
          </a:prstGeom>
          <a:ln w="19050">
            <a:solidFill>
              <a:srgbClr val="C00000"/>
            </a:solidFill>
            <a:prstDash val="dashDot"/>
          </a:ln>
        </p:spPr>
        <p:style>
          <a:lnRef idx="1">
            <a:schemeClr val="accent1"/>
          </a:lnRef>
          <a:fillRef idx="0">
            <a:schemeClr val="accent1"/>
          </a:fillRef>
          <a:effectRef idx="0">
            <a:schemeClr val="accent1"/>
          </a:effectRef>
          <a:fontRef idx="minor">
            <a:schemeClr val="tx1"/>
          </a:fontRef>
        </p:style>
      </p:cxnSp>
      <p:sp>
        <p:nvSpPr>
          <p:cNvPr id="35" name="圆角矩形 34"/>
          <p:cNvSpPr/>
          <p:nvPr/>
        </p:nvSpPr>
        <p:spPr>
          <a:xfrm>
            <a:off x="9709479" y="3529532"/>
            <a:ext cx="841678" cy="221364"/>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r>
              <a:rPr lang="en-US" altLang="zh-CN" sz="1100" dirty="0" smtClean="0"/>
              <a:t>MQ</a:t>
            </a:r>
            <a:endParaRPr lang="zh-CN" altLang="en-US" sz="1100" dirty="0"/>
          </a:p>
        </p:txBody>
      </p:sp>
      <p:sp>
        <p:nvSpPr>
          <p:cNvPr id="36" name="圆角矩形 35"/>
          <p:cNvSpPr/>
          <p:nvPr/>
        </p:nvSpPr>
        <p:spPr>
          <a:xfrm>
            <a:off x="10712924" y="4110761"/>
            <a:ext cx="841678" cy="221364"/>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r>
              <a:rPr lang="en-US" altLang="zh-CN" sz="1100" dirty="0" smtClean="0"/>
              <a:t>Canal</a:t>
            </a:r>
            <a:endParaRPr lang="zh-CN" altLang="en-US" sz="1100" dirty="0"/>
          </a:p>
        </p:txBody>
      </p:sp>
      <p:sp>
        <p:nvSpPr>
          <p:cNvPr id="37" name="圆角矩形 36"/>
          <p:cNvSpPr/>
          <p:nvPr/>
        </p:nvSpPr>
        <p:spPr>
          <a:xfrm>
            <a:off x="9709479" y="4111223"/>
            <a:ext cx="841678" cy="221364"/>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r>
              <a:rPr lang="en-US" altLang="zh-CN" sz="1100" dirty="0" smtClean="0"/>
              <a:t>Kafka</a:t>
            </a:r>
            <a:endParaRPr lang="zh-CN" altLang="en-US" sz="1100" dirty="0"/>
          </a:p>
        </p:txBody>
      </p:sp>
      <p:sp>
        <p:nvSpPr>
          <p:cNvPr id="38" name="圆角矩形 37"/>
          <p:cNvSpPr/>
          <p:nvPr/>
        </p:nvSpPr>
        <p:spPr>
          <a:xfrm>
            <a:off x="10712924" y="4717893"/>
            <a:ext cx="841678" cy="221364"/>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r>
              <a:rPr lang="zh-CN" altLang="en-US" sz="1100" dirty="0" smtClean="0"/>
              <a:t>用户中心</a:t>
            </a:r>
            <a:endParaRPr lang="zh-CN" altLang="en-US" sz="1100" dirty="0"/>
          </a:p>
        </p:txBody>
      </p:sp>
      <p:sp>
        <p:nvSpPr>
          <p:cNvPr id="39" name="圆角矩形 38"/>
          <p:cNvSpPr/>
          <p:nvPr/>
        </p:nvSpPr>
        <p:spPr>
          <a:xfrm>
            <a:off x="9709479" y="4717894"/>
            <a:ext cx="841678" cy="221364"/>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r>
              <a:rPr lang="en-US" altLang="zh-CN" sz="1100" dirty="0" smtClean="0"/>
              <a:t>MDM</a:t>
            </a:r>
            <a:endParaRPr lang="zh-CN" altLang="en-US" sz="1100" dirty="0"/>
          </a:p>
        </p:txBody>
      </p:sp>
      <p:sp>
        <p:nvSpPr>
          <p:cNvPr id="40" name="圆角矩形 39"/>
          <p:cNvSpPr/>
          <p:nvPr/>
        </p:nvSpPr>
        <p:spPr>
          <a:xfrm>
            <a:off x="10712924" y="3529531"/>
            <a:ext cx="841678" cy="221364"/>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r>
              <a:rPr lang="en-US" altLang="zh-CN" sz="1100" dirty="0" err="1" smtClean="0"/>
              <a:t>Xxl</a:t>
            </a:r>
            <a:r>
              <a:rPr lang="en-US" altLang="zh-CN" sz="1100" dirty="0" smtClean="0"/>
              <a:t>-job</a:t>
            </a:r>
            <a:endParaRPr lang="zh-CN" altLang="en-US" sz="1100" dirty="0"/>
          </a:p>
        </p:txBody>
      </p:sp>
      <p:cxnSp>
        <p:nvCxnSpPr>
          <p:cNvPr id="41" name="直接连接符 40"/>
          <p:cNvCxnSpPr/>
          <p:nvPr/>
        </p:nvCxnSpPr>
        <p:spPr>
          <a:xfrm>
            <a:off x="2028103" y="2720172"/>
            <a:ext cx="9709995" cy="0"/>
          </a:xfrm>
          <a:prstGeom prst="line">
            <a:avLst/>
          </a:prstGeom>
          <a:ln w="19050">
            <a:solidFill>
              <a:srgbClr val="C00000"/>
            </a:solidFill>
            <a:prstDash val="dashDot"/>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2525271" y="5092423"/>
            <a:ext cx="902811" cy="307777"/>
          </a:xfrm>
          <a:prstGeom prst="rect">
            <a:avLst/>
          </a:prstGeom>
          <a:noFill/>
        </p:spPr>
        <p:txBody>
          <a:bodyPr wrap="none" rtlCol="0">
            <a:spAutoFit/>
          </a:bodyPr>
          <a:lstStyle/>
          <a:p>
            <a:r>
              <a:rPr lang="zh-CN" altLang="en-US" sz="1400" b="1" dirty="0" smtClean="0">
                <a:solidFill>
                  <a:srgbClr val="C00000"/>
                </a:solidFill>
                <a:latin typeface="微软雅黑" panose="020B0503020204020204" pitchFamily="34" charset="-122"/>
                <a:ea typeface="微软雅黑" panose="020B0503020204020204" pitchFamily="34" charset="-122"/>
              </a:rPr>
              <a:t>服务治理</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5728921" y="5100499"/>
            <a:ext cx="2307683" cy="307777"/>
          </a:xfrm>
          <a:prstGeom prst="rect">
            <a:avLst/>
          </a:prstGeom>
          <a:noFill/>
        </p:spPr>
        <p:txBody>
          <a:bodyPr wrap="none" rtlCol="0">
            <a:spAutoFit/>
          </a:bodyPr>
          <a:lstStyle/>
          <a:p>
            <a:r>
              <a:rPr lang="en-US" altLang="zh-CN" sz="1400" b="1" dirty="0">
                <a:solidFill>
                  <a:srgbClr val="C00000"/>
                </a:solidFill>
                <a:latin typeface="微软雅黑" panose="020B0503020204020204" pitchFamily="34" charset="-122"/>
                <a:ea typeface="微软雅黑" panose="020B0503020204020204" pitchFamily="34" charset="-122"/>
              </a:rPr>
              <a:t>Spring Cloud </a:t>
            </a:r>
            <a:r>
              <a:rPr lang="zh-CN" altLang="en-US" sz="1400" b="1" dirty="0">
                <a:solidFill>
                  <a:srgbClr val="C00000"/>
                </a:solidFill>
                <a:latin typeface="微软雅黑" panose="020B0503020204020204" pitchFamily="34" charset="-122"/>
                <a:ea typeface="微软雅黑" panose="020B0503020204020204" pitchFamily="34" charset="-122"/>
              </a:rPr>
              <a:t>微服务体系</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46" name="文本框 24"/>
          <p:cNvSpPr txBox="1"/>
          <p:nvPr/>
        </p:nvSpPr>
        <p:spPr>
          <a:xfrm>
            <a:off x="10271079" y="5081725"/>
            <a:ext cx="902811" cy="307777"/>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r>
              <a:rPr lang="zh-CN" altLang="en-US" sz="1400" b="1" dirty="0" smtClean="0">
                <a:solidFill>
                  <a:srgbClr val="C00000"/>
                </a:solidFill>
                <a:latin typeface="微软雅黑" panose="020B0503020204020204" pitchFamily="34" charset="-122"/>
                <a:ea typeface="微软雅黑" panose="020B0503020204020204" pitchFamily="34" charset="-122"/>
              </a:rPr>
              <a:t>集成平台</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49" name="圆角矩形 48"/>
          <p:cNvSpPr/>
          <p:nvPr/>
        </p:nvSpPr>
        <p:spPr>
          <a:xfrm>
            <a:off x="2095461" y="2910223"/>
            <a:ext cx="4588419" cy="250982"/>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dirty="0" smtClean="0"/>
              <a:t>管理后台网</a:t>
            </a:r>
            <a:r>
              <a:rPr lang="zh-CN" altLang="en-US" sz="1400" dirty="0"/>
              <a:t>关</a:t>
            </a:r>
            <a:endParaRPr lang="zh-CN" altLang="en-US" sz="1400" dirty="0"/>
          </a:p>
        </p:txBody>
      </p:sp>
      <p:sp>
        <p:nvSpPr>
          <p:cNvPr id="50" name="圆角矩形 49"/>
          <p:cNvSpPr/>
          <p:nvPr/>
        </p:nvSpPr>
        <p:spPr>
          <a:xfrm>
            <a:off x="6818551" y="2910223"/>
            <a:ext cx="4785055" cy="250982"/>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400" dirty="0"/>
              <a:t>API</a:t>
            </a:r>
            <a:r>
              <a:rPr lang="zh-CN" altLang="en-US" sz="1400" dirty="0"/>
              <a:t>网关</a:t>
            </a:r>
            <a:endParaRPr lang="zh-CN" altLang="en-US" sz="1400" dirty="0"/>
          </a:p>
        </p:txBody>
      </p:sp>
      <p:sp>
        <p:nvSpPr>
          <p:cNvPr id="51" name="圆角矩形 50"/>
          <p:cNvSpPr/>
          <p:nvPr/>
        </p:nvSpPr>
        <p:spPr>
          <a:xfrm>
            <a:off x="3159844" y="4688225"/>
            <a:ext cx="841678" cy="221364"/>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100" dirty="0"/>
              <a:t>服务注册</a:t>
            </a:r>
            <a:endParaRPr lang="zh-CN" altLang="en-US" sz="1100" dirty="0"/>
          </a:p>
        </p:txBody>
      </p:sp>
      <p:sp>
        <p:nvSpPr>
          <p:cNvPr id="52" name="圆角矩形 51"/>
          <p:cNvSpPr/>
          <p:nvPr/>
        </p:nvSpPr>
        <p:spPr>
          <a:xfrm>
            <a:off x="2156399" y="4688226"/>
            <a:ext cx="841678" cy="221364"/>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100" dirty="0"/>
              <a:t>配置管理</a:t>
            </a:r>
            <a:endParaRPr lang="zh-CN" altLang="en-US" sz="1100" dirty="0"/>
          </a:p>
        </p:txBody>
      </p:sp>
      <p:sp>
        <p:nvSpPr>
          <p:cNvPr id="53" name="Freeform 42"/>
          <p:cNvSpPr>
            <a:spLocks noChangeAspect="1" noEditPoints="1"/>
          </p:cNvSpPr>
          <p:nvPr/>
        </p:nvSpPr>
        <p:spPr bwMode="auto">
          <a:xfrm>
            <a:off x="658538" y="1250310"/>
            <a:ext cx="493377" cy="416537"/>
          </a:xfrm>
          <a:custGeom>
            <a:avLst/>
            <a:gdLst>
              <a:gd name="T0" fmla="*/ 201 w 210"/>
              <a:gd name="T1" fmla="*/ 150 h 178"/>
              <a:gd name="T2" fmla="*/ 105 w 210"/>
              <a:gd name="T3" fmla="*/ 112 h 178"/>
              <a:gd name="T4" fmla="*/ 9 w 210"/>
              <a:gd name="T5" fmla="*/ 150 h 178"/>
              <a:gd name="T6" fmla="*/ 23 w 210"/>
              <a:gd name="T7" fmla="*/ 178 h 178"/>
              <a:gd name="T8" fmla="*/ 187 w 210"/>
              <a:gd name="T9" fmla="*/ 178 h 178"/>
              <a:gd name="T10" fmla="*/ 201 w 210"/>
              <a:gd name="T11" fmla="*/ 150 h 178"/>
              <a:gd name="T12" fmla="*/ 105 w 210"/>
              <a:gd name="T13" fmla="*/ 81 h 178"/>
              <a:gd name="T14" fmla="*/ 146 w 210"/>
              <a:gd name="T15" fmla="*/ 40 h 178"/>
              <a:gd name="T16" fmla="*/ 105 w 210"/>
              <a:gd name="T17" fmla="*/ 0 h 178"/>
              <a:gd name="T18" fmla="*/ 64 w 210"/>
              <a:gd name="T19" fmla="*/ 40 h 178"/>
              <a:gd name="T20" fmla="*/ 105 w 210"/>
              <a:gd name="T21" fmla="*/ 8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0" h="178">
                <a:moveTo>
                  <a:pt x="201" y="150"/>
                </a:moveTo>
                <a:cubicBezTo>
                  <a:pt x="184" y="127"/>
                  <a:pt x="148" y="112"/>
                  <a:pt x="105" y="112"/>
                </a:cubicBezTo>
                <a:cubicBezTo>
                  <a:pt x="62" y="112"/>
                  <a:pt x="26" y="127"/>
                  <a:pt x="9" y="150"/>
                </a:cubicBezTo>
                <a:cubicBezTo>
                  <a:pt x="0" y="161"/>
                  <a:pt x="8" y="178"/>
                  <a:pt x="23" y="178"/>
                </a:cubicBezTo>
                <a:cubicBezTo>
                  <a:pt x="187" y="178"/>
                  <a:pt x="187" y="178"/>
                  <a:pt x="187" y="178"/>
                </a:cubicBezTo>
                <a:cubicBezTo>
                  <a:pt x="202" y="178"/>
                  <a:pt x="210" y="161"/>
                  <a:pt x="201" y="150"/>
                </a:cubicBezTo>
                <a:close/>
                <a:moveTo>
                  <a:pt x="105" y="81"/>
                </a:moveTo>
                <a:cubicBezTo>
                  <a:pt x="127" y="81"/>
                  <a:pt x="146" y="63"/>
                  <a:pt x="146" y="40"/>
                </a:cubicBezTo>
                <a:cubicBezTo>
                  <a:pt x="146" y="18"/>
                  <a:pt x="127" y="0"/>
                  <a:pt x="105" y="0"/>
                </a:cubicBezTo>
                <a:cubicBezTo>
                  <a:pt x="83" y="0"/>
                  <a:pt x="64" y="18"/>
                  <a:pt x="64" y="40"/>
                </a:cubicBezTo>
                <a:cubicBezTo>
                  <a:pt x="64" y="63"/>
                  <a:pt x="83" y="81"/>
                  <a:pt x="105" y="81"/>
                </a:cubicBezTo>
                <a:close/>
              </a:path>
            </a:pathLst>
          </a:cu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lt1"/>
              </a:solidFill>
            </a:endParaRPr>
          </a:p>
        </p:txBody>
      </p:sp>
      <p:sp>
        <p:nvSpPr>
          <p:cNvPr id="54" name="文本框 53"/>
          <p:cNvSpPr txBox="1"/>
          <p:nvPr/>
        </p:nvSpPr>
        <p:spPr>
          <a:xfrm>
            <a:off x="1145476" y="2056159"/>
            <a:ext cx="871035" cy="338554"/>
          </a:xfrm>
          <a:prstGeom prst="rect">
            <a:avLst/>
          </a:prstGeom>
          <a:noFill/>
        </p:spPr>
        <p:txBody>
          <a:bodyPr wrap="square">
            <a:spAutoFit/>
          </a:bodyPr>
          <a:lstStyle/>
          <a:p>
            <a:r>
              <a:rPr lang="en-US" sz="1600" b="1" dirty="0">
                <a:solidFill>
                  <a:srgbClr val="C00000"/>
                </a:solidFill>
                <a:latin typeface="微软雅黑" panose="020B0503020204020204" pitchFamily="34" charset="-122"/>
                <a:ea typeface="微软雅黑" panose="020B0503020204020204" pitchFamily="34" charset="-122"/>
              </a:rPr>
              <a:t>Web</a:t>
            </a:r>
            <a:r>
              <a:rPr lang="zh-CN" altLang="en-US" sz="1600" b="1" dirty="0">
                <a:solidFill>
                  <a:srgbClr val="C00000"/>
                </a:solidFill>
                <a:latin typeface="微软雅黑" panose="020B0503020204020204" pitchFamily="34" charset="-122"/>
                <a:ea typeface="微软雅黑" panose="020B0503020204020204" pitchFamily="34" charset="-122"/>
              </a:rPr>
              <a:t>层</a:t>
            </a:r>
            <a:endParaRPr lang="en-GB" sz="1600" dirty="0">
              <a:solidFill>
                <a:srgbClr val="C00000"/>
              </a:solidFill>
            </a:endParaRPr>
          </a:p>
        </p:txBody>
      </p:sp>
      <p:sp>
        <p:nvSpPr>
          <p:cNvPr id="55" name="Freeform 13"/>
          <p:cNvSpPr>
            <a:spLocks noChangeAspect="1" noEditPoints="1"/>
          </p:cNvSpPr>
          <p:nvPr/>
        </p:nvSpPr>
        <p:spPr bwMode="auto">
          <a:xfrm>
            <a:off x="665360" y="1971173"/>
            <a:ext cx="483794" cy="460486"/>
          </a:xfrm>
          <a:custGeom>
            <a:avLst/>
            <a:gdLst>
              <a:gd name="T0" fmla="*/ 190 w 200"/>
              <a:gd name="T1" fmla="*/ 52 h 192"/>
              <a:gd name="T2" fmla="*/ 166 w 200"/>
              <a:gd name="T3" fmla="*/ 90 h 192"/>
              <a:gd name="T4" fmla="*/ 153 w 200"/>
              <a:gd name="T5" fmla="*/ 102 h 192"/>
              <a:gd name="T6" fmla="*/ 106 w 200"/>
              <a:gd name="T7" fmla="*/ 140 h 192"/>
              <a:gd name="T8" fmla="*/ 153 w 200"/>
              <a:gd name="T9" fmla="*/ 102 h 192"/>
              <a:gd name="T10" fmla="*/ 190 w 200"/>
              <a:gd name="T11" fmla="*/ 140 h 192"/>
              <a:gd name="T12" fmla="*/ 166 w 200"/>
              <a:gd name="T13" fmla="*/ 102 h 192"/>
              <a:gd name="T14" fmla="*/ 40 w 200"/>
              <a:gd name="T15" fmla="*/ 52 h 192"/>
              <a:gd name="T16" fmla="*/ 0 w 200"/>
              <a:gd name="T17" fmla="*/ 90 h 192"/>
              <a:gd name="T18" fmla="*/ 40 w 200"/>
              <a:gd name="T19" fmla="*/ 52 h 192"/>
              <a:gd name="T20" fmla="*/ 0 w 200"/>
              <a:gd name="T21" fmla="*/ 102 h 192"/>
              <a:gd name="T22" fmla="*/ 40 w 200"/>
              <a:gd name="T23" fmla="*/ 140 h 192"/>
              <a:gd name="T24" fmla="*/ 94 w 200"/>
              <a:gd name="T25" fmla="*/ 189 h 192"/>
              <a:gd name="T26" fmla="*/ 58 w 200"/>
              <a:gd name="T27" fmla="*/ 152 h 192"/>
              <a:gd name="T28" fmla="*/ 53 w 200"/>
              <a:gd name="T29" fmla="*/ 140 h 192"/>
              <a:gd name="T30" fmla="*/ 94 w 200"/>
              <a:gd name="T31" fmla="*/ 102 h 192"/>
              <a:gd name="T32" fmla="*/ 53 w 200"/>
              <a:gd name="T33" fmla="*/ 140 h 192"/>
              <a:gd name="T34" fmla="*/ 94 w 200"/>
              <a:gd name="T35" fmla="*/ 90 h 192"/>
              <a:gd name="T36" fmla="*/ 53 w 200"/>
              <a:gd name="T37" fmla="*/ 52 h 192"/>
              <a:gd name="T38" fmla="*/ 44 w 200"/>
              <a:gd name="T39" fmla="*/ 152 h 192"/>
              <a:gd name="T40" fmla="*/ 72 w 200"/>
              <a:gd name="T41" fmla="*/ 192 h 192"/>
              <a:gd name="T42" fmla="*/ 72 w 200"/>
              <a:gd name="T43" fmla="*/ 0 h 192"/>
              <a:gd name="T44" fmla="*/ 44 w 200"/>
              <a:gd name="T45" fmla="*/ 39 h 192"/>
              <a:gd name="T46" fmla="*/ 156 w 200"/>
              <a:gd name="T47" fmla="*/ 39 h 192"/>
              <a:gd name="T48" fmla="*/ 128 w 200"/>
              <a:gd name="T49" fmla="*/ 0 h 192"/>
              <a:gd name="T50" fmla="*/ 106 w 200"/>
              <a:gd name="T51" fmla="*/ 152 h 192"/>
              <a:gd name="T52" fmla="*/ 142 w 200"/>
              <a:gd name="T53" fmla="*/ 152 h 192"/>
              <a:gd name="T54" fmla="*/ 106 w 200"/>
              <a:gd name="T55" fmla="*/ 3 h 192"/>
              <a:gd name="T56" fmla="*/ 142 w 200"/>
              <a:gd name="T57" fmla="*/ 39 h 192"/>
              <a:gd name="T58" fmla="*/ 128 w 200"/>
              <a:gd name="T59" fmla="*/ 192 h 192"/>
              <a:gd name="T60" fmla="*/ 156 w 200"/>
              <a:gd name="T61" fmla="*/ 152 h 192"/>
              <a:gd name="T62" fmla="*/ 58 w 200"/>
              <a:gd name="T63" fmla="*/ 39 h 192"/>
              <a:gd name="T64" fmla="*/ 94 w 200"/>
              <a:gd name="T65" fmla="*/ 3 h 192"/>
              <a:gd name="T66" fmla="*/ 106 w 200"/>
              <a:gd name="T67" fmla="*/ 52 h 192"/>
              <a:gd name="T68" fmla="*/ 153 w 200"/>
              <a:gd name="T69" fmla="*/ 90 h 192"/>
              <a:gd name="T70" fmla="*/ 106 w 200"/>
              <a:gd name="T71" fmla="*/ 5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0" h="192">
                <a:moveTo>
                  <a:pt x="200" y="90"/>
                </a:moveTo>
                <a:cubicBezTo>
                  <a:pt x="199" y="76"/>
                  <a:pt x="196" y="64"/>
                  <a:pt x="190" y="52"/>
                </a:cubicBezTo>
                <a:cubicBezTo>
                  <a:pt x="160" y="52"/>
                  <a:pt x="160" y="52"/>
                  <a:pt x="160" y="52"/>
                </a:cubicBezTo>
                <a:cubicBezTo>
                  <a:pt x="163" y="64"/>
                  <a:pt x="165" y="76"/>
                  <a:pt x="166" y="90"/>
                </a:cubicBezTo>
                <a:lnTo>
                  <a:pt x="200" y="90"/>
                </a:lnTo>
                <a:close/>
                <a:moveTo>
                  <a:pt x="153" y="102"/>
                </a:moveTo>
                <a:cubicBezTo>
                  <a:pt x="106" y="102"/>
                  <a:pt x="106" y="102"/>
                  <a:pt x="106" y="102"/>
                </a:cubicBezTo>
                <a:cubicBezTo>
                  <a:pt x="106" y="140"/>
                  <a:pt x="106" y="140"/>
                  <a:pt x="106" y="140"/>
                </a:cubicBezTo>
                <a:cubicBezTo>
                  <a:pt x="147" y="140"/>
                  <a:pt x="147" y="140"/>
                  <a:pt x="147" y="140"/>
                </a:cubicBezTo>
                <a:cubicBezTo>
                  <a:pt x="151" y="128"/>
                  <a:pt x="153" y="116"/>
                  <a:pt x="153" y="102"/>
                </a:cubicBezTo>
                <a:close/>
                <a:moveTo>
                  <a:pt x="160" y="140"/>
                </a:moveTo>
                <a:cubicBezTo>
                  <a:pt x="190" y="140"/>
                  <a:pt x="190" y="140"/>
                  <a:pt x="190" y="140"/>
                </a:cubicBezTo>
                <a:cubicBezTo>
                  <a:pt x="196" y="128"/>
                  <a:pt x="199" y="116"/>
                  <a:pt x="200" y="102"/>
                </a:cubicBezTo>
                <a:cubicBezTo>
                  <a:pt x="166" y="102"/>
                  <a:pt x="166" y="102"/>
                  <a:pt x="166" y="102"/>
                </a:cubicBezTo>
                <a:cubicBezTo>
                  <a:pt x="165" y="116"/>
                  <a:pt x="163" y="128"/>
                  <a:pt x="160" y="140"/>
                </a:cubicBezTo>
                <a:close/>
                <a:moveTo>
                  <a:pt x="40" y="52"/>
                </a:moveTo>
                <a:cubicBezTo>
                  <a:pt x="10" y="52"/>
                  <a:pt x="10" y="52"/>
                  <a:pt x="10" y="52"/>
                </a:cubicBezTo>
                <a:cubicBezTo>
                  <a:pt x="4" y="64"/>
                  <a:pt x="1" y="76"/>
                  <a:pt x="0" y="90"/>
                </a:cubicBezTo>
                <a:cubicBezTo>
                  <a:pt x="34" y="90"/>
                  <a:pt x="34" y="90"/>
                  <a:pt x="34" y="90"/>
                </a:cubicBezTo>
                <a:cubicBezTo>
                  <a:pt x="35" y="76"/>
                  <a:pt x="37" y="64"/>
                  <a:pt x="40" y="52"/>
                </a:cubicBezTo>
                <a:close/>
                <a:moveTo>
                  <a:pt x="34" y="102"/>
                </a:moveTo>
                <a:cubicBezTo>
                  <a:pt x="0" y="102"/>
                  <a:pt x="0" y="102"/>
                  <a:pt x="0" y="102"/>
                </a:cubicBezTo>
                <a:cubicBezTo>
                  <a:pt x="1" y="116"/>
                  <a:pt x="4" y="128"/>
                  <a:pt x="10" y="140"/>
                </a:cubicBezTo>
                <a:cubicBezTo>
                  <a:pt x="40" y="140"/>
                  <a:pt x="40" y="140"/>
                  <a:pt x="40" y="140"/>
                </a:cubicBezTo>
                <a:cubicBezTo>
                  <a:pt x="37" y="128"/>
                  <a:pt x="35" y="116"/>
                  <a:pt x="34" y="102"/>
                </a:cubicBezTo>
                <a:close/>
                <a:moveTo>
                  <a:pt x="94" y="189"/>
                </a:moveTo>
                <a:cubicBezTo>
                  <a:pt x="94" y="152"/>
                  <a:pt x="94" y="152"/>
                  <a:pt x="94" y="152"/>
                </a:cubicBezTo>
                <a:cubicBezTo>
                  <a:pt x="58" y="152"/>
                  <a:pt x="58" y="152"/>
                  <a:pt x="58" y="152"/>
                </a:cubicBezTo>
                <a:cubicBezTo>
                  <a:pt x="66" y="172"/>
                  <a:pt x="79" y="186"/>
                  <a:pt x="94" y="189"/>
                </a:cubicBezTo>
                <a:close/>
                <a:moveTo>
                  <a:pt x="53" y="140"/>
                </a:moveTo>
                <a:cubicBezTo>
                  <a:pt x="94" y="140"/>
                  <a:pt x="94" y="140"/>
                  <a:pt x="94" y="140"/>
                </a:cubicBezTo>
                <a:cubicBezTo>
                  <a:pt x="94" y="102"/>
                  <a:pt x="94" y="102"/>
                  <a:pt x="94" y="102"/>
                </a:cubicBezTo>
                <a:cubicBezTo>
                  <a:pt x="47" y="102"/>
                  <a:pt x="47" y="102"/>
                  <a:pt x="47" y="102"/>
                </a:cubicBezTo>
                <a:cubicBezTo>
                  <a:pt x="47" y="116"/>
                  <a:pt x="49" y="128"/>
                  <a:pt x="53" y="140"/>
                </a:cubicBezTo>
                <a:close/>
                <a:moveTo>
                  <a:pt x="47" y="90"/>
                </a:moveTo>
                <a:cubicBezTo>
                  <a:pt x="94" y="90"/>
                  <a:pt x="94" y="90"/>
                  <a:pt x="94" y="90"/>
                </a:cubicBezTo>
                <a:cubicBezTo>
                  <a:pt x="94" y="52"/>
                  <a:pt x="94" y="52"/>
                  <a:pt x="94" y="52"/>
                </a:cubicBezTo>
                <a:cubicBezTo>
                  <a:pt x="53" y="52"/>
                  <a:pt x="53" y="52"/>
                  <a:pt x="53" y="52"/>
                </a:cubicBezTo>
                <a:cubicBezTo>
                  <a:pt x="49" y="63"/>
                  <a:pt x="47" y="76"/>
                  <a:pt x="47" y="90"/>
                </a:cubicBezTo>
                <a:close/>
                <a:moveTo>
                  <a:pt x="44" y="152"/>
                </a:moveTo>
                <a:cubicBezTo>
                  <a:pt x="17" y="152"/>
                  <a:pt x="17" y="152"/>
                  <a:pt x="17" y="152"/>
                </a:cubicBezTo>
                <a:cubicBezTo>
                  <a:pt x="30" y="171"/>
                  <a:pt x="49" y="185"/>
                  <a:pt x="72" y="192"/>
                </a:cubicBezTo>
                <a:cubicBezTo>
                  <a:pt x="60" y="183"/>
                  <a:pt x="51" y="169"/>
                  <a:pt x="44" y="152"/>
                </a:cubicBezTo>
                <a:close/>
                <a:moveTo>
                  <a:pt x="72" y="0"/>
                </a:moveTo>
                <a:cubicBezTo>
                  <a:pt x="49" y="6"/>
                  <a:pt x="30" y="21"/>
                  <a:pt x="17" y="39"/>
                </a:cubicBezTo>
                <a:cubicBezTo>
                  <a:pt x="44" y="39"/>
                  <a:pt x="44" y="39"/>
                  <a:pt x="44" y="39"/>
                </a:cubicBezTo>
                <a:cubicBezTo>
                  <a:pt x="51" y="22"/>
                  <a:pt x="60" y="8"/>
                  <a:pt x="72" y="0"/>
                </a:cubicBezTo>
                <a:close/>
                <a:moveTo>
                  <a:pt x="156" y="39"/>
                </a:moveTo>
                <a:cubicBezTo>
                  <a:pt x="183" y="39"/>
                  <a:pt x="183" y="39"/>
                  <a:pt x="183" y="39"/>
                </a:cubicBezTo>
                <a:cubicBezTo>
                  <a:pt x="170" y="21"/>
                  <a:pt x="151" y="6"/>
                  <a:pt x="128" y="0"/>
                </a:cubicBezTo>
                <a:cubicBezTo>
                  <a:pt x="140" y="8"/>
                  <a:pt x="149" y="22"/>
                  <a:pt x="156" y="39"/>
                </a:cubicBezTo>
                <a:close/>
                <a:moveTo>
                  <a:pt x="106" y="152"/>
                </a:moveTo>
                <a:cubicBezTo>
                  <a:pt x="106" y="189"/>
                  <a:pt x="106" y="189"/>
                  <a:pt x="106" y="189"/>
                </a:cubicBezTo>
                <a:cubicBezTo>
                  <a:pt x="121" y="186"/>
                  <a:pt x="134" y="172"/>
                  <a:pt x="142" y="152"/>
                </a:cubicBezTo>
                <a:lnTo>
                  <a:pt x="106" y="152"/>
                </a:lnTo>
                <a:close/>
                <a:moveTo>
                  <a:pt x="106" y="3"/>
                </a:moveTo>
                <a:cubicBezTo>
                  <a:pt x="106" y="39"/>
                  <a:pt x="106" y="39"/>
                  <a:pt x="106" y="39"/>
                </a:cubicBezTo>
                <a:cubicBezTo>
                  <a:pt x="142" y="39"/>
                  <a:pt x="142" y="39"/>
                  <a:pt x="142" y="39"/>
                </a:cubicBezTo>
                <a:cubicBezTo>
                  <a:pt x="134" y="20"/>
                  <a:pt x="121" y="6"/>
                  <a:pt x="106" y="3"/>
                </a:cubicBezTo>
                <a:close/>
                <a:moveTo>
                  <a:pt x="128" y="192"/>
                </a:moveTo>
                <a:cubicBezTo>
                  <a:pt x="151" y="185"/>
                  <a:pt x="170" y="171"/>
                  <a:pt x="183" y="152"/>
                </a:cubicBezTo>
                <a:cubicBezTo>
                  <a:pt x="156" y="152"/>
                  <a:pt x="156" y="152"/>
                  <a:pt x="156" y="152"/>
                </a:cubicBezTo>
                <a:cubicBezTo>
                  <a:pt x="149" y="170"/>
                  <a:pt x="140" y="183"/>
                  <a:pt x="128" y="192"/>
                </a:cubicBezTo>
                <a:close/>
                <a:moveTo>
                  <a:pt x="58" y="39"/>
                </a:moveTo>
                <a:cubicBezTo>
                  <a:pt x="94" y="39"/>
                  <a:pt x="94" y="39"/>
                  <a:pt x="94" y="39"/>
                </a:cubicBezTo>
                <a:cubicBezTo>
                  <a:pt x="94" y="3"/>
                  <a:pt x="94" y="3"/>
                  <a:pt x="94" y="3"/>
                </a:cubicBezTo>
                <a:cubicBezTo>
                  <a:pt x="79" y="6"/>
                  <a:pt x="66" y="20"/>
                  <a:pt x="58" y="39"/>
                </a:cubicBezTo>
                <a:close/>
                <a:moveTo>
                  <a:pt x="106" y="52"/>
                </a:moveTo>
                <a:cubicBezTo>
                  <a:pt x="106" y="90"/>
                  <a:pt x="106" y="90"/>
                  <a:pt x="106" y="90"/>
                </a:cubicBezTo>
                <a:cubicBezTo>
                  <a:pt x="153" y="90"/>
                  <a:pt x="153" y="90"/>
                  <a:pt x="153" y="90"/>
                </a:cubicBezTo>
                <a:cubicBezTo>
                  <a:pt x="153" y="76"/>
                  <a:pt x="151" y="63"/>
                  <a:pt x="147" y="52"/>
                </a:cubicBezTo>
                <a:lnTo>
                  <a:pt x="106" y="52"/>
                </a:lnTo>
                <a:close/>
              </a:path>
            </a:pathLst>
          </a:cu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56" name="Flowchart: Alternate Process 92"/>
          <p:cNvSpPr/>
          <p:nvPr/>
        </p:nvSpPr>
        <p:spPr>
          <a:xfrm>
            <a:off x="2185135" y="2290101"/>
            <a:ext cx="702817" cy="276479"/>
          </a:xfrm>
          <a:prstGeom prst="flowChartAlternateProcess">
            <a:avLst/>
          </a:prstGeom>
          <a:solidFill>
            <a:srgbClr val="FFE1E1"/>
          </a:solidFill>
          <a:ln w="19050">
            <a:no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sz="1000" dirty="0">
                <a:solidFill>
                  <a:srgbClr val="C00000"/>
                </a:solidFill>
                <a:latin typeface="微软雅黑" panose="020B0503020204020204" pitchFamily="34" charset="-122"/>
                <a:ea typeface="微软雅黑" panose="020B0503020204020204" pitchFamily="34" charset="-122"/>
              </a:rPr>
              <a:t>HTML</a:t>
            </a:r>
            <a:endParaRPr lang="en-US" sz="1000" dirty="0">
              <a:solidFill>
                <a:srgbClr val="C00000"/>
              </a:solidFill>
              <a:latin typeface="微软雅黑" panose="020B0503020204020204" pitchFamily="34" charset="-122"/>
              <a:ea typeface="微软雅黑" panose="020B0503020204020204" pitchFamily="34" charset="-122"/>
            </a:endParaRPr>
          </a:p>
        </p:txBody>
      </p:sp>
      <p:sp>
        <p:nvSpPr>
          <p:cNvPr id="57" name="Flowchart: Alternate Process 93"/>
          <p:cNvSpPr/>
          <p:nvPr/>
        </p:nvSpPr>
        <p:spPr>
          <a:xfrm>
            <a:off x="4644951" y="2296943"/>
            <a:ext cx="689509" cy="276479"/>
          </a:xfrm>
          <a:prstGeom prst="flowChartAlternateProcess">
            <a:avLst/>
          </a:prstGeom>
          <a:solidFill>
            <a:srgbClr val="FFE1E1"/>
          </a:solidFill>
          <a:ln w="19050">
            <a:no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sz="1000" dirty="0">
                <a:solidFill>
                  <a:srgbClr val="C00000"/>
                </a:solidFill>
                <a:latin typeface="微软雅黑" panose="020B0503020204020204" pitchFamily="34" charset="-122"/>
                <a:ea typeface="微软雅黑" panose="020B0503020204020204" pitchFamily="34" charset="-122"/>
              </a:rPr>
              <a:t>V</a:t>
            </a:r>
            <a:r>
              <a:rPr lang="en-US" altLang="zh-CN" sz="1000" dirty="0">
                <a:solidFill>
                  <a:srgbClr val="C00000"/>
                </a:solidFill>
                <a:latin typeface="微软雅黑" panose="020B0503020204020204" pitchFamily="34" charset="-122"/>
                <a:ea typeface="微软雅黑" panose="020B0503020204020204" pitchFamily="34" charset="-122"/>
              </a:rPr>
              <a:t>ue.js</a:t>
            </a:r>
            <a:endParaRPr lang="en-US" altLang="zh-CN" sz="1000" dirty="0">
              <a:solidFill>
                <a:srgbClr val="C00000"/>
              </a:solidFill>
              <a:latin typeface="微软雅黑" panose="020B0503020204020204" pitchFamily="34" charset="-122"/>
              <a:ea typeface="微软雅黑" panose="020B0503020204020204" pitchFamily="34" charset="-122"/>
            </a:endParaRPr>
          </a:p>
        </p:txBody>
      </p:sp>
      <p:sp>
        <p:nvSpPr>
          <p:cNvPr id="58" name="Flowchart: Alternate Process 95"/>
          <p:cNvSpPr/>
          <p:nvPr/>
        </p:nvSpPr>
        <p:spPr>
          <a:xfrm>
            <a:off x="3629350" y="2294679"/>
            <a:ext cx="926236" cy="276479"/>
          </a:xfrm>
          <a:prstGeom prst="flowChartAlternateProcess">
            <a:avLst/>
          </a:prstGeom>
          <a:solidFill>
            <a:srgbClr val="FFE1E1"/>
          </a:solidFill>
          <a:ln w="19050">
            <a:no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zh-CN" altLang="en-US" sz="1000" dirty="0">
                <a:solidFill>
                  <a:srgbClr val="C00000"/>
                </a:solidFill>
                <a:latin typeface="微软雅黑" panose="020B0503020204020204" pitchFamily="34" charset="-122"/>
                <a:ea typeface="微软雅黑" panose="020B0503020204020204" pitchFamily="34" charset="-122"/>
              </a:rPr>
              <a:t>静态资源</a:t>
            </a:r>
            <a:endParaRPr lang="en-US" sz="1000" dirty="0">
              <a:solidFill>
                <a:srgbClr val="C00000"/>
              </a:solidFill>
              <a:latin typeface="微软雅黑" panose="020B0503020204020204" pitchFamily="34" charset="-122"/>
              <a:ea typeface="微软雅黑" panose="020B0503020204020204" pitchFamily="34" charset="-122"/>
            </a:endParaRPr>
          </a:p>
        </p:txBody>
      </p:sp>
      <p:sp>
        <p:nvSpPr>
          <p:cNvPr id="59" name="Flowchart: Alternate Process 109"/>
          <p:cNvSpPr/>
          <p:nvPr/>
        </p:nvSpPr>
        <p:spPr>
          <a:xfrm>
            <a:off x="2149516" y="1910954"/>
            <a:ext cx="4360805" cy="219981"/>
          </a:xfrm>
          <a:prstGeom prst="flowChartAlternateProcess">
            <a:avLst/>
          </a:prstGeom>
          <a:solidFill>
            <a:srgbClr val="FFE1E1"/>
          </a:solidFill>
          <a:ln w="19050">
            <a:no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altLang="zh-CN" sz="1000" dirty="0">
                <a:solidFill>
                  <a:srgbClr val="C00000"/>
                </a:solidFill>
                <a:latin typeface="微软雅黑" panose="020B0503020204020204" pitchFamily="34" charset="-122"/>
                <a:ea typeface="微软雅黑" panose="020B0503020204020204" pitchFamily="34" charset="-122"/>
              </a:rPr>
              <a:t> Nginx (</a:t>
            </a:r>
            <a:r>
              <a:rPr lang="zh-CN" altLang="en-US" sz="1000" dirty="0">
                <a:solidFill>
                  <a:srgbClr val="C00000"/>
                </a:solidFill>
                <a:latin typeface="微软雅黑" panose="020B0503020204020204" pitchFamily="34" charset="-122"/>
                <a:ea typeface="微软雅黑" panose="020B0503020204020204" pitchFamily="34" charset="-122"/>
              </a:rPr>
              <a:t>负载均衡</a:t>
            </a:r>
            <a:r>
              <a:rPr lang="en-US" altLang="zh-CN" sz="1000" dirty="0">
                <a:solidFill>
                  <a:srgbClr val="C00000"/>
                </a:solidFill>
                <a:latin typeface="微软雅黑" panose="020B0503020204020204" pitchFamily="34" charset="-122"/>
                <a:ea typeface="微软雅黑" panose="020B0503020204020204" pitchFamily="34" charset="-122"/>
              </a:rPr>
              <a:t>)</a:t>
            </a:r>
            <a:endParaRPr lang="en-US" sz="1000" dirty="0">
              <a:solidFill>
                <a:srgbClr val="C00000"/>
              </a:solidFill>
              <a:latin typeface="微软雅黑" panose="020B0503020204020204" pitchFamily="34" charset="-122"/>
              <a:ea typeface="微软雅黑" panose="020B0503020204020204" pitchFamily="34" charset="-122"/>
            </a:endParaRPr>
          </a:p>
        </p:txBody>
      </p:sp>
      <p:sp>
        <p:nvSpPr>
          <p:cNvPr id="60" name="矩形 59"/>
          <p:cNvSpPr/>
          <p:nvPr/>
        </p:nvSpPr>
        <p:spPr>
          <a:xfrm>
            <a:off x="2396382" y="1279380"/>
            <a:ext cx="1031700" cy="360684"/>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a:t>浏览器</a:t>
            </a:r>
            <a:endParaRPr lang="en-GB" dirty="0"/>
          </a:p>
        </p:txBody>
      </p:sp>
      <p:sp>
        <p:nvSpPr>
          <p:cNvPr id="61" name="矩形 60"/>
          <p:cNvSpPr/>
          <p:nvPr/>
        </p:nvSpPr>
        <p:spPr>
          <a:xfrm>
            <a:off x="3777362" y="1275466"/>
            <a:ext cx="1031700" cy="360684"/>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a:t>浏览器</a:t>
            </a:r>
            <a:endParaRPr lang="en-GB" dirty="0"/>
          </a:p>
        </p:txBody>
      </p:sp>
      <p:sp>
        <p:nvSpPr>
          <p:cNvPr id="62" name="矩形 61"/>
          <p:cNvSpPr/>
          <p:nvPr/>
        </p:nvSpPr>
        <p:spPr>
          <a:xfrm>
            <a:off x="5230282" y="1283852"/>
            <a:ext cx="1031700" cy="360684"/>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a:t>浏览器</a:t>
            </a:r>
            <a:endParaRPr lang="en-GB" dirty="0"/>
          </a:p>
        </p:txBody>
      </p:sp>
      <p:sp>
        <p:nvSpPr>
          <p:cNvPr id="63" name="文本框 62"/>
          <p:cNvSpPr txBox="1"/>
          <p:nvPr/>
        </p:nvSpPr>
        <p:spPr>
          <a:xfrm>
            <a:off x="1184206" y="1332489"/>
            <a:ext cx="859352" cy="338554"/>
          </a:xfrm>
          <a:prstGeom prst="rect">
            <a:avLst/>
          </a:prstGeom>
          <a:noFill/>
        </p:spPr>
        <p:txBody>
          <a:bodyPr wrap="square">
            <a:spAutoFit/>
          </a:bodyPr>
          <a:lstStyle/>
          <a:p>
            <a:r>
              <a:rPr lang="zh-CN" altLang="en-US" sz="1600" b="1" dirty="0">
                <a:solidFill>
                  <a:srgbClr val="C00000"/>
                </a:solidFill>
                <a:latin typeface="微软雅黑" panose="020B0503020204020204" pitchFamily="34" charset="-122"/>
                <a:ea typeface="微软雅黑" panose="020B0503020204020204" pitchFamily="34" charset="-122"/>
              </a:rPr>
              <a:t>用户层</a:t>
            </a:r>
            <a:endParaRPr lang="en-GB" sz="1600" dirty="0">
              <a:solidFill>
                <a:srgbClr val="C00000"/>
              </a:solidFill>
            </a:endParaRPr>
          </a:p>
        </p:txBody>
      </p:sp>
      <p:sp>
        <p:nvSpPr>
          <p:cNvPr id="64" name="Flowchart: Alternate Process 95"/>
          <p:cNvSpPr/>
          <p:nvPr/>
        </p:nvSpPr>
        <p:spPr>
          <a:xfrm>
            <a:off x="2972716" y="2285620"/>
            <a:ext cx="567269" cy="276479"/>
          </a:xfrm>
          <a:prstGeom prst="flowChartAlternateProcess">
            <a:avLst/>
          </a:prstGeom>
          <a:solidFill>
            <a:srgbClr val="FFE1E1"/>
          </a:solidFill>
          <a:ln w="19050">
            <a:no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sz="1000" dirty="0">
                <a:solidFill>
                  <a:srgbClr val="C00000"/>
                </a:solidFill>
                <a:latin typeface="微软雅黑" panose="020B0503020204020204" pitchFamily="34" charset="-122"/>
                <a:ea typeface="微软雅黑" panose="020B0503020204020204" pitchFamily="34" charset="-122"/>
              </a:rPr>
              <a:t>CSS</a:t>
            </a:r>
            <a:endParaRPr lang="en-US" sz="1000" dirty="0">
              <a:solidFill>
                <a:srgbClr val="C00000"/>
              </a:solidFill>
              <a:latin typeface="微软雅黑" panose="020B0503020204020204" pitchFamily="34" charset="-122"/>
              <a:ea typeface="微软雅黑" panose="020B0503020204020204" pitchFamily="34" charset="-122"/>
            </a:endParaRPr>
          </a:p>
        </p:txBody>
      </p:sp>
      <p:sp>
        <p:nvSpPr>
          <p:cNvPr id="65" name="Flowchart: Alternate Process 95"/>
          <p:cNvSpPr/>
          <p:nvPr/>
        </p:nvSpPr>
        <p:spPr>
          <a:xfrm>
            <a:off x="5423825" y="2288713"/>
            <a:ext cx="1011061" cy="276479"/>
          </a:xfrm>
          <a:prstGeom prst="flowChartAlternateProcess">
            <a:avLst/>
          </a:prstGeom>
          <a:solidFill>
            <a:srgbClr val="FFE1E1"/>
          </a:solidFill>
          <a:ln w="19050">
            <a:no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a:solidFill>
                  <a:srgbClr val="C00000"/>
                </a:solidFill>
                <a:latin typeface="微软雅黑" panose="020B0503020204020204" pitchFamily="34" charset="-122"/>
                <a:ea typeface="微软雅黑" panose="020B0503020204020204" pitchFamily="34" charset="-122"/>
              </a:rPr>
              <a:t>JavaScript</a:t>
            </a:r>
            <a:endParaRPr lang="en-US" altLang="zh-CN" sz="1000" dirty="0">
              <a:solidFill>
                <a:srgbClr val="C00000"/>
              </a:solidFill>
              <a:latin typeface="微软雅黑" panose="020B0503020204020204" pitchFamily="34" charset="-122"/>
              <a:ea typeface="微软雅黑" panose="020B0503020204020204" pitchFamily="34" charset="-122"/>
            </a:endParaRPr>
          </a:p>
        </p:txBody>
      </p:sp>
      <p:sp>
        <p:nvSpPr>
          <p:cNvPr id="66" name="Down Arrow 110"/>
          <p:cNvSpPr/>
          <p:nvPr/>
        </p:nvSpPr>
        <p:spPr>
          <a:xfrm>
            <a:off x="2855361" y="1686354"/>
            <a:ext cx="113742" cy="165213"/>
          </a:xfrm>
          <a:prstGeom prst="downArrow">
            <a:avLst/>
          </a:prstGeom>
          <a:noFill/>
          <a:ln w="19050">
            <a:solidFill>
              <a:srgbClr val="B9131A"/>
            </a:solidFill>
          </a:ln>
          <a:effectLst/>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latin typeface="微软雅黑" panose="020B0503020204020204" pitchFamily="34" charset="-122"/>
              <a:ea typeface="微软雅黑" panose="020B0503020204020204" pitchFamily="34" charset="-122"/>
            </a:endParaRPr>
          </a:p>
        </p:txBody>
      </p:sp>
      <p:sp>
        <p:nvSpPr>
          <p:cNvPr id="67" name="Down Arrow 110"/>
          <p:cNvSpPr/>
          <p:nvPr/>
        </p:nvSpPr>
        <p:spPr>
          <a:xfrm>
            <a:off x="4234299" y="1690576"/>
            <a:ext cx="113742" cy="165213"/>
          </a:xfrm>
          <a:prstGeom prst="downArrow">
            <a:avLst/>
          </a:prstGeom>
          <a:noFill/>
          <a:ln w="19050">
            <a:solidFill>
              <a:srgbClr val="B9131A"/>
            </a:solidFill>
          </a:ln>
          <a:effectLst/>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latin typeface="微软雅黑" panose="020B0503020204020204" pitchFamily="34" charset="-122"/>
              <a:ea typeface="微软雅黑" panose="020B0503020204020204" pitchFamily="34" charset="-122"/>
            </a:endParaRPr>
          </a:p>
        </p:txBody>
      </p:sp>
      <p:sp>
        <p:nvSpPr>
          <p:cNvPr id="68" name="Down Arrow 110"/>
          <p:cNvSpPr/>
          <p:nvPr/>
        </p:nvSpPr>
        <p:spPr>
          <a:xfrm>
            <a:off x="5711359" y="1686714"/>
            <a:ext cx="113742" cy="165213"/>
          </a:xfrm>
          <a:prstGeom prst="downArrow">
            <a:avLst/>
          </a:prstGeom>
          <a:noFill/>
          <a:ln w="19050">
            <a:solidFill>
              <a:srgbClr val="B9131A"/>
            </a:solidFill>
          </a:ln>
          <a:effectLst/>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latin typeface="微软雅黑" panose="020B0503020204020204" pitchFamily="34" charset="-122"/>
              <a:ea typeface="微软雅黑" panose="020B0503020204020204" pitchFamily="34" charset="-122"/>
            </a:endParaRPr>
          </a:p>
        </p:txBody>
      </p:sp>
      <p:sp>
        <p:nvSpPr>
          <p:cNvPr id="69" name="Flowchart: Alternate Process 109"/>
          <p:cNvSpPr/>
          <p:nvPr/>
        </p:nvSpPr>
        <p:spPr>
          <a:xfrm>
            <a:off x="7091459" y="1910955"/>
            <a:ext cx="4360805" cy="651144"/>
          </a:xfrm>
          <a:prstGeom prst="flowChartAlternateProcess">
            <a:avLst/>
          </a:prstGeom>
          <a:solidFill>
            <a:srgbClr val="FFE1E1"/>
          </a:solidFill>
          <a:ln w="19050">
            <a:no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a:solidFill>
                  <a:srgbClr val="C00000"/>
                </a:solidFill>
                <a:latin typeface="微软雅黑" panose="020B0503020204020204" pitchFamily="34" charset="-122"/>
                <a:ea typeface="微软雅黑" panose="020B0503020204020204" pitchFamily="34" charset="-122"/>
              </a:rPr>
              <a:t> Nginx (</a:t>
            </a:r>
            <a:r>
              <a:rPr lang="zh-CN" altLang="en-US" sz="1000" dirty="0">
                <a:solidFill>
                  <a:srgbClr val="C00000"/>
                </a:solidFill>
                <a:latin typeface="微软雅黑" panose="020B0503020204020204" pitchFamily="34" charset="-122"/>
                <a:ea typeface="微软雅黑" panose="020B0503020204020204" pitchFamily="34" charset="-122"/>
              </a:rPr>
              <a:t>负载均衡</a:t>
            </a:r>
            <a:r>
              <a:rPr lang="en-US" altLang="zh-CN" sz="1000" dirty="0">
                <a:solidFill>
                  <a:srgbClr val="C00000"/>
                </a:solidFill>
                <a:latin typeface="微软雅黑" panose="020B0503020204020204" pitchFamily="34" charset="-122"/>
                <a:ea typeface="微软雅黑" panose="020B0503020204020204" pitchFamily="34" charset="-122"/>
              </a:rPr>
              <a:t>)</a:t>
            </a:r>
            <a:endParaRPr lang="en-US" sz="1000" dirty="0">
              <a:solidFill>
                <a:srgbClr val="C00000"/>
              </a:solidFill>
              <a:latin typeface="微软雅黑" panose="020B0503020204020204" pitchFamily="34" charset="-122"/>
              <a:ea typeface="微软雅黑" panose="020B0503020204020204" pitchFamily="34" charset="-122"/>
            </a:endParaRPr>
          </a:p>
        </p:txBody>
      </p:sp>
      <p:sp>
        <p:nvSpPr>
          <p:cNvPr id="70" name="矩形 69"/>
          <p:cNvSpPr/>
          <p:nvPr/>
        </p:nvSpPr>
        <p:spPr>
          <a:xfrm>
            <a:off x="7520754" y="1283852"/>
            <a:ext cx="1031700" cy="360684"/>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a:t>私域</a:t>
            </a:r>
            <a:endParaRPr lang="en-GB" dirty="0"/>
          </a:p>
        </p:txBody>
      </p:sp>
      <p:sp>
        <p:nvSpPr>
          <p:cNvPr id="71" name="矩形 70"/>
          <p:cNvSpPr/>
          <p:nvPr/>
        </p:nvSpPr>
        <p:spPr>
          <a:xfrm>
            <a:off x="9754017" y="1278439"/>
            <a:ext cx="1031700" cy="360684"/>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a:t>公域</a:t>
            </a:r>
            <a:endParaRPr lang="en-GB" dirty="0"/>
          </a:p>
        </p:txBody>
      </p:sp>
      <p:sp>
        <p:nvSpPr>
          <p:cNvPr id="72" name="Down Arrow 110"/>
          <p:cNvSpPr/>
          <p:nvPr/>
        </p:nvSpPr>
        <p:spPr>
          <a:xfrm>
            <a:off x="7979733" y="1684528"/>
            <a:ext cx="113742" cy="165213"/>
          </a:xfrm>
          <a:prstGeom prst="downArrow">
            <a:avLst/>
          </a:prstGeom>
          <a:noFill/>
          <a:ln w="19050">
            <a:solidFill>
              <a:srgbClr val="B9131A"/>
            </a:solidFill>
          </a:ln>
          <a:effectLst/>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latin typeface="微软雅黑" panose="020B0503020204020204" pitchFamily="34" charset="-122"/>
              <a:ea typeface="微软雅黑" panose="020B0503020204020204" pitchFamily="34" charset="-122"/>
            </a:endParaRPr>
          </a:p>
        </p:txBody>
      </p:sp>
      <p:sp>
        <p:nvSpPr>
          <p:cNvPr id="73" name="Down Arrow 110"/>
          <p:cNvSpPr/>
          <p:nvPr/>
        </p:nvSpPr>
        <p:spPr>
          <a:xfrm>
            <a:off x="10212996" y="1684340"/>
            <a:ext cx="113742" cy="165213"/>
          </a:xfrm>
          <a:prstGeom prst="downArrow">
            <a:avLst/>
          </a:prstGeom>
          <a:noFill/>
          <a:ln w="19050">
            <a:solidFill>
              <a:srgbClr val="B9131A"/>
            </a:solidFill>
          </a:ln>
          <a:effectLst/>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latin typeface="微软雅黑" panose="020B0503020204020204" pitchFamily="34" charset="-122"/>
              <a:ea typeface="微软雅黑" panose="020B0503020204020204" pitchFamily="34" charset="-122"/>
            </a:endParaRPr>
          </a:p>
        </p:txBody>
      </p:sp>
      <p:cxnSp>
        <p:nvCxnSpPr>
          <p:cNvPr id="74" name="直接连接符 73"/>
          <p:cNvCxnSpPr/>
          <p:nvPr/>
        </p:nvCxnSpPr>
        <p:spPr>
          <a:xfrm flipV="1">
            <a:off x="9580885" y="3316822"/>
            <a:ext cx="0" cy="1918791"/>
          </a:xfrm>
          <a:prstGeom prst="line">
            <a:avLst/>
          </a:prstGeom>
          <a:ln w="19050">
            <a:solidFill>
              <a:srgbClr val="C00000"/>
            </a:solidFill>
            <a:prstDash val="dashDot"/>
          </a:ln>
        </p:spPr>
        <p:style>
          <a:lnRef idx="1">
            <a:schemeClr val="accent1"/>
          </a:lnRef>
          <a:fillRef idx="0">
            <a:schemeClr val="accent1"/>
          </a:fillRef>
          <a:effectRef idx="0">
            <a:schemeClr val="accent1"/>
          </a:effectRef>
          <a:fontRef idx="minor">
            <a:schemeClr val="tx1"/>
          </a:fontRef>
        </p:style>
      </p:cxnSp>
      <p:sp>
        <p:nvSpPr>
          <p:cNvPr id="75" name="圆角矩形 74"/>
          <p:cNvSpPr/>
          <p:nvPr/>
        </p:nvSpPr>
        <p:spPr>
          <a:xfrm>
            <a:off x="4588795" y="4017508"/>
            <a:ext cx="995611" cy="319177"/>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000" dirty="0" smtClean="0"/>
              <a:t>会员服</a:t>
            </a:r>
            <a:r>
              <a:rPr lang="zh-CN" altLang="en-US" sz="1000" dirty="0"/>
              <a:t>务</a:t>
            </a:r>
            <a:endParaRPr lang="zh-CN" altLang="en-US" sz="1000" dirty="0"/>
          </a:p>
        </p:txBody>
      </p:sp>
      <p:sp>
        <p:nvSpPr>
          <p:cNvPr id="76" name="圆角矩形 75"/>
          <p:cNvSpPr/>
          <p:nvPr/>
        </p:nvSpPr>
        <p:spPr>
          <a:xfrm>
            <a:off x="6865513" y="4588906"/>
            <a:ext cx="995611" cy="319177"/>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000" dirty="0" err="1" smtClean="0"/>
              <a:t>OneID</a:t>
            </a:r>
            <a:r>
              <a:rPr lang="zh-CN" altLang="en-US" sz="1000" dirty="0" smtClean="0"/>
              <a:t>服</a:t>
            </a:r>
            <a:r>
              <a:rPr lang="zh-CN" altLang="en-US" sz="1000" dirty="0"/>
              <a:t>务</a:t>
            </a:r>
            <a:endParaRPr lang="zh-CN" altLang="en-US" sz="1000" dirty="0"/>
          </a:p>
        </p:txBody>
      </p:sp>
      <p:sp>
        <p:nvSpPr>
          <p:cNvPr id="77" name="圆角矩形 76"/>
          <p:cNvSpPr/>
          <p:nvPr/>
        </p:nvSpPr>
        <p:spPr>
          <a:xfrm>
            <a:off x="6865513" y="4008782"/>
            <a:ext cx="995611" cy="319177"/>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000" dirty="0" smtClean="0"/>
              <a:t>优惠券服</a:t>
            </a:r>
            <a:r>
              <a:rPr lang="zh-CN" altLang="en-US" sz="1000" dirty="0"/>
              <a:t>务</a:t>
            </a:r>
            <a:endParaRPr lang="zh-CN" altLang="en-US" sz="1000" dirty="0"/>
          </a:p>
        </p:txBody>
      </p:sp>
      <p:sp>
        <p:nvSpPr>
          <p:cNvPr id="79" name="圆角矩形 78"/>
          <p:cNvSpPr/>
          <p:nvPr/>
        </p:nvSpPr>
        <p:spPr>
          <a:xfrm>
            <a:off x="4595400" y="3499653"/>
            <a:ext cx="995611" cy="319177"/>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000" dirty="0" smtClean="0"/>
              <a:t>营销服</a:t>
            </a:r>
            <a:r>
              <a:rPr lang="zh-CN" altLang="en-US" sz="1000" dirty="0"/>
              <a:t>务</a:t>
            </a:r>
            <a:endParaRPr lang="zh-CN" altLang="en-US" sz="1000" dirty="0"/>
          </a:p>
        </p:txBody>
      </p:sp>
      <p:sp>
        <p:nvSpPr>
          <p:cNvPr id="82" name="圆角矩形 81"/>
          <p:cNvSpPr/>
          <p:nvPr/>
        </p:nvSpPr>
        <p:spPr>
          <a:xfrm>
            <a:off x="5749587" y="4017508"/>
            <a:ext cx="995611" cy="319177"/>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000" dirty="0" smtClean="0"/>
              <a:t>标签服</a:t>
            </a:r>
            <a:r>
              <a:rPr lang="zh-CN" altLang="en-US" sz="1000" dirty="0"/>
              <a:t>务</a:t>
            </a:r>
            <a:endParaRPr lang="zh-CN" altLang="en-US" sz="1000" dirty="0"/>
          </a:p>
        </p:txBody>
      </p:sp>
      <p:sp>
        <p:nvSpPr>
          <p:cNvPr id="83" name="圆角矩形 82"/>
          <p:cNvSpPr/>
          <p:nvPr/>
        </p:nvSpPr>
        <p:spPr>
          <a:xfrm>
            <a:off x="4595401" y="4606395"/>
            <a:ext cx="995611" cy="319177"/>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000" dirty="0" smtClean="0"/>
              <a:t>数据服</a:t>
            </a:r>
            <a:r>
              <a:rPr lang="zh-CN" altLang="en-US" sz="1000" dirty="0"/>
              <a:t>务</a:t>
            </a:r>
            <a:endParaRPr lang="zh-CN" altLang="en-US" sz="1000" dirty="0"/>
          </a:p>
        </p:txBody>
      </p:sp>
      <p:sp>
        <p:nvSpPr>
          <p:cNvPr id="84" name="圆角矩形 83"/>
          <p:cNvSpPr/>
          <p:nvPr/>
        </p:nvSpPr>
        <p:spPr>
          <a:xfrm>
            <a:off x="5743498" y="4606395"/>
            <a:ext cx="995611" cy="319177"/>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000" dirty="0" smtClean="0"/>
              <a:t>文件服</a:t>
            </a:r>
            <a:r>
              <a:rPr lang="zh-CN" altLang="en-US" sz="1000" dirty="0"/>
              <a:t>务</a:t>
            </a:r>
            <a:endParaRPr lang="zh-CN" altLang="en-US" sz="1000" dirty="0"/>
          </a:p>
        </p:txBody>
      </p:sp>
      <p:sp>
        <p:nvSpPr>
          <p:cNvPr id="86" name="圆角矩形 85"/>
          <p:cNvSpPr/>
          <p:nvPr/>
        </p:nvSpPr>
        <p:spPr>
          <a:xfrm>
            <a:off x="7997551" y="4008782"/>
            <a:ext cx="995611" cy="319177"/>
          </a:xfrm>
          <a:prstGeom prst="round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000" dirty="0" smtClean="0"/>
              <a:t>权限服</a:t>
            </a:r>
            <a:r>
              <a:rPr lang="zh-CN" altLang="en-US" sz="1000" dirty="0"/>
              <a:t>务</a:t>
            </a:r>
            <a:endParaRPr lang="zh-CN" altLang="en-US" sz="1000" dirty="0"/>
          </a:p>
        </p:txBody>
      </p:sp>
      <p:sp>
        <p:nvSpPr>
          <p:cNvPr id="87" name="文本框 86"/>
          <p:cNvSpPr txBox="1"/>
          <p:nvPr/>
        </p:nvSpPr>
        <p:spPr>
          <a:xfrm>
            <a:off x="4130115" y="4631481"/>
            <a:ext cx="501403" cy="307777"/>
          </a:xfrm>
          <a:prstGeom prst="rect">
            <a:avLst/>
          </a:prstGeom>
          <a:noFill/>
        </p:spPr>
        <p:txBody>
          <a:bodyPr wrap="square">
            <a:spAutoFit/>
          </a:bodyPr>
          <a:lstStyle/>
          <a:p>
            <a:pPr algn="ctr">
              <a:lnSpc>
                <a:spcPct val="100000"/>
              </a:lnSpc>
            </a:pPr>
            <a:r>
              <a:rPr lang="en-US" altLang="zh-CN" sz="1400" b="1" dirty="0" smtClean="0">
                <a:solidFill>
                  <a:srgbClr val="C00000"/>
                </a:solidFill>
                <a:latin typeface="微软雅黑" panose="020B0503020204020204" pitchFamily="34" charset="-122"/>
                <a:ea typeface="微软雅黑" panose="020B0503020204020204" pitchFamily="34" charset="-122"/>
              </a:rPr>
              <a:t>L0</a:t>
            </a:r>
            <a:endParaRPr lang="en-US" sz="1400" b="1" dirty="0">
              <a:solidFill>
                <a:srgbClr val="C00000"/>
              </a:solidFill>
              <a:latin typeface="微软雅黑" panose="020B0503020204020204" pitchFamily="34" charset="-122"/>
              <a:ea typeface="微软雅黑" panose="020B0503020204020204" pitchFamily="34" charset="-122"/>
            </a:endParaRPr>
          </a:p>
        </p:txBody>
      </p:sp>
      <p:sp>
        <p:nvSpPr>
          <p:cNvPr id="88" name="文本框 87"/>
          <p:cNvSpPr txBox="1"/>
          <p:nvPr/>
        </p:nvSpPr>
        <p:spPr>
          <a:xfrm>
            <a:off x="4137949" y="4043454"/>
            <a:ext cx="501403" cy="307777"/>
          </a:xfrm>
          <a:prstGeom prst="rect">
            <a:avLst/>
          </a:prstGeom>
          <a:noFill/>
        </p:spPr>
        <p:txBody>
          <a:bodyPr wrap="square">
            <a:spAutoFit/>
          </a:bodyPr>
          <a:lstStyle/>
          <a:p>
            <a:pPr algn="ctr">
              <a:lnSpc>
                <a:spcPct val="100000"/>
              </a:lnSpc>
            </a:pPr>
            <a:r>
              <a:rPr lang="en-US" altLang="zh-CN" sz="1400" b="1" dirty="0" smtClean="0">
                <a:solidFill>
                  <a:srgbClr val="C00000"/>
                </a:solidFill>
                <a:latin typeface="微软雅黑" panose="020B0503020204020204" pitchFamily="34" charset="-122"/>
                <a:ea typeface="微软雅黑" panose="020B0503020204020204" pitchFamily="34" charset="-122"/>
              </a:rPr>
              <a:t>L1</a:t>
            </a:r>
            <a:endParaRPr lang="en-US" sz="1400" b="1" dirty="0">
              <a:solidFill>
                <a:srgbClr val="C00000"/>
              </a:solidFill>
              <a:latin typeface="微软雅黑" panose="020B0503020204020204" pitchFamily="34" charset="-122"/>
              <a:ea typeface="微软雅黑" panose="020B0503020204020204" pitchFamily="34" charset="-122"/>
            </a:endParaRPr>
          </a:p>
        </p:txBody>
      </p:sp>
      <p:sp>
        <p:nvSpPr>
          <p:cNvPr id="89" name="文本框 88"/>
          <p:cNvSpPr txBox="1"/>
          <p:nvPr/>
        </p:nvSpPr>
        <p:spPr>
          <a:xfrm>
            <a:off x="4127926" y="3518288"/>
            <a:ext cx="501403" cy="307777"/>
          </a:xfrm>
          <a:prstGeom prst="rect">
            <a:avLst/>
          </a:prstGeom>
          <a:noFill/>
        </p:spPr>
        <p:txBody>
          <a:bodyPr wrap="square">
            <a:spAutoFit/>
          </a:bodyPr>
          <a:lstStyle/>
          <a:p>
            <a:pPr algn="ctr">
              <a:lnSpc>
                <a:spcPct val="100000"/>
              </a:lnSpc>
            </a:pPr>
            <a:r>
              <a:rPr lang="en-US" altLang="zh-CN" sz="1400" b="1" dirty="0" smtClean="0">
                <a:solidFill>
                  <a:srgbClr val="C00000"/>
                </a:solidFill>
                <a:latin typeface="微软雅黑" panose="020B0503020204020204" pitchFamily="34" charset="-122"/>
                <a:ea typeface="微软雅黑" panose="020B0503020204020204" pitchFamily="34" charset="-122"/>
              </a:rPr>
              <a:t>L2</a:t>
            </a:r>
            <a:endParaRPr lang="en-US" sz="1400" b="1" dirty="0">
              <a:solidFill>
                <a:srgbClr val="C00000"/>
              </a:solidFill>
              <a:latin typeface="微软雅黑" panose="020B0503020204020204" pitchFamily="34" charset="-122"/>
              <a:ea typeface="微软雅黑" panose="020B0503020204020204" pitchFamily="34" charset="-122"/>
            </a:endParaRPr>
          </a:p>
        </p:txBody>
      </p:sp>
      <p:sp>
        <p:nvSpPr>
          <p:cNvPr id="90" name="流程图: 磁盘 89"/>
          <p:cNvSpPr/>
          <p:nvPr/>
        </p:nvSpPr>
        <p:spPr>
          <a:xfrm>
            <a:off x="2582613" y="5679070"/>
            <a:ext cx="670842" cy="487886"/>
          </a:xfrm>
          <a:prstGeom prst="flowChartMagneticDisk">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smtClean="0">
                <a:solidFill>
                  <a:srgbClr val="C00000"/>
                </a:solidFill>
                <a:latin typeface="微软雅黑" panose="020B0503020204020204" pitchFamily="34" charset="-122"/>
                <a:ea typeface="微软雅黑" panose="020B0503020204020204" pitchFamily="34" charset="-122"/>
              </a:rPr>
              <a:t>MySQL</a:t>
            </a:r>
            <a:endParaRPr lang="en-US" altLang="zh-CN" sz="1000" dirty="0" smtClean="0">
              <a:solidFill>
                <a:srgbClr val="C00000"/>
              </a:solidFill>
              <a:latin typeface="微软雅黑" panose="020B0503020204020204" pitchFamily="34" charset="-122"/>
              <a:ea typeface="微软雅黑" panose="020B0503020204020204" pitchFamily="34" charset="-122"/>
            </a:endParaRPr>
          </a:p>
          <a:p>
            <a:pPr algn="ctr"/>
            <a:r>
              <a:rPr lang="zh-CN" altLang="en-US" sz="1000" dirty="0" smtClean="0">
                <a:solidFill>
                  <a:srgbClr val="C00000"/>
                </a:solidFill>
                <a:latin typeface="微软雅黑" panose="020B0503020204020204" pitchFamily="34" charset="-122"/>
                <a:ea typeface="微软雅黑" panose="020B0503020204020204" pitchFamily="34" charset="-122"/>
              </a:rPr>
              <a:t>主库</a:t>
            </a:r>
            <a:endParaRPr lang="zh-CN" altLang="en-US" sz="1000" dirty="0">
              <a:solidFill>
                <a:srgbClr val="C00000"/>
              </a:solidFill>
              <a:latin typeface="微软雅黑" panose="020B0503020204020204" pitchFamily="34" charset="-122"/>
              <a:ea typeface="微软雅黑" panose="020B0503020204020204" pitchFamily="34" charset="-122"/>
            </a:endParaRPr>
          </a:p>
        </p:txBody>
      </p:sp>
      <p:sp>
        <p:nvSpPr>
          <p:cNvPr id="7" name="流程图: 磁盘 6"/>
          <p:cNvSpPr/>
          <p:nvPr/>
        </p:nvSpPr>
        <p:spPr>
          <a:xfrm>
            <a:off x="3619749" y="5679070"/>
            <a:ext cx="670842" cy="487886"/>
          </a:xfrm>
          <a:prstGeom prst="flowChartMagneticDisk">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smtClean="0">
                <a:solidFill>
                  <a:srgbClr val="C00000"/>
                </a:solidFill>
                <a:latin typeface="微软雅黑" panose="020B0503020204020204" pitchFamily="34" charset="-122"/>
                <a:ea typeface="微软雅黑" panose="020B0503020204020204" pitchFamily="34" charset="-122"/>
              </a:rPr>
              <a:t>MySQL</a:t>
            </a:r>
            <a:endParaRPr lang="en-US" altLang="zh-CN" sz="1000" dirty="0" smtClean="0">
              <a:solidFill>
                <a:srgbClr val="C00000"/>
              </a:solidFill>
              <a:latin typeface="微软雅黑" panose="020B0503020204020204" pitchFamily="34" charset="-122"/>
              <a:ea typeface="微软雅黑" panose="020B0503020204020204" pitchFamily="34" charset="-122"/>
            </a:endParaRPr>
          </a:p>
          <a:p>
            <a:pPr algn="ctr"/>
            <a:r>
              <a:rPr lang="zh-CN" altLang="en-US" sz="1000" dirty="0" smtClean="0">
                <a:solidFill>
                  <a:srgbClr val="C00000"/>
                </a:solidFill>
                <a:latin typeface="微软雅黑" panose="020B0503020204020204" pitchFamily="34" charset="-122"/>
                <a:ea typeface="微软雅黑" panose="020B0503020204020204" pitchFamily="34" charset="-122"/>
              </a:rPr>
              <a:t>从库</a:t>
            </a:r>
            <a:endParaRPr lang="zh-CN" altLang="en-US" sz="1000" dirty="0">
              <a:solidFill>
                <a:srgbClr val="C00000"/>
              </a:solidFill>
              <a:latin typeface="微软雅黑" panose="020B0503020204020204" pitchFamily="34" charset="-122"/>
              <a:ea typeface="微软雅黑" panose="020B0503020204020204" pitchFamily="34" charset="-122"/>
            </a:endParaRPr>
          </a:p>
        </p:txBody>
      </p:sp>
      <p:cxnSp>
        <p:nvCxnSpPr>
          <p:cNvPr id="80" name="直接箭头连接符 79"/>
          <p:cNvCxnSpPr>
            <a:stCxn id="90" idx="4"/>
            <a:endCxn id="7" idx="2"/>
          </p:cNvCxnSpPr>
          <p:nvPr/>
        </p:nvCxnSpPr>
        <p:spPr>
          <a:xfrm>
            <a:off x="3253455" y="5923013"/>
            <a:ext cx="366294"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1" name="立方体 80"/>
          <p:cNvSpPr/>
          <p:nvPr/>
        </p:nvSpPr>
        <p:spPr>
          <a:xfrm>
            <a:off x="4778455" y="5675147"/>
            <a:ext cx="756682" cy="487886"/>
          </a:xfrm>
          <a:prstGeom prst="cube">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err="1" smtClean="0">
                <a:solidFill>
                  <a:srgbClr val="C00000"/>
                </a:solidFill>
                <a:latin typeface="微软雅黑" panose="020B0503020204020204" pitchFamily="34" charset="-122"/>
                <a:ea typeface="微软雅黑" panose="020B0503020204020204" pitchFamily="34" charset="-122"/>
              </a:rPr>
              <a:t>Redis</a:t>
            </a:r>
            <a:br>
              <a:rPr lang="en-US" altLang="zh-CN" sz="1000" dirty="0" smtClean="0">
                <a:solidFill>
                  <a:srgbClr val="C00000"/>
                </a:solidFill>
                <a:latin typeface="微软雅黑" panose="020B0503020204020204" pitchFamily="34" charset="-122"/>
                <a:ea typeface="微软雅黑" panose="020B0503020204020204" pitchFamily="34" charset="-122"/>
              </a:rPr>
            </a:br>
            <a:r>
              <a:rPr lang="zh-CN" altLang="en-US" sz="1000" dirty="0" smtClean="0">
                <a:solidFill>
                  <a:srgbClr val="C00000"/>
                </a:solidFill>
                <a:latin typeface="微软雅黑" panose="020B0503020204020204" pitchFamily="34" charset="-122"/>
                <a:ea typeface="微软雅黑" panose="020B0503020204020204" pitchFamily="34" charset="-122"/>
              </a:rPr>
              <a:t>主</a:t>
            </a:r>
            <a:endParaRPr lang="zh-CN" altLang="en-US" sz="1000" dirty="0">
              <a:solidFill>
                <a:srgbClr val="C00000"/>
              </a:solidFill>
              <a:latin typeface="微软雅黑" panose="020B0503020204020204" pitchFamily="34" charset="-122"/>
              <a:ea typeface="微软雅黑" panose="020B0503020204020204" pitchFamily="34" charset="-122"/>
            </a:endParaRPr>
          </a:p>
        </p:txBody>
      </p:sp>
      <p:sp>
        <p:nvSpPr>
          <p:cNvPr id="91" name="矩形 90"/>
          <p:cNvSpPr/>
          <p:nvPr/>
        </p:nvSpPr>
        <p:spPr>
          <a:xfrm>
            <a:off x="4596897" y="5562974"/>
            <a:ext cx="2014284" cy="719696"/>
          </a:xfrm>
          <a:prstGeom prst="rect">
            <a:avLst/>
          </a:prstGeom>
          <a:noFill/>
          <a:ln w="19050">
            <a:solidFill>
              <a:srgbClr val="C00000"/>
            </a:solidFill>
            <a:prstDash val="lgDashDot"/>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92" name="立方体 91"/>
          <p:cNvSpPr/>
          <p:nvPr/>
        </p:nvSpPr>
        <p:spPr>
          <a:xfrm>
            <a:off x="5728680" y="5675147"/>
            <a:ext cx="756682" cy="487886"/>
          </a:xfrm>
          <a:prstGeom prst="cube">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err="1" smtClean="0">
                <a:solidFill>
                  <a:srgbClr val="C00000"/>
                </a:solidFill>
                <a:latin typeface="微软雅黑" panose="020B0503020204020204" pitchFamily="34" charset="-122"/>
                <a:ea typeface="微软雅黑" panose="020B0503020204020204" pitchFamily="34" charset="-122"/>
              </a:rPr>
              <a:t>Redis</a:t>
            </a:r>
            <a:endParaRPr lang="en-US" altLang="zh-CN" sz="1000" dirty="0" smtClean="0">
              <a:solidFill>
                <a:srgbClr val="C00000"/>
              </a:solidFill>
              <a:latin typeface="微软雅黑" panose="020B0503020204020204" pitchFamily="34" charset="-122"/>
              <a:ea typeface="微软雅黑" panose="020B0503020204020204" pitchFamily="34" charset="-122"/>
            </a:endParaRPr>
          </a:p>
          <a:p>
            <a:pPr algn="ctr"/>
            <a:r>
              <a:rPr lang="zh-CN" altLang="en-US" sz="1000" dirty="0" smtClean="0">
                <a:solidFill>
                  <a:srgbClr val="C00000"/>
                </a:solidFill>
                <a:latin typeface="微软雅黑" panose="020B0503020204020204" pitchFamily="34" charset="-122"/>
                <a:ea typeface="微软雅黑" panose="020B0503020204020204" pitchFamily="34" charset="-122"/>
              </a:rPr>
              <a:t>从</a:t>
            </a:r>
            <a:endParaRPr lang="zh-CN" altLang="en-US" sz="1000" dirty="0">
              <a:solidFill>
                <a:srgbClr val="C00000"/>
              </a:solidFill>
              <a:latin typeface="微软雅黑" panose="020B0503020204020204" pitchFamily="34" charset="-122"/>
              <a:ea typeface="微软雅黑" panose="020B0503020204020204" pitchFamily="34" charset="-122"/>
            </a:endParaRPr>
          </a:p>
        </p:txBody>
      </p:sp>
      <p:cxnSp>
        <p:nvCxnSpPr>
          <p:cNvPr id="93" name="直接箭头连接符 92"/>
          <p:cNvCxnSpPr>
            <a:stCxn id="81" idx="4"/>
            <a:endCxn id="92" idx="2"/>
          </p:cNvCxnSpPr>
          <p:nvPr/>
        </p:nvCxnSpPr>
        <p:spPr>
          <a:xfrm>
            <a:off x="5413166" y="5980076"/>
            <a:ext cx="315514"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6" name="流程图: 文档 95"/>
          <p:cNvSpPr/>
          <p:nvPr/>
        </p:nvSpPr>
        <p:spPr>
          <a:xfrm>
            <a:off x="7044407" y="5628236"/>
            <a:ext cx="641839" cy="375583"/>
          </a:xfrm>
          <a:prstGeom prst="flowChartDocument">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97" name="流程图: 文档 96"/>
          <p:cNvSpPr/>
          <p:nvPr/>
        </p:nvSpPr>
        <p:spPr>
          <a:xfrm>
            <a:off x="6973722" y="5721784"/>
            <a:ext cx="641839" cy="375583"/>
          </a:xfrm>
          <a:prstGeom prst="flowChartDocument">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98" name="流程图: 文档 97"/>
          <p:cNvSpPr/>
          <p:nvPr/>
        </p:nvSpPr>
        <p:spPr>
          <a:xfrm>
            <a:off x="6865704" y="5823123"/>
            <a:ext cx="641839" cy="375583"/>
          </a:xfrm>
          <a:prstGeom prst="flowChartDocument">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smtClean="0">
                <a:solidFill>
                  <a:srgbClr val="C00000"/>
                </a:solidFill>
                <a:latin typeface="微软雅黑" panose="020B0503020204020204" pitchFamily="34" charset="-122"/>
                <a:ea typeface="微软雅黑" panose="020B0503020204020204" pitchFamily="34" charset="-122"/>
              </a:rPr>
              <a:t>ES</a:t>
            </a:r>
            <a:endParaRPr lang="en-US" altLang="zh-CN" sz="1000" dirty="0" smtClean="0">
              <a:solidFill>
                <a:srgbClr val="C00000"/>
              </a:solidFill>
              <a:latin typeface="微软雅黑" panose="020B0503020204020204" pitchFamily="34" charset="-122"/>
              <a:ea typeface="微软雅黑" panose="020B0503020204020204" pitchFamily="34" charset="-122"/>
            </a:endParaRPr>
          </a:p>
          <a:p>
            <a:pPr algn="ctr"/>
            <a:r>
              <a:rPr lang="zh-CN" altLang="en-US" sz="1000" dirty="0" smtClean="0">
                <a:solidFill>
                  <a:srgbClr val="C00000"/>
                </a:solidFill>
                <a:latin typeface="微软雅黑" panose="020B0503020204020204" pitchFamily="34" charset="-122"/>
                <a:ea typeface="微软雅黑" panose="020B0503020204020204" pitchFamily="34" charset="-122"/>
              </a:rPr>
              <a:t>主</a:t>
            </a:r>
            <a:endParaRPr lang="zh-CN" altLang="en-US" sz="1000" dirty="0">
              <a:solidFill>
                <a:srgbClr val="C00000"/>
              </a:solidFill>
              <a:latin typeface="微软雅黑" panose="020B0503020204020204" pitchFamily="34" charset="-122"/>
              <a:ea typeface="微软雅黑" panose="020B0503020204020204" pitchFamily="34" charset="-122"/>
            </a:endParaRPr>
          </a:p>
        </p:txBody>
      </p:sp>
      <p:sp>
        <p:nvSpPr>
          <p:cNvPr id="99" name="矩形 98"/>
          <p:cNvSpPr/>
          <p:nvPr/>
        </p:nvSpPr>
        <p:spPr>
          <a:xfrm>
            <a:off x="6739741" y="5557905"/>
            <a:ext cx="2117568" cy="719696"/>
          </a:xfrm>
          <a:prstGeom prst="rect">
            <a:avLst/>
          </a:prstGeom>
          <a:noFill/>
          <a:ln w="19050">
            <a:solidFill>
              <a:srgbClr val="C00000"/>
            </a:solidFill>
            <a:prstDash val="lgDashDot"/>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100" name="流程图: 文档 99"/>
          <p:cNvSpPr/>
          <p:nvPr/>
        </p:nvSpPr>
        <p:spPr>
          <a:xfrm>
            <a:off x="8050180" y="5622574"/>
            <a:ext cx="641839" cy="375583"/>
          </a:xfrm>
          <a:prstGeom prst="flowChartDocument">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101" name="流程图: 文档 100"/>
          <p:cNvSpPr/>
          <p:nvPr/>
        </p:nvSpPr>
        <p:spPr>
          <a:xfrm>
            <a:off x="7979495" y="5716122"/>
            <a:ext cx="641839" cy="375583"/>
          </a:xfrm>
          <a:prstGeom prst="flowChartDocument">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102" name="流程图: 文档 101"/>
          <p:cNvSpPr/>
          <p:nvPr/>
        </p:nvSpPr>
        <p:spPr>
          <a:xfrm>
            <a:off x="7871477" y="5817461"/>
            <a:ext cx="641839" cy="375583"/>
          </a:xfrm>
          <a:prstGeom prst="flowChartDocument">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smtClean="0">
                <a:solidFill>
                  <a:srgbClr val="C00000"/>
                </a:solidFill>
                <a:latin typeface="微软雅黑" panose="020B0503020204020204" pitchFamily="34" charset="-122"/>
                <a:ea typeface="微软雅黑" panose="020B0503020204020204" pitchFamily="34" charset="-122"/>
              </a:rPr>
              <a:t>ES</a:t>
            </a:r>
            <a:endParaRPr lang="en-US" altLang="zh-CN" sz="1000" dirty="0" smtClean="0">
              <a:solidFill>
                <a:srgbClr val="C00000"/>
              </a:solidFill>
              <a:latin typeface="微软雅黑" panose="020B0503020204020204" pitchFamily="34" charset="-122"/>
              <a:ea typeface="微软雅黑" panose="020B0503020204020204" pitchFamily="34" charset="-122"/>
            </a:endParaRPr>
          </a:p>
          <a:p>
            <a:pPr algn="ctr"/>
            <a:r>
              <a:rPr lang="zh-CN" altLang="en-US" sz="1000" dirty="0" smtClean="0">
                <a:solidFill>
                  <a:srgbClr val="C00000"/>
                </a:solidFill>
                <a:latin typeface="微软雅黑" panose="020B0503020204020204" pitchFamily="34" charset="-122"/>
                <a:ea typeface="微软雅黑" panose="020B0503020204020204" pitchFamily="34" charset="-122"/>
              </a:rPr>
              <a:t>从</a:t>
            </a:r>
            <a:endParaRPr lang="zh-CN" altLang="en-US" sz="1000" dirty="0">
              <a:solidFill>
                <a:srgbClr val="C00000"/>
              </a:solidFill>
              <a:latin typeface="微软雅黑" panose="020B0503020204020204" pitchFamily="34" charset="-122"/>
              <a:ea typeface="微软雅黑" panose="020B0503020204020204" pitchFamily="34" charset="-122"/>
            </a:endParaRPr>
          </a:p>
        </p:txBody>
      </p:sp>
      <p:sp>
        <p:nvSpPr>
          <p:cNvPr id="103" name="矩形 102"/>
          <p:cNvSpPr/>
          <p:nvPr/>
        </p:nvSpPr>
        <p:spPr>
          <a:xfrm>
            <a:off x="8983272" y="5562187"/>
            <a:ext cx="2117568" cy="719696"/>
          </a:xfrm>
          <a:prstGeom prst="rect">
            <a:avLst/>
          </a:prstGeom>
          <a:noFill/>
          <a:ln w="19050">
            <a:solidFill>
              <a:srgbClr val="C00000"/>
            </a:solidFill>
            <a:prstDash val="lgDashDot"/>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000">
              <a:solidFill>
                <a:srgbClr val="C00000"/>
              </a:solidFill>
              <a:latin typeface="微软雅黑" panose="020B0503020204020204" pitchFamily="34" charset="-122"/>
              <a:ea typeface="微软雅黑" panose="020B0503020204020204" pitchFamily="34" charset="-122"/>
            </a:endParaRPr>
          </a:p>
        </p:txBody>
      </p:sp>
      <p:sp>
        <p:nvSpPr>
          <p:cNvPr id="104" name="流程图: 磁盘 103"/>
          <p:cNvSpPr/>
          <p:nvPr/>
        </p:nvSpPr>
        <p:spPr>
          <a:xfrm>
            <a:off x="9155969" y="5673645"/>
            <a:ext cx="670842" cy="487886"/>
          </a:xfrm>
          <a:prstGeom prst="flowChartMagneticDisk">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smtClean="0">
                <a:solidFill>
                  <a:srgbClr val="C00000"/>
                </a:solidFill>
                <a:latin typeface="微软雅黑" panose="020B0503020204020204" pitchFamily="34" charset="-122"/>
                <a:ea typeface="微软雅黑" panose="020B0503020204020204" pitchFamily="34" charset="-122"/>
              </a:rPr>
              <a:t>CK</a:t>
            </a:r>
            <a:endParaRPr lang="en-US" altLang="zh-CN" sz="1000" dirty="0" smtClean="0">
              <a:solidFill>
                <a:srgbClr val="C00000"/>
              </a:solidFill>
              <a:latin typeface="微软雅黑" panose="020B0503020204020204" pitchFamily="34" charset="-122"/>
              <a:ea typeface="微软雅黑" panose="020B0503020204020204" pitchFamily="34" charset="-122"/>
            </a:endParaRPr>
          </a:p>
          <a:p>
            <a:pPr algn="ctr"/>
            <a:r>
              <a:rPr lang="zh-CN" altLang="en-US" sz="1000" dirty="0" smtClean="0">
                <a:solidFill>
                  <a:srgbClr val="C00000"/>
                </a:solidFill>
                <a:latin typeface="微软雅黑" panose="020B0503020204020204" pitchFamily="34" charset="-122"/>
                <a:ea typeface="微软雅黑" panose="020B0503020204020204" pitchFamily="34" charset="-122"/>
              </a:rPr>
              <a:t>主库</a:t>
            </a:r>
            <a:endParaRPr lang="zh-CN" altLang="en-US" sz="1000" dirty="0">
              <a:solidFill>
                <a:srgbClr val="C00000"/>
              </a:solidFill>
              <a:latin typeface="微软雅黑" panose="020B0503020204020204" pitchFamily="34" charset="-122"/>
              <a:ea typeface="微软雅黑" panose="020B0503020204020204" pitchFamily="34" charset="-122"/>
            </a:endParaRPr>
          </a:p>
        </p:txBody>
      </p:sp>
      <p:sp>
        <p:nvSpPr>
          <p:cNvPr id="105" name="流程图: 磁盘 104"/>
          <p:cNvSpPr/>
          <p:nvPr/>
        </p:nvSpPr>
        <p:spPr>
          <a:xfrm>
            <a:off x="10193105" y="5673645"/>
            <a:ext cx="670842" cy="487886"/>
          </a:xfrm>
          <a:prstGeom prst="flowChartMagneticDisk">
            <a:avLst/>
          </a:prstGeom>
          <a:solidFill>
            <a:srgbClr val="FFE1E1"/>
          </a:solidFill>
          <a:ln w="19050">
            <a:solidFill>
              <a:schemeClr val="bg1"/>
            </a:solidFill>
          </a:ln>
          <a:effectLst>
            <a:outerShdw blurRad="50800" dist="38100" dir="5400000" algn="t"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tlCol="0" anchor="ctr"/>
          <a:lstStyle/>
          <a:p>
            <a:pPr algn="ctr"/>
            <a:r>
              <a:rPr lang="en-US" altLang="zh-CN" sz="1000" dirty="0" smtClean="0">
                <a:solidFill>
                  <a:srgbClr val="C00000"/>
                </a:solidFill>
                <a:latin typeface="微软雅黑" panose="020B0503020204020204" pitchFamily="34" charset="-122"/>
                <a:ea typeface="微软雅黑" panose="020B0503020204020204" pitchFamily="34" charset="-122"/>
              </a:rPr>
              <a:t>CK</a:t>
            </a:r>
            <a:endParaRPr lang="en-US" altLang="zh-CN" sz="1000" dirty="0" smtClean="0">
              <a:solidFill>
                <a:srgbClr val="C00000"/>
              </a:solidFill>
              <a:latin typeface="微软雅黑" panose="020B0503020204020204" pitchFamily="34" charset="-122"/>
              <a:ea typeface="微软雅黑" panose="020B0503020204020204" pitchFamily="34" charset="-122"/>
            </a:endParaRPr>
          </a:p>
          <a:p>
            <a:pPr algn="ctr"/>
            <a:r>
              <a:rPr lang="zh-CN" altLang="en-US" sz="1000" dirty="0" smtClean="0">
                <a:solidFill>
                  <a:srgbClr val="C00000"/>
                </a:solidFill>
                <a:latin typeface="微软雅黑" panose="020B0503020204020204" pitchFamily="34" charset="-122"/>
                <a:ea typeface="微软雅黑" panose="020B0503020204020204" pitchFamily="34" charset="-122"/>
              </a:rPr>
              <a:t>从库</a:t>
            </a:r>
            <a:endParaRPr lang="zh-CN" altLang="en-US" sz="1000" dirty="0">
              <a:solidFill>
                <a:srgbClr val="C00000"/>
              </a:solidFill>
              <a:latin typeface="微软雅黑" panose="020B0503020204020204" pitchFamily="34" charset="-122"/>
              <a:ea typeface="微软雅黑" panose="020B0503020204020204" pitchFamily="34" charset="-122"/>
            </a:endParaRPr>
          </a:p>
        </p:txBody>
      </p:sp>
      <p:cxnSp>
        <p:nvCxnSpPr>
          <p:cNvPr id="106" name="直接箭头连接符 105"/>
          <p:cNvCxnSpPr>
            <a:stCxn id="104" idx="4"/>
            <a:endCxn id="105" idx="2"/>
          </p:cNvCxnSpPr>
          <p:nvPr/>
        </p:nvCxnSpPr>
        <p:spPr>
          <a:xfrm>
            <a:off x="9826811" y="5917588"/>
            <a:ext cx="366294"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charset="-122"/>
                  <a:cs typeface="+mn-cs"/>
                </a:endParaRPr>
              </a:p>
            </p:txBody>
          </p:sp>
        </p:grpSp>
        <p:sp>
          <p:nvSpPr>
            <p:cNvPr id="4" name="TextBox 7"/>
            <p:cNvSpPr txBox="1"/>
            <p:nvPr/>
          </p:nvSpPr>
          <p:spPr>
            <a:xfrm>
              <a:off x="383254" y="498266"/>
              <a:ext cx="7415271" cy="523220"/>
            </a:xfrm>
            <a:prstGeom prst="rect">
              <a:avLst/>
            </a:prstGeom>
            <a:noFill/>
          </p:spPr>
          <p:txBody>
            <a:bodyPr wrap="square" rtlCol="0">
              <a:spAutoFit/>
            </a:bodyPr>
            <a:lstStyle/>
            <a:p>
              <a:pPr lvl="0"/>
              <a:r>
                <a:rPr lang="zh-CN" altLang="en-US" sz="2800" b="1" dirty="0" smtClean="0">
                  <a:solidFill>
                    <a:prstClr val="black"/>
                  </a:solidFill>
                  <a:latin typeface="微软雅黑" panose="020B0503020204020204" pitchFamily="34" charset="-122"/>
                  <a:ea typeface="微软雅黑" panose="020B0503020204020204" pitchFamily="34" charset="-122"/>
                </a:rPr>
                <a:t>开发架构图</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grpSp>
      <p:sp>
        <p:nvSpPr>
          <p:cNvPr id="94" name="矩形 93"/>
          <p:cNvSpPr/>
          <p:nvPr/>
        </p:nvSpPr>
        <p:spPr>
          <a:xfrm>
            <a:off x="447229" y="1011353"/>
            <a:ext cx="10604702" cy="452845"/>
          </a:xfrm>
          <a:prstGeom prst="rect">
            <a:avLst/>
          </a:prstGeom>
          <a:solidFill>
            <a:schemeClr val="accent4">
              <a:lumMod val="60000"/>
              <a:lumOff val="40000"/>
            </a:schemeClr>
          </a:solidFill>
          <a:ln w="1905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三层架构</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95" name="矩形 94"/>
          <p:cNvSpPr/>
          <p:nvPr/>
        </p:nvSpPr>
        <p:spPr>
          <a:xfrm>
            <a:off x="447229" y="1464198"/>
            <a:ext cx="10604702" cy="5197859"/>
          </a:xfrm>
          <a:prstGeom prst="rect">
            <a:avLst/>
          </a:prstGeom>
          <a:solidFill>
            <a:schemeClr val="bg1">
              <a:lumMod val="95000"/>
            </a:schemeClr>
          </a:solidFill>
          <a:ln w="1905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圆角矩形 106"/>
          <p:cNvSpPr/>
          <p:nvPr/>
        </p:nvSpPr>
        <p:spPr>
          <a:xfrm>
            <a:off x="1120141" y="1588063"/>
            <a:ext cx="8970856" cy="1149530"/>
          </a:xfrm>
          <a:prstGeom prst="roundRect">
            <a:avLst/>
          </a:prstGeom>
          <a:noFill/>
          <a:ln w="1905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圆角矩形 107"/>
          <p:cNvSpPr/>
          <p:nvPr/>
        </p:nvSpPr>
        <p:spPr>
          <a:xfrm>
            <a:off x="1120141" y="1588062"/>
            <a:ext cx="2159494" cy="1149530"/>
          </a:xfrm>
          <a:prstGeom prst="roundRect">
            <a:avLst/>
          </a:prstGeom>
          <a:solidFill>
            <a:schemeClr val="accent2">
              <a:lumMod val="60000"/>
              <a:lumOff val="40000"/>
            </a:schemeClr>
          </a:solidFill>
          <a:ln w="1905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控制层</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109" name="圆角矩形 108"/>
          <p:cNvSpPr/>
          <p:nvPr/>
        </p:nvSpPr>
        <p:spPr>
          <a:xfrm>
            <a:off x="1120140" y="2913919"/>
            <a:ext cx="8970856" cy="2130287"/>
          </a:xfrm>
          <a:prstGeom prst="roundRect">
            <a:avLst/>
          </a:prstGeom>
          <a:noFill/>
          <a:ln w="1905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圆角矩形 109"/>
          <p:cNvSpPr/>
          <p:nvPr/>
        </p:nvSpPr>
        <p:spPr>
          <a:xfrm>
            <a:off x="1120140" y="2913918"/>
            <a:ext cx="2159494" cy="2130288"/>
          </a:xfrm>
          <a:prstGeom prst="roundRect">
            <a:avLst/>
          </a:prstGeom>
          <a:solidFill>
            <a:schemeClr val="tx1">
              <a:lumMod val="65000"/>
              <a:lumOff val="35000"/>
            </a:schemeClr>
          </a:solidFill>
          <a:ln w="1905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业务层</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111" name="圆角矩形 110"/>
          <p:cNvSpPr/>
          <p:nvPr/>
        </p:nvSpPr>
        <p:spPr>
          <a:xfrm>
            <a:off x="1120140" y="5164969"/>
            <a:ext cx="8970856" cy="1393371"/>
          </a:xfrm>
          <a:prstGeom prst="roundRect">
            <a:avLst/>
          </a:prstGeom>
          <a:noFill/>
          <a:ln w="1905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圆角矩形 111"/>
          <p:cNvSpPr/>
          <p:nvPr/>
        </p:nvSpPr>
        <p:spPr>
          <a:xfrm>
            <a:off x="1120140" y="5164968"/>
            <a:ext cx="2159494" cy="1393371"/>
          </a:xfrm>
          <a:prstGeom prst="roundRect">
            <a:avLst/>
          </a:prstGeom>
          <a:solidFill>
            <a:schemeClr val="accent6">
              <a:lumMod val="60000"/>
              <a:lumOff val="40000"/>
            </a:schemeClr>
          </a:solidFill>
          <a:ln w="1905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数据访问层</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113" name="矩形 112"/>
          <p:cNvSpPr/>
          <p:nvPr/>
        </p:nvSpPr>
        <p:spPr>
          <a:xfrm>
            <a:off x="3776429" y="1754330"/>
            <a:ext cx="5467166" cy="331629"/>
          </a:xfrm>
          <a:prstGeom prst="rect">
            <a:avLst/>
          </a:prstGeom>
          <a:solidFill>
            <a:srgbClr val="F599DD"/>
          </a:solidFill>
          <a:ln w="19050">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anose="020B0503020204020204" pitchFamily="34" charset="-122"/>
                <a:ea typeface="微软雅黑" panose="020B0503020204020204" pitchFamily="34" charset="-122"/>
              </a:rPr>
              <a:t>API</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14" name="矩形 113"/>
          <p:cNvSpPr/>
          <p:nvPr/>
        </p:nvSpPr>
        <p:spPr>
          <a:xfrm>
            <a:off x="3776429" y="2262286"/>
            <a:ext cx="5467166" cy="331629"/>
          </a:xfrm>
          <a:prstGeom prst="rect">
            <a:avLst/>
          </a:prstGeom>
          <a:solidFill>
            <a:srgbClr val="F599DD"/>
          </a:solidFill>
          <a:ln w="19050">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anose="020B0503020204020204" pitchFamily="34" charset="-122"/>
                <a:ea typeface="微软雅黑" panose="020B0503020204020204" pitchFamily="34" charset="-122"/>
              </a:rPr>
              <a:t>Validation</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15" name="矩形 114"/>
          <p:cNvSpPr/>
          <p:nvPr/>
        </p:nvSpPr>
        <p:spPr>
          <a:xfrm>
            <a:off x="3776429" y="3061868"/>
            <a:ext cx="5467166" cy="331629"/>
          </a:xfrm>
          <a:prstGeom prst="rect">
            <a:avLst/>
          </a:prstGeom>
          <a:solidFill>
            <a:schemeClr val="bg2">
              <a:lumMod val="50000"/>
            </a:schemeClr>
          </a:solidFill>
          <a:ln w="19050">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anose="020B0503020204020204" pitchFamily="34" charset="-122"/>
                <a:ea typeface="微软雅黑" panose="020B0503020204020204" pitchFamily="34" charset="-122"/>
              </a:rPr>
              <a:t>VO</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16" name="矩形 115"/>
          <p:cNvSpPr/>
          <p:nvPr/>
        </p:nvSpPr>
        <p:spPr>
          <a:xfrm>
            <a:off x="3776429" y="3582144"/>
            <a:ext cx="5467166" cy="331629"/>
          </a:xfrm>
          <a:prstGeom prst="rect">
            <a:avLst/>
          </a:prstGeom>
          <a:solidFill>
            <a:schemeClr val="bg2">
              <a:lumMod val="50000"/>
            </a:schemeClr>
          </a:solidFill>
          <a:ln w="19050">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anose="020B0503020204020204" pitchFamily="34" charset="-122"/>
                <a:ea typeface="微软雅黑" panose="020B0503020204020204" pitchFamily="34" charset="-122"/>
              </a:rPr>
              <a:t>DTO</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17" name="矩形 116"/>
          <p:cNvSpPr/>
          <p:nvPr/>
        </p:nvSpPr>
        <p:spPr>
          <a:xfrm>
            <a:off x="3775482" y="4615822"/>
            <a:ext cx="5467166" cy="331629"/>
          </a:xfrm>
          <a:prstGeom prst="rect">
            <a:avLst/>
          </a:prstGeom>
          <a:solidFill>
            <a:schemeClr val="bg2">
              <a:lumMod val="50000"/>
            </a:schemeClr>
          </a:solidFill>
          <a:ln w="19050">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anose="020B0503020204020204" pitchFamily="34" charset="-122"/>
                <a:ea typeface="微软雅黑" panose="020B0503020204020204" pitchFamily="34" charset="-122"/>
              </a:rPr>
              <a:t>Service</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18" name="矩形 117"/>
          <p:cNvSpPr/>
          <p:nvPr/>
        </p:nvSpPr>
        <p:spPr>
          <a:xfrm>
            <a:off x="3775482" y="4098014"/>
            <a:ext cx="5467166" cy="331629"/>
          </a:xfrm>
          <a:prstGeom prst="rect">
            <a:avLst/>
          </a:prstGeom>
          <a:solidFill>
            <a:schemeClr val="bg2">
              <a:lumMod val="50000"/>
            </a:schemeClr>
          </a:solidFill>
          <a:ln w="19050">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err="1" smtClean="0">
                <a:solidFill>
                  <a:schemeClr val="tx1"/>
                </a:solidFill>
                <a:latin typeface="微软雅黑" panose="020B0503020204020204" pitchFamily="34" charset="-122"/>
                <a:ea typeface="微软雅黑" panose="020B0503020204020204" pitchFamily="34" charset="-122"/>
              </a:rPr>
              <a:t>Utils</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19" name="矩形 118"/>
          <p:cNvSpPr/>
          <p:nvPr/>
        </p:nvSpPr>
        <p:spPr>
          <a:xfrm>
            <a:off x="3776426" y="5317314"/>
            <a:ext cx="5467166" cy="298463"/>
          </a:xfrm>
          <a:prstGeom prst="rect">
            <a:avLst/>
          </a:prstGeom>
          <a:solidFill>
            <a:schemeClr val="bg2">
              <a:lumMod val="90000"/>
            </a:schemeClr>
          </a:solidFill>
          <a:ln w="19050">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chemeClr val="tx1"/>
                </a:solidFill>
                <a:latin typeface="微软雅黑" panose="020B0503020204020204" pitchFamily="34" charset="-122"/>
                <a:ea typeface="微软雅黑" panose="020B0503020204020204" pitchFamily="34" charset="-122"/>
              </a:rPr>
              <a:t>Domain</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20" name="矩形 119"/>
          <p:cNvSpPr/>
          <p:nvPr/>
        </p:nvSpPr>
        <p:spPr>
          <a:xfrm>
            <a:off x="3775482" y="6189678"/>
            <a:ext cx="5467166" cy="298463"/>
          </a:xfrm>
          <a:prstGeom prst="rect">
            <a:avLst/>
          </a:prstGeom>
          <a:solidFill>
            <a:schemeClr val="bg2">
              <a:lumMod val="90000"/>
            </a:schemeClr>
          </a:solidFill>
          <a:ln w="19050">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anose="020B0503020204020204" pitchFamily="34" charset="-122"/>
                <a:ea typeface="微软雅黑" panose="020B0503020204020204" pitchFamily="34" charset="-122"/>
              </a:rPr>
              <a:t>Xml</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21" name="矩形 120"/>
          <p:cNvSpPr/>
          <p:nvPr/>
        </p:nvSpPr>
        <p:spPr>
          <a:xfrm>
            <a:off x="3775482" y="5753496"/>
            <a:ext cx="5467166" cy="298463"/>
          </a:xfrm>
          <a:prstGeom prst="rect">
            <a:avLst/>
          </a:prstGeom>
          <a:solidFill>
            <a:schemeClr val="bg2">
              <a:lumMod val="90000"/>
            </a:schemeClr>
          </a:solidFill>
          <a:ln w="19050">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anose="020B0503020204020204" pitchFamily="34" charset="-122"/>
                <a:ea typeface="微软雅黑" panose="020B0503020204020204" pitchFamily="34" charset="-122"/>
              </a:rPr>
              <a:t>DAO</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charset="-122"/>
                  <a:cs typeface="+mn-cs"/>
                </a:endParaRPr>
              </a:p>
            </p:txBody>
          </p:sp>
        </p:grpSp>
        <p:sp>
          <p:nvSpPr>
            <p:cNvPr id="4" name="TextBox 7"/>
            <p:cNvSpPr txBox="1"/>
            <p:nvPr/>
          </p:nvSpPr>
          <p:spPr>
            <a:xfrm>
              <a:off x="383254" y="498266"/>
              <a:ext cx="7415271" cy="523220"/>
            </a:xfrm>
            <a:prstGeom prst="rect">
              <a:avLst/>
            </a:prstGeom>
            <a:noFill/>
          </p:spPr>
          <p:txBody>
            <a:bodyPr wrap="square" rtlCol="0">
              <a:spAutoFit/>
            </a:bodyPr>
            <a:lstStyle/>
            <a:p>
              <a:pPr lvl="0"/>
              <a:r>
                <a:rPr lang="zh-CN" altLang="en-US" sz="2800" b="1" dirty="0" smtClean="0">
                  <a:solidFill>
                    <a:prstClr val="black"/>
                  </a:solidFill>
                  <a:latin typeface="微软雅黑" panose="020B0503020204020204" pitchFamily="34" charset="-122"/>
                  <a:ea typeface="微软雅黑" panose="020B0503020204020204" pitchFamily="34" charset="-122"/>
                </a:rPr>
                <a:t>数仓总体架构图</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grpSp>
      <p:pic>
        <p:nvPicPr>
          <p:cNvPr id="8" name="图片 7" descr="upload_post_object_v2_360375614"/>
          <p:cNvPicPr>
            <a:picLocks noChangeAspect="1"/>
          </p:cNvPicPr>
          <p:nvPr/>
        </p:nvPicPr>
        <p:blipFill>
          <a:blip r:embed="rId1"/>
          <a:stretch>
            <a:fillRect/>
          </a:stretch>
        </p:blipFill>
        <p:spPr>
          <a:xfrm>
            <a:off x="344462" y="1027303"/>
            <a:ext cx="11673191" cy="56667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charset="-122"/>
                  <a:cs typeface="+mn-cs"/>
                </a:endParaRPr>
              </a:p>
            </p:txBody>
          </p:sp>
        </p:grpSp>
        <p:sp>
          <p:nvSpPr>
            <p:cNvPr id="4" name="TextBox 7"/>
            <p:cNvSpPr txBox="1"/>
            <p:nvPr/>
          </p:nvSpPr>
          <p:spPr>
            <a:xfrm>
              <a:off x="383254" y="498266"/>
              <a:ext cx="7415271" cy="523220"/>
            </a:xfrm>
            <a:prstGeom prst="rect">
              <a:avLst/>
            </a:prstGeom>
            <a:noFill/>
          </p:spPr>
          <p:txBody>
            <a:bodyPr wrap="square" rtlCol="0">
              <a:spAutoFit/>
            </a:bodyPr>
            <a:lstStyle/>
            <a:p>
              <a:pPr lvl="0"/>
              <a:r>
                <a:rPr lang="zh-CN" altLang="en-US" sz="2800" b="1" dirty="0" smtClean="0">
                  <a:solidFill>
                    <a:prstClr val="black"/>
                  </a:solidFill>
                  <a:latin typeface="微软雅黑" panose="020B0503020204020204" pitchFamily="34" charset="-122"/>
                  <a:ea typeface="微软雅黑" panose="020B0503020204020204" pitchFamily="34" charset="-122"/>
                </a:rPr>
                <a:t>集成架构图</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grpSp>
      <p:sp>
        <p:nvSpPr>
          <p:cNvPr id="8" name="矩形 7"/>
          <p:cNvSpPr/>
          <p:nvPr/>
        </p:nvSpPr>
        <p:spPr>
          <a:xfrm>
            <a:off x="2948421" y="3284170"/>
            <a:ext cx="1426598" cy="548609"/>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smtClean="0"/>
              <a:t>Shopify</a:t>
            </a:r>
            <a:r>
              <a:rPr lang="zh-CN" altLang="en-US" dirty="0" smtClean="0"/>
              <a:t>官网</a:t>
            </a:r>
            <a:endParaRPr lang="en-GB" dirty="0"/>
          </a:p>
        </p:txBody>
      </p:sp>
      <p:sp>
        <p:nvSpPr>
          <p:cNvPr id="9" name="矩形 8"/>
          <p:cNvSpPr/>
          <p:nvPr/>
        </p:nvSpPr>
        <p:spPr>
          <a:xfrm>
            <a:off x="2937627" y="3985183"/>
            <a:ext cx="1426598" cy="548609"/>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smtClean="0"/>
              <a:t>POS</a:t>
            </a:r>
            <a:r>
              <a:rPr lang="zh-CN" altLang="en-US" dirty="0" smtClean="0"/>
              <a:t>门店</a:t>
            </a:r>
            <a:endParaRPr lang="en-GB" dirty="0"/>
          </a:p>
        </p:txBody>
      </p:sp>
      <p:cxnSp>
        <p:nvCxnSpPr>
          <p:cNvPr id="10" name="肘形连接符 9"/>
          <p:cNvCxnSpPr>
            <a:endCxn id="8" idx="1"/>
          </p:cNvCxnSpPr>
          <p:nvPr/>
        </p:nvCxnSpPr>
        <p:spPr>
          <a:xfrm>
            <a:off x="1394981" y="3557332"/>
            <a:ext cx="1553440" cy="1143"/>
          </a:xfrm>
          <a:prstGeom prst="bentConnector3">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肘形连接符 10"/>
          <p:cNvCxnSpPr>
            <a:endCxn id="9" idx="1"/>
          </p:cNvCxnSpPr>
          <p:nvPr/>
        </p:nvCxnSpPr>
        <p:spPr>
          <a:xfrm>
            <a:off x="1420860" y="3557332"/>
            <a:ext cx="1516767" cy="702156"/>
          </a:xfrm>
          <a:prstGeom prst="bentConnector3">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1736653" y="3280333"/>
            <a:ext cx="865943"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注册</a:t>
            </a:r>
            <a:r>
              <a:rPr lang="en-US" altLang="zh-CN" sz="1200" b="1" dirty="0" smtClean="0">
                <a:latin typeface="微软雅黑" panose="020B0503020204020204" pitchFamily="34" charset="-122"/>
                <a:ea typeface="微软雅黑" panose="020B0503020204020204" pitchFamily="34" charset="-122"/>
              </a:rPr>
              <a:t>/</a:t>
            </a:r>
            <a:r>
              <a:rPr lang="zh-CN" altLang="en-US" sz="1200" b="1" dirty="0" smtClean="0">
                <a:latin typeface="微软雅黑" panose="020B0503020204020204" pitchFamily="34" charset="-122"/>
                <a:ea typeface="微软雅黑" panose="020B0503020204020204" pitchFamily="34" charset="-122"/>
              </a:rPr>
              <a:t>下单</a:t>
            </a:r>
            <a:endParaRPr lang="zh-CN" altLang="en-US" sz="1200" b="1" dirty="0">
              <a:latin typeface="微软雅黑" panose="020B0503020204020204" pitchFamily="34" charset="-122"/>
              <a:ea typeface="微软雅黑" panose="020B0503020204020204" pitchFamily="34" charset="-122"/>
            </a:endParaRPr>
          </a:p>
        </p:txBody>
      </p:sp>
      <p:grpSp>
        <p:nvGrpSpPr>
          <p:cNvPr id="13" name="组合 12"/>
          <p:cNvGrpSpPr/>
          <p:nvPr/>
        </p:nvGrpSpPr>
        <p:grpSpPr>
          <a:xfrm>
            <a:off x="910589" y="3260559"/>
            <a:ext cx="666288" cy="922759"/>
            <a:chOff x="880947" y="1745613"/>
            <a:chExt cx="666288" cy="922759"/>
          </a:xfrm>
        </p:grpSpPr>
        <p:sp>
          <p:nvSpPr>
            <p:cNvPr id="14" name="Freeform 42"/>
            <p:cNvSpPr>
              <a:spLocks noChangeAspect="1" noEditPoints="1"/>
            </p:cNvSpPr>
            <p:nvPr/>
          </p:nvSpPr>
          <p:spPr bwMode="auto">
            <a:xfrm>
              <a:off x="880947" y="1745613"/>
              <a:ext cx="666288" cy="645760"/>
            </a:xfrm>
            <a:custGeom>
              <a:avLst/>
              <a:gdLst>
                <a:gd name="T0" fmla="*/ 201 w 210"/>
                <a:gd name="T1" fmla="*/ 150 h 178"/>
                <a:gd name="T2" fmla="*/ 105 w 210"/>
                <a:gd name="T3" fmla="*/ 112 h 178"/>
                <a:gd name="T4" fmla="*/ 9 w 210"/>
                <a:gd name="T5" fmla="*/ 150 h 178"/>
                <a:gd name="T6" fmla="*/ 23 w 210"/>
                <a:gd name="T7" fmla="*/ 178 h 178"/>
                <a:gd name="T8" fmla="*/ 187 w 210"/>
                <a:gd name="T9" fmla="*/ 178 h 178"/>
                <a:gd name="T10" fmla="*/ 201 w 210"/>
                <a:gd name="T11" fmla="*/ 150 h 178"/>
                <a:gd name="T12" fmla="*/ 105 w 210"/>
                <a:gd name="T13" fmla="*/ 81 h 178"/>
                <a:gd name="T14" fmla="*/ 146 w 210"/>
                <a:gd name="T15" fmla="*/ 40 h 178"/>
                <a:gd name="T16" fmla="*/ 105 w 210"/>
                <a:gd name="T17" fmla="*/ 0 h 178"/>
                <a:gd name="T18" fmla="*/ 64 w 210"/>
                <a:gd name="T19" fmla="*/ 40 h 178"/>
                <a:gd name="T20" fmla="*/ 105 w 210"/>
                <a:gd name="T21" fmla="*/ 8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0" h="178">
                  <a:moveTo>
                    <a:pt x="201" y="150"/>
                  </a:moveTo>
                  <a:cubicBezTo>
                    <a:pt x="184" y="127"/>
                    <a:pt x="148" y="112"/>
                    <a:pt x="105" y="112"/>
                  </a:cubicBezTo>
                  <a:cubicBezTo>
                    <a:pt x="62" y="112"/>
                    <a:pt x="26" y="127"/>
                    <a:pt x="9" y="150"/>
                  </a:cubicBezTo>
                  <a:cubicBezTo>
                    <a:pt x="0" y="161"/>
                    <a:pt x="8" y="178"/>
                    <a:pt x="23" y="178"/>
                  </a:cubicBezTo>
                  <a:cubicBezTo>
                    <a:pt x="187" y="178"/>
                    <a:pt x="187" y="178"/>
                    <a:pt x="187" y="178"/>
                  </a:cubicBezTo>
                  <a:cubicBezTo>
                    <a:pt x="202" y="178"/>
                    <a:pt x="210" y="161"/>
                    <a:pt x="201" y="150"/>
                  </a:cubicBezTo>
                  <a:close/>
                  <a:moveTo>
                    <a:pt x="105" y="81"/>
                  </a:moveTo>
                  <a:cubicBezTo>
                    <a:pt x="127" y="81"/>
                    <a:pt x="146" y="63"/>
                    <a:pt x="146" y="40"/>
                  </a:cubicBezTo>
                  <a:cubicBezTo>
                    <a:pt x="146" y="18"/>
                    <a:pt x="127" y="0"/>
                    <a:pt x="105" y="0"/>
                  </a:cubicBezTo>
                  <a:cubicBezTo>
                    <a:pt x="83" y="0"/>
                    <a:pt x="64" y="18"/>
                    <a:pt x="64" y="40"/>
                  </a:cubicBezTo>
                  <a:cubicBezTo>
                    <a:pt x="64" y="63"/>
                    <a:pt x="83" y="81"/>
                    <a:pt x="105" y="81"/>
                  </a:cubicBezTo>
                  <a:close/>
                </a:path>
              </a:pathLst>
            </a:cu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lt1"/>
                </a:solidFill>
              </a:endParaRPr>
            </a:p>
          </p:txBody>
        </p:sp>
        <p:sp>
          <p:nvSpPr>
            <p:cNvPr id="15" name="文本框 14"/>
            <p:cNvSpPr txBox="1"/>
            <p:nvPr/>
          </p:nvSpPr>
          <p:spPr>
            <a:xfrm>
              <a:off x="967869" y="2391373"/>
              <a:ext cx="492443"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客户</a:t>
              </a:r>
              <a:endParaRPr lang="zh-CN" altLang="en-US" sz="1200" b="1" dirty="0">
                <a:latin typeface="微软雅黑" panose="020B0503020204020204" pitchFamily="34" charset="-122"/>
                <a:ea typeface="微软雅黑" panose="020B0503020204020204" pitchFamily="34" charset="-122"/>
              </a:endParaRPr>
            </a:p>
          </p:txBody>
        </p:sp>
      </p:grpSp>
      <p:sp>
        <p:nvSpPr>
          <p:cNvPr id="16" name="矩形 15"/>
          <p:cNvSpPr/>
          <p:nvPr/>
        </p:nvSpPr>
        <p:spPr>
          <a:xfrm>
            <a:off x="9283971" y="2724187"/>
            <a:ext cx="1426598" cy="548609"/>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smtClean="0"/>
              <a:t>MDM</a:t>
            </a:r>
            <a:r>
              <a:rPr lang="zh-CN" altLang="en-US" dirty="0" smtClean="0"/>
              <a:t>主数据</a:t>
            </a:r>
            <a:endParaRPr lang="en-GB" dirty="0"/>
          </a:p>
        </p:txBody>
      </p:sp>
      <p:sp>
        <p:nvSpPr>
          <p:cNvPr id="17" name="矩形 16"/>
          <p:cNvSpPr/>
          <p:nvPr/>
        </p:nvSpPr>
        <p:spPr>
          <a:xfrm>
            <a:off x="6206823" y="2530959"/>
            <a:ext cx="2043599" cy="1836533"/>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smtClean="0"/>
              <a:t>CRM</a:t>
            </a:r>
            <a:r>
              <a:rPr lang="zh-CN" altLang="en-US" dirty="0" smtClean="0"/>
              <a:t>会员中台</a:t>
            </a:r>
            <a:endParaRPr lang="en-GB" dirty="0"/>
          </a:p>
        </p:txBody>
      </p:sp>
      <p:sp>
        <p:nvSpPr>
          <p:cNvPr id="18" name="矩形 17"/>
          <p:cNvSpPr/>
          <p:nvPr/>
        </p:nvSpPr>
        <p:spPr>
          <a:xfrm>
            <a:off x="6211791" y="1349193"/>
            <a:ext cx="2033662" cy="548609"/>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smtClean="0"/>
              <a:t>数据中台</a:t>
            </a:r>
            <a:endParaRPr lang="en-GB" dirty="0"/>
          </a:p>
        </p:txBody>
      </p:sp>
      <p:sp>
        <p:nvSpPr>
          <p:cNvPr id="19" name="文本框 18"/>
          <p:cNvSpPr txBox="1"/>
          <p:nvPr/>
        </p:nvSpPr>
        <p:spPr>
          <a:xfrm>
            <a:off x="5093215" y="3288821"/>
            <a:ext cx="492443"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会员</a:t>
            </a:r>
            <a:endParaRPr lang="zh-CN" altLang="en-US" sz="1200" b="1" dirty="0">
              <a:latin typeface="微软雅黑" panose="020B0503020204020204" pitchFamily="34" charset="-122"/>
              <a:ea typeface="微软雅黑" panose="020B0503020204020204" pitchFamily="34" charset="-122"/>
            </a:endParaRPr>
          </a:p>
        </p:txBody>
      </p:sp>
      <p:cxnSp>
        <p:nvCxnSpPr>
          <p:cNvPr id="20" name="直接箭头连接符 19"/>
          <p:cNvCxnSpPr/>
          <p:nvPr/>
        </p:nvCxnSpPr>
        <p:spPr>
          <a:xfrm flipV="1">
            <a:off x="6690880" y="1897802"/>
            <a:ext cx="0" cy="63315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7803687" y="1897802"/>
            <a:ext cx="0" cy="63315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367509" y="2070904"/>
            <a:ext cx="872355"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标签</a:t>
            </a:r>
            <a:r>
              <a:rPr lang="en-US" altLang="zh-CN" sz="1200" b="1" dirty="0" smtClean="0">
                <a:latin typeface="微软雅黑" panose="020B0503020204020204" pitchFamily="34" charset="-122"/>
                <a:ea typeface="微软雅黑" panose="020B0503020204020204" pitchFamily="34" charset="-122"/>
              </a:rPr>
              <a:t>/</a:t>
            </a:r>
            <a:r>
              <a:rPr lang="zh-CN" altLang="en-US" sz="1200" b="1" dirty="0" smtClean="0">
                <a:latin typeface="微软雅黑" panose="020B0503020204020204" pitchFamily="34" charset="-122"/>
                <a:ea typeface="微软雅黑" panose="020B0503020204020204" pitchFamily="34" charset="-122"/>
              </a:rPr>
              <a:t>事件</a:t>
            </a:r>
            <a:endParaRPr lang="zh-CN" altLang="en-US" sz="1200" b="1" dirty="0">
              <a:latin typeface="微软雅黑" panose="020B0503020204020204" pitchFamily="34" charset="-122"/>
              <a:ea typeface="微软雅黑" panose="020B0503020204020204" pitchFamily="34" charset="-122"/>
            </a:endParaRPr>
          </a:p>
        </p:txBody>
      </p:sp>
      <p:sp>
        <p:nvSpPr>
          <p:cNvPr id="23" name="文本框 22"/>
          <p:cNvSpPr txBox="1"/>
          <p:nvPr/>
        </p:nvSpPr>
        <p:spPr>
          <a:xfrm>
            <a:off x="6290770" y="2071711"/>
            <a:ext cx="800219"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原始数据</a:t>
            </a:r>
            <a:endParaRPr lang="zh-CN" altLang="en-US" sz="1200" b="1" dirty="0">
              <a:latin typeface="微软雅黑" panose="020B0503020204020204" pitchFamily="34" charset="-122"/>
              <a:ea typeface="微软雅黑" panose="020B0503020204020204" pitchFamily="34" charset="-122"/>
            </a:endParaRPr>
          </a:p>
        </p:txBody>
      </p:sp>
      <p:cxnSp>
        <p:nvCxnSpPr>
          <p:cNvPr id="24" name="肘形连接符 23"/>
          <p:cNvCxnSpPr>
            <a:stCxn id="8" idx="3"/>
          </p:cNvCxnSpPr>
          <p:nvPr/>
        </p:nvCxnSpPr>
        <p:spPr>
          <a:xfrm flipV="1">
            <a:off x="4375019" y="3557332"/>
            <a:ext cx="1831803" cy="1143"/>
          </a:xfrm>
          <a:prstGeom prst="bentConnector3">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肘形连接符 24"/>
          <p:cNvCxnSpPr>
            <a:stCxn id="9" idx="3"/>
          </p:cNvCxnSpPr>
          <p:nvPr/>
        </p:nvCxnSpPr>
        <p:spPr>
          <a:xfrm flipV="1">
            <a:off x="4364225" y="4259487"/>
            <a:ext cx="1831803" cy="1"/>
          </a:xfrm>
          <a:prstGeom prst="bentConnector3">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752060" y="3974838"/>
            <a:ext cx="1180131"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会员</a:t>
            </a:r>
            <a:r>
              <a:rPr lang="en-US" altLang="zh-CN" sz="1200" b="1" dirty="0" smtClean="0">
                <a:latin typeface="微软雅黑" panose="020B0503020204020204" pitchFamily="34" charset="-122"/>
                <a:ea typeface="微软雅黑" panose="020B0503020204020204" pitchFamily="34" charset="-122"/>
              </a:rPr>
              <a:t>/</a:t>
            </a:r>
            <a:r>
              <a:rPr lang="zh-CN" altLang="en-US" sz="1200" b="1" dirty="0" smtClean="0">
                <a:latin typeface="微软雅黑" panose="020B0503020204020204" pitchFamily="34" charset="-122"/>
                <a:ea typeface="微软雅黑" panose="020B0503020204020204" pitchFamily="34" charset="-122"/>
              </a:rPr>
              <a:t>线下订单</a:t>
            </a:r>
            <a:endParaRPr lang="zh-CN" altLang="en-US" sz="1200" b="1" dirty="0">
              <a:latin typeface="微软雅黑" panose="020B0503020204020204" pitchFamily="34" charset="-122"/>
              <a:ea typeface="微软雅黑" panose="020B0503020204020204" pitchFamily="34" charset="-122"/>
            </a:endParaRPr>
          </a:p>
        </p:txBody>
      </p:sp>
      <p:sp>
        <p:nvSpPr>
          <p:cNvPr id="27" name="文本框 26"/>
          <p:cNvSpPr txBox="1"/>
          <p:nvPr/>
        </p:nvSpPr>
        <p:spPr>
          <a:xfrm>
            <a:off x="4417225" y="4254387"/>
            <a:ext cx="1786066"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积分</a:t>
            </a:r>
            <a:r>
              <a:rPr lang="en-US" altLang="zh-CN" sz="1200" b="1" dirty="0" smtClean="0">
                <a:latin typeface="微软雅黑" panose="020B0503020204020204" pitchFamily="34" charset="-122"/>
                <a:ea typeface="微软雅黑" panose="020B0503020204020204" pitchFamily="34" charset="-122"/>
              </a:rPr>
              <a:t>/</a:t>
            </a:r>
            <a:r>
              <a:rPr lang="zh-CN" altLang="en-US" sz="1200" b="1" dirty="0" smtClean="0">
                <a:latin typeface="微软雅黑" panose="020B0503020204020204" pitchFamily="34" charset="-122"/>
                <a:ea typeface="微软雅黑" panose="020B0503020204020204" pitchFamily="34" charset="-122"/>
              </a:rPr>
              <a:t>优惠券</a:t>
            </a:r>
            <a:r>
              <a:rPr lang="en-US" altLang="zh-CN" sz="1200" b="1" dirty="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导购</a:t>
            </a:r>
            <a:r>
              <a:rPr lang="en-US" altLang="zh-CN" sz="1200" b="1" dirty="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门店</a:t>
            </a:r>
            <a:endParaRPr lang="zh-CN" altLang="en-US" sz="1200" b="1" dirty="0">
              <a:latin typeface="微软雅黑" panose="020B0503020204020204" pitchFamily="34" charset="-122"/>
              <a:ea typeface="微软雅黑" panose="020B0503020204020204" pitchFamily="34" charset="-122"/>
            </a:endParaRPr>
          </a:p>
        </p:txBody>
      </p:sp>
      <p:sp>
        <p:nvSpPr>
          <p:cNvPr id="28" name="矩形 27"/>
          <p:cNvSpPr/>
          <p:nvPr/>
        </p:nvSpPr>
        <p:spPr>
          <a:xfrm>
            <a:off x="9283971" y="3602101"/>
            <a:ext cx="1426598" cy="548609"/>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smtClean="0"/>
              <a:t>用户中心</a:t>
            </a:r>
            <a:endParaRPr lang="en-GB" dirty="0"/>
          </a:p>
        </p:txBody>
      </p:sp>
      <p:cxnSp>
        <p:nvCxnSpPr>
          <p:cNvPr id="29" name="直接箭头连接符 28"/>
          <p:cNvCxnSpPr>
            <a:stCxn id="16" idx="1"/>
          </p:cNvCxnSpPr>
          <p:nvPr/>
        </p:nvCxnSpPr>
        <p:spPr>
          <a:xfrm flipH="1">
            <a:off x="8250422" y="2998492"/>
            <a:ext cx="1033549" cy="350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endCxn id="28" idx="1"/>
          </p:cNvCxnSpPr>
          <p:nvPr/>
        </p:nvCxnSpPr>
        <p:spPr>
          <a:xfrm>
            <a:off x="8250422" y="3874399"/>
            <a:ext cx="1033549" cy="200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8367087" y="2721492"/>
            <a:ext cx="800219"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商品信息</a:t>
            </a:r>
            <a:endParaRPr lang="zh-CN" altLang="en-US" sz="1200" b="1" dirty="0">
              <a:latin typeface="微软雅黑" panose="020B0503020204020204" pitchFamily="34" charset="-122"/>
              <a:ea typeface="微软雅黑" panose="020B0503020204020204" pitchFamily="34" charset="-122"/>
            </a:endParaRPr>
          </a:p>
        </p:txBody>
      </p:sp>
      <p:sp>
        <p:nvSpPr>
          <p:cNvPr id="32" name="文本框 31"/>
          <p:cNvSpPr txBox="1"/>
          <p:nvPr/>
        </p:nvSpPr>
        <p:spPr>
          <a:xfrm>
            <a:off x="8367086" y="3001992"/>
            <a:ext cx="795020" cy="275590"/>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人员信息</a:t>
            </a:r>
            <a:endParaRPr lang="zh-CN" altLang="en-US" sz="1200" b="1" dirty="0">
              <a:latin typeface="微软雅黑" panose="020B0503020204020204" pitchFamily="34" charset="-122"/>
              <a:ea typeface="微软雅黑" panose="020B0503020204020204" pitchFamily="34" charset="-122"/>
            </a:endParaRPr>
          </a:p>
        </p:txBody>
      </p:sp>
      <p:sp>
        <p:nvSpPr>
          <p:cNvPr id="33" name="文本框 32"/>
          <p:cNvSpPr txBox="1"/>
          <p:nvPr/>
        </p:nvSpPr>
        <p:spPr>
          <a:xfrm>
            <a:off x="8367085" y="3862355"/>
            <a:ext cx="800219"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统一认证</a:t>
            </a:r>
            <a:endParaRPr lang="zh-CN" altLang="en-US" sz="1200" b="1" dirty="0">
              <a:latin typeface="微软雅黑" panose="020B0503020204020204" pitchFamily="34" charset="-122"/>
              <a:ea typeface="微软雅黑" panose="020B0503020204020204" pitchFamily="34" charset="-122"/>
            </a:endParaRPr>
          </a:p>
        </p:txBody>
      </p:sp>
      <p:sp>
        <p:nvSpPr>
          <p:cNvPr id="34" name="矩形 33"/>
          <p:cNvSpPr/>
          <p:nvPr/>
        </p:nvSpPr>
        <p:spPr>
          <a:xfrm>
            <a:off x="4626138" y="4808385"/>
            <a:ext cx="1426598" cy="548609"/>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smtClean="0"/>
              <a:t>短信平台</a:t>
            </a:r>
            <a:endParaRPr lang="en-GB" dirty="0"/>
          </a:p>
        </p:txBody>
      </p:sp>
      <p:sp>
        <p:nvSpPr>
          <p:cNvPr id="35" name="矩形 34"/>
          <p:cNvSpPr/>
          <p:nvPr/>
        </p:nvSpPr>
        <p:spPr>
          <a:xfrm>
            <a:off x="4619073" y="5573655"/>
            <a:ext cx="1426598" cy="548609"/>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smtClean="0"/>
              <a:t>邮件系统</a:t>
            </a:r>
            <a:endParaRPr lang="en-GB" dirty="0"/>
          </a:p>
        </p:txBody>
      </p:sp>
      <p:cxnSp>
        <p:nvCxnSpPr>
          <p:cNvPr id="36" name="肘形连接符 35"/>
          <p:cNvCxnSpPr>
            <a:endCxn id="34" idx="3"/>
          </p:cNvCxnSpPr>
          <p:nvPr/>
        </p:nvCxnSpPr>
        <p:spPr>
          <a:xfrm rot="10800000" flipV="1">
            <a:off x="6052737" y="4367494"/>
            <a:ext cx="755255" cy="715196"/>
          </a:xfrm>
          <a:prstGeom prst="bentConnector3">
            <a:avLst>
              <a:gd name="adj1" fmla="val -256"/>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肘形连接符 36"/>
          <p:cNvCxnSpPr>
            <a:endCxn id="35" idx="3"/>
          </p:cNvCxnSpPr>
          <p:nvPr/>
        </p:nvCxnSpPr>
        <p:spPr>
          <a:xfrm rot="5400000">
            <a:off x="5686597" y="4726566"/>
            <a:ext cx="1480468" cy="762320"/>
          </a:xfrm>
          <a:prstGeom prst="bentConnector2">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肘形连接符 37"/>
          <p:cNvCxnSpPr>
            <a:stCxn id="34" idx="1"/>
            <a:endCxn id="15" idx="2"/>
          </p:cNvCxnSpPr>
          <p:nvPr/>
        </p:nvCxnSpPr>
        <p:spPr>
          <a:xfrm rot="10800000">
            <a:off x="1243734" y="4183318"/>
            <a:ext cx="3382405" cy="899372"/>
          </a:xfrm>
          <a:prstGeom prst="bentConnector2">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肘形连接符 38"/>
          <p:cNvCxnSpPr>
            <a:stCxn id="35" idx="1"/>
            <a:endCxn id="15" idx="2"/>
          </p:cNvCxnSpPr>
          <p:nvPr/>
        </p:nvCxnSpPr>
        <p:spPr>
          <a:xfrm rot="10800000">
            <a:off x="1243733" y="4183318"/>
            <a:ext cx="3375340" cy="1664642"/>
          </a:xfrm>
          <a:prstGeom prst="bentConnector2">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2174594" y="4804344"/>
            <a:ext cx="492443"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触达</a:t>
            </a:r>
            <a:endParaRPr lang="zh-CN" altLang="en-US" sz="1200" b="1"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2174594" y="5561519"/>
            <a:ext cx="492443"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触达</a:t>
            </a:r>
            <a:endParaRPr lang="zh-CN" altLang="en-US" sz="1200" b="1" dirty="0">
              <a:latin typeface="微软雅黑" panose="020B0503020204020204" pitchFamily="34" charset="-122"/>
              <a:ea typeface="微软雅黑" panose="020B0503020204020204" pitchFamily="34" charset="-122"/>
            </a:endParaRPr>
          </a:p>
        </p:txBody>
      </p:sp>
      <p:sp>
        <p:nvSpPr>
          <p:cNvPr id="42" name="文本框 41"/>
          <p:cNvSpPr txBox="1"/>
          <p:nvPr/>
        </p:nvSpPr>
        <p:spPr>
          <a:xfrm>
            <a:off x="6407881" y="4665844"/>
            <a:ext cx="800219"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营销触达</a:t>
            </a:r>
            <a:endParaRPr lang="zh-CN" altLang="en-US" sz="1200" b="1" dirty="0">
              <a:latin typeface="微软雅黑" panose="020B0503020204020204" pitchFamily="34" charset="-122"/>
              <a:ea typeface="微软雅黑" panose="020B0503020204020204" pitchFamily="34" charset="-122"/>
            </a:endParaRPr>
          </a:p>
        </p:txBody>
      </p:sp>
      <p:grpSp>
        <p:nvGrpSpPr>
          <p:cNvPr id="43" name="组合 42"/>
          <p:cNvGrpSpPr/>
          <p:nvPr/>
        </p:nvGrpSpPr>
        <p:grpSpPr>
          <a:xfrm>
            <a:off x="9266982" y="4895614"/>
            <a:ext cx="666288" cy="922759"/>
            <a:chOff x="880947" y="1745613"/>
            <a:chExt cx="666288" cy="922759"/>
          </a:xfrm>
        </p:grpSpPr>
        <p:sp>
          <p:nvSpPr>
            <p:cNvPr id="44" name="Freeform 42"/>
            <p:cNvSpPr>
              <a:spLocks noChangeAspect="1" noEditPoints="1"/>
            </p:cNvSpPr>
            <p:nvPr/>
          </p:nvSpPr>
          <p:spPr bwMode="auto">
            <a:xfrm>
              <a:off x="880947" y="1745613"/>
              <a:ext cx="666288" cy="645760"/>
            </a:xfrm>
            <a:custGeom>
              <a:avLst/>
              <a:gdLst>
                <a:gd name="T0" fmla="*/ 201 w 210"/>
                <a:gd name="T1" fmla="*/ 150 h 178"/>
                <a:gd name="T2" fmla="*/ 105 w 210"/>
                <a:gd name="T3" fmla="*/ 112 h 178"/>
                <a:gd name="T4" fmla="*/ 9 w 210"/>
                <a:gd name="T5" fmla="*/ 150 h 178"/>
                <a:gd name="T6" fmla="*/ 23 w 210"/>
                <a:gd name="T7" fmla="*/ 178 h 178"/>
                <a:gd name="T8" fmla="*/ 187 w 210"/>
                <a:gd name="T9" fmla="*/ 178 h 178"/>
                <a:gd name="T10" fmla="*/ 201 w 210"/>
                <a:gd name="T11" fmla="*/ 150 h 178"/>
                <a:gd name="T12" fmla="*/ 105 w 210"/>
                <a:gd name="T13" fmla="*/ 81 h 178"/>
                <a:gd name="T14" fmla="*/ 146 w 210"/>
                <a:gd name="T15" fmla="*/ 40 h 178"/>
                <a:gd name="T16" fmla="*/ 105 w 210"/>
                <a:gd name="T17" fmla="*/ 0 h 178"/>
                <a:gd name="T18" fmla="*/ 64 w 210"/>
                <a:gd name="T19" fmla="*/ 40 h 178"/>
                <a:gd name="T20" fmla="*/ 105 w 210"/>
                <a:gd name="T21" fmla="*/ 8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0" h="178">
                  <a:moveTo>
                    <a:pt x="201" y="150"/>
                  </a:moveTo>
                  <a:cubicBezTo>
                    <a:pt x="184" y="127"/>
                    <a:pt x="148" y="112"/>
                    <a:pt x="105" y="112"/>
                  </a:cubicBezTo>
                  <a:cubicBezTo>
                    <a:pt x="62" y="112"/>
                    <a:pt x="26" y="127"/>
                    <a:pt x="9" y="150"/>
                  </a:cubicBezTo>
                  <a:cubicBezTo>
                    <a:pt x="0" y="161"/>
                    <a:pt x="8" y="178"/>
                    <a:pt x="23" y="178"/>
                  </a:cubicBezTo>
                  <a:cubicBezTo>
                    <a:pt x="187" y="178"/>
                    <a:pt x="187" y="178"/>
                    <a:pt x="187" y="178"/>
                  </a:cubicBezTo>
                  <a:cubicBezTo>
                    <a:pt x="202" y="178"/>
                    <a:pt x="210" y="161"/>
                    <a:pt x="201" y="150"/>
                  </a:cubicBezTo>
                  <a:close/>
                  <a:moveTo>
                    <a:pt x="105" y="81"/>
                  </a:moveTo>
                  <a:cubicBezTo>
                    <a:pt x="127" y="81"/>
                    <a:pt x="146" y="63"/>
                    <a:pt x="146" y="40"/>
                  </a:cubicBezTo>
                  <a:cubicBezTo>
                    <a:pt x="146" y="18"/>
                    <a:pt x="127" y="0"/>
                    <a:pt x="105" y="0"/>
                  </a:cubicBezTo>
                  <a:cubicBezTo>
                    <a:pt x="83" y="0"/>
                    <a:pt x="64" y="18"/>
                    <a:pt x="64" y="40"/>
                  </a:cubicBezTo>
                  <a:cubicBezTo>
                    <a:pt x="64" y="63"/>
                    <a:pt x="83" y="81"/>
                    <a:pt x="105" y="81"/>
                  </a:cubicBezTo>
                  <a:close/>
                </a:path>
              </a:pathLst>
            </a:cu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lt1"/>
                </a:solidFill>
              </a:endParaRPr>
            </a:p>
          </p:txBody>
        </p:sp>
        <p:sp>
          <p:nvSpPr>
            <p:cNvPr id="45" name="文本框 44"/>
            <p:cNvSpPr txBox="1"/>
            <p:nvPr/>
          </p:nvSpPr>
          <p:spPr>
            <a:xfrm>
              <a:off x="967869" y="2391373"/>
              <a:ext cx="492443"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运营</a:t>
              </a:r>
              <a:endParaRPr lang="zh-CN" altLang="en-US" sz="1200" b="1" dirty="0">
                <a:latin typeface="微软雅黑" panose="020B0503020204020204" pitchFamily="34" charset="-122"/>
                <a:ea typeface="微软雅黑" panose="020B0503020204020204" pitchFamily="34" charset="-122"/>
              </a:endParaRPr>
            </a:p>
          </p:txBody>
        </p:sp>
      </p:grpSp>
      <p:cxnSp>
        <p:nvCxnSpPr>
          <p:cNvPr id="46" name="肘形连接符 45"/>
          <p:cNvCxnSpPr/>
          <p:nvPr/>
        </p:nvCxnSpPr>
        <p:spPr>
          <a:xfrm rot="10800000">
            <a:off x="7640486" y="4378194"/>
            <a:ext cx="1713421" cy="840300"/>
          </a:xfrm>
          <a:prstGeom prst="bentConnector3">
            <a:avLst>
              <a:gd name="adj1" fmla="val 99843"/>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7850461" y="4950856"/>
            <a:ext cx="800219"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会员运营</a:t>
            </a:r>
            <a:endParaRPr lang="zh-CN" altLang="en-US" sz="1200" b="1" dirty="0">
              <a:latin typeface="微软雅黑" panose="020B0503020204020204" pitchFamily="34" charset="-122"/>
              <a:ea typeface="微软雅黑" panose="020B0503020204020204" pitchFamily="34" charset="-122"/>
            </a:endParaRPr>
          </a:p>
        </p:txBody>
      </p:sp>
      <p:sp>
        <p:nvSpPr>
          <p:cNvPr id="48" name="矩形 47"/>
          <p:cNvSpPr/>
          <p:nvPr/>
        </p:nvSpPr>
        <p:spPr>
          <a:xfrm>
            <a:off x="2937627" y="2446173"/>
            <a:ext cx="1426598" cy="548609"/>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dirty="0" smtClean="0"/>
              <a:t>OMS</a:t>
            </a:r>
            <a:endParaRPr lang="en-GB" dirty="0"/>
          </a:p>
        </p:txBody>
      </p:sp>
      <p:cxnSp>
        <p:nvCxnSpPr>
          <p:cNvPr id="49" name="肘形连接符 48"/>
          <p:cNvCxnSpPr>
            <a:stCxn id="48" idx="3"/>
          </p:cNvCxnSpPr>
          <p:nvPr/>
        </p:nvCxnSpPr>
        <p:spPr>
          <a:xfrm flipV="1">
            <a:off x="4364225" y="2720477"/>
            <a:ext cx="1842597" cy="1"/>
          </a:xfrm>
          <a:prstGeom prst="bentConnector3">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endCxn id="48" idx="2"/>
          </p:cNvCxnSpPr>
          <p:nvPr/>
        </p:nvCxnSpPr>
        <p:spPr>
          <a:xfrm flipV="1">
            <a:off x="3650926" y="2994782"/>
            <a:ext cx="0" cy="32378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4928348" y="2454409"/>
            <a:ext cx="800219"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线上订单</a:t>
            </a:r>
            <a:endParaRPr lang="zh-CN" altLang="en-US" sz="12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charset="-122"/>
                  <a:cs typeface="+mn-cs"/>
                </a:endParaRPr>
              </a:p>
            </p:txBody>
          </p:sp>
        </p:grpSp>
        <p:sp>
          <p:nvSpPr>
            <p:cNvPr id="4" name="TextBox 7"/>
            <p:cNvSpPr txBox="1"/>
            <p:nvPr/>
          </p:nvSpPr>
          <p:spPr>
            <a:xfrm>
              <a:off x="383254" y="498266"/>
              <a:ext cx="7415271" cy="523220"/>
            </a:xfrm>
            <a:prstGeom prst="rect">
              <a:avLst/>
            </a:prstGeom>
            <a:noFill/>
          </p:spPr>
          <p:txBody>
            <a:bodyPr wrap="square" rtlCol="0">
              <a:spAutoFit/>
            </a:bodyPr>
            <a:lstStyle/>
            <a:p>
              <a:pPr lvl="0"/>
              <a:r>
                <a:rPr lang="zh-CN" altLang="en-US" sz="2800" b="1" dirty="0">
                  <a:solidFill>
                    <a:prstClr val="black"/>
                  </a:solidFill>
                  <a:latin typeface="微软雅黑" panose="020B0503020204020204" pitchFamily="34" charset="-122"/>
                  <a:ea typeface="微软雅黑" panose="020B0503020204020204" pitchFamily="34" charset="-122"/>
                </a:rPr>
                <a:t>集成架构关系表</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grpSp>
      <p:graphicFrame>
        <p:nvGraphicFramePr>
          <p:cNvPr id="8" name="表格 7"/>
          <p:cNvGraphicFramePr>
            <a:graphicFrameLocks noGrp="1"/>
          </p:cNvGraphicFramePr>
          <p:nvPr/>
        </p:nvGraphicFramePr>
        <p:xfrm>
          <a:off x="395536" y="1004613"/>
          <a:ext cx="10955333" cy="5913120"/>
        </p:xfrm>
        <a:graphic>
          <a:graphicData uri="http://schemas.openxmlformats.org/drawingml/2006/table">
            <a:tbl>
              <a:tblPr firstRow="1" bandRow="1">
                <a:tableStyleId>{5C22544A-7EE6-4342-B048-85BDC9FD1C3A}</a:tableStyleId>
              </a:tblPr>
              <a:tblGrid>
                <a:gridCol w="787505"/>
                <a:gridCol w="3411573"/>
                <a:gridCol w="4277099"/>
                <a:gridCol w="1284248"/>
                <a:gridCol w="1194908"/>
              </a:tblGrid>
              <a:tr h="294494">
                <a:tc>
                  <a:txBody>
                    <a:bodyPr/>
                    <a:lstStyle/>
                    <a:p>
                      <a:pPr algn="l">
                        <a:buNone/>
                      </a:pP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algn="l">
                        <a:buNone/>
                      </a:pPr>
                      <a:r>
                        <a:rPr lang="zh-CN" altLang="en-US" sz="1400" dirty="0">
                          <a:latin typeface="微软雅黑" panose="020B0503020204020204" pitchFamily="34" charset="-122"/>
                          <a:ea typeface="微软雅黑" panose="020B0503020204020204" pitchFamily="34" charset="-122"/>
                        </a:rPr>
                        <a:t>接口名称</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algn="l">
                        <a:buNone/>
                      </a:pPr>
                      <a:r>
                        <a:rPr lang="zh-CN" altLang="en-US" sz="1400" dirty="0">
                          <a:latin typeface="微软雅黑" panose="020B0503020204020204" pitchFamily="34" charset="-122"/>
                          <a:ea typeface="微软雅黑" panose="020B0503020204020204" pitchFamily="34" charset="-122"/>
                        </a:rPr>
                        <a:t>接口地址</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algn="l">
                        <a:buNone/>
                      </a:pPr>
                      <a:r>
                        <a:rPr lang="zh-CN" altLang="en-US" sz="1400" dirty="0">
                          <a:latin typeface="微软雅黑" panose="020B0503020204020204" pitchFamily="34" charset="-122"/>
                          <a:ea typeface="微软雅黑" panose="020B0503020204020204" pitchFamily="34" charset="-122"/>
                        </a:rPr>
                        <a:t>发送方</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algn="l">
                        <a:buNone/>
                      </a:pPr>
                      <a:r>
                        <a:rPr lang="zh-CN" altLang="en-US" sz="1400" dirty="0">
                          <a:latin typeface="微软雅黑" panose="020B0503020204020204" pitchFamily="34" charset="-122"/>
                          <a:ea typeface="微软雅黑" panose="020B0503020204020204" pitchFamily="34" charset="-122"/>
                        </a:rPr>
                        <a:t>接收方</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r>
              <a:tr h="202864">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1</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000" b="0" dirty="0" smtClean="0">
                          <a:solidFill>
                            <a:schemeClr val="tx1"/>
                          </a:solidFill>
                          <a:latin typeface="微软雅黑" panose="020B0503020204020204" pitchFamily="34" charset="-122"/>
                          <a:ea typeface="微软雅黑" panose="020B0503020204020204" pitchFamily="34" charset="-122"/>
                        </a:rPr>
                        <a:t>会员注册</a:t>
                      </a:r>
                      <a:r>
                        <a:rPr lang="en-US" altLang="zh-CN" sz="1000" b="0" dirty="0" smtClean="0">
                          <a:solidFill>
                            <a:schemeClr val="tx1"/>
                          </a:solidFill>
                          <a:latin typeface="微软雅黑" panose="020B0503020204020204" pitchFamily="34" charset="-122"/>
                          <a:ea typeface="微软雅黑" panose="020B0503020204020204" pitchFamily="34" charset="-122"/>
                        </a:rPr>
                        <a:t>_</a:t>
                      </a:r>
                      <a:r>
                        <a:rPr lang="en-US" altLang="zh-CN" sz="1000" b="0" dirty="0" err="1" smtClean="0">
                          <a:solidFill>
                            <a:schemeClr val="tx1"/>
                          </a:solidFill>
                          <a:latin typeface="微软雅黑" panose="020B0503020204020204" pitchFamily="34" charset="-122"/>
                          <a:ea typeface="微软雅黑" panose="020B0503020204020204" pitchFamily="34" charset="-122"/>
                        </a:rPr>
                        <a:t>shopify</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000" b="0" kern="1200" dirty="0" smtClean="0">
                          <a:solidFill>
                            <a:schemeClr val="tx1"/>
                          </a:solidFill>
                          <a:latin typeface="微软雅黑" panose="020B0503020204020204" pitchFamily="34" charset="-122"/>
                          <a:ea typeface="微软雅黑" panose="020B0503020204020204" pitchFamily="34" charset="-122"/>
                          <a:cs typeface="+mn-cs"/>
                        </a:rPr>
                        <a:t>新接口</a:t>
                      </a:r>
                      <a:endParaRPr lang="zh-CN" altLang="en-US" sz="1000" b="0" kern="1200" dirty="0" smtClean="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Shopify</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2</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000" b="0" dirty="0" smtClean="0">
                          <a:solidFill>
                            <a:schemeClr val="tx1"/>
                          </a:solidFill>
                          <a:latin typeface="微软雅黑" panose="020B0503020204020204" pitchFamily="34" charset="-122"/>
                          <a:ea typeface="微软雅黑" panose="020B0503020204020204" pitchFamily="34" charset="-122"/>
                        </a:rPr>
                        <a:t>会员信息修改</a:t>
                      </a:r>
                      <a:r>
                        <a:rPr lang="en-US" altLang="zh-CN" sz="1000" b="0" dirty="0" smtClean="0">
                          <a:solidFill>
                            <a:schemeClr val="tx1"/>
                          </a:solidFill>
                          <a:latin typeface="微软雅黑" panose="020B0503020204020204" pitchFamily="34" charset="-122"/>
                          <a:ea typeface="微软雅黑" panose="020B0503020204020204" pitchFamily="34" charset="-122"/>
                        </a:rPr>
                        <a:t>_</a:t>
                      </a:r>
                      <a:r>
                        <a:rPr lang="en-US" altLang="zh-CN" sz="1000" b="0" dirty="0" err="1" smtClean="0">
                          <a:solidFill>
                            <a:schemeClr val="tx1"/>
                          </a:solidFill>
                          <a:latin typeface="微软雅黑" panose="020B0503020204020204" pitchFamily="34" charset="-122"/>
                          <a:ea typeface="微软雅黑" panose="020B0503020204020204" pitchFamily="34" charset="-122"/>
                        </a:rPr>
                        <a:t>shopify</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000" b="0" kern="1200" dirty="0" smtClean="0">
                          <a:solidFill>
                            <a:schemeClr val="tx1"/>
                          </a:solidFill>
                          <a:latin typeface="微软雅黑" panose="020B0503020204020204" pitchFamily="34" charset="-122"/>
                          <a:ea typeface="微软雅黑" panose="020B0503020204020204" pitchFamily="34" charset="-122"/>
                          <a:cs typeface="+mn-cs"/>
                        </a:rPr>
                        <a:t>新接口</a:t>
                      </a:r>
                      <a:endParaRPr lang="zh-CN" altLang="en-US" sz="1000" b="0" kern="1200" dirty="0" smtClean="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Shopify</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i="0" kern="1200" dirty="0" smtClean="0">
                          <a:solidFill>
                            <a:schemeClr val="tx1"/>
                          </a:solidFill>
                          <a:effectLst/>
                          <a:latin typeface="微软雅黑" panose="020B0503020204020204" pitchFamily="34" charset="-122"/>
                          <a:ea typeface="微软雅黑" panose="020B0503020204020204" pitchFamily="34" charset="-122"/>
                          <a:cs typeface="+mn-cs"/>
                        </a:rPr>
                        <a:t>3</a:t>
                      </a:r>
                      <a:endParaRPr lang="zh-CN" altLang="en-US" sz="1000" b="0" i="0" kern="1200" dirty="0">
                        <a:solidFill>
                          <a:schemeClr val="tx1"/>
                        </a:solidFill>
                        <a:effectLst/>
                        <a:latin typeface="微软雅黑" panose="020B0503020204020204" pitchFamily="34" charset="-122"/>
                        <a:ea typeface="微软雅黑" panose="020B0503020204020204" pitchFamily="34" charset="-122"/>
                        <a:cs typeface="+mn-cs"/>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000" b="0" dirty="0" smtClean="0">
                          <a:solidFill>
                            <a:schemeClr val="tx1"/>
                          </a:solidFill>
                          <a:latin typeface="微软雅黑" panose="020B0503020204020204" pitchFamily="34" charset="-122"/>
                          <a:ea typeface="微软雅黑" panose="020B0503020204020204" pitchFamily="34" charset="-122"/>
                        </a:rPr>
                        <a:t>订单上传</a:t>
                      </a:r>
                      <a:r>
                        <a:rPr lang="en-US" altLang="zh-CN" sz="1000" b="0" dirty="0" smtClean="0">
                          <a:solidFill>
                            <a:schemeClr val="tx1"/>
                          </a:solidFill>
                          <a:latin typeface="微软雅黑" panose="020B0503020204020204" pitchFamily="34" charset="-122"/>
                          <a:ea typeface="微软雅黑" panose="020B0503020204020204" pitchFamily="34" charset="-122"/>
                        </a:rPr>
                        <a:t>_oms</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000" b="0" kern="1200" dirty="0" smtClean="0">
                          <a:solidFill>
                            <a:schemeClr val="tx1"/>
                          </a:solidFill>
                          <a:latin typeface="微软雅黑" panose="020B0503020204020204" pitchFamily="34" charset="-122"/>
                          <a:ea typeface="微软雅黑" panose="020B0503020204020204" pitchFamily="34" charset="-122"/>
                          <a:cs typeface="+mn-cs"/>
                        </a:rPr>
                        <a:t>新接口</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OMS</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dirty="0" smtClean="0">
                          <a:solidFill>
                            <a:schemeClr val="tx1"/>
                          </a:solidFill>
                          <a:effectLst/>
                          <a:latin typeface="微软雅黑" panose="020B0503020204020204" pitchFamily="34" charset="-122"/>
                          <a:ea typeface="微软雅黑" panose="020B0503020204020204" pitchFamily="34" charset="-122"/>
                          <a:sym typeface="+mn-ea"/>
                        </a:rPr>
                        <a:t>4</a:t>
                      </a:r>
                      <a:endParaRPr lang="zh-CN" altLang="en-US" sz="1000" b="0" dirty="0">
                        <a:solidFill>
                          <a:schemeClr val="tx1"/>
                        </a:solidFill>
                        <a:effectLst/>
                        <a:latin typeface="微软雅黑" panose="020B0503020204020204" pitchFamily="34" charset="-122"/>
                        <a:ea typeface="微软雅黑" panose="020B0503020204020204" pitchFamily="34" charset="-122"/>
                        <a:sym typeface="+mn-ea"/>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altLang="zh-CN" sz="1000" b="0" kern="1200" dirty="0">
                          <a:solidFill>
                            <a:schemeClr val="tx1"/>
                          </a:solidFill>
                          <a:latin typeface="微软雅黑" panose="020B0503020204020204" pitchFamily="34" charset="-122"/>
                          <a:ea typeface="微软雅黑" panose="020B0503020204020204" pitchFamily="34" charset="-122"/>
                          <a:cs typeface="+mn-cs"/>
                        </a:rPr>
                        <a:t>POS</a:t>
                      </a:r>
                      <a:r>
                        <a:rPr lang="zh-CN" altLang="en-US" sz="1000" b="0" kern="1200" dirty="0">
                          <a:solidFill>
                            <a:schemeClr val="tx1"/>
                          </a:solidFill>
                          <a:latin typeface="微软雅黑" panose="020B0503020204020204" pitchFamily="34" charset="-122"/>
                          <a:ea typeface="微软雅黑" panose="020B0503020204020204" pitchFamily="34" charset="-122"/>
                          <a:cs typeface="+mn-cs"/>
                        </a:rPr>
                        <a:t>优惠券反核销</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dirty="0">
                          <a:solidFill>
                            <a:schemeClr val="tx1"/>
                          </a:solidFill>
                          <a:latin typeface="微软雅黑" panose="020B0503020204020204" pitchFamily="34" charset="-122"/>
                          <a:ea typeface="微软雅黑" panose="020B0503020204020204" pitchFamily="34" charset="-122"/>
                          <a:cs typeface="+mn-cs"/>
                        </a:rPr>
                        <a:t>/</a:t>
                      </a:r>
                      <a:r>
                        <a:rPr lang="en-US" sz="1000" b="0" kern="1200" dirty="0" err="1">
                          <a:solidFill>
                            <a:schemeClr val="tx1"/>
                          </a:solidFill>
                          <a:latin typeface="微软雅黑" panose="020B0503020204020204" pitchFamily="34" charset="-122"/>
                          <a:ea typeface="微软雅黑" panose="020B0503020204020204" pitchFamily="34" charset="-122"/>
                          <a:cs typeface="+mn-cs"/>
                        </a:rPr>
                        <a:t>api</a:t>
                      </a:r>
                      <a:r>
                        <a:rPr lang="en-US" sz="1000" b="0" kern="1200" dirty="0">
                          <a:solidFill>
                            <a:schemeClr val="tx1"/>
                          </a:solidFill>
                          <a:latin typeface="微软雅黑" panose="020B0503020204020204" pitchFamily="34" charset="-122"/>
                          <a:ea typeface="微软雅黑" panose="020B0503020204020204" pitchFamily="34" charset="-122"/>
                          <a:cs typeface="+mn-cs"/>
                        </a:rPr>
                        <a:t>/coupons/</a:t>
                      </a:r>
                      <a:r>
                        <a:rPr lang="en-US" sz="1000" b="0" kern="1200" dirty="0" err="1">
                          <a:solidFill>
                            <a:schemeClr val="tx1"/>
                          </a:solidFill>
                          <a:latin typeface="微软雅黑" panose="020B0503020204020204" pitchFamily="34" charset="-122"/>
                          <a:ea typeface="微软雅黑" panose="020B0503020204020204" pitchFamily="34" charset="-122"/>
                          <a:cs typeface="+mn-cs"/>
                        </a:rPr>
                        <a:t>pos</a:t>
                      </a:r>
                      <a:r>
                        <a:rPr lang="en-US" sz="1000" b="0" kern="1200" dirty="0">
                          <a:solidFill>
                            <a:schemeClr val="tx1"/>
                          </a:solidFill>
                          <a:latin typeface="微软雅黑" panose="020B0503020204020204" pitchFamily="34" charset="-122"/>
                          <a:ea typeface="微软雅黑" panose="020B0503020204020204" pitchFamily="34" charset="-122"/>
                          <a:cs typeface="+mn-cs"/>
                        </a:rPr>
                        <a:t>/canceled/writer/off</a:t>
                      </a:r>
                      <a:endParaRPr 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dirty="0" smtClean="0">
                          <a:solidFill>
                            <a:schemeClr val="tx1"/>
                          </a:solidFill>
                          <a:effectLst/>
                          <a:latin typeface="微软雅黑" panose="020B0503020204020204" pitchFamily="34" charset="-122"/>
                          <a:ea typeface="微软雅黑" panose="020B0503020204020204" pitchFamily="34" charset="-122"/>
                          <a:sym typeface="+mn-ea"/>
                        </a:rPr>
                        <a:t>5</a:t>
                      </a:r>
                      <a:endParaRPr lang="zh-CN" altLang="en-US" sz="1000" b="0" dirty="0">
                        <a:solidFill>
                          <a:schemeClr val="tx1"/>
                        </a:solidFill>
                        <a:effectLst/>
                        <a:latin typeface="微软雅黑" panose="020B0503020204020204" pitchFamily="34" charset="-122"/>
                        <a:ea typeface="微软雅黑" panose="020B0503020204020204" pitchFamily="34" charset="-122"/>
                        <a:sym typeface="+mn-ea"/>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zh-CN" altLang="en-US" sz="1000" b="0" kern="1200" dirty="0">
                          <a:solidFill>
                            <a:schemeClr val="tx1"/>
                          </a:solidFill>
                          <a:latin typeface="微软雅黑" panose="020B0503020204020204" pitchFamily="34" charset="-122"/>
                          <a:ea typeface="微软雅黑" panose="020B0503020204020204" pitchFamily="34" charset="-122"/>
                          <a:cs typeface="+mn-cs"/>
                        </a:rPr>
                        <a:t>优惠券会员列表查询（</a:t>
                      </a:r>
                      <a:r>
                        <a:rPr lang="en-US" altLang="zh-CN" sz="1000" b="0" kern="1200" dirty="0">
                          <a:solidFill>
                            <a:schemeClr val="tx1"/>
                          </a:solidFill>
                          <a:latin typeface="微软雅黑" panose="020B0503020204020204" pitchFamily="34" charset="-122"/>
                          <a:ea typeface="微软雅黑" panose="020B0503020204020204" pitchFamily="34" charset="-122"/>
                          <a:cs typeface="+mn-cs"/>
                        </a:rPr>
                        <a:t>POS</a:t>
                      </a:r>
                      <a:r>
                        <a:rPr lang="zh-CN" altLang="en-US" sz="1000" b="0" kern="1200" dirty="0">
                          <a:solidFill>
                            <a:schemeClr val="tx1"/>
                          </a:solidFill>
                          <a:latin typeface="微软雅黑" panose="020B0503020204020204" pitchFamily="34" charset="-122"/>
                          <a:ea typeface="微软雅黑" panose="020B0503020204020204" pitchFamily="34" charset="-122"/>
                          <a:cs typeface="+mn-cs"/>
                        </a:rPr>
                        <a:t>） </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dirty="0">
                          <a:solidFill>
                            <a:schemeClr val="tx1"/>
                          </a:solidFill>
                          <a:latin typeface="微软雅黑" panose="020B0503020204020204" pitchFamily="34" charset="-122"/>
                          <a:ea typeface="微软雅黑" panose="020B0503020204020204" pitchFamily="34" charset="-122"/>
                          <a:cs typeface="+mn-cs"/>
                        </a:rPr>
                        <a:t>/</a:t>
                      </a:r>
                      <a:r>
                        <a:rPr lang="en-US" sz="1000" b="0" kern="1200" dirty="0" err="1">
                          <a:solidFill>
                            <a:schemeClr val="tx1"/>
                          </a:solidFill>
                          <a:latin typeface="微软雅黑" panose="020B0503020204020204" pitchFamily="34" charset="-122"/>
                          <a:ea typeface="微软雅黑" panose="020B0503020204020204" pitchFamily="34" charset="-122"/>
                          <a:cs typeface="+mn-cs"/>
                        </a:rPr>
                        <a:t>api</a:t>
                      </a:r>
                      <a:r>
                        <a:rPr lang="en-US" sz="1000" b="0" kern="1200" dirty="0">
                          <a:solidFill>
                            <a:schemeClr val="tx1"/>
                          </a:solidFill>
                          <a:latin typeface="微软雅黑" panose="020B0503020204020204" pitchFamily="34" charset="-122"/>
                          <a:ea typeface="微软雅黑" panose="020B0503020204020204" pitchFamily="34" charset="-122"/>
                          <a:cs typeface="+mn-cs"/>
                        </a:rPr>
                        <a:t>/coupons/member/offline</a:t>
                      </a:r>
                      <a:endParaRPr 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dirty="0" smtClean="0">
                          <a:solidFill>
                            <a:schemeClr val="tx1"/>
                          </a:solidFill>
                          <a:effectLst/>
                          <a:latin typeface="微软雅黑" panose="020B0503020204020204" pitchFamily="34" charset="-122"/>
                          <a:ea typeface="微软雅黑" panose="020B0503020204020204" pitchFamily="34" charset="-122"/>
                          <a:sym typeface="+mn-ea"/>
                        </a:rPr>
                        <a:t>6</a:t>
                      </a:r>
                      <a:endParaRPr lang="zh-CN" altLang="en-US" sz="1000" b="0" dirty="0">
                        <a:solidFill>
                          <a:schemeClr val="tx1"/>
                        </a:solidFill>
                        <a:effectLst/>
                        <a:latin typeface="微软雅黑" panose="020B0503020204020204" pitchFamily="34" charset="-122"/>
                        <a:ea typeface="微软雅黑" panose="020B0503020204020204" pitchFamily="34" charset="-122"/>
                        <a:sym typeface="+mn-ea"/>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altLang="zh-CN" sz="1000" b="0" kern="1200" dirty="0">
                          <a:solidFill>
                            <a:schemeClr val="tx1"/>
                          </a:solidFill>
                          <a:latin typeface="微软雅黑" panose="020B0503020204020204" pitchFamily="34" charset="-122"/>
                          <a:ea typeface="微软雅黑" panose="020B0503020204020204" pitchFamily="34" charset="-122"/>
                          <a:cs typeface="+mn-cs"/>
                        </a:rPr>
                        <a:t>POS</a:t>
                      </a:r>
                      <a:r>
                        <a:rPr lang="zh-CN" altLang="en-US" sz="1000" b="0" kern="1200" dirty="0">
                          <a:solidFill>
                            <a:schemeClr val="tx1"/>
                          </a:solidFill>
                          <a:latin typeface="微软雅黑" panose="020B0503020204020204" pitchFamily="34" charset="-122"/>
                          <a:ea typeface="微软雅黑" panose="020B0503020204020204" pitchFamily="34" charset="-122"/>
                          <a:cs typeface="+mn-cs"/>
                        </a:rPr>
                        <a:t>优惠券核销前查询验证信息</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dirty="0">
                          <a:solidFill>
                            <a:schemeClr val="tx1"/>
                          </a:solidFill>
                          <a:latin typeface="微软雅黑" panose="020B0503020204020204" pitchFamily="34" charset="-122"/>
                          <a:ea typeface="微软雅黑" panose="020B0503020204020204" pitchFamily="34" charset="-122"/>
                          <a:cs typeface="+mn-cs"/>
                        </a:rPr>
                        <a:t>/</a:t>
                      </a:r>
                      <a:r>
                        <a:rPr lang="en-US" sz="1000" b="0" kern="1200" dirty="0" err="1">
                          <a:solidFill>
                            <a:schemeClr val="tx1"/>
                          </a:solidFill>
                          <a:latin typeface="微软雅黑" panose="020B0503020204020204" pitchFamily="34" charset="-122"/>
                          <a:ea typeface="微软雅黑" panose="020B0503020204020204" pitchFamily="34" charset="-122"/>
                          <a:cs typeface="+mn-cs"/>
                        </a:rPr>
                        <a:t>api</a:t>
                      </a:r>
                      <a:r>
                        <a:rPr lang="en-US" sz="1000" b="0" kern="1200" dirty="0">
                          <a:solidFill>
                            <a:schemeClr val="tx1"/>
                          </a:solidFill>
                          <a:latin typeface="微软雅黑" panose="020B0503020204020204" pitchFamily="34" charset="-122"/>
                          <a:ea typeface="微软雅黑" panose="020B0503020204020204" pitchFamily="34" charset="-122"/>
                          <a:cs typeface="+mn-cs"/>
                        </a:rPr>
                        <a:t>/coupons/</a:t>
                      </a:r>
                      <a:r>
                        <a:rPr lang="en-US" sz="1000" b="0" kern="1200" dirty="0" err="1">
                          <a:solidFill>
                            <a:schemeClr val="tx1"/>
                          </a:solidFill>
                          <a:latin typeface="微软雅黑" panose="020B0503020204020204" pitchFamily="34" charset="-122"/>
                          <a:ea typeface="微软雅黑" panose="020B0503020204020204" pitchFamily="34" charset="-122"/>
                          <a:cs typeface="+mn-cs"/>
                        </a:rPr>
                        <a:t>pos</a:t>
                      </a:r>
                      <a:r>
                        <a:rPr lang="en-US" sz="1000" b="0" kern="1200" dirty="0">
                          <a:solidFill>
                            <a:schemeClr val="tx1"/>
                          </a:solidFill>
                          <a:latin typeface="微软雅黑" panose="020B0503020204020204" pitchFamily="34" charset="-122"/>
                          <a:ea typeface="微软雅黑" panose="020B0503020204020204" pitchFamily="34" charset="-122"/>
                          <a:cs typeface="+mn-cs"/>
                        </a:rPr>
                        <a:t>/verification/writer/off</a:t>
                      </a:r>
                      <a:endParaRPr 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dirty="0" smtClean="0">
                          <a:solidFill>
                            <a:schemeClr val="tx1"/>
                          </a:solidFill>
                          <a:effectLst/>
                          <a:latin typeface="微软雅黑" panose="020B0503020204020204" pitchFamily="34" charset="-122"/>
                          <a:ea typeface="微软雅黑" panose="020B0503020204020204" pitchFamily="34" charset="-122"/>
                          <a:sym typeface="+mn-ea"/>
                        </a:rPr>
                        <a:t>7</a:t>
                      </a:r>
                      <a:endParaRPr lang="zh-CN" altLang="en-US" sz="1000" b="0" dirty="0">
                        <a:solidFill>
                          <a:schemeClr val="tx1"/>
                        </a:solidFill>
                        <a:effectLst/>
                        <a:latin typeface="微软雅黑" panose="020B0503020204020204" pitchFamily="34" charset="-122"/>
                        <a:ea typeface="微软雅黑" panose="020B0503020204020204" pitchFamily="34" charset="-122"/>
                        <a:sym typeface="+mn-ea"/>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dirty="0">
                          <a:solidFill>
                            <a:schemeClr val="tx1"/>
                          </a:solidFill>
                          <a:latin typeface="微软雅黑" panose="020B0503020204020204" pitchFamily="34" charset="-122"/>
                          <a:ea typeface="微软雅黑" panose="020B0503020204020204" pitchFamily="34" charset="-122"/>
                          <a:cs typeface="+mn-cs"/>
                        </a:rPr>
                        <a:t>POS</a:t>
                      </a:r>
                      <a:r>
                        <a:rPr lang="zh-CN" altLang="en-US" sz="1000" b="0" kern="1200" dirty="0">
                          <a:solidFill>
                            <a:schemeClr val="tx1"/>
                          </a:solidFill>
                          <a:latin typeface="微软雅黑" panose="020B0503020204020204" pitchFamily="34" charset="-122"/>
                          <a:ea typeface="微软雅黑" panose="020B0503020204020204" pitchFamily="34" charset="-122"/>
                          <a:cs typeface="+mn-cs"/>
                        </a:rPr>
                        <a:t>优惠券核销 </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a:solidFill>
                            <a:schemeClr val="tx1"/>
                          </a:solidFill>
                          <a:latin typeface="微软雅黑" panose="020B0503020204020204" pitchFamily="34" charset="-122"/>
                          <a:ea typeface="微软雅黑" panose="020B0503020204020204" pitchFamily="34" charset="-122"/>
                          <a:cs typeface="+mn-cs"/>
                        </a:rPr>
                        <a:t>/api/coupons/pos/writer/off</a:t>
                      </a:r>
                      <a:endParaRPr lang="en-US" sz="1000" b="0" kern="120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dirty="0" smtClean="0">
                          <a:solidFill>
                            <a:schemeClr val="tx1"/>
                          </a:solidFill>
                          <a:effectLst/>
                          <a:latin typeface="微软雅黑" panose="020B0503020204020204" pitchFamily="34" charset="-122"/>
                          <a:ea typeface="微软雅黑" panose="020B0503020204020204" pitchFamily="34" charset="-122"/>
                          <a:sym typeface="+mn-ea"/>
                        </a:rPr>
                        <a:t>8</a:t>
                      </a:r>
                      <a:endParaRPr lang="zh-CN" altLang="en-US" sz="1000" b="0" dirty="0">
                        <a:solidFill>
                          <a:schemeClr val="tx1"/>
                        </a:solidFill>
                        <a:effectLst/>
                        <a:latin typeface="微软雅黑" panose="020B0503020204020204" pitchFamily="34" charset="-122"/>
                        <a:ea typeface="微软雅黑" panose="020B0503020204020204" pitchFamily="34" charset="-122"/>
                        <a:sym typeface="+mn-ea"/>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zh-CN" altLang="en-US" sz="1000" b="0" kern="1200" dirty="0">
                          <a:solidFill>
                            <a:schemeClr val="tx1"/>
                          </a:solidFill>
                          <a:latin typeface="微软雅黑" panose="020B0503020204020204" pitchFamily="34" charset="-122"/>
                          <a:ea typeface="微软雅黑" panose="020B0503020204020204" pitchFamily="34" charset="-122"/>
                          <a:cs typeface="+mn-cs"/>
                        </a:rPr>
                        <a:t>会员优惠券领取</a:t>
                      </a:r>
                      <a:r>
                        <a:rPr lang="en-US" altLang="zh-CN" sz="1000" b="0" kern="1200" dirty="0">
                          <a:solidFill>
                            <a:schemeClr val="tx1"/>
                          </a:solidFill>
                          <a:latin typeface="微软雅黑" panose="020B0503020204020204" pitchFamily="34" charset="-122"/>
                          <a:ea typeface="微软雅黑" panose="020B0503020204020204" pitchFamily="34" charset="-122"/>
                          <a:cs typeface="+mn-cs"/>
                        </a:rPr>
                        <a:t>(POS) </a:t>
                      </a:r>
                      <a:endParaRPr lang="en-US" altLang="zh-CN"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a:solidFill>
                            <a:schemeClr val="tx1"/>
                          </a:solidFill>
                          <a:latin typeface="微软雅黑" panose="020B0503020204020204" pitchFamily="34" charset="-122"/>
                          <a:ea typeface="微软雅黑" panose="020B0503020204020204" pitchFamily="34" charset="-122"/>
                          <a:cs typeface="+mn-cs"/>
                        </a:rPr>
                        <a:t>/api/pos/coupons/receive</a:t>
                      </a:r>
                      <a:endParaRPr lang="en-US" sz="1000" b="0" kern="120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dirty="0" smtClean="0">
                          <a:solidFill>
                            <a:schemeClr val="tx1"/>
                          </a:solidFill>
                          <a:effectLst/>
                          <a:latin typeface="微软雅黑" panose="020B0503020204020204" pitchFamily="34" charset="-122"/>
                          <a:ea typeface="微软雅黑" panose="020B0503020204020204" pitchFamily="34" charset="-122"/>
                          <a:sym typeface="+mn-ea"/>
                        </a:rPr>
                        <a:t>9</a:t>
                      </a:r>
                      <a:endParaRPr lang="zh-CN" altLang="en-US" sz="1000" b="0" dirty="0">
                        <a:solidFill>
                          <a:schemeClr val="tx1"/>
                        </a:solidFill>
                        <a:effectLst/>
                        <a:latin typeface="微软雅黑" panose="020B0503020204020204" pitchFamily="34" charset="-122"/>
                        <a:ea typeface="微软雅黑" panose="020B0503020204020204" pitchFamily="34" charset="-122"/>
                        <a:sym typeface="+mn-ea"/>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zh-CN" altLang="en-US" sz="1000" b="0" kern="1200">
                          <a:solidFill>
                            <a:schemeClr val="tx1"/>
                          </a:solidFill>
                          <a:latin typeface="微软雅黑" panose="020B0503020204020204" pitchFamily="34" charset="-122"/>
                          <a:ea typeface="微软雅黑" panose="020B0503020204020204" pitchFamily="34" charset="-122"/>
                          <a:cs typeface="+mn-cs"/>
                        </a:rPr>
                        <a:t>优惠券核销验证订单号</a:t>
                      </a:r>
                      <a:endParaRPr lang="zh-CN" altLang="en-US" sz="1000" b="0" kern="120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a:solidFill>
                            <a:schemeClr val="tx1"/>
                          </a:solidFill>
                          <a:latin typeface="微软雅黑" panose="020B0503020204020204" pitchFamily="34" charset="-122"/>
                          <a:ea typeface="微软雅黑" panose="020B0503020204020204" pitchFamily="34" charset="-122"/>
                          <a:cs typeface="+mn-cs"/>
                        </a:rPr>
                        <a:t>/api/coupons/write-off/verify</a:t>
                      </a:r>
                      <a:endParaRPr lang="en-US" sz="1000" b="0" kern="120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dirty="0" smtClean="0">
                          <a:solidFill>
                            <a:schemeClr val="tx1"/>
                          </a:solidFill>
                          <a:effectLst/>
                          <a:latin typeface="微软雅黑" panose="020B0503020204020204" pitchFamily="34" charset="-122"/>
                          <a:ea typeface="微软雅黑" panose="020B0503020204020204" pitchFamily="34" charset="-122"/>
                          <a:sym typeface="+mn-ea"/>
                        </a:rPr>
                        <a:t>10</a:t>
                      </a:r>
                      <a:endParaRPr lang="zh-CN" altLang="en-US" sz="1000" b="0" dirty="0">
                        <a:solidFill>
                          <a:schemeClr val="tx1"/>
                        </a:solidFill>
                        <a:effectLst/>
                        <a:latin typeface="微软雅黑" panose="020B0503020204020204" pitchFamily="34" charset="-122"/>
                        <a:ea typeface="微软雅黑" panose="020B0503020204020204" pitchFamily="34" charset="-122"/>
                        <a:sym typeface="+mn-ea"/>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altLang="zh-CN" sz="1000" b="0" kern="1200">
                          <a:solidFill>
                            <a:schemeClr val="tx1"/>
                          </a:solidFill>
                          <a:latin typeface="微软雅黑" panose="020B0503020204020204" pitchFamily="34" charset="-122"/>
                          <a:ea typeface="微软雅黑" panose="020B0503020204020204" pitchFamily="34" charset="-122"/>
                          <a:cs typeface="+mn-cs"/>
                        </a:rPr>
                        <a:t>POS</a:t>
                      </a:r>
                      <a:r>
                        <a:rPr lang="zh-CN" altLang="en-US" sz="1000" b="0" kern="1200">
                          <a:solidFill>
                            <a:schemeClr val="tx1"/>
                          </a:solidFill>
                          <a:latin typeface="微软雅黑" panose="020B0503020204020204" pitchFamily="34" charset="-122"/>
                          <a:ea typeface="微软雅黑" panose="020B0503020204020204" pitchFamily="34" charset="-122"/>
                          <a:cs typeface="+mn-cs"/>
                        </a:rPr>
                        <a:t>可用积分查询接口</a:t>
                      </a:r>
                      <a:endParaRPr lang="zh-CN" altLang="en-US" sz="1000" b="0" kern="120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a:solidFill>
                            <a:schemeClr val="tx1"/>
                          </a:solidFill>
                          <a:latin typeface="微软雅黑" panose="020B0503020204020204" pitchFamily="34" charset="-122"/>
                          <a:ea typeface="微软雅黑" panose="020B0503020204020204" pitchFamily="34" charset="-122"/>
                          <a:cs typeface="+mn-cs"/>
                        </a:rPr>
                        <a:t>/api/integral/pos/usables</a:t>
                      </a:r>
                      <a:endParaRPr lang="en-US" sz="1000" b="0" kern="120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dirty="0" smtClean="0">
                          <a:solidFill>
                            <a:schemeClr val="tx1"/>
                          </a:solidFill>
                          <a:effectLst/>
                          <a:latin typeface="微软雅黑" panose="020B0503020204020204" pitchFamily="34" charset="-122"/>
                          <a:ea typeface="微软雅黑" panose="020B0503020204020204" pitchFamily="34" charset="-122"/>
                          <a:sym typeface="+mn-ea"/>
                        </a:rPr>
                        <a:t>11</a:t>
                      </a:r>
                      <a:endParaRPr lang="zh-CN" altLang="en-US" sz="1000" b="0" dirty="0">
                        <a:solidFill>
                          <a:schemeClr val="tx1"/>
                        </a:solidFill>
                        <a:effectLst/>
                        <a:latin typeface="微软雅黑" panose="020B0503020204020204" pitchFamily="34" charset="-122"/>
                        <a:ea typeface="微软雅黑" panose="020B0503020204020204" pitchFamily="34" charset="-122"/>
                        <a:sym typeface="+mn-ea"/>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zh-CN" altLang="en-US" sz="1000" b="0" kern="1200" dirty="0">
                          <a:solidFill>
                            <a:schemeClr val="tx1"/>
                          </a:solidFill>
                          <a:latin typeface="微软雅黑" panose="020B0503020204020204" pitchFamily="34" charset="-122"/>
                          <a:ea typeface="微软雅黑" panose="020B0503020204020204" pitchFamily="34" charset="-122"/>
                          <a:cs typeface="+mn-cs"/>
                        </a:rPr>
                        <a:t>积分抵现验证</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a:solidFill>
                            <a:schemeClr val="tx1"/>
                          </a:solidFill>
                          <a:latin typeface="微软雅黑" panose="020B0503020204020204" pitchFamily="34" charset="-122"/>
                          <a:ea typeface="微软雅黑" panose="020B0503020204020204" pitchFamily="34" charset="-122"/>
                          <a:cs typeface="+mn-cs"/>
                        </a:rPr>
                        <a:t>/api/integral/deduction/verify</a:t>
                      </a:r>
                      <a:endParaRPr lang="en-US" sz="1000" b="0" kern="120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dirty="0" smtClean="0">
                          <a:solidFill>
                            <a:schemeClr val="tx1"/>
                          </a:solidFill>
                          <a:effectLst/>
                          <a:latin typeface="微软雅黑" panose="020B0503020204020204" pitchFamily="34" charset="-122"/>
                          <a:ea typeface="微软雅黑" panose="020B0503020204020204" pitchFamily="34" charset="-122"/>
                          <a:sym typeface="+mn-ea"/>
                        </a:rPr>
                        <a:t>12</a:t>
                      </a:r>
                      <a:endParaRPr lang="zh-CN" altLang="en-US" sz="1000" b="0" dirty="0">
                        <a:solidFill>
                          <a:schemeClr val="tx1"/>
                        </a:solidFill>
                        <a:effectLst/>
                        <a:latin typeface="微软雅黑" panose="020B0503020204020204" pitchFamily="34" charset="-122"/>
                        <a:ea typeface="微软雅黑" panose="020B0503020204020204" pitchFamily="34" charset="-122"/>
                        <a:sym typeface="+mn-ea"/>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altLang="zh-CN" sz="1000" b="0" kern="1200" dirty="0">
                          <a:solidFill>
                            <a:schemeClr val="tx1"/>
                          </a:solidFill>
                          <a:latin typeface="微软雅黑" panose="020B0503020204020204" pitchFamily="34" charset="-122"/>
                          <a:ea typeface="微软雅黑" panose="020B0503020204020204" pitchFamily="34" charset="-122"/>
                          <a:cs typeface="+mn-cs"/>
                        </a:rPr>
                        <a:t>POS</a:t>
                      </a:r>
                      <a:r>
                        <a:rPr lang="zh-CN" altLang="en-US" sz="1000" b="0" kern="1200" dirty="0">
                          <a:solidFill>
                            <a:schemeClr val="tx1"/>
                          </a:solidFill>
                          <a:latin typeface="微软雅黑" panose="020B0503020204020204" pitchFamily="34" charset="-122"/>
                          <a:ea typeface="微软雅黑" panose="020B0503020204020204" pitchFamily="34" charset="-122"/>
                          <a:cs typeface="+mn-cs"/>
                        </a:rPr>
                        <a:t>积分扣减</a:t>
                      </a:r>
                      <a:r>
                        <a:rPr lang="en-US" altLang="zh-CN" sz="1000" b="0" kern="1200" dirty="0">
                          <a:solidFill>
                            <a:schemeClr val="tx1"/>
                          </a:solidFill>
                          <a:latin typeface="微软雅黑" panose="020B0503020204020204" pitchFamily="34" charset="-122"/>
                          <a:ea typeface="微软雅黑" panose="020B0503020204020204" pitchFamily="34" charset="-122"/>
                          <a:cs typeface="+mn-cs"/>
                        </a:rPr>
                        <a:t>(</a:t>
                      </a:r>
                      <a:r>
                        <a:rPr lang="zh-CN" altLang="en-US" sz="1000" b="0" kern="1200" dirty="0">
                          <a:solidFill>
                            <a:schemeClr val="tx1"/>
                          </a:solidFill>
                          <a:latin typeface="微软雅黑" panose="020B0503020204020204" pitchFamily="34" charset="-122"/>
                          <a:ea typeface="微软雅黑" panose="020B0503020204020204" pitchFamily="34" charset="-122"/>
                          <a:cs typeface="+mn-cs"/>
                        </a:rPr>
                        <a:t>抵现</a:t>
                      </a:r>
                      <a:r>
                        <a:rPr lang="en-US" altLang="zh-CN" sz="1000" b="0" kern="1200" dirty="0">
                          <a:solidFill>
                            <a:schemeClr val="tx1"/>
                          </a:solidFill>
                          <a:latin typeface="微软雅黑" panose="020B0503020204020204" pitchFamily="34" charset="-122"/>
                          <a:ea typeface="微软雅黑" panose="020B0503020204020204" pitchFamily="34" charset="-122"/>
                          <a:cs typeface="+mn-cs"/>
                        </a:rPr>
                        <a:t>/</a:t>
                      </a:r>
                      <a:r>
                        <a:rPr lang="zh-CN" altLang="en-US" sz="1000" b="0" kern="1200" dirty="0">
                          <a:solidFill>
                            <a:schemeClr val="tx1"/>
                          </a:solidFill>
                          <a:latin typeface="微软雅黑" panose="020B0503020204020204" pitchFamily="34" charset="-122"/>
                          <a:ea typeface="微软雅黑" panose="020B0503020204020204" pitchFamily="34" charset="-122"/>
                          <a:cs typeface="+mn-cs"/>
                        </a:rPr>
                        <a:t>兑换</a:t>
                      </a:r>
                      <a:r>
                        <a:rPr lang="en-US" altLang="zh-CN" sz="1000" b="0" kern="1200" dirty="0">
                          <a:solidFill>
                            <a:schemeClr val="tx1"/>
                          </a:solidFill>
                          <a:latin typeface="微软雅黑" panose="020B0503020204020204" pitchFamily="34" charset="-122"/>
                          <a:ea typeface="微软雅黑" panose="020B0503020204020204" pitchFamily="34" charset="-122"/>
                          <a:cs typeface="+mn-cs"/>
                        </a:rPr>
                        <a:t>)</a:t>
                      </a:r>
                      <a:endParaRPr lang="en-US" altLang="zh-CN"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a:solidFill>
                            <a:schemeClr val="tx1"/>
                          </a:solidFill>
                          <a:latin typeface="微软雅黑" panose="020B0503020204020204" pitchFamily="34" charset="-122"/>
                          <a:ea typeface="微软雅黑" panose="020B0503020204020204" pitchFamily="34" charset="-122"/>
                          <a:cs typeface="+mn-cs"/>
                        </a:rPr>
                        <a:t>/api/integral/pos/deduction</a:t>
                      </a:r>
                      <a:endParaRPr lang="en-US" sz="1000" b="0" kern="120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dirty="0" smtClean="0">
                          <a:solidFill>
                            <a:schemeClr val="tx1"/>
                          </a:solidFill>
                          <a:effectLst/>
                          <a:latin typeface="微软雅黑" panose="020B0503020204020204" pitchFamily="34" charset="-122"/>
                          <a:ea typeface="微软雅黑" panose="020B0503020204020204" pitchFamily="34" charset="-122"/>
                          <a:sym typeface="+mn-ea"/>
                        </a:rPr>
                        <a:t>13</a:t>
                      </a:r>
                      <a:endParaRPr lang="zh-CN" altLang="en-US" sz="1000" b="0" dirty="0">
                        <a:solidFill>
                          <a:schemeClr val="tx1"/>
                        </a:solidFill>
                        <a:effectLst/>
                        <a:latin typeface="微软雅黑" panose="020B0503020204020204" pitchFamily="34" charset="-122"/>
                        <a:ea typeface="微软雅黑" panose="020B0503020204020204" pitchFamily="34" charset="-122"/>
                        <a:sym typeface="+mn-ea"/>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dirty="0">
                          <a:solidFill>
                            <a:schemeClr val="tx1"/>
                          </a:solidFill>
                          <a:latin typeface="微软雅黑" panose="020B0503020204020204" pitchFamily="34" charset="-122"/>
                          <a:ea typeface="微软雅黑" panose="020B0503020204020204" pitchFamily="34" charset="-122"/>
                          <a:cs typeface="+mn-cs"/>
                        </a:rPr>
                        <a:t>POS</a:t>
                      </a:r>
                      <a:r>
                        <a:rPr lang="zh-CN" altLang="en-US" sz="1000" b="0" kern="1200" dirty="0">
                          <a:solidFill>
                            <a:schemeClr val="tx1"/>
                          </a:solidFill>
                          <a:latin typeface="微软雅黑" panose="020B0503020204020204" pitchFamily="34" charset="-122"/>
                          <a:ea typeface="微软雅黑" panose="020B0503020204020204" pitchFamily="34" charset="-122"/>
                          <a:cs typeface="+mn-cs"/>
                        </a:rPr>
                        <a:t>积分回补 </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dirty="0">
                          <a:solidFill>
                            <a:schemeClr val="tx1"/>
                          </a:solidFill>
                          <a:latin typeface="微软雅黑" panose="020B0503020204020204" pitchFamily="34" charset="-122"/>
                          <a:ea typeface="微软雅黑" panose="020B0503020204020204" pitchFamily="34" charset="-122"/>
                          <a:cs typeface="+mn-cs"/>
                        </a:rPr>
                        <a:t>/</a:t>
                      </a:r>
                      <a:r>
                        <a:rPr lang="en-US" sz="1000" b="0" kern="1200" dirty="0" err="1">
                          <a:solidFill>
                            <a:schemeClr val="tx1"/>
                          </a:solidFill>
                          <a:latin typeface="微软雅黑" panose="020B0503020204020204" pitchFamily="34" charset="-122"/>
                          <a:ea typeface="微软雅黑" panose="020B0503020204020204" pitchFamily="34" charset="-122"/>
                          <a:cs typeface="+mn-cs"/>
                        </a:rPr>
                        <a:t>api</a:t>
                      </a:r>
                      <a:r>
                        <a:rPr lang="en-US" sz="1000" b="0" kern="1200" dirty="0">
                          <a:solidFill>
                            <a:schemeClr val="tx1"/>
                          </a:solidFill>
                          <a:latin typeface="微软雅黑" panose="020B0503020204020204" pitchFamily="34" charset="-122"/>
                          <a:ea typeface="微软雅黑" panose="020B0503020204020204" pitchFamily="34" charset="-122"/>
                          <a:cs typeface="+mn-cs"/>
                        </a:rPr>
                        <a:t>/integral/</a:t>
                      </a:r>
                      <a:r>
                        <a:rPr lang="en-US" sz="1000" b="0" kern="1200" dirty="0" err="1">
                          <a:solidFill>
                            <a:schemeClr val="tx1"/>
                          </a:solidFill>
                          <a:latin typeface="微软雅黑" panose="020B0503020204020204" pitchFamily="34" charset="-122"/>
                          <a:ea typeface="微软雅黑" panose="020B0503020204020204" pitchFamily="34" charset="-122"/>
                          <a:cs typeface="+mn-cs"/>
                        </a:rPr>
                        <a:t>pos</a:t>
                      </a:r>
                      <a:r>
                        <a:rPr lang="en-US" sz="1000" b="0" kern="1200" dirty="0">
                          <a:solidFill>
                            <a:schemeClr val="tx1"/>
                          </a:solidFill>
                          <a:latin typeface="微软雅黑" panose="020B0503020204020204" pitchFamily="34" charset="-122"/>
                          <a:ea typeface="微软雅黑" panose="020B0503020204020204" pitchFamily="34" charset="-122"/>
                          <a:cs typeface="+mn-cs"/>
                        </a:rPr>
                        <a:t>/cover</a:t>
                      </a:r>
                      <a:endParaRPr 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dirty="0" smtClean="0">
                          <a:solidFill>
                            <a:schemeClr val="tx1"/>
                          </a:solidFill>
                          <a:effectLst/>
                          <a:latin typeface="微软雅黑" panose="020B0503020204020204" pitchFamily="34" charset="-122"/>
                          <a:ea typeface="微软雅黑" panose="020B0503020204020204" pitchFamily="34" charset="-122"/>
                          <a:sym typeface="+mn-ea"/>
                        </a:rPr>
                        <a:t>14</a:t>
                      </a:r>
                      <a:endParaRPr lang="zh-CN" altLang="en-US" sz="1000" b="0" dirty="0">
                        <a:solidFill>
                          <a:schemeClr val="tx1"/>
                        </a:solidFill>
                        <a:effectLst/>
                        <a:latin typeface="微软雅黑" panose="020B0503020204020204" pitchFamily="34" charset="-122"/>
                        <a:ea typeface="微软雅黑" panose="020B0503020204020204" pitchFamily="34" charset="-122"/>
                        <a:sym typeface="+mn-ea"/>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altLang="zh-CN" sz="1000" b="0" kern="1200" dirty="0">
                          <a:solidFill>
                            <a:schemeClr val="tx1"/>
                          </a:solidFill>
                          <a:latin typeface="微软雅黑" panose="020B0503020204020204" pitchFamily="34" charset="-122"/>
                          <a:ea typeface="微软雅黑" panose="020B0503020204020204" pitchFamily="34" charset="-122"/>
                          <a:cs typeface="+mn-cs"/>
                        </a:rPr>
                        <a:t>POS</a:t>
                      </a:r>
                      <a:r>
                        <a:rPr lang="zh-CN" altLang="en-US" sz="1000" b="0" kern="1200" dirty="0">
                          <a:solidFill>
                            <a:schemeClr val="tx1"/>
                          </a:solidFill>
                          <a:latin typeface="微软雅黑" panose="020B0503020204020204" pitchFamily="34" charset="-122"/>
                          <a:ea typeface="微软雅黑" panose="020B0503020204020204" pitchFamily="34" charset="-122"/>
                          <a:cs typeface="+mn-cs"/>
                        </a:rPr>
                        <a:t>会员积分增加</a:t>
                      </a:r>
                      <a:r>
                        <a:rPr lang="en-US" altLang="zh-CN" sz="1000" b="0" kern="1200" dirty="0">
                          <a:solidFill>
                            <a:schemeClr val="tx1"/>
                          </a:solidFill>
                          <a:latin typeface="微软雅黑" panose="020B0503020204020204" pitchFamily="34" charset="-122"/>
                          <a:ea typeface="微软雅黑" panose="020B0503020204020204" pitchFamily="34" charset="-122"/>
                          <a:cs typeface="+mn-cs"/>
                        </a:rPr>
                        <a:t>(</a:t>
                      </a:r>
                      <a:r>
                        <a:rPr lang="zh-CN" altLang="en-US" sz="1000" b="0" kern="1200" dirty="0">
                          <a:solidFill>
                            <a:schemeClr val="tx1"/>
                          </a:solidFill>
                          <a:latin typeface="微软雅黑" panose="020B0503020204020204" pitchFamily="34" charset="-122"/>
                          <a:ea typeface="微软雅黑" panose="020B0503020204020204" pitchFamily="34" charset="-122"/>
                          <a:cs typeface="+mn-cs"/>
                        </a:rPr>
                        <a:t>控制积分量</a:t>
                      </a:r>
                      <a:r>
                        <a:rPr lang="en-US" altLang="zh-CN" sz="1000" b="0" kern="1200" dirty="0">
                          <a:solidFill>
                            <a:schemeClr val="tx1"/>
                          </a:solidFill>
                          <a:latin typeface="微软雅黑" panose="020B0503020204020204" pitchFamily="34" charset="-122"/>
                          <a:ea typeface="微软雅黑" panose="020B0503020204020204" pitchFamily="34" charset="-122"/>
                          <a:cs typeface="+mn-cs"/>
                        </a:rPr>
                        <a:t>)</a:t>
                      </a:r>
                      <a:endParaRPr lang="en-US" altLang="zh-CN"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dirty="0">
                          <a:solidFill>
                            <a:schemeClr val="tx1"/>
                          </a:solidFill>
                          <a:latin typeface="微软雅黑" panose="020B0503020204020204" pitchFamily="34" charset="-122"/>
                          <a:ea typeface="微软雅黑" panose="020B0503020204020204" pitchFamily="34" charset="-122"/>
                          <a:cs typeface="+mn-cs"/>
                        </a:rPr>
                        <a:t>/</a:t>
                      </a:r>
                      <a:r>
                        <a:rPr lang="en-US" sz="1000" b="0" kern="1200" dirty="0" err="1">
                          <a:solidFill>
                            <a:schemeClr val="tx1"/>
                          </a:solidFill>
                          <a:latin typeface="微软雅黑" panose="020B0503020204020204" pitchFamily="34" charset="-122"/>
                          <a:ea typeface="微软雅黑" panose="020B0503020204020204" pitchFamily="34" charset="-122"/>
                          <a:cs typeface="+mn-cs"/>
                        </a:rPr>
                        <a:t>api</a:t>
                      </a:r>
                      <a:r>
                        <a:rPr lang="en-US" sz="1000" b="0" kern="1200" dirty="0">
                          <a:solidFill>
                            <a:schemeClr val="tx1"/>
                          </a:solidFill>
                          <a:latin typeface="微软雅黑" panose="020B0503020204020204" pitchFamily="34" charset="-122"/>
                          <a:ea typeface="微软雅黑" panose="020B0503020204020204" pitchFamily="34" charset="-122"/>
                          <a:cs typeface="+mn-cs"/>
                        </a:rPr>
                        <a:t>/integral/third/</a:t>
                      </a:r>
                      <a:r>
                        <a:rPr lang="en-US" sz="1000" b="0" kern="1200" dirty="0" err="1">
                          <a:solidFill>
                            <a:schemeClr val="tx1"/>
                          </a:solidFill>
                          <a:latin typeface="微软雅黑" panose="020B0503020204020204" pitchFamily="34" charset="-122"/>
                          <a:ea typeface="微软雅黑" panose="020B0503020204020204" pitchFamily="34" charset="-122"/>
                          <a:cs typeface="+mn-cs"/>
                        </a:rPr>
                        <a:t>pos</a:t>
                      </a:r>
                      <a:r>
                        <a:rPr lang="en-US" sz="1000" b="0" kern="1200" dirty="0">
                          <a:solidFill>
                            <a:schemeClr val="tx1"/>
                          </a:solidFill>
                          <a:latin typeface="微软雅黑" panose="020B0503020204020204" pitchFamily="34" charset="-122"/>
                          <a:ea typeface="微软雅黑" panose="020B0503020204020204" pitchFamily="34" charset="-122"/>
                          <a:cs typeface="+mn-cs"/>
                        </a:rPr>
                        <a:t>/increases</a:t>
                      </a:r>
                      <a:endParaRPr 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dirty="0" smtClean="0">
                          <a:solidFill>
                            <a:schemeClr val="tx1"/>
                          </a:solidFill>
                          <a:effectLst/>
                          <a:latin typeface="微软雅黑" panose="020B0503020204020204" pitchFamily="34" charset="-122"/>
                          <a:ea typeface="微软雅黑" panose="020B0503020204020204" pitchFamily="34" charset="-122"/>
                          <a:sym typeface="+mn-ea"/>
                        </a:rPr>
                        <a:t>15</a:t>
                      </a:r>
                      <a:endParaRPr lang="zh-CN" altLang="en-US" sz="1000" b="0" dirty="0">
                        <a:solidFill>
                          <a:schemeClr val="tx1"/>
                        </a:solidFill>
                        <a:effectLst/>
                        <a:latin typeface="微软雅黑" panose="020B0503020204020204" pitchFamily="34" charset="-122"/>
                        <a:ea typeface="微软雅黑" panose="020B0503020204020204" pitchFamily="34" charset="-122"/>
                        <a:sym typeface="+mn-ea"/>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zh-CN" altLang="en-US" sz="1000" b="0" kern="1200" dirty="0">
                          <a:solidFill>
                            <a:schemeClr val="tx1"/>
                          </a:solidFill>
                          <a:latin typeface="微软雅黑" panose="020B0503020204020204" pitchFamily="34" charset="-122"/>
                          <a:ea typeface="微软雅黑" panose="020B0503020204020204" pitchFamily="34" charset="-122"/>
                          <a:cs typeface="+mn-cs"/>
                        </a:rPr>
                        <a:t>会员积分抵现查询接口</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dirty="0">
                          <a:solidFill>
                            <a:schemeClr val="tx1"/>
                          </a:solidFill>
                          <a:latin typeface="微软雅黑" panose="020B0503020204020204" pitchFamily="34" charset="-122"/>
                          <a:ea typeface="微软雅黑" panose="020B0503020204020204" pitchFamily="34" charset="-122"/>
                          <a:cs typeface="+mn-cs"/>
                        </a:rPr>
                        <a:t>/</a:t>
                      </a:r>
                      <a:r>
                        <a:rPr lang="en-US" sz="1000" b="0" kern="1200" dirty="0" err="1">
                          <a:solidFill>
                            <a:schemeClr val="tx1"/>
                          </a:solidFill>
                          <a:latin typeface="微软雅黑" panose="020B0503020204020204" pitchFamily="34" charset="-122"/>
                          <a:ea typeface="微软雅黑" panose="020B0503020204020204" pitchFamily="34" charset="-122"/>
                          <a:cs typeface="+mn-cs"/>
                        </a:rPr>
                        <a:t>api</a:t>
                      </a:r>
                      <a:r>
                        <a:rPr lang="en-US" sz="1000" b="0" kern="1200" dirty="0">
                          <a:solidFill>
                            <a:schemeClr val="tx1"/>
                          </a:solidFill>
                          <a:latin typeface="微软雅黑" panose="020B0503020204020204" pitchFamily="34" charset="-122"/>
                          <a:ea typeface="微软雅黑" panose="020B0503020204020204" pitchFamily="34" charset="-122"/>
                          <a:cs typeface="+mn-cs"/>
                        </a:rPr>
                        <a:t>/member-cards/integral/cash</a:t>
                      </a:r>
                      <a:endParaRPr 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dirty="0" smtClean="0">
                          <a:solidFill>
                            <a:schemeClr val="tx1"/>
                          </a:solidFill>
                          <a:effectLst/>
                          <a:latin typeface="微软雅黑" panose="020B0503020204020204" pitchFamily="34" charset="-122"/>
                          <a:ea typeface="微软雅黑" panose="020B0503020204020204" pitchFamily="34" charset="-122"/>
                          <a:sym typeface="+mn-ea"/>
                        </a:rPr>
                        <a:t>16</a:t>
                      </a:r>
                      <a:endParaRPr lang="zh-CN" altLang="en-US" sz="1000" b="0" dirty="0">
                        <a:solidFill>
                          <a:schemeClr val="tx1"/>
                        </a:solidFill>
                        <a:effectLst/>
                        <a:latin typeface="微软雅黑" panose="020B0503020204020204" pitchFamily="34" charset="-122"/>
                        <a:ea typeface="微软雅黑" panose="020B0503020204020204" pitchFamily="34" charset="-122"/>
                        <a:sym typeface="+mn-ea"/>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zh-CN" altLang="en-US" sz="1000" b="0" kern="1200" dirty="0">
                          <a:solidFill>
                            <a:schemeClr val="tx1"/>
                          </a:solidFill>
                          <a:latin typeface="微软雅黑" panose="020B0503020204020204" pitchFamily="34" charset="-122"/>
                          <a:ea typeface="微软雅黑" panose="020B0503020204020204" pitchFamily="34" charset="-122"/>
                          <a:cs typeface="+mn-cs"/>
                        </a:rPr>
                        <a:t>官网会员注册 </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dirty="0">
                          <a:solidFill>
                            <a:schemeClr val="tx1"/>
                          </a:solidFill>
                          <a:latin typeface="微软雅黑" panose="020B0503020204020204" pitchFamily="34" charset="-122"/>
                          <a:ea typeface="微软雅黑" panose="020B0503020204020204" pitchFamily="34" charset="-122"/>
                          <a:cs typeface="+mn-cs"/>
                        </a:rPr>
                        <a:t>/</a:t>
                      </a:r>
                      <a:r>
                        <a:rPr lang="en-US" sz="1000" b="0" kern="1200" dirty="0" err="1">
                          <a:solidFill>
                            <a:schemeClr val="tx1"/>
                          </a:solidFill>
                          <a:latin typeface="微软雅黑" panose="020B0503020204020204" pitchFamily="34" charset="-122"/>
                          <a:ea typeface="微软雅黑" panose="020B0503020204020204" pitchFamily="34" charset="-122"/>
                          <a:cs typeface="+mn-cs"/>
                        </a:rPr>
                        <a:t>api</a:t>
                      </a:r>
                      <a:r>
                        <a:rPr lang="en-US" sz="1000" b="0" kern="1200" dirty="0">
                          <a:solidFill>
                            <a:schemeClr val="tx1"/>
                          </a:solidFill>
                          <a:latin typeface="微软雅黑" panose="020B0503020204020204" pitchFamily="34" charset="-122"/>
                          <a:ea typeface="微软雅黑" panose="020B0503020204020204" pitchFamily="34" charset="-122"/>
                          <a:cs typeface="+mn-cs"/>
                        </a:rPr>
                        <a:t>/members/</a:t>
                      </a:r>
                      <a:r>
                        <a:rPr lang="en-US" sz="1000" b="0" kern="1200" dirty="0" err="1">
                          <a:solidFill>
                            <a:schemeClr val="tx1"/>
                          </a:solidFill>
                          <a:latin typeface="微软雅黑" panose="020B0503020204020204" pitchFamily="34" charset="-122"/>
                          <a:ea typeface="微软雅黑" panose="020B0503020204020204" pitchFamily="34" charset="-122"/>
                          <a:cs typeface="+mn-cs"/>
                        </a:rPr>
                        <a:t>gw</a:t>
                      </a:r>
                      <a:r>
                        <a:rPr lang="en-US" sz="1000" b="0" kern="1200" dirty="0">
                          <a:solidFill>
                            <a:schemeClr val="tx1"/>
                          </a:solidFill>
                          <a:latin typeface="微软雅黑" panose="020B0503020204020204" pitchFamily="34" charset="-122"/>
                          <a:ea typeface="微软雅黑" panose="020B0503020204020204" pitchFamily="34" charset="-122"/>
                          <a:cs typeface="+mn-cs"/>
                        </a:rPr>
                        <a:t>/register</a:t>
                      </a:r>
                      <a:endParaRPr 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dirty="0" smtClean="0">
                          <a:solidFill>
                            <a:schemeClr val="tx1"/>
                          </a:solidFill>
                          <a:effectLst/>
                          <a:latin typeface="微软雅黑" panose="020B0503020204020204" pitchFamily="34" charset="-122"/>
                          <a:ea typeface="微软雅黑" panose="020B0503020204020204" pitchFamily="34" charset="-122"/>
                          <a:sym typeface="+mn-ea"/>
                        </a:rPr>
                        <a:t>17</a:t>
                      </a:r>
                      <a:endParaRPr lang="zh-CN" altLang="en-US" sz="1000" b="0" dirty="0">
                        <a:solidFill>
                          <a:schemeClr val="tx1"/>
                        </a:solidFill>
                        <a:effectLst/>
                        <a:latin typeface="微软雅黑" panose="020B0503020204020204" pitchFamily="34" charset="-122"/>
                        <a:ea typeface="微软雅黑" panose="020B0503020204020204" pitchFamily="34" charset="-122"/>
                        <a:sym typeface="+mn-ea"/>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dirty="0">
                          <a:solidFill>
                            <a:schemeClr val="tx1"/>
                          </a:solidFill>
                          <a:latin typeface="微软雅黑" panose="020B0503020204020204" pitchFamily="34" charset="-122"/>
                          <a:ea typeface="微软雅黑" panose="020B0503020204020204" pitchFamily="34" charset="-122"/>
                          <a:cs typeface="+mn-cs"/>
                        </a:rPr>
                        <a:t>POS</a:t>
                      </a:r>
                      <a:r>
                        <a:rPr lang="zh-CN" altLang="en-US" sz="1000" b="0" kern="1200" dirty="0">
                          <a:solidFill>
                            <a:schemeClr val="tx1"/>
                          </a:solidFill>
                          <a:latin typeface="微软雅黑" panose="020B0503020204020204" pitchFamily="34" charset="-122"/>
                          <a:ea typeface="微软雅黑" panose="020B0503020204020204" pitchFamily="34" charset="-122"/>
                          <a:cs typeface="+mn-cs"/>
                        </a:rPr>
                        <a:t>会员查询 </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dirty="0">
                          <a:solidFill>
                            <a:schemeClr val="tx1"/>
                          </a:solidFill>
                          <a:latin typeface="微软雅黑" panose="020B0503020204020204" pitchFamily="34" charset="-122"/>
                          <a:ea typeface="微软雅黑" panose="020B0503020204020204" pitchFamily="34" charset="-122"/>
                          <a:cs typeface="+mn-cs"/>
                        </a:rPr>
                        <a:t>/</a:t>
                      </a:r>
                      <a:r>
                        <a:rPr lang="en-US" sz="1000" b="0" kern="1200" dirty="0" err="1">
                          <a:solidFill>
                            <a:schemeClr val="tx1"/>
                          </a:solidFill>
                          <a:latin typeface="微软雅黑" panose="020B0503020204020204" pitchFamily="34" charset="-122"/>
                          <a:ea typeface="微软雅黑" panose="020B0503020204020204" pitchFamily="34" charset="-122"/>
                          <a:cs typeface="+mn-cs"/>
                        </a:rPr>
                        <a:t>api</a:t>
                      </a:r>
                      <a:r>
                        <a:rPr lang="en-US" sz="1000" b="0" kern="1200" dirty="0">
                          <a:solidFill>
                            <a:schemeClr val="tx1"/>
                          </a:solidFill>
                          <a:latin typeface="微软雅黑" panose="020B0503020204020204" pitchFamily="34" charset="-122"/>
                          <a:ea typeface="微软雅黑" panose="020B0503020204020204" pitchFamily="34" charset="-122"/>
                          <a:cs typeface="+mn-cs"/>
                        </a:rPr>
                        <a:t>/members/standard/</a:t>
                      </a:r>
                      <a:r>
                        <a:rPr lang="en-US" sz="1000" b="0" kern="1200" dirty="0" err="1">
                          <a:solidFill>
                            <a:schemeClr val="tx1"/>
                          </a:solidFill>
                          <a:latin typeface="微软雅黑" panose="020B0503020204020204" pitchFamily="34" charset="-122"/>
                          <a:ea typeface="微软雅黑" panose="020B0503020204020204" pitchFamily="34" charset="-122"/>
                          <a:cs typeface="+mn-cs"/>
                        </a:rPr>
                        <a:t>pos</a:t>
                      </a:r>
                      <a:endParaRPr 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algn="ctr" fontAlgn="base"/>
                      <a:r>
                        <a:rPr lang="en-US" altLang="zh-CN" sz="1000" b="0" i="0" dirty="0" smtClean="0">
                          <a:solidFill>
                            <a:schemeClr val="tx1"/>
                          </a:solidFill>
                          <a:effectLst/>
                          <a:latin typeface="微软雅黑" panose="020B0503020204020204" pitchFamily="34" charset="-122"/>
                          <a:ea typeface="微软雅黑" panose="020B0503020204020204" pitchFamily="34" charset="-122"/>
                        </a:rPr>
                        <a:t>18</a:t>
                      </a:r>
                      <a:endParaRPr lang="zh-CN" altLang="en-US" sz="1000" b="0" i="0" dirty="0">
                        <a:solidFill>
                          <a:schemeClr val="tx1"/>
                        </a:solidFill>
                        <a:effectLst/>
                        <a:latin typeface="微软雅黑" panose="020B0503020204020204" pitchFamily="34" charset="-122"/>
                        <a:ea typeface="微软雅黑" panose="020B0503020204020204" pitchFamily="34" charset="-122"/>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zh-CN" altLang="en-US" sz="1000" b="0" kern="1200" dirty="0">
                          <a:solidFill>
                            <a:schemeClr val="tx1"/>
                          </a:solidFill>
                          <a:latin typeface="微软雅黑" panose="020B0503020204020204" pitchFamily="34" charset="-122"/>
                          <a:ea typeface="微软雅黑" panose="020B0503020204020204" pitchFamily="34" charset="-122"/>
                          <a:cs typeface="+mn-cs"/>
                        </a:rPr>
                        <a:t>订单新增（</a:t>
                      </a:r>
                      <a:r>
                        <a:rPr lang="en-US" altLang="zh-CN" sz="1000" b="0" kern="1200" dirty="0">
                          <a:solidFill>
                            <a:schemeClr val="tx1"/>
                          </a:solidFill>
                          <a:latin typeface="微软雅黑" panose="020B0503020204020204" pitchFamily="34" charset="-122"/>
                          <a:ea typeface="微软雅黑" panose="020B0503020204020204" pitchFamily="34" charset="-122"/>
                          <a:cs typeface="+mn-cs"/>
                        </a:rPr>
                        <a:t>POS</a:t>
                      </a:r>
                      <a:r>
                        <a:rPr lang="zh-CN" altLang="en-US" sz="1000" b="0" kern="1200" dirty="0">
                          <a:solidFill>
                            <a:schemeClr val="tx1"/>
                          </a:solidFill>
                          <a:latin typeface="微软雅黑" panose="020B0503020204020204" pitchFamily="34" charset="-122"/>
                          <a:ea typeface="微软雅黑" panose="020B0503020204020204" pitchFamily="34" charset="-122"/>
                          <a:cs typeface="+mn-cs"/>
                        </a:rPr>
                        <a:t>）</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dirty="0">
                          <a:solidFill>
                            <a:schemeClr val="tx1"/>
                          </a:solidFill>
                          <a:latin typeface="微软雅黑" panose="020B0503020204020204" pitchFamily="34" charset="-122"/>
                          <a:ea typeface="微软雅黑" panose="020B0503020204020204" pitchFamily="34" charset="-122"/>
                          <a:cs typeface="+mn-cs"/>
                        </a:rPr>
                        <a:t>/</a:t>
                      </a:r>
                      <a:r>
                        <a:rPr lang="en-US" sz="1000" b="0" kern="1200" dirty="0" err="1">
                          <a:solidFill>
                            <a:schemeClr val="tx1"/>
                          </a:solidFill>
                          <a:latin typeface="微软雅黑" panose="020B0503020204020204" pitchFamily="34" charset="-122"/>
                          <a:ea typeface="微软雅黑" panose="020B0503020204020204" pitchFamily="34" charset="-122"/>
                          <a:cs typeface="+mn-cs"/>
                        </a:rPr>
                        <a:t>api</a:t>
                      </a:r>
                      <a:r>
                        <a:rPr lang="en-US" sz="1000" b="0" kern="1200" dirty="0">
                          <a:solidFill>
                            <a:schemeClr val="tx1"/>
                          </a:solidFill>
                          <a:latin typeface="微软雅黑" panose="020B0503020204020204" pitchFamily="34" charset="-122"/>
                          <a:ea typeface="微软雅黑" panose="020B0503020204020204" pitchFamily="34" charset="-122"/>
                          <a:cs typeface="+mn-cs"/>
                        </a:rPr>
                        <a:t>/simple-order/</a:t>
                      </a:r>
                      <a:r>
                        <a:rPr lang="en-US" sz="1000" b="0" kern="1200" dirty="0" err="1">
                          <a:solidFill>
                            <a:schemeClr val="tx1"/>
                          </a:solidFill>
                          <a:latin typeface="微软雅黑" panose="020B0503020204020204" pitchFamily="34" charset="-122"/>
                          <a:ea typeface="微软雅黑" panose="020B0503020204020204" pitchFamily="34" charset="-122"/>
                          <a:cs typeface="+mn-cs"/>
                        </a:rPr>
                        <a:t>pos</a:t>
                      </a:r>
                      <a:endParaRPr 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algn="ctr" fontAlgn="base"/>
                      <a:r>
                        <a:rPr lang="en-US" altLang="zh-CN" sz="1000" b="0" i="0" dirty="0" smtClean="0">
                          <a:solidFill>
                            <a:schemeClr val="tx1"/>
                          </a:solidFill>
                          <a:effectLst/>
                          <a:latin typeface="微软雅黑" panose="020B0503020204020204" pitchFamily="34" charset="-122"/>
                          <a:ea typeface="微软雅黑" panose="020B0503020204020204" pitchFamily="34" charset="-122"/>
                        </a:rPr>
                        <a:t>19</a:t>
                      </a:r>
                      <a:endParaRPr lang="zh-CN" altLang="en-US" sz="1000" b="0" i="0" dirty="0">
                        <a:solidFill>
                          <a:schemeClr val="tx1"/>
                        </a:solidFill>
                        <a:effectLst/>
                        <a:latin typeface="微软雅黑" panose="020B0503020204020204" pitchFamily="34" charset="-122"/>
                        <a:ea typeface="微软雅黑" panose="020B0503020204020204" pitchFamily="34" charset="-122"/>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zh-CN" altLang="en-US" sz="1000" b="0" kern="1200" dirty="0">
                          <a:solidFill>
                            <a:schemeClr val="tx1"/>
                          </a:solidFill>
                          <a:latin typeface="微软雅黑" panose="020B0503020204020204" pitchFamily="34" charset="-122"/>
                          <a:ea typeface="微软雅黑" panose="020B0503020204020204" pitchFamily="34" charset="-122"/>
                          <a:cs typeface="+mn-cs"/>
                        </a:rPr>
                        <a:t>门店数据同步</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zh-CN" altLang="en-US" sz="1000" b="0" kern="1200" dirty="0">
                          <a:solidFill>
                            <a:schemeClr val="tx1"/>
                          </a:solidFill>
                          <a:latin typeface="微软雅黑" panose="020B0503020204020204" pitchFamily="34" charset="-122"/>
                          <a:ea typeface="微软雅黑" panose="020B0503020204020204" pitchFamily="34" charset="-122"/>
                          <a:cs typeface="+mn-cs"/>
                        </a:rPr>
                        <a:t>新接口</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algn="ctr" fontAlgn="base"/>
                      <a:r>
                        <a:rPr lang="en-US" altLang="zh-CN" sz="1000" b="0" i="0" dirty="0" smtClean="0">
                          <a:solidFill>
                            <a:schemeClr val="tx1"/>
                          </a:solidFill>
                          <a:effectLst/>
                          <a:latin typeface="微软雅黑" panose="020B0503020204020204" pitchFamily="34" charset="-122"/>
                          <a:ea typeface="微软雅黑" panose="020B0503020204020204" pitchFamily="34" charset="-122"/>
                        </a:rPr>
                        <a:t>20</a:t>
                      </a:r>
                      <a:endParaRPr lang="zh-CN" altLang="en-US" sz="1000" b="0" i="0" dirty="0">
                        <a:solidFill>
                          <a:schemeClr val="tx1"/>
                        </a:solidFill>
                        <a:effectLst/>
                        <a:latin typeface="微软雅黑" panose="020B0503020204020204" pitchFamily="34" charset="-122"/>
                        <a:ea typeface="微软雅黑" panose="020B0503020204020204" pitchFamily="34" charset="-122"/>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altLang="zh-CN" sz="1000" b="0" kern="1200" dirty="0">
                          <a:solidFill>
                            <a:schemeClr val="tx1"/>
                          </a:solidFill>
                          <a:latin typeface="微软雅黑" panose="020B0503020204020204" pitchFamily="34" charset="-122"/>
                          <a:ea typeface="微软雅黑" panose="020B0503020204020204" pitchFamily="34" charset="-122"/>
                          <a:cs typeface="+mn-cs"/>
                        </a:rPr>
                        <a:t>POS</a:t>
                      </a:r>
                      <a:r>
                        <a:rPr lang="zh-CN" altLang="en-US" sz="1000" b="0" kern="1200" dirty="0">
                          <a:solidFill>
                            <a:schemeClr val="tx1"/>
                          </a:solidFill>
                          <a:latin typeface="微软雅黑" panose="020B0503020204020204" pitchFamily="34" charset="-122"/>
                          <a:ea typeface="微软雅黑" panose="020B0503020204020204" pitchFamily="34" charset="-122"/>
                          <a:cs typeface="+mn-cs"/>
                        </a:rPr>
                        <a:t>导购资料同步</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dirty="0">
                          <a:solidFill>
                            <a:schemeClr val="tx1"/>
                          </a:solidFill>
                          <a:latin typeface="微软雅黑" panose="020B0503020204020204" pitchFamily="34" charset="-122"/>
                          <a:ea typeface="微软雅黑" panose="020B0503020204020204" pitchFamily="34" charset="-122"/>
                          <a:cs typeface="+mn-cs"/>
                        </a:rPr>
                        <a:t>/</a:t>
                      </a:r>
                      <a:r>
                        <a:rPr lang="en-US" sz="1000" b="0" kern="1200" dirty="0" err="1">
                          <a:solidFill>
                            <a:schemeClr val="tx1"/>
                          </a:solidFill>
                          <a:latin typeface="微软雅黑" panose="020B0503020204020204" pitchFamily="34" charset="-122"/>
                          <a:ea typeface="微软雅黑" panose="020B0503020204020204" pitchFamily="34" charset="-122"/>
                          <a:cs typeface="+mn-cs"/>
                        </a:rPr>
                        <a:t>api</a:t>
                      </a:r>
                      <a:r>
                        <a:rPr lang="en-US" sz="1000" b="0" kern="1200" dirty="0">
                          <a:solidFill>
                            <a:schemeClr val="tx1"/>
                          </a:solidFill>
                          <a:latin typeface="微软雅黑" panose="020B0503020204020204" pitchFamily="34" charset="-122"/>
                          <a:ea typeface="微软雅黑" panose="020B0503020204020204" pitchFamily="34" charset="-122"/>
                          <a:cs typeface="+mn-cs"/>
                        </a:rPr>
                        <a:t>/</a:t>
                      </a:r>
                      <a:r>
                        <a:rPr lang="en-US" sz="1000" b="0" kern="1200" dirty="0" err="1">
                          <a:solidFill>
                            <a:schemeClr val="tx1"/>
                          </a:solidFill>
                          <a:latin typeface="微软雅黑" panose="020B0503020204020204" pitchFamily="34" charset="-122"/>
                          <a:ea typeface="微软雅黑" panose="020B0503020204020204" pitchFamily="34" charset="-122"/>
                          <a:cs typeface="+mn-cs"/>
                        </a:rPr>
                        <a:t>adap</a:t>
                      </a:r>
                      <a:r>
                        <a:rPr lang="en-US" sz="1000" b="0" kern="1200" dirty="0">
                          <a:solidFill>
                            <a:schemeClr val="tx1"/>
                          </a:solidFill>
                          <a:latin typeface="微软雅黑" panose="020B0503020204020204" pitchFamily="34" charset="-122"/>
                          <a:ea typeface="微软雅黑" panose="020B0503020204020204" pitchFamily="34" charset="-122"/>
                          <a:cs typeface="+mn-cs"/>
                        </a:rPr>
                        <a:t>/guides/sync</a:t>
                      </a:r>
                      <a:endParaRPr 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POS</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algn="ctr" fontAlgn="base"/>
                      <a:r>
                        <a:rPr lang="en-US" altLang="zh-CN" sz="1000" b="0" i="0" dirty="0" smtClean="0">
                          <a:solidFill>
                            <a:schemeClr val="tx1"/>
                          </a:solidFill>
                          <a:effectLst/>
                          <a:latin typeface="微软雅黑" panose="020B0503020204020204" pitchFamily="34" charset="-122"/>
                          <a:ea typeface="微软雅黑" panose="020B0503020204020204" pitchFamily="34" charset="-122"/>
                        </a:rPr>
                        <a:t>21</a:t>
                      </a:r>
                      <a:endParaRPr lang="zh-CN" altLang="en-US" sz="1000" b="0" i="0" dirty="0">
                        <a:solidFill>
                          <a:schemeClr val="tx1"/>
                        </a:solidFill>
                        <a:effectLst/>
                        <a:latin typeface="微软雅黑" panose="020B0503020204020204" pitchFamily="34" charset="-122"/>
                        <a:ea typeface="微软雅黑" panose="020B0503020204020204" pitchFamily="34" charset="-122"/>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zh-CN" altLang="en-US" sz="1000" b="0" kern="1200" dirty="0" smtClean="0">
                          <a:solidFill>
                            <a:schemeClr val="tx1"/>
                          </a:solidFill>
                          <a:latin typeface="微软雅黑" panose="020B0503020204020204" pitchFamily="34" charset="-122"/>
                          <a:ea typeface="微软雅黑" panose="020B0503020204020204" pitchFamily="34" charset="-122"/>
                          <a:cs typeface="+mn-cs"/>
                        </a:rPr>
                        <a:t>商品信息同步</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sz="1000" b="0" kern="1200" dirty="0" smtClean="0">
                          <a:solidFill>
                            <a:schemeClr val="tx1"/>
                          </a:solidFill>
                          <a:latin typeface="微软雅黑" panose="020B0503020204020204" pitchFamily="34" charset="-122"/>
                          <a:ea typeface="微软雅黑" panose="020B0503020204020204" pitchFamily="34" charset="-122"/>
                          <a:cs typeface="+mn-cs"/>
                        </a:rPr>
                        <a:t>/</a:t>
                      </a:r>
                      <a:r>
                        <a:rPr lang="en-US" sz="1000" b="0" kern="1200" dirty="0" err="1" smtClean="0">
                          <a:solidFill>
                            <a:schemeClr val="tx1"/>
                          </a:solidFill>
                          <a:latin typeface="微软雅黑" panose="020B0503020204020204" pitchFamily="34" charset="-122"/>
                          <a:ea typeface="微软雅黑" panose="020B0503020204020204" pitchFamily="34" charset="-122"/>
                          <a:cs typeface="+mn-cs"/>
                        </a:rPr>
                        <a:t>api</a:t>
                      </a:r>
                      <a:r>
                        <a:rPr lang="en-US" sz="1000" b="0" kern="1200" dirty="0" smtClean="0">
                          <a:solidFill>
                            <a:schemeClr val="tx1"/>
                          </a:solidFill>
                          <a:latin typeface="微软雅黑" panose="020B0503020204020204" pitchFamily="34" charset="-122"/>
                          <a:ea typeface="微软雅黑" panose="020B0503020204020204" pitchFamily="34" charset="-122"/>
                          <a:cs typeface="+mn-cs"/>
                        </a:rPr>
                        <a:t>/</a:t>
                      </a:r>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items/sync &amp; /</a:t>
                      </a:r>
                      <a:r>
                        <a:rPr lang="en-US" altLang="zh-CN" sz="1000" b="0" kern="1200" dirty="0" err="1" smtClean="0">
                          <a:solidFill>
                            <a:schemeClr val="tx1"/>
                          </a:solidFill>
                          <a:latin typeface="微软雅黑" panose="020B0503020204020204" pitchFamily="34" charset="-122"/>
                          <a:ea typeface="微软雅黑" panose="020B0503020204020204" pitchFamily="34" charset="-122"/>
                          <a:cs typeface="+mn-cs"/>
                        </a:rPr>
                        <a:t>api</a:t>
                      </a:r>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/item-</a:t>
                      </a:r>
                      <a:r>
                        <a:rPr lang="en-US" altLang="zh-CN" sz="1000" b="0" kern="1200" dirty="0" err="1" smtClean="0">
                          <a:solidFill>
                            <a:schemeClr val="tx1"/>
                          </a:solidFill>
                          <a:latin typeface="微软雅黑" panose="020B0503020204020204" pitchFamily="34" charset="-122"/>
                          <a:ea typeface="微软雅黑" panose="020B0503020204020204" pitchFamily="34" charset="-122"/>
                          <a:cs typeface="+mn-cs"/>
                        </a:rPr>
                        <a:t>classs</a:t>
                      </a:r>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/sync</a:t>
                      </a:r>
                      <a:endParaRPr 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MDM</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algn="ctr" fontAlgn="base"/>
                      <a:r>
                        <a:rPr lang="en-US" altLang="zh-CN" sz="1000" b="0" i="0" dirty="0" smtClean="0">
                          <a:solidFill>
                            <a:schemeClr val="tx1"/>
                          </a:solidFill>
                          <a:effectLst/>
                          <a:latin typeface="微软雅黑" panose="020B0503020204020204" pitchFamily="34" charset="-122"/>
                          <a:ea typeface="微软雅黑" panose="020B0503020204020204" pitchFamily="34" charset="-122"/>
                        </a:rPr>
                        <a:t>22</a:t>
                      </a:r>
                      <a:endParaRPr lang="zh-CN" altLang="en-US" sz="1000" b="0" i="0" dirty="0">
                        <a:solidFill>
                          <a:schemeClr val="tx1"/>
                        </a:solidFill>
                        <a:effectLst/>
                        <a:latin typeface="微软雅黑" panose="020B0503020204020204" pitchFamily="34" charset="-122"/>
                        <a:ea typeface="微软雅黑" panose="020B0503020204020204" pitchFamily="34" charset="-122"/>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zh-CN" altLang="en-US" sz="1000" b="0" kern="1200" dirty="0" smtClean="0">
                          <a:solidFill>
                            <a:schemeClr val="tx1"/>
                          </a:solidFill>
                          <a:latin typeface="微软雅黑" panose="020B0503020204020204" pitchFamily="34" charset="-122"/>
                          <a:ea typeface="微软雅黑" panose="020B0503020204020204" pitchFamily="34" charset="-122"/>
                          <a:cs typeface="+mn-cs"/>
                        </a:rPr>
                        <a:t>人员组织架构信息</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a:t>
                      </a:r>
                      <a:r>
                        <a:rPr lang="en-US" altLang="zh-CN" sz="1000" b="0" kern="1200" dirty="0" err="1" smtClean="0">
                          <a:solidFill>
                            <a:schemeClr val="tx1"/>
                          </a:solidFill>
                          <a:latin typeface="微软雅黑" panose="020B0503020204020204" pitchFamily="34" charset="-122"/>
                          <a:ea typeface="微软雅黑" panose="020B0503020204020204" pitchFamily="34" charset="-122"/>
                          <a:cs typeface="+mn-cs"/>
                        </a:rPr>
                        <a:t>api</a:t>
                      </a:r>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/org/sync</a:t>
                      </a:r>
                      <a:endParaRPr 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MDM</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235595">
                <a:tc>
                  <a:txBody>
                    <a:bodyPr/>
                    <a:lstStyle/>
                    <a:p>
                      <a:pPr algn="ctr" fontAlgn="base"/>
                      <a:r>
                        <a:rPr lang="en-US" altLang="zh-CN" sz="1000" b="0" i="0" dirty="0" smtClean="0">
                          <a:solidFill>
                            <a:schemeClr val="tx1"/>
                          </a:solidFill>
                          <a:effectLst/>
                          <a:latin typeface="微软雅黑" panose="020B0503020204020204" pitchFamily="34" charset="-122"/>
                          <a:ea typeface="微软雅黑" panose="020B0503020204020204" pitchFamily="34" charset="-122"/>
                        </a:rPr>
                        <a:t>23</a:t>
                      </a:r>
                      <a:endParaRPr lang="zh-CN" altLang="en-US" sz="1000" b="0" i="0" dirty="0">
                        <a:solidFill>
                          <a:schemeClr val="tx1"/>
                        </a:solidFill>
                        <a:effectLst/>
                        <a:latin typeface="微软雅黑" panose="020B0503020204020204" pitchFamily="34" charset="-122"/>
                        <a:ea typeface="微软雅黑" panose="020B0503020204020204" pitchFamily="34" charset="-122"/>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zh-CN" altLang="en-US" sz="1000" b="0" kern="1200" dirty="0" smtClean="0">
                          <a:solidFill>
                            <a:schemeClr val="tx1"/>
                          </a:solidFill>
                          <a:latin typeface="微软雅黑" panose="020B0503020204020204" pitchFamily="34" charset="-122"/>
                          <a:ea typeface="微软雅黑" panose="020B0503020204020204" pitchFamily="34" charset="-122"/>
                          <a:cs typeface="+mn-cs"/>
                        </a:rPr>
                        <a:t>员工信息（导购）</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a:t>
                      </a:r>
                      <a:r>
                        <a:rPr lang="en-US" altLang="zh-CN" sz="1000" b="0" kern="1200" dirty="0" err="1" smtClean="0">
                          <a:solidFill>
                            <a:schemeClr val="tx1"/>
                          </a:solidFill>
                          <a:latin typeface="微软雅黑" panose="020B0503020204020204" pitchFamily="34" charset="-122"/>
                          <a:ea typeface="微软雅黑" panose="020B0503020204020204" pitchFamily="34" charset="-122"/>
                          <a:cs typeface="+mn-cs"/>
                        </a:rPr>
                        <a:t>api</a:t>
                      </a:r>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/guides/sync</a:t>
                      </a:r>
                      <a:endParaRPr 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r>
                        <a:rPr lang="en-US" altLang="zh-CN" sz="1000" b="0" kern="1200" dirty="0" smtClean="0">
                          <a:solidFill>
                            <a:schemeClr val="tx1"/>
                          </a:solidFill>
                          <a:latin typeface="微软雅黑" panose="020B0503020204020204" pitchFamily="34" charset="-122"/>
                          <a:ea typeface="微软雅黑" panose="020B0503020204020204" pitchFamily="34" charset="-122"/>
                          <a:cs typeface="+mn-cs"/>
                        </a:rPr>
                        <a:t>MDM</a:t>
                      </a:r>
                      <a:endParaRPr lang="zh-CN" altLang="en-US" sz="1000" b="0" kern="1200" dirty="0">
                        <a:solidFill>
                          <a:schemeClr val="tx1"/>
                        </a:solidFill>
                        <a:latin typeface="微软雅黑" panose="020B0503020204020204" pitchFamily="34" charset="-122"/>
                        <a:ea typeface="微软雅黑" panose="020B0503020204020204" pitchFamily="34" charset="-122"/>
                        <a:cs typeface="+mn-cs"/>
                      </a:endParaRPr>
                    </a:p>
                  </a:txBody>
                  <a:tcPr marL="28575" marR="28575" marT="19050" marB="1905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altLang="zh-CN" sz="1000" b="0" dirty="0" smtClean="0">
                          <a:solidFill>
                            <a:schemeClr val="tx1"/>
                          </a:solidFill>
                          <a:latin typeface="微软雅黑" panose="020B0503020204020204" pitchFamily="34" charset="-122"/>
                          <a:ea typeface="微软雅黑" panose="020B0503020204020204" pitchFamily="34" charset="-122"/>
                        </a:rPr>
                        <a:t>CRM</a:t>
                      </a:r>
                      <a:endParaRPr lang="zh-CN" altLang="en-US" sz="1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charset="-122"/>
                  <a:cs typeface="+mn-cs"/>
                </a:endParaRPr>
              </a:p>
            </p:txBody>
          </p:sp>
        </p:grpSp>
        <p:sp>
          <p:nvSpPr>
            <p:cNvPr id="4" name="TextBox 7"/>
            <p:cNvSpPr txBox="1"/>
            <p:nvPr/>
          </p:nvSpPr>
          <p:spPr>
            <a:xfrm>
              <a:off x="383254" y="498266"/>
              <a:ext cx="7415271" cy="523220"/>
            </a:xfrm>
            <a:prstGeom prst="rect">
              <a:avLst/>
            </a:prstGeom>
            <a:noFill/>
          </p:spPr>
          <p:txBody>
            <a:bodyPr wrap="square" rtlCol="0">
              <a:spAutoFit/>
            </a:bodyPr>
            <a:lstStyle/>
            <a:p>
              <a:pPr lvl="0"/>
              <a:r>
                <a:rPr lang="zh-CN" altLang="en-US" sz="2800" b="1" dirty="0" smtClean="0">
                  <a:solidFill>
                    <a:prstClr val="black"/>
                  </a:solidFill>
                  <a:latin typeface="微软雅黑" panose="020B0503020204020204" pitchFamily="34" charset="-122"/>
                  <a:ea typeface="微软雅黑" panose="020B0503020204020204" pitchFamily="34" charset="-122"/>
                </a:rPr>
                <a:t>物理部署图</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grpSp>
      <p:sp>
        <p:nvSpPr>
          <p:cNvPr id="8" name="云形 7"/>
          <p:cNvSpPr/>
          <p:nvPr/>
        </p:nvSpPr>
        <p:spPr>
          <a:xfrm>
            <a:off x="580292" y="1890665"/>
            <a:ext cx="10639517" cy="4967335"/>
          </a:xfrm>
          <a:prstGeom prst="cloud">
            <a:avLst/>
          </a:prstGeom>
          <a:solidFill>
            <a:srgbClr val="FF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rgbClr val="C00000"/>
              </a:solidFill>
              <a:latin typeface="微软雅黑" panose="020B0503020204020204" pitchFamily="34" charset="-122"/>
              <a:ea typeface="微软雅黑" panose="020B0503020204020204" pitchFamily="34" charset="-122"/>
            </a:endParaRPr>
          </a:p>
        </p:txBody>
      </p:sp>
      <p:grpSp>
        <p:nvGrpSpPr>
          <p:cNvPr id="23" name="组合 22"/>
          <p:cNvGrpSpPr/>
          <p:nvPr/>
        </p:nvGrpSpPr>
        <p:grpSpPr>
          <a:xfrm>
            <a:off x="7622346" y="4219917"/>
            <a:ext cx="519694" cy="575002"/>
            <a:chOff x="5843906" y="3615931"/>
            <a:chExt cx="519694" cy="575002"/>
          </a:xfrm>
        </p:grpSpPr>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923752" y="3615931"/>
              <a:ext cx="360000" cy="360000"/>
            </a:xfrm>
            <a:prstGeom prst="rect">
              <a:avLst/>
            </a:prstGeom>
          </p:spPr>
        </p:pic>
        <p:sp>
          <p:nvSpPr>
            <p:cNvPr id="25" name="文本框 90"/>
            <p:cNvSpPr txBox="1"/>
            <p:nvPr/>
          </p:nvSpPr>
          <p:spPr>
            <a:xfrm>
              <a:off x="5843906" y="3975489"/>
              <a:ext cx="519694"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en-US" altLang="zh-CN" sz="800" dirty="0" smtClean="0">
                  <a:solidFill>
                    <a:srgbClr val="C00000"/>
                  </a:solidFill>
                  <a:latin typeface="微软雅黑" panose="020B0503020204020204" pitchFamily="34" charset="-122"/>
                  <a:ea typeface="微软雅黑" panose="020B0503020204020204" pitchFamily="34" charset="-122"/>
                </a:rPr>
                <a:t>master</a:t>
              </a:r>
              <a:endParaRPr lang="zh-CN" altLang="en-US" sz="800" dirty="0">
                <a:solidFill>
                  <a:srgbClr val="C00000"/>
                </a:solidFill>
                <a:latin typeface="微软雅黑" panose="020B0503020204020204" pitchFamily="34" charset="-122"/>
                <a:ea typeface="微软雅黑" panose="020B0503020204020204" pitchFamily="34" charset="-122"/>
              </a:endParaRPr>
            </a:p>
          </p:txBody>
        </p:sp>
      </p:grpSp>
      <p:sp>
        <p:nvSpPr>
          <p:cNvPr id="30" name="矩形 29"/>
          <p:cNvSpPr/>
          <p:nvPr/>
        </p:nvSpPr>
        <p:spPr>
          <a:xfrm>
            <a:off x="2709366" y="4580690"/>
            <a:ext cx="3329094" cy="1280455"/>
          </a:xfrm>
          <a:prstGeom prst="rect">
            <a:avLst/>
          </a:prstGeom>
          <a:noFill/>
          <a:ln w="12700">
            <a:solidFill>
              <a:srgbClr val="FFAF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rgbClr val="C00000"/>
              </a:solidFill>
              <a:latin typeface="微软雅黑" panose="020B0503020204020204" pitchFamily="34" charset="-122"/>
              <a:ea typeface="微软雅黑" panose="020B0503020204020204" pitchFamily="34" charset="-122"/>
            </a:endParaRPr>
          </a:p>
        </p:txBody>
      </p:sp>
      <p:sp>
        <p:nvSpPr>
          <p:cNvPr id="31" name="矩形 30"/>
          <p:cNvSpPr/>
          <p:nvPr/>
        </p:nvSpPr>
        <p:spPr>
          <a:xfrm>
            <a:off x="3925469" y="2760716"/>
            <a:ext cx="2563254" cy="1514927"/>
          </a:xfrm>
          <a:prstGeom prst="rect">
            <a:avLst/>
          </a:prstGeom>
          <a:noFill/>
          <a:ln w="12700">
            <a:solidFill>
              <a:srgbClr val="FFAF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rgbClr val="C00000"/>
              </a:solidFill>
              <a:latin typeface="微软雅黑" panose="020B0503020204020204" pitchFamily="34" charset="-122"/>
              <a:ea typeface="微软雅黑" panose="020B0503020204020204" pitchFamily="34" charset="-122"/>
            </a:endParaRPr>
          </a:p>
        </p:txBody>
      </p:sp>
      <p:grpSp>
        <p:nvGrpSpPr>
          <p:cNvPr id="32" name="组合 31"/>
          <p:cNvGrpSpPr/>
          <p:nvPr/>
        </p:nvGrpSpPr>
        <p:grpSpPr>
          <a:xfrm>
            <a:off x="3501879" y="1317828"/>
            <a:ext cx="1298753" cy="678359"/>
            <a:chOff x="2649791" y="840724"/>
            <a:chExt cx="1298753" cy="678359"/>
          </a:xfrm>
        </p:grpSpPr>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18968" y="840724"/>
              <a:ext cx="360000" cy="360000"/>
            </a:xfrm>
            <a:prstGeom prst="rect">
              <a:avLst/>
            </a:prstGeom>
          </p:spPr>
        </p:pic>
        <p:sp>
          <p:nvSpPr>
            <p:cNvPr id="34" name="文本框 90"/>
            <p:cNvSpPr txBox="1"/>
            <p:nvPr/>
          </p:nvSpPr>
          <p:spPr>
            <a:xfrm>
              <a:off x="2649791" y="1180529"/>
              <a:ext cx="1298753"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800" dirty="0" smtClean="0">
                  <a:solidFill>
                    <a:srgbClr val="C00000"/>
                  </a:solidFill>
                  <a:ea typeface="微软雅黑" charset="0"/>
                </a:rPr>
                <a:t>前端域名</a:t>
              </a:r>
              <a:endParaRPr lang="en-US" altLang="zh-CN" sz="800" dirty="0" smtClean="0">
                <a:solidFill>
                  <a:srgbClr val="C00000"/>
                </a:solidFill>
                <a:ea typeface="微软雅黑" panose="020B0503020204020204" pitchFamily="34" charset="-122"/>
              </a:endParaRPr>
            </a:p>
            <a:p>
              <a:pPr algn="ctr"/>
              <a:r>
                <a:rPr lang="en-US" altLang="zh-CN" sz="800" dirty="0" smtClean="0">
                  <a:solidFill>
                    <a:srgbClr val="C00000"/>
                  </a:solidFill>
                  <a:ea typeface="微软雅黑" panose="020B0503020204020204" pitchFamily="34" charset="-122"/>
                </a:rPr>
                <a:t>https://</a:t>
              </a:r>
              <a:r>
                <a:rPr lang="en-US" altLang="zh-CN" sz="800" dirty="0" smtClean="0">
                  <a:solidFill>
                    <a:srgbClr val="C00000"/>
                  </a:solidFill>
                  <a:ea typeface="微软雅黑" panose="020B0503020204020204" pitchFamily="34" charset="-122"/>
                </a:rPr>
                <a:t>crm-sea.anta.com</a:t>
              </a:r>
              <a:endParaRPr lang="zh-CN" altLang="en-US" sz="800" dirty="0">
                <a:solidFill>
                  <a:srgbClr val="C00000"/>
                </a:solidFill>
                <a:ea typeface="微软雅黑" panose="020B0503020204020204" pitchFamily="34" charset="-122"/>
              </a:endParaRPr>
            </a:p>
          </p:txBody>
        </p:sp>
      </p:grpSp>
      <p:grpSp>
        <p:nvGrpSpPr>
          <p:cNvPr id="35" name="组合 34"/>
          <p:cNvGrpSpPr/>
          <p:nvPr/>
        </p:nvGrpSpPr>
        <p:grpSpPr>
          <a:xfrm>
            <a:off x="4780934" y="1241158"/>
            <a:ext cx="1358064" cy="678359"/>
            <a:chOff x="2620136" y="840724"/>
            <a:chExt cx="1358064" cy="678359"/>
          </a:xfrm>
        </p:grpSpPr>
        <p:pic>
          <p:nvPicPr>
            <p:cNvPr id="36" name="图片 3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18968" y="840724"/>
              <a:ext cx="360000" cy="360000"/>
            </a:xfrm>
            <a:prstGeom prst="rect">
              <a:avLst/>
            </a:prstGeom>
          </p:spPr>
        </p:pic>
        <p:sp>
          <p:nvSpPr>
            <p:cNvPr id="37" name="文本框 90"/>
            <p:cNvSpPr txBox="1"/>
            <p:nvPr/>
          </p:nvSpPr>
          <p:spPr>
            <a:xfrm>
              <a:off x="2620136" y="1180529"/>
              <a:ext cx="1358064"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en-US" altLang="zh-CN" sz="800" dirty="0" smtClean="0">
                  <a:solidFill>
                    <a:srgbClr val="C00000"/>
                  </a:solidFill>
                  <a:ea typeface="微软雅黑" charset="0"/>
                </a:rPr>
                <a:t>API</a:t>
              </a:r>
              <a:r>
                <a:rPr lang="zh-CN" altLang="en-US" sz="800" dirty="0" smtClean="0">
                  <a:solidFill>
                    <a:srgbClr val="C00000"/>
                  </a:solidFill>
                  <a:ea typeface="微软雅黑" charset="0"/>
                </a:rPr>
                <a:t>域名</a:t>
              </a:r>
              <a:endParaRPr lang="en-US" altLang="zh-CN" sz="800" dirty="0" smtClean="0">
                <a:solidFill>
                  <a:srgbClr val="C00000"/>
                </a:solidFill>
                <a:ea typeface="微软雅黑" panose="020B0503020204020204" pitchFamily="34" charset="-122"/>
              </a:endParaRPr>
            </a:p>
            <a:p>
              <a:pPr algn="ctr"/>
              <a:r>
                <a:rPr lang="en-US" altLang="zh-CN" sz="800" dirty="0" smtClean="0">
                  <a:solidFill>
                    <a:srgbClr val="C00000"/>
                  </a:solidFill>
                  <a:ea typeface="微软雅黑" panose="020B0503020204020204" pitchFamily="34" charset="-122"/>
                </a:rPr>
                <a:t>https://</a:t>
              </a:r>
              <a:r>
                <a:rPr lang="en-US" altLang="zh-CN" sz="800" dirty="0" smtClean="0">
                  <a:solidFill>
                    <a:srgbClr val="C00000"/>
                  </a:solidFill>
                  <a:ea typeface="微软雅黑" panose="020B0503020204020204" pitchFamily="34" charset="-122"/>
                </a:rPr>
                <a:t>open-sea.anta.com</a:t>
              </a:r>
              <a:endParaRPr lang="zh-CN" altLang="en-US" sz="800" dirty="0">
                <a:solidFill>
                  <a:srgbClr val="C00000"/>
                </a:solidFill>
                <a:ea typeface="微软雅黑" panose="020B0503020204020204" pitchFamily="34" charset="-122"/>
              </a:endParaRPr>
            </a:p>
          </p:txBody>
        </p:sp>
      </p:grpSp>
      <p:cxnSp>
        <p:nvCxnSpPr>
          <p:cNvPr id="38" name="曲线连接符 37"/>
          <p:cNvCxnSpPr>
            <a:stCxn id="33" idx="2"/>
            <a:endCxn id="85" idx="0"/>
          </p:cNvCxnSpPr>
          <p:nvPr/>
        </p:nvCxnSpPr>
        <p:spPr>
          <a:xfrm rot="16200000" flipH="1">
            <a:off x="4245086" y="1583798"/>
            <a:ext cx="854070" cy="1042130"/>
          </a:xfrm>
          <a:prstGeom prst="curvedConnector3">
            <a:avLst>
              <a:gd name="adj1" fmla="val 50000"/>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曲线连接符 38"/>
          <p:cNvCxnSpPr>
            <a:stCxn id="36" idx="2"/>
            <a:endCxn id="85" idx="0"/>
          </p:cNvCxnSpPr>
          <p:nvPr/>
        </p:nvCxnSpPr>
        <p:spPr>
          <a:xfrm rot="5400000">
            <a:off x="4861106" y="1933238"/>
            <a:ext cx="930740" cy="266580"/>
          </a:xfrm>
          <a:prstGeom prst="curvedConnector3">
            <a:avLst>
              <a:gd name="adj1" fmla="val 50000"/>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0" name="圆角矩形 39"/>
          <p:cNvSpPr/>
          <p:nvPr/>
        </p:nvSpPr>
        <p:spPr>
          <a:xfrm>
            <a:off x="5251143" y="3116557"/>
            <a:ext cx="710400" cy="22620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dirty="0" smtClean="0">
                <a:solidFill>
                  <a:schemeClr val="bg1"/>
                </a:solidFill>
                <a:latin typeface="微软雅黑" panose="020B0503020204020204" pitchFamily="34" charset="-122"/>
                <a:ea typeface="微软雅黑" panose="020B0503020204020204" pitchFamily="34" charset="-122"/>
              </a:rPr>
              <a:t>API</a:t>
            </a:r>
            <a:r>
              <a:rPr lang="zh-CN" altLang="en-US" sz="800" dirty="0" smtClean="0">
                <a:solidFill>
                  <a:schemeClr val="bg1"/>
                </a:solidFill>
                <a:latin typeface="微软雅黑" panose="020B0503020204020204" pitchFamily="34" charset="-122"/>
                <a:ea typeface="微软雅黑" panose="020B0503020204020204" pitchFamily="34" charset="-122"/>
              </a:rPr>
              <a:t>网关</a:t>
            </a:r>
            <a:endParaRPr lang="zh-CN" altLang="en-US" sz="800" dirty="0">
              <a:solidFill>
                <a:schemeClr val="bg1"/>
              </a:solidFill>
              <a:latin typeface="微软雅黑" panose="020B0503020204020204" pitchFamily="34" charset="-122"/>
              <a:ea typeface="微软雅黑" panose="020B0503020204020204" pitchFamily="34" charset="-122"/>
            </a:endParaRPr>
          </a:p>
        </p:txBody>
      </p:sp>
      <p:sp>
        <p:nvSpPr>
          <p:cNvPr id="41" name="圆角矩形 40"/>
          <p:cNvSpPr/>
          <p:nvPr/>
        </p:nvSpPr>
        <p:spPr>
          <a:xfrm>
            <a:off x="4436984" y="3466475"/>
            <a:ext cx="715698" cy="226207"/>
          </a:xfrm>
          <a:prstGeom prst="roundRect">
            <a:avLst/>
          </a:prstGeom>
          <a:solidFill>
            <a:srgbClr val="FFDDDD"/>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rgbClr val="C00000"/>
                </a:solidFill>
                <a:latin typeface="微软雅黑" panose="020B0503020204020204" pitchFamily="34" charset="-122"/>
                <a:ea typeface="微软雅黑" panose="020B0503020204020204" pitchFamily="34" charset="-122"/>
              </a:rPr>
              <a:t>微服务</a:t>
            </a:r>
            <a:endParaRPr lang="zh-CN" altLang="en-US" sz="800" dirty="0">
              <a:solidFill>
                <a:srgbClr val="C00000"/>
              </a:solidFill>
              <a:latin typeface="微软雅黑" panose="020B0503020204020204" pitchFamily="34" charset="-122"/>
              <a:ea typeface="微软雅黑" panose="020B0503020204020204" pitchFamily="34" charset="-122"/>
            </a:endParaRPr>
          </a:p>
        </p:txBody>
      </p:sp>
      <p:sp>
        <p:nvSpPr>
          <p:cNvPr id="42" name="圆角矩形 41"/>
          <p:cNvSpPr/>
          <p:nvPr/>
        </p:nvSpPr>
        <p:spPr>
          <a:xfrm>
            <a:off x="5279988" y="3455701"/>
            <a:ext cx="715698" cy="226207"/>
          </a:xfrm>
          <a:prstGeom prst="roundRect">
            <a:avLst/>
          </a:prstGeom>
          <a:solidFill>
            <a:srgbClr val="FFDDDD"/>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rgbClr val="C00000"/>
                </a:solidFill>
                <a:latin typeface="微软雅黑" panose="020B0503020204020204" pitchFamily="34" charset="-122"/>
                <a:ea typeface="微软雅黑" panose="020B0503020204020204" pitchFamily="34" charset="-122"/>
              </a:rPr>
              <a:t>微服务</a:t>
            </a:r>
            <a:endParaRPr lang="zh-CN" altLang="en-US" sz="800" dirty="0">
              <a:solidFill>
                <a:srgbClr val="C00000"/>
              </a:solidFill>
              <a:latin typeface="微软雅黑" panose="020B0503020204020204" pitchFamily="34" charset="-122"/>
              <a:ea typeface="微软雅黑" panose="020B0503020204020204" pitchFamily="34" charset="-122"/>
            </a:endParaRPr>
          </a:p>
        </p:txBody>
      </p:sp>
      <p:sp>
        <p:nvSpPr>
          <p:cNvPr id="43" name="圆角矩形 42"/>
          <p:cNvSpPr/>
          <p:nvPr/>
        </p:nvSpPr>
        <p:spPr>
          <a:xfrm>
            <a:off x="4436984" y="3740115"/>
            <a:ext cx="715698" cy="226207"/>
          </a:xfrm>
          <a:prstGeom prst="roundRect">
            <a:avLst/>
          </a:prstGeom>
          <a:solidFill>
            <a:srgbClr val="FFDDDD"/>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rgbClr val="C00000"/>
                </a:solidFill>
                <a:latin typeface="微软雅黑" panose="020B0503020204020204" pitchFamily="34" charset="-122"/>
                <a:ea typeface="微软雅黑" panose="020B0503020204020204" pitchFamily="34" charset="-122"/>
              </a:rPr>
              <a:t>微服务</a:t>
            </a:r>
            <a:endParaRPr lang="zh-CN" altLang="en-US" sz="800" dirty="0">
              <a:solidFill>
                <a:srgbClr val="C00000"/>
              </a:solidFill>
              <a:latin typeface="微软雅黑" panose="020B0503020204020204" pitchFamily="34" charset="-122"/>
              <a:ea typeface="微软雅黑" panose="020B0503020204020204" pitchFamily="34" charset="-122"/>
            </a:endParaRPr>
          </a:p>
        </p:txBody>
      </p:sp>
      <p:sp>
        <p:nvSpPr>
          <p:cNvPr id="44" name="圆角矩形 43"/>
          <p:cNvSpPr/>
          <p:nvPr/>
        </p:nvSpPr>
        <p:spPr>
          <a:xfrm>
            <a:off x="5279988" y="3729341"/>
            <a:ext cx="715698" cy="226207"/>
          </a:xfrm>
          <a:prstGeom prst="roundRect">
            <a:avLst/>
          </a:prstGeom>
          <a:solidFill>
            <a:srgbClr val="FFDDDD"/>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rgbClr val="C00000"/>
                </a:solidFill>
                <a:latin typeface="微软雅黑" panose="020B0503020204020204" pitchFamily="34" charset="-122"/>
                <a:ea typeface="微软雅黑" panose="020B0503020204020204" pitchFamily="34" charset="-122"/>
              </a:rPr>
              <a:t>微服务</a:t>
            </a:r>
            <a:endParaRPr lang="zh-CN" altLang="en-US" sz="800" dirty="0">
              <a:solidFill>
                <a:srgbClr val="C00000"/>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4984118" y="4033271"/>
            <a:ext cx="445956" cy="276999"/>
          </a:xfrm>
          <a:prstGeom prst="rect">
            <a:avLst/>
          </a:prstGeom>
          <a:noFill/>
        </p:spPr>
        <p:txBody>
          <a:bodyPr wrap="none" rtlCol="0">
            <a:spAutoFit/>
          </a:bodyPr>
          <a:lstStyle/>
          <a:p>
            <a:r>
              <a:rPr lang="en-US" altLang="zh-CN" sz="1200" b="1" dirty="0" smtClean="0">
                <a:solidFill>
                  <a:srgbClr val="C00000"/>
                </a:solidFill>
                <a:latin typeface="微软雅黑" panose="020B0503020204020204" pitchFamily="34" charset="-122"/>
                <a:ea typeface="微软雅黑" panose="020B0503020204020204" pitchFamily="34" charset="-122"/>
              </a:rPr>
              <a:t>k8s</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4250321" y="5593764"/>
            <a:ext cx="470000" cy="276999"/>
          </a:xfrm>
          <a:prstGeom prst="rect">
            <a:avLst/>
          </a:prstGeom>
          <a:noFill/>
        </p:spPr>
        <p:txBody>
          <a:bodyPr wrap="none" rtlCol="0">
            <a:spAutoFit/>
          </a:bodyPr>
          <a:lstStyle/>
          <a:p>
            <a:r>
              <a:rPr lang="en-US" altLang="zh-CN" sz="1200" b="1" dirty="0" smtClean="0">
                <a:solidFill>
                  <a:srgbClr val="C00000"/>
                </a:solidFill>
                <a:latin typeface="微软雅黑" panose="020B0503020204020204" pitchFamily="34" charset="-122"/>
                <a:ea typeface="微软雅黑" panose="020B0503020204020204" pitchFamily="34" charset="-122"/>
              </a:rPr>
              <a:t>ECS</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grpSp>
        <p:nvGrpSpPr>
          <p:cNvPr id="47" name="组合 46"/>
          <p:cNvGrpSpPr/>
          <p:nvPr/>
        </p:nvGrpSpPr>
        <p:grpSpPr>
          <a:xfrm>
            <a:off x="7622346" y="2394264"/>
            <a:ext cx="519694" cy="582440"/>
            <a:chOff x="2251550" y="3615247"/>
            <a:chExt cx="519694" cy="582440"/>
          </a:xfrm>
        </p:grpSpPr>
        <p:pic>
          <p:nvPicPr>
            <p:cNvPr id="48" name="图片 4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1992" y="3615247"/>
              <a:ext cx="429123" cy="429123"/>
            </a:xfrm>
            <a:prstGeom prst="rect">
              <a:avLst/>
            </a:prstGeom>
          </p:spPr>
        </p:pic>
        <p:sp>
          <p:nvSpPr>
            <p:cNvPr id="49" name="文本框 48"/>
            <p:cNvSpPr txBox="1"/>
            <p:nvPr/>
          </p:nvSpPr>
          <p:spPr>
            <a:xfrm>
              <a:off x="2251550" y="3982243"/>
              <a:ext cx="519694" cy="215444"/>
            </a:xfrm>
            <a:prstGeom prst="rect">
              <a:avLst/>
            </a:prstGeom>
            <a:noFill/>
          </p:spPr>
          <p:txBody>
            <a:bodyPr wrap="none" rtlCol="0">
              <a:spAutoFit/>
            </a:bodyPr>
            <a:lstStyle/>
            <a:p>
              <a:pPr algn="ctr"/>
              <a:r>
                <a:rPr lang="en-US" altLang="zh-CN" sz="800" dirty="0" smtClean="0">
                  <a:solidFill>
                    <a:srgbClr val="C00000"/>
                  </a:solidFill>
                  <a:latin typeface="微软雅黑" panose="020B0503020204020204" pitchFamily="34" charset="-122"/>
                  <a:ea typeface="微软雅黑" panose="020B0503020204020204" pitchFamily="34" charset="-122"/>
                </a:rPr>
                <a:t>master</a:t>
              </a:r>
              <a:endParaRPr lang="zh-CN" altLang="en-US" sz="800" dirty="0">
                <a:solidFill>
                  <a:srgbClr val="C00000"/>
                </a:solidFill>
                <a:latin typeface="微软雅黑" panose="020B0503020204020204" pitchFamily="34" charset="-122"/>
                <a:ea typeface="微软雅黑" panose="020B0503020204020204" pitchFamily="34" charset="-122"/>
              </a:endParaRPr>
            </a:p>
          </p:txBody>
        </p:sp>
      </p:grpSp>
      <p:grpSp>
        <p:nvGrpSpPr>
          <p:cNvPr id="84" name="组合 83"/>
          <p:cNvGrpSpPr/>
          <p:nvPr/>
        </p:nvGrpSpPr>
        <p:grpSpPr>
          <a:xfrm>
            <a:off x="4996333" y="2531898"/>
            <a:ext cx="393706" cy="548598"/>
            <a:chOff x="6438414" y="1549514"/>
            <a:chExt cx="393706" cy="548598"/>
          </a:xfrm>
        </p:grpSpPr>
        <p:pic>
          <p:nvPicPr>
            <p:cNvPr id="85" name="图片 8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38414" y="1549514"/>
              <a:ext cx="393706" cy="393706"/>
            </a:xfrm>
            <a:prstGeom prst="rect">
              <a:avLst/>
            </a:prstGeom>
          </p:spPr>
        </p:pic>
        <p:sp>
          <p:nvSpPr>
            <p:cNvPr id="86" name="文本框 85"/>
            <p:cNvSpPr txBox="1"/>
            <p:nvPr/>
          </p:nvSpPr>
          <p:spPr>
            <a:xfrm>
              <a:off x="6456372" y="1882668"/>
              <a:ext cx="357791" cy="215444"/>
            </a:xfrm>
            <a:prstGeom prst="rect">
              <a:avLst/>
            </a:prstGeom>
            <a:noFill/>
          </p:spPr>
          <p:txBody>
            <a:bodyPr wrap="none" rtlCol="0">
              <a:spAutoFit/>
            </a:bodyPr>
            <a:lstStyle/>
            <a:p>
              <a:pPr algn="ctr"/>
              <a:r>
                <a:rPr lang="en-US" altLang="zh-CN" sz="800" dirty="0" smtClean="0">
                  <a:solidFill>
                    <a:srgbClr val="C00000"/>
                  </a:solidFill>
                  <a:latin typeface="微软雅黑" panose="020B0503020204020204" pitchFamily="34" charset="-122"/>
                  <a:ea typeface="微软雅黑" panose="020B0503020204020204" pitchFamily="34" charset="-122"/>
                </a:rPr>
                <a:t>ELB</a:t>
              </a:r>
              <a:endParaRPr lang="zh-CN" altLang="en-US" sz="800" dirty="0">
                <a:solidFill>
                  <a:srgbClr val="C00000"/>
                </a:solidFill>
                <a:latin typeface="微软雅黑" panose="020B0503020204020204" pitchFamily="34" charset="-122"/>
                <a:ea typeface="微软雅黑" panose="020B0503020204020204" pitchFamily="34" charset="-122"/>
              </a:endParaRPr>
            </a:p>
          </p:txBody>
        </p:sp>
      </p:grpSp>
      <p:grpSp>
        <p:nvGrpSpPr>
          <p:cNvPr id="98" name="组合 97"/>
          <p:cNvGrpSpPr/>
          <p:nvPr/>
        </p:nvGrpSpPr>
        <p:grpSpPr>
          <a:xfrm>
            <a:off x="8580991" y="2397725"/>
            <a:ext cx="453877" cy="582440"/>
            <a:chOff x="2297238" y="3615247"/>
            <a:chExt cx="453877" cy="582440"/>
          </a:xfrm>
        </p:grpSpPr>
        <p:pic>
          <p:nvPicPr>
            <p:cNvPr id="99" name="图片 9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1992" y="3615247"/>
              <a:ext cx="429123" cy="429123"/>
            </a:xfrm>
            <a:prstGeom prst="rect">
              <a:avLst/>
            </a:prstGeom>
          </p:spPr>
        </p:pic>
        <p:sp>
          <p:nvSpPr>
            <p:cNvPr id="100" name="文本框 99"/>
            <p:cNvSpPr txBox="1"/>
            <p:nvPr/>
          </p:nvSpPr>
          <p:spPr>
            <a:xfrm>
              <a:off x="2297238" y="3982243"/>
              <a:ext cx="428323" cy="215444"/>
            </a:xfrm>
            <a:prstGeom prst="rect">
              <a:avLst/>
            </a:prstGeom>
            <a:noFill/>
          </p:spPr>
          <p:txBody>
            <a:bodyPr wrap="none" rtlCol="0">
              <a:spAutoFit/>
            </a:bodyPr>
            <a:lstStyle/>
            <a:p>
              <a:pPr algn="ctr"/>
              <a:r>
                <a:rPr lang="en-US" altLang="zh-CN" sz="800" dirty="0" smtClean="0">
                  <a:solidFill>
                    <a:srgbClr val="C00000"/>
                  </a:solidFill>
                  <a:latin typeface="微软雅黑" panose="020B0503020204020204" pitchFamily="34" charset="-122"/>
                  <a:ea typeface="微软雅黑" panose="020B0503020204020204" pitchFamily="34" charset="-122"/>
                </a:rPr>
                <a:t>slave</a:t>
              </a:r>
              <a:endParaRPr lang="zh-CN" altLang="en-US" sz="800" dirty="0">
                <a:solidFill>
                  <a:srgbClr val="C00000"/>
                </a:solidFill>
                <a:latin typeface="微软雅黑" panose="020B0503020204020204" pitchFamily="34" charset="-122"/>
                <a:ea typeface="微软雅黑" panose="020B0503020204020204" pitchFamily="34" charset="-122"/>
              </a:endParaRPr>
            </a:p>
          </p:txBody>
        </p:sp>
      </p:grpSp>
      <p:sp>
        <p:nvSpPr>
          <p:cNvPr id="101" name="矩形 100"/>
          <p:cNvSpPr/>
          <p:nvPr/>
        </p:nvSpPr>
        <p:spPr>
          <a:xfrm>
            <a:off x="7439575" y="2222165"/>
            <a:ext cx="1845087" cy="750609"/>
          </a:xfrm>
          <a:prstGeom prst="rect">
            <a:avLst/>
          </a:prstGeom>
          <a:noFill/>
          <a:ln w="12700">
            <a:solidFill>
              <a:srgbClr val="FFAF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rgbClr val="C00000"/>
              </a:solidFill>
              <a:latin typeface="微软雅黑" panose="020B0503020204020204" pitchFamily="34" charset="-122"/>
              <a:ea typeface="微软雅黑" panose="020B0503020204020204" pitchFamily="34" charset="-122"/>
            </a:endParaRPr>
          </a:p>
        </p:txBody>
      </p:sp>
      <p:sp>
        <p:nvSpPr>
          <p:cNvPr id="102" name="文本框 90"/>
          <p:cNvSpPr txBox="1"/>
          <p:nvPr/>
        </p:nvSpPr>
        <p:spPr>
          <a:xfrm>
            <a:off x="7962682" y="2242175"/>
            <a:ext cx="697628"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800" dirty="0" smtClean="0">
                <a:solidFill>
                  <a:srgbClr val="C00000"/>
                </a:solidFill>
                <a:latin typeface="微软雅黑" panose="020B0503020204020204" pitchFamily="34" charset="-122"/>
                <a:ea typeface="微软雅黑" panose="020B0503020204020204" pitchFamily="34" charset="-122"/>
              </a:rPr>
              <a:t>华为云</a:t>
            </a:r>
            <a:r>
              <a:rPr lang="en-US" altLang="zh-CN" sz="800" dirty="0" smtClean="0">
                <a:solidFill>
                  <a:srgbClr val="C00000"/>
                </a:solidFill>
                <a:latin typeface="微软雅黑" panose="020B0503020204020204" pitchFamily="34" charset="-122"/>
                <a:ea typeface="微软雅黑" panose="020B0503020204020204" pitchFamily="34" charset="-122"/>
              </a:rPr>
              <a:t>RDS</a:t>
            </a:r>
            <a:endParaRPr lang="zh-CN" altLang="en-US" sz="800" dirty="0">
              <a:solidFill>
                <a:srgbClr val="C00000"/>
              </a:solidFill>
              <a:latin typeface="微软雅黑" panose="020B0503020204020204" pitchFamily="34" charset="-122"/>
              <a:ea typeface="微软雅黑" panose="020B0503020204020204" pitchFamily="34" charset="-122"/>
            </a:endParaRPr>
          </a:p>
        </p:txBody>
      </p:sp>
      <p:sp>
        <p:nvSpPr>
          <p:cNvPr id="109" name="矩形 108"/>
          <p:cNvSpPr/>
          <p:nvPr/>
        </p:nvSpPr>
        <p:spPr>
          <a:xfrm>
            <a:off x="7439575" y="3113472"/>
            <a:ext cx="1845087" cy="750609"/>
          </a:xfrm>
          <a:prstGeom prst="rect">
            <a:avLst/>
          </a:prstGeom>
          <a:noFill/>
          <a:ln w="12700">
            <a:solidFill>
              <a:srgbClr val="FFAF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rgbClr val="C00000"/>
              </a:solidFill>
              <a:latin typeface="微软雅黑" panose="020B0503020204020204" pitchFamily="34" charset="-122"/>
              <a:ea typeface="微软雅黑" panose="020B0503020204020204" pitchFamily="34" charset="-122"/>
            </a:endParaRPr>
          </a:p>
        </p:txBody>
      </p:sp>
      <p:sp>
        <p:nvSpPr>
          <p:cNvPr id="110" name="文本框 90"/>
          <p:cNvSpPr txBox="1"/>
          <p:nvPr/>
        </p:nvSpPr>
        <p:spPr>
          <a:xfrm>
            <a:off x="7870510" y="3133482"/>
            <a:ext cx="881973"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800" dirty="0" smtClean="0">
                <a:solidFill>
                  <a:srgbClr val="C00000"/>
                </a:solidFill>
                <a:latin typeface="微软雅黑" panose="020B0503020204020204" pitchFamily="34" charset="-122"/>
                <a:ea typeface="微软雅黑" panose="020B0503020204020204" pitchFamily="34" charset="-122"/>
              </a:rPr>
              <a:t>华为云</a:t>
            </a:r>
            <a:r>
              <a:rPr lang="en-US" altLang="zh-CN" sz="800" dirty="0" smtClean="0">
                <a:solidFill>
                  <a:srgbClr val="C00000"/>
                </a:solidFill>
                <a:latin typeface="微软雅黑" panose="020B0503020204020204" pitchFamily="34" charset="-122"/>
                <a:ea typeface="微软雅黑" panose="020B0503020204020204" pitchFamily="34" charset="-122"/>
              </a:rPr>
              <a:t>MQ</a:t>
            </a:r>
            <a:r>
              <a:rPr lang="zh-CN" altLang="en-US" sz="800" dirty="0" smtClean="0">
                <a:solidFill>
                  <a:srgbClr val="C00000"/>
                </a:solidFill>
                <a:latin typeface="微软雅黑" panose="020B0503020204020204" pitchFamily="34" charset="-122"/>
                <a:ea typeface="微软雅黑" panose="020B0503020204020204" pitchFamily="34" charset="-122"/>
              </a:rPr>
              <a:t>集群</a:t>
            </a:r>
            <a:endParaRPr lang="zh-CN" altLang="en-US" sz="800" dirty="0">
              <a:solidFill>
                <a:srgbClr val="C00000"/>
              </a:solidFill>
              <a:latin typeface="微软雅黑" panose="020B0503020204020204" pitchFamily="34" charset="-122"/>
              <a:ea typeface="微软雅黑" panose="020B0503020204020204" pitchFamily="34" charset="-122"/>
            </a:endParaRPr>
          </a:p>
        </p:txBody>
      </p:sp>
      <p:cxnSp>
        <p:nvCxnSpPr>
          <p:cNvPr id="111" name="直接箭头连接符 110"/>
          <p:cNvCxnSpPr>
            <a:stCxn id="48" idx="3"/>
            <a:endCxn id="99" idx="1"/>
          </p:cNvCxnSpPr>
          <p:nvPr/>
        </p:nvCxnSpPr>
        <p:spPr>
          <a:xfrm>
            <a:off x="8121911" y="2608826"/>
            <a:ext cx="483834" cy="346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13" name="图片 1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99139" y="3446270"/>
            <a:ext cx="287522" cy="262260"/>
          </a:xfrm>
          <a:prstGeom prst="rect">
            <a:avLst/>
          </a:prstGeom>
        </p:spPr>
      </p:pic>
      <p:pic>
        <p:nvPicPr>
          <p:cNvPr id="115" name="图片 1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67735" y="3446270"/>
            <a:ext cx="287522" cy="262260"/>
          </a:xfrm>
          <a:prstGeom prst="rect">
            <a:avLst/>
          </a:prstGeom>
        </p:spPr>
      </p:pic>
      <p:pic>
        <p:nvPicPr>
          <p:cNvPr id="116" name="图片 1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644185" y="3446270"/>
            <a:ext cx="287522" cy="262260"/>
          </a:xfrm>
          <a:prstGeom prst="rect">
            <a:avLst/>
          </a:prstGeom>
        </p:spPr>
      </p:pic>
      <p:sp>
        <p:nvSpPr>
          <p:cNvPr id="117" name="矩形 116"/>
          <p:cNvSpPr/>
          <p:nvPr/>
        </p:nvSpPr>
        <p:spPr>
          <a:xfrm>
            <a:off x="7591975" y="3331495"/>
            <a:ext cx="1544994" cy="435706"/>
          </a:xfrm>
          <a:prstGeom prst="rect">
            <a:avLst/>
          </a:prstGeom>
          <a:noFill/>
          <a:ln w="12700">
            <a:solidFill>
              <a:srgbClr val="FFAFAF"/>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rgbClr val="C00000"/>
              </a:solidFill>
              <a:latin typeface="微软雅黑" panose="020B0503020204020204" pitchFamily="34" charset="-122"/>
              <a:ea typeface="微软雅黑" panose="020B0503020204020204" pitchFamily="34" charset="-122"/>
            </a:endParaRPr>
          </a:p>
        </p:txBody>
      </p:sp>
      <p:sp>
        <p:nvSpPr>
          <p:cNvPr id="124" name="矩形 123"/>
          <p:cNvSpPr/>
          <p:nvPr/>
        </p:nvSpPr>
        <p:spPr>
          <a:xfrm>
            <a:off x="7439575" y="4018233"/>
            <a:ext cx="1845087" cy="750609"/>
          </a:xfrm>
          <a:prstGeom prst="rect">
            <a:avLst/>
          </a:prstGeom>
          <a:noFill/>
          <a:ln w="12700">
            <a:solidFill>
              <a:srgbClr val="FFAF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rgbClr val="C00000"/>
              </a:solidFill>
              <a:latin typeface="微软雅黑" panose="020B0503020204020204" pitchFamily="34" charset="-122"/>
              <a:ea typeface="微软雅黑" panose="020B0503020204020204" pitchFamily="34" charset="-122"/>
            </a:endParaRPr>
          </a:p>
        </p:txBody>
      </p:sp>
      <p:sp>
        <p:nvSpPr>
          <p:cNvPr id="125" name="文本框 90"/>
          <p:cNvSpPr txBox="1"/>
          <p:nvPr/>
        </p:nvSpPr>
        <p:spPr>
          <a:xfrm>
            <a:off x="7932226" y="4038243"/>
            <a:ext cx="758542"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800" dirty="0" smtClean="0">
                <a:solidFill>
                  <a:srgbClr val="C00000"/>
                </a:solidFill>
                <a:latin typeface="微软雅黑" panose="020B0503020204020204" pitchFamily="34" charset="-122"/>
                <a:ea typeface="微软雅黑" panose="020B0503020204020204" pitchFamily="34" charset="-122"/>
              </a:rPr>
              <a:t>华为云</a:t>
            </a:r>
            <a:r>
              <a:rPr lang="en-US" altLang="zh-CN" sz="800" dirty="0" err="1" smtClean="0">
                <a:solidFill>
                  <a:srgbClr val="C00000"/>
                </a:solidFill>
                <a:latin typeface="微软雅黑" panose="020B0503020204020204" pitchFamily="34" charset="-122"/>
                <a:ea typeface="微软雅黑" panose="020B0503020204020204" pitchFamily="34" charset="-122"/>
              </a:rPr>
              <a:t>Redis</a:t>
            </a:r>
            <a:endParaRPr lang="zh-CN" altLang="en-US" sz="800" dirty="0">
              <a:solidFill>
                <a:srgbClr val="C00000"/>
              </a:solidFill>
              <a:latin typeface="微软雅黑" panose="020B0503020204020204" pitchFamily="34" charset="-122"/>
              <a:ea typeface="微软雅黑" panose="020B0503020204020204" pitchFamily="34" charset="-122"/>
            </a:endParaRPr>
          </a:p>
        </p:txBody>
      </p:sp>
      <p:cxnSp>
        <p:nvCxnSpPr>
          <p:cNvPr id="126" name="直接箭头连接符 125"/>
          <p:cNvCxnSpPr/>
          <p:nvPr/>
        </p:nvCxnSpPr>
        <p:spPr>
          <a:xfrm>
            <a:off x="8121911" y="4404894"/>
            <a:ext cx="483834" cy="346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127" name="组合 126"/>
          <p:cNvGrpSpPr/>
          <p:nvPr/>
        </p:nvGrpSpPr>
        <p:grpSpPr>
          <a:xfrm>
            <a:off x="8657562" y="4196165"/>
            <a:ext cx="428323" cy="575002"/>
            <a:chOff x="5889591" y="3615931"/>
            <a:chExt cx="428323" cy="575002"/>
          </a:xfrm>
        </p:grpSpPr>
        <p:pic>
          <p:nvPicPr>
            <p:cNvPr id="128" name="图片 1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923752" y="3615931"/>
              <a:ext cx="360000" cy="360000"/>
            </a:xfrm>
            <a:prstGeom prst="rect">
              <a:avLst/>
            </a:prstGeom>
          </p:spPr>
        </p:pic>
        <p:sp>
          <p:nvSpPr>
            <p:cNvPr id="129" name="文本框 90"/>
            <p:cNvSpPr txBox="1"/>
            <p:nvPr/>
          </p:nvSpPr>
          <p:spPr>
            <a:xfrm>
              <a:off x="5889591" y="3975489"/>
              <a:ext cx="428323"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en-US" altLang="zh-CN" sz="800" dirty="0" smtClean="0">
                  <a:solidFill>
                    <a:srgbClr val="C00000"/>
                  </a:solidFill>
                  <a:latin typeface="微软雅黑" panose="020B0503020204020204" pitchFamily="34" charset="-122"/>
                  <a:ea typeface="微软雅黑" panose="020B0503020204020204" pitchFamily="34" charset="-122"/>
                </a:rPr>
                <a:t>slave</a:t>
              </a:r>
              <a:endParaRPr lang="zh-CN" altLang="en-US" sz="800" dirty="0">
                <a:solidFill>
                  <a:srgbClr val="C00000"/>
                </a:solidFill>
                <a:latin typeface="微软雅黑" panose="020B0503020204020204" pitchFamily="34" charset="-122"/>
                <a:ea typeface="微软雅黑" panose="020B0503020204020204" pitchFamily="34" charset="-122"/>
              </a:endParaRPr>
            </a:p>
          </p:txBody>
        </p:sp>
      </p:grpSp>
      <p:pic>
        <p:nvPicPr>
          <p:cNvPr id="130" name="图片 1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67735" y="5157098"/>
            <a:ext cx="360000" cy="360000"/>
          </a:xfrm>
          <a:prstGeom prst="rect">
            <a:avLst/>
          </a:prstGeom>
        </p:spPr>
      </p:pic>
      <p:sp>
        <p:nvSpPr>
          <p:cNvPr id="131" name="矩形 130"/>
          <p:cNvSpPr/>
          <p:nvPr/>
        </p:nvSpPr>
        <p:spPr>
          <a:xfrm>
            <a:off x="7440452" y="4896740"/>
            <a:ext cx="1845087" cy="750609"/>
          </a:xfrm>
          <a:prstGeom prst="rect">
            <a:avLst/>
          </a:prstGeom>
          <a:noFill/>
          <a:ln w="12700">
            <a:solidFill>
              <a:srgbClr val="FFAF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rgbClr val="C00000"/>
              </a:solidFill>
              <a:latin typeface="微软雅黑" panose="020B0503020204020204" pitchFamily="34" charset="-122"/>
              <a:ea typeface="微软雅黑" panose="020B0503020204020204" pitchFamily="34" charset="-122"/>
            </a:endParaRPr>
          </a:p>
        </p:txBody>
      </p:sp>
      <p:pic>
        <p:nvPicPr>
          <p:cNvPr id="132" name="图片 13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674868" y="5150084"/>
            <a:ext cx="360000" cy="360000"/>
          </a:xfrm>
          <a:prstGeom prst="rect">
            <a:avLst/>
          </a:prstGeom>
        </p:spPr>
      </p:pic>
      <p:pic>
        <p:nvPicPr>
          <p:cNvPr id="133" name="图片 13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62900" y="5150084"/>
            <a:ext cx="360000" cy="360000"/>
          </a:xfrm>
          <a:prstGeom prst="rect">
            <a:avLst/>
          </a:prstGeom>
        </p:spPr>
      </p:pic>
      <p:sp>
        <p:nvSpPr>
          <p:cNvPr id="134" name="文本框 90"/>
          <p:cNvSpPr txBox="1"/>
          <p:nvPr/>
        </p:nvSpPr>
        <p:spPr>
          <a:xfrm>
            <a:off x="7806519" y="4912183"/>
            <a:ext cx="1111202"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800" dirty="0" smtClean="0">
                <a:solidFill>
                  <a:srgbClr val="C00000"/>
                </a:solidFill>
                <a:latin typeface="微软雅黑" panose="020B0503020204020204" pitchFamily="34" charset="-122"/>
                <a:ea typeface="微软雅黑" panose="020B0503020204020204" pitchFamily="34" charset="-122"/>
              </a:rPr>
              <a:t>华为云</a:t>
            </a:r>
            <a:r>
              <a:rPr lang="en-US" altLang="zh-CN" sz="800" dirty="0" err="1" smtClean="0">
                <a:solidFill>
                  <a:srgbClr val="C00000"/>
                </a:solidFill>
                <a:latin typeface="微软雅黑" panose="020B0503020204020204" pitchFamily="34" charset="-122"/>
                <a:ea typeface="微软雅黑" panose="020B0503020204020204" pitchFamily="34" charset="-122"/>
              </a:rPr>
              <a:t>Elasticsearch</a:t>
            </a:r>
            <a:endParaRPr lang="zh-CN" altLang="en-US" sz="800" dirty="0">
              <a:solidFill>
                <a:srgbClr val="C00000"/>
              </a:solidFill>
              <a:latin typeface="微软雅黑" panose="020B0503020204020204" pitchFamily="34" charset="-122"/>
              <a:ea typeface="微软雅黑" panose="020B0503020204020204" pitchFamily="34" charset="-122"/>
            </a:endParaRPr>
          </a:p>
        </p:txBody>
      </p:sp>
      <p:pic>
        <p:nvPicPr>
          <p:cNvPr id="135" name="图片 13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65523" y="5068041"/>
            <a:ext cx="360000" cy="360000"/>
          </a:xfrm>
          <a:prstGeom prst="rect">
            <a:avLst/>
          </a:prstGeom>
        </p:spPr>
      </p:pic>
      <p:sp>
        <p:nvSpPr>
          <p:cNvPr id="136" name="矩形 135"/>
          <p:cNvSpPr/>
          <p:nvPr/>
        </p:nvSpPr>
        <p:spPr>
          <a:xfrm>
            <a:off x="2731561" y="4787009"/>
            <a:ext cx="1634881" cy="750609"/>
          </a:xfrm>
          <a:prstGeom prst="rect">
            <a:avLst/>
          </a:prstGeom>
          <a:noFill/>
          <a:ln w="12700">
            <a:solidFill>
              <a:srgbClr val="FFAF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rgbClr val="C00000"/>
              </a:solidFill>
              <a:latin typeface="微软雅黑" panose="020B0503020204020204" pitchFamily="34" charset="-122"/>
              <a:ea typeface="微软雅黑" panose="020B0503020204020204" pitchFamily="34" charset="-122"/>
            </a:endParaRPr>
          </a:p>
        </p:txBody>
      </p:sp>
      <p:pic>
        <p:nvPicPr>
          <p:cNvPr id="137" name="图片 13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21686" y="5068041"/>
            <a:ext cx="360000" cy="360000"/>
          </a:xfrm>
          <a:prstGeom prst="rect">
            <a:avLst/>
          </a:prstGeom>
        </p:spPr>
      </p:pic>
      <p:pic>
        <p:nvPicPr>
          <p:cNvPr id="138" name="图片 13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19456" y="5068041"/>
            <a:ext cx="360000" cy="360000"/>
          </a:xfrm>
          <a:prstGeom prst="rect">
            <a:avLst/>
          </a:prstGeom>
        </p:spPr>
      </p:pic>
      <p:sp>
        <p:nvSpPr>
          <p:cNvPr id="139" name="文本框 90"/>
          <p:cNvSpPr txBox="1"/>
          <p:nvPr/>
        </p:nvSpPr>
        <p:spPr>
          <a:xfrm>
            <a:off x="3217083" y="4804641"/>
            <a:ext cx="659156"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en-US" altLang="zh-CN" sz="800" dirty="0" smtClean="0">
                <a:solidFill>
                  <a:srgbClr val="C00000"/>
                </a:solidFill>
                <a:latin typeface="微软雅黑" panose="020B0503020204020204" pitchFamily="34" charset="-122"/>
                <a:ea typeface="微软雅黑" panose="020B0503020204020204" pitchFamily="34" charset="-122"/>
              </a:rPr>
              <a:t>Kafka</a:t>
            </a:r>
            <a:r>
              <a:rPr lang="zh-CN" altLang="en-US" sz="800" dirty="0" smtClean="0">
                <a:solidFill>
                  <a:srgbClr val="C00000"/>
                </a:solidFill>
                <a:latin typeface="微软雅黑" panose="020B0503020204020204" pitchFamily="34" charset="-122"/>
                <a:ea typeface="微软雅黑" panose="020B0503020204020204" pitchFamily="34" charset="-122"/>
              </a:rPr>
              <a:t>集群</a:t>
            </a:r>
            <a:endParaRPr lang="zh-CN" altLang="en-US" sz="800" dirty="0">
              <a:solidFill>
                <a:srgbClr val="C00000"/>
              </a:solidFill>
              <a:latin typeface="微软雅黑" panose="020B0503020204020204" pitchFamily="34" charset="-122"/>
              <a:ea typeface="微软雅黑" panose="020B0503020204020204" pitchFamily="34" charset="-122"/>
            </a:endParaRPr>
          </a:p>
        </p:txBody>
      </p:sp>
      <p:pic>
        <p:nvPicPr>
          <p:cNvPr id="140" name="图片 13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11453" y="5080818"/>
            <a:ext cx="360000" cy="338823"/>
          </a:xfrm>
          <a:prstGeom prst="rect">
            <a:avLst/>
          </a:prstGeom>
        </p:spPr>
      </p:pic>
      <p:sp>
        <p:nvSpPr>
          <p:cNvPr id="141" name="矩形 140"/>
          <p:cNvSpPr/>
          <p:nvPr/>
        </p:nvSpPr>
        <p:spPr>
          <a:xfrm>
            <a:off x="4377491" y="4789198"/>
            <a:ext cx="1634881" cy="750609"/>
          </a:xfrm>
          <a:prstGeom prst="rect">
            <a:avLst/>
          </a:prstGeom>
          <a:noFill/>
          <a:ln w="12700">
            <a:solidFill>
              <a:srgbClr val="FFAF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rgbClr val="C00000"/>
              </a:solidFill>
              <a:latin typeface="微软雅黑" panose="020B0503020204020204" pitchFamily="34" charset="-122"/>
              <a:ea typeface="微软雅黑" panose="020B0503020204020204" pitchFamily="34" charset="-122"/>
            </a:endParaRPr>
          </a:p>
        </p:txBody>
      </p:sp>
      <p:pic>
        <p:nvPicPr>
          <p:cNvPr id="142" name="图片 14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67616" y="5080818"/>
            <a:ext cx="360000" cy="338823"/>
          </a:xfrm>
          <a:prstGeom prst="rect">
            <a:avLst/>
          </a:prstGeom>
        </p:spPr>
      </p:pic>
      <p:pic>
        <p:nvPicPr>
          <p:cNvPr id="143" name="图片 14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65386" y="5080818"/>
            <a:ext cx="360000" cy="338823"/>
          </a:xfrm>
          <a:prstGeom prst="rect">
            <a:avLst/>
          </a:prstGeom>
        </p:spPr>
      </p:pic>
      <p:sp>
        <p:nvSpPr>
          <p:cNvPr id="144" name="文本框 90"/>
          <p:cNvSpPr txBox="1"/>
          <p:nvPr/>
        </p:nvSpPr>
        <p:spPr>
          <a:xfrm>
            <a:off x="4732835" y="4804641"/>
            <a:ext cx="917239"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en-US" altLang="zh-CN" sz="800" dirty="0" err="1" smtClean="0">
                <a:solidFill>
                  <a:srgbClr val="C00000"/>
                </a:solidFill>
                <a:latin typeface="微软雅黑" panose="020B0503020204020204" pitchFamily="34" charset="-122"/>
                <a:ea typeface="微软雅黑" panose="020B0503020204020204" pitchFamily="34" charset="-122"/>
              </a:rPr>
              <a:t>Clickhouse</a:t>
            </a:r>
            <a:r>
              <a:rPr lang="zh-CN" altLang="en-US" sz="800" dirty="0" smtClean="0">
                <a:solidFill>
                  <a:srgbClr val="C00000"/>
                </a:solidFill>
                <a:latin typeface="微软雅黑" panose="020B0503020204020204" pitchFamily="34" charset="-122"/>
                <a:ea typeface="微软雅黑" panose="020B0503020204020204" pitchFamily="34" charset="-122"/>
              </a:rPr>
              <a:t>集群</a:t>
            </a:r>
            <a:endParaRPr lang="zh-CN" altLang="en-US" sz="800" dirty="0">
              <a:solidFill>
                <a:srgbClr val="C00000"/>
              </a:solidFill>
              <a:latin typeface="微软雅黑" panose="020B0503020204020204" pitchFamily="34" charset="-122"/>
              <a:ea typeface="微软雅黑" panose="020B0503020204020204" pitchFamily="34" charset="-122"/>
            </a:endParaRPr>
          </a:p>
        </p:txBody>
      </p:sp>
      <p:sp>
        <p:nvSpPr>
          <p:cNvPr id="145" name="圆角矩形 144"/>
          <p:cNvSpPr/>
          <p:nvPr/>
        </p:nvSpPr>
        <p:spPr>
          <a:xfrm>
            <a:off x="4401476" y="3111465"/>
            <a:ext cx="710400" cy="22620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chemeClr val="bg1"/>
                </a:solidFill>
                <a:latin typeface="微软雅黑" panose="020B0503020204020204" pitchFamily="34" charset="-122"/>
                <a:ea typeface="微软雅黑" panose="020B0503020204020204" pitchFamily="34" charset="-122"/>
              </a:rPr>
              <a:t>管理网关</a:t>
            </a:r>
            <a:endParaRPr lang="zh-CN" altLang="en-US" sz="800" dirty="0">
              <a:solidFill>
                <a:schemeClr val="bg1"/>
              </a:solidFill>
              <a:latin typeface="微软雅黑" panose="020B0503020204020204" pitchFamily="34" charset="-122"/>
              <a:ea typeface="微软雅黑" panose="020B0503020204020204" pitchFamily="34" charset="-122"/>
            </a:endParaRPr>
          </a:p>
        </p:txBody>
      </p:sp>
      <p:sp>
        <p:nvSpPr>
          <p:cNvPr id="146" name="圆角矩形 145"/>
          <p:cNvSpPr/>
          <p:nvPr/>
        </p:nvSpPr>
        <p:spPr>
          <a:xfrm>
            <a:off x="4368394" y="3505416"/>
            <a:ext cx="715698" cy="226207"/>
          </a:xfrm>
          <a:prstGeom prst="roundRect">
            <a:avLst/>
          </a:prstGeom>
          <a:solidFill>
            <a:srgbClr val="FFDDDD"/>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rgbClr val="C00000"/>
                </a:solidFill>
                <a:latin typeface="微软雅黑" panose="020B0503020204020204" pitchFamily="34" charset="-122"/>
                <a:ea typeface="微软雅黑" panose="020B0503020204020204" pitchFamily="34" charset="-122"/>
              </a:rPr>
              <a:t>微服务</a:t>
            </a:r>
            <a:endParaRPr lang="zh-CN" altLang="en-US" sz="800" dirty="0">
              <a:solidFill>
                <a:srgbClr val="C00000"/>
              </a:solidFill>
              <a:latin typeface="微软雅黑" panose="020B0503020204020204" pitchFamily="34" charset="-122"/>
              <a:ea typeface="微软雅黑" panose="020B0503020204020204" pitchFamily="34" charset="-122"/>
            </a:endParaRPr>
          </a:p>
        </p:txBody>
      </p:sp>
      <p:sp>
        <p:nvSpPr>
          <p:cNvPr id="147" name="圆角矩形 146"/>
          <p:cNvSpPr/>
          <p:nvPr/>
        </p:nvSpPr>
        <p:spPr>
          <a:xfrm>
            <a:off x="5211398" y="3494642"/>
            <a:ext cx="715698" cy="226207"/>
          </a:xfrm>
          <a:prstGeom prst="roundRect">
            <a:avLst/>
          </a:prstGeom>
          <a:solidFill>
            <a:srgbClr val="FFDDDD"/>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rgbClr val="C00000"/>
                </a:solidFill>
                <a:latin typeface="微软雅黑" panose="020B0503020204020204" pitchFamily="34" charset="-122"/>
                <a:ea typeface="微软雅黑" panose="020B0503020204020204" pitchFamily="34" charset="-122"/>
              </a:rPr>
              <a:t>微服务</a:t>
            </a:r>
            <a:endParaRPr lang="zh-CN" altLang="en-US" sz="800" dirty="0">
              <a:solidFill>
                <a:srgbClr val="C00000"/>
              </a:solidFill>
              <a:latin typeface="微软雅黑" panose="020B0503020204020204" pitchFamily="34" charset="-122"/>
              <a:ea typeface="微软雅黑" panose="020B0503020204020204" pitchFamily="34" charset="-122"/>
            </a:endParaRPr>
          </a:p>
        </p:txBody>
      </p:sp>
      <p:sp>
        <p:nvSpPr>
          <p:cNvPr id="148" name="圆角矩形 147"/>
          <p:cNvSpPr/>
          <p:nvPr/>
        </p:nvSpPr>
        <p:spPr>
          <a:xfrm>
            <a:off x="4368394" y="3779056"/>
            <a:ext cx="715698" cy="226207"/>
          </a:xfrm>
          <a:prstGeom prst="roundRect">
            <a:avLst/>
          </a:prstGeom>
          <a:solidFill>
            <a:srgbClr val="FFDDDD"/>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rgbClr val="C00000"/>
                </a:solidFill>
                <a:latin typeface="微软雅黑" panose="020B0503020204020204" pitchFamily="34" charset="-122"/>
                <a:ea typeface="微软雅黑" panose="020B0503020204020204" pitchFamily="34" charset="-122"/>
              </a:rPr>
              <a:t>微服务</a:t>
            </a:r>
            <a:endParaRPr lang="zh-CN" altLang="en-US" sz="800" dirty="0">
              <a:solidFill>
                <a:srgbClr val="C00000"/>
              </a:solidFill>
              <a:latin typeface="微软雅黑" panose="020B0503020204020204" pitchFamily="34" charset="-122"/>
              <a:ea typeface="微软雅黑" panose="020B0503020204020204" pitchFamily="34" charset="-122"/>
            </a:endParaRPr>
          </a:p>
        </p:txBody>
      </p:sp>
      <p:sp>
        <p:nvSpPr>
          <p:cNvPr id="149" name="圆角矩形 148"/>
          <p:cNvSpPr/>
          <p:nvPr/>
        </p:nvSpPr>
        <p:spPr>
          <a:xfrm>
            <a:off x="5211398" y="3768282"/>
            <a:ext cx="715698" cy="226207"/>
          </a:xfrm>
          <a:prstGeom prst="roundRect">
            <a:avLst/>
          </a:prstGeom>
          <a:solidFill>
            <a:srgbClr val="FFDDDD"/>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rgbClr val="C00000"/>
                </a:solidFill>
                <a:latin typeface="微软雅黑" panose="020B0503020204020204" pitchFamily="34" charset="-122"/>
                <a:ea typeface="微软雅黑" panose="020B0503020204020204" pitchFamily="34" charset="-122"/>
              </a:rPr>
              <a:t>微服务</a:t>
            </a:r>
            <a:endParaRPr lang="zh-CN" altLang="en-US" sz="800" dirty="0">
              <a:solidFill>
                <a:srgbClr val="C00000"/>
              </a:solidFill>
              <a:latin typeface="微软雅黑" panose="020B0503020204020204" pitchFamily="34" charset="-122"/>
              <a:ea typeface="微软雅黑" panose="020B0503020204020204" pitchFamily="34" charset="-122"/>
            </a:endParaRPr>
          </a:p>
        </p:txBody>
      </p:sp>
      <p:cxnSp>
        <p:nvCxnSpPr>
          <p:cNvPr id="151" name="曲线连接符 150"/>
          <p:cNvCxnSpPr>
            <a:stCxn id="45" idx="2"/>
            <a:endCxn id="30" idx="0"/>
          </p:cNvCxnSpPr>
          <p:nvPr/>
        </p:nvCxnSpPr>
        <p:spPr>
          <a:xfrm rot="5400000">
            <a:off x="4655295" y="4028889"/>
            <a:ext cx="270420" cy="833183"/>
          </a:xfrm>
          <a:prstGeom prst="curvedConnector3">
            <a:avLst>
              <a:gd name="adj1" fmla="val 50000"/>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曲线连接符 153"/>
          <p:cNvCxnSpPr>
            <a:stCxn id="31" idx="3"/>
            <a:endCxn id="101" idx="1"/>
          </p:cNvCxnSpPr>
          <p:nvPr/>
        </p:nvCxnSpPr>
        <p:spPr>
          <a:xfrm flipV="1">
            <a:off x="6488723" y="2597470"/>
            <a:ext cx="950852" cy="920710"/>
          </a:xfrm>
          <a:prstGeom prst="curvedConnector3">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曲线连接符 155"/>
          <p:cNvCxnSpPr>
            <a:stCxn id="31" idx="3"/>
            <a:endCxn id="109" idx="1"/>
          </p:cNvCxnSpPr>
          <p:nvPr/>
        </p:nvCxnSpPr>
        <p:spPr>
          <a:xfrm flipV="1">
            <a:off x="6488723" y="3488777"/>
            <a:ext cx="950852" cy="29403"/>
          </a:xfrm>
          <a:prstGeom prst="curvedConnector3">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曲线连接符 157"/>
          <p:cNvCxnSpPr>
            <a:stCxn id="31" idx="3"/>
            <a:endCxn id="124" idx="1"/>
          </p:cNvCxnSpPr>
          <p:nvPr/>
        </p:nvCxnSpPr>
        <p:spPr>
          <a:xfrm>
            <a:off x="6488723" y="3518180"/>
            <a:ext cx="950852" cy="875358"/>
          </a:xfrm>
          <a:prstGeom prst="curvedConnector3">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曲线连接符 159"/>
          <p:cNvCxnSpPr>
            <a:stCxn id="31" idx="3"/>
            <a:endCxn id="131" idx="1"/>
          </p:cNvCxnSpPr>
          <p:nvPr/>
        </p:nvCxnSpPr>
        <p:spPr>
          <a:xfrm>
            <a:off x="6488723" y="3518180"/>
            <a:ext cx="951729" cy="1753865"/>
          </a:xfrm>
          <a:prstGeom prst="curvedConnector3">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8" name="文本框 90"/>
          <p:cNvSpPr txBox="1"/>
          <p:nvPr/>
        </p:nvSpPr>
        <p:spPr>
          <a:xfrm>
            <a:off x="663590" y="3817827"/>
            <a:ext cx="1082348"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1400" b="1" dirty="0" smtClean="0">
                <a:solidFill>
                  <a:srgbClr val="C00000"/>
                </a:solidFill>
                <a:latin typeface="微软雅黑" panose="020B0503020204020204" pitchFamily="34" charset="-122"/>
                <a:ea typeface="微软雅黑" panose="020B0503020204020204" pitchFamily="34" charset="-122"/>
              </a:rPr>
              <a:t>华为云</a:t>
            </a:r>
            <a:endParaRPr lang="en-US" altLang="zh-CN" sz="1400" b="1" dirty="0">
              <a:solidFill>
                <a:srgbClr val="C00000"/>
              </a:solidFill>
              <a:latin typeface="微软雅黑" panose="020B0503020204020204" pitchFamily="34" charset="-122"/>
              <a:ea typeface="微软雅黑" panose="020B0503020204020204" pitchFamily="34" charset="-122"/>
            </a:endParaRPr>
          </a:p>
          <a:p>
            <a:pPr algn="ctr"/>
            <a:r>
              <a:rPr lang="zh-CN" altLang="en-US" sz="1400" b="1" dirty="0" smtClean="0">
                <a:solidFill>
                  <a:srgbClr val="C00000"/>
                </a:solidFill>
                <a:latin typeface="微软雅黑" panose="020B0503020204020204" pitchFamily="34" charset="-122"/>
                <a:ea typeface="微软雅黑" panose="020B0503020204020204" pitchFamily="34" charset="-122"/>
              </a:rPr>
              <a:t>新加坡节点</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6266592" y="5513555"/>
            <a:ext cx="1074333" cy="759560"/>
            <a:chOff x="2301204" y="3246121"/>
            <a:chExt cx="1074333" cy="759560"/>
          </a:xfrm>
        </p:grpSpPr>
        <p:pic>
          <p:nvPicPr>
            <p:cNvPr id="9" name="图片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563646" y="3246121"/>
              <a:ext cx="544116" cy="544116"/>
            </a:xfrm>
            <a:prstGeom prst="rect">
              <a:avLst/>
            </a:prstGeom>
          </p:spPr>
        </p:pic>
        <p:sp>
          <p:nvSpPr>
            <p:cNvPr id="91" name="文本框 90"/>
            <p:cNvSpPr txBox="1"/>
            <p:nvPr/>
          </p:nvSpPr>
          <p:spPr>
            <a:xfrm>
              <a:off x="2301204" y="3790237"/>
              <a:ext cx="1074333"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800" dirty="0" smtClean="0">
                  <a:solidFill>
                    <a:srgbClr val="C00000"/>
                  </a:solidFill>
                  <a:latin typeface="微软雅黑" panose="020B0503020204020204" pitchFamily="34" charset="-122"/>
                  <a:ea typeface="微软雅黑" panose="020B0503020204020204" pitchFamily="34" charset="-122"/>
                </a:rPr>
                <a:t>华为云</a:t>
              </a:r>
              <a:r>
                <a:rPr lang="en-US" altLang="zh-CN" sz="800" dirty="0" smtClean="0">
                  <a:solidFill>
                    <a:srgbClr val="C00000"/>
                  </a:solidFill>
                  <a:latin typeface="微软雅黑" panose="020B0503020204020204" pitchFamily="34" charset="-122"/>
                  <a:ea typeface="微软雅黑" panose="020B0503020204020204" pitchFamily="34" charset="-122"/>
                </a:rPr>
                <a:t>LTS</a:t>
              </a:r>
              <a:r>
                <a:rPr lang="zh-CN" altLang="en-US" sz="800" dirty="0" smtClean="0">
                  <a:solidFill>
                    <a:srgbClr val="C00000"/>
                  </a:solidFill>
                  <a:latin typeface="微软雅黑" panose="020B0503020204020204" pitchFamily="34" charset="-122"/>
                  <a:ea typeface="微软雅黑" panose="020B0503020204020204" pitchFamily="34" charset="-122"/>
                </a:rPr>
                <a:t>日志服务</a:t>
              </a:r>
              <a:endParaRPr lang="zh-CN" altLang="en-US" sz="800" dirty="0">
                <a:solidFill>
                  <a:srgbClr val="C00000"/>
                </a:solidFill>
                <a:latin typeface="微软雅黑" panose="020B0503020204020204" pitchFamily="34" charset="-122"/>
                <a:ea typeface="微软雅黑" panose="020B0503020204020204" pitchFamily="34" charset="-122"/>
              </a:endParaRPr>
            </a:p>
          </p:txBody>
        </p:sp>
      </p:grpSp>
      <p:cxnSp>
        <p:nvCxnSpPr>
          <p:cNvPr id="14" name="曲线连接符 13"/>
          <p:cNvCxnSpPr>
            <a:stCxn id="31" idx="3"/>
            <a:endCxn id="9" idx="0"/>
          </p:cNvCxnSpPr>
          <p:nvPr/>
        </p:nvCxnSpPr>
        <p:spPr>
          <a:xfrm>
            <a:off x="6488723" y="3518180"/>
            <a:ext cx="312369" cy="1995375"/>
          </a:xfrm>
          <a:prstGeom prst="curvedConnector2">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charset="-122"/>
                  <a:cs typeface="+mn-cs"/>
                </a:endParaRPr>
              </a:p>
            </p:txBody>
          </p:sp>
        </p:grpSp>
        <p:sp>
          <p:nvSpPr>
            <p:cNvPr id="4" name="TextBox 7"/>
            <p:cNvSpPr txBox="1"/>
            <p:nvPr/>
          </p:nvSpPr>
          <p:spPr>
            <a:xfrm>
              <a:off x="383254" y="498266"/>
              <a:ext cx="7415271" cy="523220"/>
            </a:xfrm>
            <a:prstGeom prst="rect">
              <a:avLst/>
            </a:prstGeom>
            <a:noFill/>
          </p:spPr>
          <p:txBody>
            <a:bodyPr wrap="square" rtlCol="0">
              <a:spAutoFit/>
            </a:bodyPr>
            <a:lstStyle/>
            <a:p>
              <a:pPr lvl="0"/>
              <a:r>
                <a:rPr lang="zh-CN" altLang="en-US" sz="2800" b="1" dirty="0" smtClean="0">
                  <a:solidFill>
                    <a:prstClr val="black"/>
                  </a:solidFill>
                  <a:latin typeface="微软雅黑" panose="020B0503020204020204" pitchFamily="34" charset="-122"/>
                  <a:ea typeface="微软雅黑" panose="020B0503020204020204" pitchFamily="34" charset="-122"/>
                </a:rPr>
                <a:t>安全设计方案</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grpSp>
      <p:graphicFrame>
        <p:nvGraphicFramePr>
          <p:cNvPr id="7" name="表格 6"/>
          <p:cNvGraphicFramePr>
            <a:graphicFrameLocks noGrp="1"/>
          </p:cNvGraphicFramePr>
          <p:nvPr/>
        </p:nvGraphicFramePr>
        <p:xfrm>
          <a:off x="1493875" y="1799220"/>
          <a:ext cx="8821634" cy="3989339"/>
        </p:xfrm>
        <a:graphic>
          <a:graphicData uri="http://schemas.openxmlformats.org/drawingml/2006/table">
            <a:tbl>
              <a:tblPr firstRow="1" bandRow="1">
                <a:tableStyleId>{5C22544A-7EE6-4342-B048-85BDC9FD1C3A}</a:tableStyleId>
              </a:tblPr>
              <a:tblGrid>
                <a:gridCol w="2350496"/>
                <a:gridCol w="6471138"/>
              </a:tblGrid>
              <a:tr h="397779">
                <a:tc>
                  <a:txBody>
                    <a:bodyPr/>
                    <a:lstStyle/>
                    <a:p>
                      <a:pPr algn="ctr"/>
                      <a:r>
                        <a:rPr lang="zh-CN" altLang="en-US" sz="1400" dirty="0" smtClean="0">
                          <a:latin typeface="微软雅黑" panose="020B0503020204020204" pitchFamily="34" charset="-122"/>
                          <a:ea typeface="微软雅黑" panose="020B0503020204020204" pitchFamily="34" charset="-122"/>
                        </a:rPr>
                        <a:t>维度</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algn="ctr"/>
                      <a:r>
                        <a:rPr lang="zh-CN" altLang="en-US" sz="1400" dirty="0" smtClean="0">
                          <a:latin typeface="微软雅黑" panose="020B0503020204020204" pitchFamily="34" charset="-122"/>
                          <a:ea typeface="微软雅黑" panose="020B0503020204020204" pitchFamily="34" charset="-122"/>
                        </a:rPr>
                        <a:t>安全方案</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r>
              <a:tr h="370840">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基础环境</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基于华为云安全防护体系，部署在新加坡本地，五分钟增量备份，每天一次全量备份，定期可恢复性验证</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传输安全</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采用集团统一采购的</a:t>
                      </a:r>
                      <a:r>
                        <a:rPr lang="en-US" altLang="zh-CN" sz="1200" b="0" dirty="0" smtClean="0">
                          <a:solidFill>
                            <a:schemeClr val="tx1"/>
                          </a:solidFill>
                          <a:latin typeface="微软雅黑" panose="020B0503020204020204" pitchFamily="34" charset="-122"/>
                          <a:ea typeface="微软雅黑" panose="020B0503020204020204" pitchFamily="34" charset="-122"/>
                        </a:rPr>
                        <a:t>SSL</a:t>
                      </a:r>
                      <a:r>
                        <a:rPr lang="zh-CN" altLang="en-US" sz="1200" b="0" dirty="0" smtClean="0">
                          <a:solidFill>
                            <a:schemeClr val="tx1"/>
                          </a:solidFill>
                          <a:latin typeface="微软雅黑" panose="020B0503020204020204" pitchFamily="34" charset="-122"/>
                          <a:ea typeface="微软雅黑" panose="020B0503020204020204" pitchFamily="34" charset="-122"/>
                        </a:rPr>
                        <a:t>证书，基于</a:t>
                      </a:r>
                      <a:r>
                        <a:rPr lang="en-US" altLang="zh-CN" sz="1200" b="0" dirty="0" smtClean="0">
                          <a:solidFill>
                            <a:schemeClr val="tx1"/>
                          </a:solidFill>
                          <a:latin typeface="微软雅黑" panose="020B0503020204020204" pitchFamily="34" charset="-122"/>
                          <a:ea typeface="微软雅黑" panose="020B0503020204020204" pitchFamily="34" charset="-122"/>
                        </a:rPr>
                        <a:t>Https</a:t>
                      </a:r>
                      <a:r>
                        <a:rPr lang="zh-CN" altLang="en-US" sz="1200" b="0" dirty="0" smtClean="0">
                          <a:solidFill>
                            <a:schemeClr val="tx1"/>
                          </a:solidFill>
                          <a:latin typeface="微软雅黑" panose="020B0503020204020204" pitchFamily="34" charset="-122"/>
                          <a:ea typeface="微软雅黑" panose="020B0503020204020204" pitchFamily="34" charset="-122"/>
                        </a:rPr>
                        <a:t>的加密安全传输通道</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账号安全</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b="0" dirty="0" smtClean="0">
                          <a:solidFill>
                            <a:schemeClr val="tx1"/>
                          </a:solidFill>
                          <a:latin typeface="微软雅黑" panose="020B0503020204020204" pitchFamily="34" charset="-122"/>
                          <a:ea typeface="微软雅黑" panose="020B0503020204020204" pitchFamily="34" charset="-122"/>
                        </a:rPr>
                        <a:t>IAM</a:t>
                      </a:r>
                      <a:r>
                        <a:rPr lang="zh-CN" altLang="en-US" sz="1200" b="0" dirty="0" smtClean="0">
                          <a:solidFill>
                            <a:schemeClr val="tx1"/>
                          </a:solidFill>
                          <a:latin typeface="微软雅黑" panose="020B0503020204020204" pitchFamily="34" charset="-122"/>
                          <a:ea typeface="微软雅黑" panose="020B0503020204020204" pitchFamily="34" charset="-122"/>
                        </a:rPr>
                        <a:t>登录，双因子认证</a:t>
                      </a:r>
                      <a:endParaRPr lang="zh-CN" altLang="en-US" sz="1200" b="0" dirty="0" smtClean="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权限管理</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chemeClr val="tx1"/>
                          </a:solidFill>
                          <a:latin typeface="微软雅黑" panose="020B0503020204020204" pitchFamily="34" charset="-122"/>
                          <a:ea typeface="微软雅黑" panose="020B0503020204020204" pitchFamily="34" charset="-122"/>
                        </a:rPr>
                        <a:t>功能权限</a:t>
                      </a:r>
                      <a:r>
                        <a:rPr lang="en-US" altLang="zh-CN" sz="1200" b="0" dirty="0" smtClean="0">
                          <a:solidFill>
                            <a:schemeClr val="tx1"/>
                          </a:solidFill>
                          <a:latin typeface="微软雅黑" panose="020B0503020204020204" pitchFamily="34" charset="-122"/>
                          <a:ea typeface="微软雅黑" panose="020B0503020204020204" pitchFamily="34" charset="-122"/>
                        </a:rPr>
                        <a:t>+</a:t>
                      </a:r>
                      <a:r>
                        <a:rPr lang="zh-CN" altLang="en-US" sz="1200" b="0" dirty="0" smtClean="0">
                          <a:solidFill>
                            <a:schemeClr val="tx1"/>
                          </a:solidFill>
                          <a:latin typeface="微软雅黑" panose="020B0503020204020204" pitchFamily="34" charset="-122"/>
                          <a:ea typeface="微软雅黑" panose="020B0503020204020204" pitchFamily="34" charset="-122"/>
                        </a:rPr>
                        <a:t>数据权限验证</a:t>
                      </a:r>
                      <a:endParaRPr lang="zh-CN" altLang="en-US" sz="1200" b="0" dirty="0" smtClean="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数据安全</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chemeClr val="tx1"/>
                          </a:solidFill>
                          <a:latin typeface="微软雅黑" panose="020B0503020204020204" pitchFamily="34" charset="-122"/>
                          <a:ea typeface="微软雅黑" panose="020B0503020204020204" pitchFamily="34" charset="-122"/>
                        </a:rPr>
                        <a:t>对用户敏感信息字段做到：加密存储，加密传输，脱敏展示。</a:t>
                      </a:r>
                      <a:endParaRPr lang="zh-CN" altLang="en-US" sz="1200" b="0" dirty="0" smtClean="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pPr marL="0" marR="0" lvl="0" indent="0" algn="l" defTabSz="914400" rtl="0" eaLnBrk="1" fontAlgn="base" latinLnBrk="0" hangingPunct="1">
                        <a:lnSpc>
                          <a:spcPct val="100000"/>
                        </a:lnSpc>
                        <a:spcBef>
                          <a:spcPts val="0"/>
                        </a:spcBef>
                        <a:spcAft>
                          <a:spcPts val="0"/>
                        </a:spcAft>
                        <a:buClrTx/>
                        <a:buSzTx/>
                        <a:buFontTx/>
                        <a:buNone/>
                        <a:defRPr/>
                      </a:pPr>
                      <a:r>
                        <a:rPr lang="zh-CN" altLang="en-US" sz="1200" b="0" i="0" kern="1200" dirty="0" smtClean="0">
                          <a:solidFill>
                            <a:schemeClr val="tx1"/>
                          </a:solidFill>
                          <a:effectLst/>
                          <a:latin typeface="微软雅黑" panose="020B0503020204020204" pitchFamily="34" charset="-122"/>
                          <a:ea typeface="微软雅黑" panose="020B0503020204020204" pitchFamily="34" charset="-122"/>
                          <a:cs typeface="+mn-cs"/>
                        </a:rPr>
                        <a:t>日志审计</a:t>
                      </a:r>
                      <a:endPar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敏感用户行为有操作日志，如：手机号查看日志，会员查询日志，会员删除日志，积分变更日志，等级变更日志，券码查看日志，优惠券手动作废日志等</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pPr marL="0" marR="0" lvl="0" indent="0" algn="l" defTabSz="914400" rtl="0" eaLnBrk="1" fontAlgn="base" latinLnBrk="0" hangingPunct="1">
                        <a:lnSpc>
                          <a:spcPct val="100000"/>
                        </a:lnSpc>
                        <a:spcBef>
                          <a:spcPts val="0"/>
                        </a:spcBef>
                        <a:spcAft>
                          <a:spcPts val="0"/>
                        </a:spcAft>
                        <a:buClrTx/>
                        <a:buSzTx/>
                        <a:buFontTx/>
                        <a:buNone/>
                        <a:defRPr/>
                      </a:pPr>
                      <a:r>
                        <a:rPr lang="en-US" altLang="zh-CN" sz="1200" b="0" i="0" kern="1200" dirty="0" smtClean="0">
                          <a:solidFill>
                            <a:schemeClr val="tx1"/>
                          </a:solidFill>
                          <a:effectLst/>
                          <a:latin typeface="微软雅黑" panose="020B0503020204020204" pitchFamily="34" charset="-122"/>
                          <a:ea typeface="微软雅黑" panose="020B0503020204020204" pitchFamily="34" charset="-122"/>
                          <a:cs typeface="+mn-cs"/>
                        </a:rPr>
                        <a:t>API</a:t>
                      </a:r>
                      <a:r>
                        <a:rPr lang="zh-CN" altLang="en-US" sz="1200" b="0" i="0" kern="1200" dirty="0" smtClean="0">
                          <a:solidFill>
                            <a:schemeClr val="tx1"/>
                          </a:solidFill>
                          <a:effectLst/>
                          <a:latin typeface="微软雅黑" panose="020B0503020204020204" pitchFamily="34" charset="-122"/>
                          <a:ea typeface="微软雅黑" panose="020B0503020204020204" pitchFamily="34" charset="-122"/>
                          <a:cs typeface="+mn-cs"/>
                        </a:rPr>
                        <a:t>接口安全</a:t>
                      </a:r>
                      <a:endPar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签名加密认证方式</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pPr marL="0" marR="0" lvl="0" indent="0" algn="l" defTabSz="914400" rtl="0" eaLnBrk="1" fontAlgn="base" latinLnBrk="0" hangingPunct="1">
                        <a:lnSpc>
                          <a:spcPct val="100000"/>
                        </a:lnSpc>
                        <a:spcBef>
                          <a:spcPts val="0"/>
                        </a:spcBef>
                        <a:spcAft>
                          <a:spcPts val="0"/>
                        </a:spcAft>
                        <a:buClrTx/>
                        <a:buSzTx/>
                        <a:buFontTx/>
                        <a:buNone/>
                        <a:defRPr/>
                      </a:pPr>
                      <a:r>
                        <a:rPr lang="zh-CN" altLang="en-US" sz="1200" b="0" i="0" kern="1200" dirty="0" smtClean="0">
                          <a:solidFill>
                            <a:schemeClr val="tx1"/>
                          </a:solidFill>
                          <a:effectLst/>
                          <a:latin typeface="微软雅黑" panose="020B0503020204020204" pitchFamily="34" charset="-122"/>
                          <a:ea typeface="微软雅黑" panose="020B0503020204020204" pitchFamily="34" charset="-122"/>
                          <a:cs typeface="+mn-cs"/>
                        </a:rPr>
                        <a:t>业务场景安全</a:t>
                      </a:r>
                      <a:endPar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数据导出有区分普通导出和高权限导出，普通导出的加密数据，高权限导出才可导出明文数据，高级导出只有特定角色才有权限。积分优惠券场景风控逻辑：通过设定业务规则限定积分优惠券的发放与使用，比如：可以指定消费门店，指定发放人群，指定限领次数，指定叠加使用规则，指定赠送上限等。针对单个会员风控有：单日限领上限，单日</a:t>
                      </a:r>
                      <a:r>
                        <a:rPr lang="zh-CN" altLang="en-US" sz="1200" b="0" smtClean="0">
                          <a:solidFill>
                            <a:schemeClr val="tx1"/>
                          </a:solidFill>
                          <a:latin typeface="微软雅黑" panose="020B0503020204020204" pitchFamily="34" charset="-122"/>
                          <a:ea typeface="微软雅黑" panose="020B0503020204020204" pitchFamily="34" charset="-122"/>
                        </a:rPr>
                        <a:t>核销上限</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charset="-122"/>
                  <a:cs typeface="+mn-cs"/>
                </a:endParaRPr>
              </a:p>
            </p:txBody>
          </p:sp>
        </p:grpSp>
        <p:sp>
          <p:nvSpPr>
            <p:cNvPr id="4" name="TextBox 7"/>
            <p:cNvSpPr txBox="1"/>
            <p:nvPr/>
          </p:nvSpPr>
          <p:spPr>
            <a:xfrm>
              <a:off x="383254" y="498266"/>
              <a:ext cx="7415271" cy="523220"/>
            </a:xfrm>
            <a:prstGeom prst="rect">
              <a:avLst/>
            </a:prstGeom>
            <a:noFill/>
          </p:spPr>
          <p:txBody>
            <a:bodyPr wrap="square" rtlCol="0">
              <a:spAutoFit/>
            </a:bodyPr>
            <a:lstStyle/>
            <a:p>
              <a:pPr lvl="0"/>
              <a:r>
                <a:rPr lang="zh-CN" altLang="en-US" sz="2800" b="1" dirty="0">
                  <a:solidFill>
                    <a:prstClr val="black"/>
                  </a:solidFill>
                  <a:latin typeface="微软雅黑" panose="020B0503020204020204" pitchFamily="34" charset="-122"/>
                  <a:ea typeface="微软雅黑" panose="020B0503020204020204" pitchFamily="34" charset="-122"/>
                </a:rPr>
                <a:t>数据备份恢复归档策略</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grpSp>
      <p:graphicFrame>
        <p:nvGraphicFramePr>
          <p:cNvPr id="7" name="表格 6"/>
          <p:cNvGraphicFramePr>
            <a:graphicFrameLocks noGrp="1"/>
          </p:cNvGraphicFramePr>
          <p:nvPr/>
        </p:nvGraphicFramePr>
        <p:xfrm>
          <a:off x="695570" y="2434166"/>
          <a:ext cx="10224476" cy="3484880"/>
        </p:xfrm>
        <a:graphic>
          <a:graphicData uri="http://schemas.openxmlformats.org/drawingml/2006/table">
            <a:tbl>
              <a:tblPr firstRow="1" bandRow="1">
                <a:tableStyleId>{5C22544A-7EE6-4342-B048-85BDC9FD1C3A}</a:tableStyleId>
              </a:tblPr>
              <a:tblGrid>
                <a:gridCol w="1537677"/>
                <a:gridCol w="1951892"/>
                <a:gridCol w="1749669"/>
                <a:gridCol w="4985238"/>
              </a:tblGrid>
              <a:tr h="370840">
                <a:tc>
                  <a:txBody>
                    <a:bodyPr/>
                    <a:lstStyle/>
                    <a:p>
                      <a:r>
                        <a:rPr lang="zh-CN" altLang="en-US" dirty="0" smtClean="0"/>
                        <a:t>组件</a:t>
                      </a:r>
                      <a:endParaRPr lang="zh-CN" altLang="en-US" dirty="0"/>
                    </a:p>
                  </a:txBody>
                  <a:tcPr/>
                </a:tc>
                <a:tc>
                  <a:txBody>
                    <a:bodyPr/>
                    <a:lstStyle/>
                    <a:p>
                      <a:r>
                        <a:rPr lang="zh-CN" altLang="en-US" dirty="0" smtClean="0"/>
                        <a:t>备份策略</a:t>
                      </a:r>
                      <a:endParaRPr lang="zh-CN" altLang="en-US" dirty="0"/>
                    </a:p>
                  </a:txBody>
                  <a:tcPr/>
                </a:tc>
                <a:tc>
                  <a:txBody>
                    <a:bodyPr/>
                    <a:lstStyle/>
                    <a:p>
                      <a:r>
                        <a:rPr lang="zh-CN" altLang="en-US" dirty="0" smtClean="0"/>
                        <a:t>归档策略</a:t>
                      </a:r>
                      <a:endParaRPr lang="zh-CN" altLang="en-US" dirty="0"/>
                    </a:p>
                  </a:txBody>
                  <a:tcPr/>
                </a:tc>
                <a:tc>
                  <a:txBody>
                    <a:bodyPr/>
                    <a:lstStyle/>
                    <a:p>
                      <a:r>
                        <a:rPr lang="zh-CN" altLang="en-US" dirty="0" smtClean="0"/>
                        <a:t>恢复策略</a:t>
                      </a:r>
                      <a:endParaRPr lang="zh-CN" altLang="en-US" dirty="0"/>
                    </a:p>
                  </a:txBody>
                  <a:tcPr/>
                </a:tc>
              </a:tr>
              <a:tr h="370840">
                <a:tc>
                  <a:txBody>
                    <a:bodyPr/>
                    <a:lstStyle/>
                    <a:p>
                      <a:r>
                        <a:rPr lang="en-US" altLang="zh-CN" dirty="0" smtClean="0"/>
                        <a:t>MySQL</a:t>
                      </a:r>
                      <a:endParaRPr lang="zh-CN" altLang="en-US" dirty="0"/>
                    </a:p>
                  </a:txBody>
                  <a:tcPr/>
                </a:tc>
                <a:tc>
                  <a:txBody>
                    <a:bodyPr/>
                    <a:lstStyle/>
                    <a:p>
                      <a:r>
                        <a:rPr lang="zh-CN" altLang="en-US" dirty="0" smtClean="0"/>
                        <a:t>每天一次全备</a:t>
                      </a:r>
                      <a:br>
                        <a:rPr lang="en-US" altLang="zh-CN" dirty="0" smtClean="0"/>
                      </a:br>
                      <a:r>
                        <a:rPr lang="zh-CN" altLang="en-US" dirty="0" smtClean="0"/>
                        <a:t>五分钟一次</a:t>
                      </a:r>
                      <a:r>
                        <a:rPr lang="en-US" altLang="zh-CN" dirty="0" err="1" smtClean="0"/>
                        <a:t>Binlog</a:t>
                      </a:r>
                      <a:endParaRPr lang="en-US" altLang="zh-CN" dirty="0" smtClean="0"/>
                    </a:p>
                    <a:p>
                      <a:r>
                        <a:rPr lang="zh-CN" altLang="en-US" dirty="0" smtClean="0"/>
                        <a:t>保留</a:t>
                      </a:r>
                      <a:r>
                        <a:rPr lang="en-US" altLang="zh-CN" dirty="0" smtClean="0"/>
                        <a:t>14</a:t>
                      </a:r>
                      <a:r>
                        <a:rPr lang="zh-CN" altLang="en-US" dirty="0" smtClean="0"/>
                        <a:t>天</a:t>
                      </a:r>
                      <a:endParaRPr lang="zh-CN" altLang="en-US" dirty="0"/>
                    </a:p>
                  </a:txBody>
                  <a:tcPr/>
                </a:tc>
                <a:tc>
                  <a:txBody>
                    <a:bodyPr/>
                    <a:lstStyle/>
                    <a:p>
                      <a:r>
                        <a:rPr lang="zh-CN" altLang="en-US" dirty="0" smtClean="0"/>
                        <a:t>无</a:t>
                      </a:r>
                      <a:endParaRPr lang="zh-CN" altLang="en-US" dirty="0"/>
                    </a:p>
                  </a:txBody>
                  <a:tcPr/>
                </a:tc>
                <a:tc>
                  <a:txBody>
                    <a:bodyPr/>
                    <a:lstStyle/>
                    <a:p>
                      <a:r>
                        <a:rPr lang="en-US" altLang="zh-CN" dirty="0" smtClean="0"/>
                        <a:t>master</a:t>
                      </a:r>
                      <a:r>
                        <a:rPr lang="zh-CN" altLang="en-US" dirty="0" smtClean="0"/>
                        <a:t>故障，会自动飘到备库。</a:t>
                      </a:r>
                      <a:endParaRPr lang="en-US" altLang="zh-CN" dirty="0" smtClean="0"/>
                    </a:p>
                    <a:p>
                      <a:r>
                        <a:rPr lang="zh-CN" altLang="en-US" dirty="0" smtClean="0"/>
                        <a:t>全部故障或者数据问题，会从备份文件恢复</a:t>
                      </a:r>
                      <a:endParaRPr lang="zh-CN" altLang="en-US" dirty="0"/>
                    </a:p>
                  </a:txBody>
                  <a:tcPr/>
                </a:tc>
              </a:tr>
              <a:tr h="370840">
                <a:tc>
                  <a:txBody>
                    <a:bodyPr/>
                    <a:lstStyle/>
                    <a:p>
                      <a:r>
                        <a:rPr lang="en-US" altLang="zh-CN" dirty="0" err="1" smtClean="0"/>
                        <a:t>Clickhouse</a:t>
                      </a:r>
                      <a:endParaRPr lang="zh-CN" altLang="en-US" dirty="0"/>
                    </a:p>
                  </a:txBody>
                  <a:tcPr/>
                </a:tc>
                <a:tc>
                  <a:txBody>
                    <a:bodyPr/>
                    <a:lstStyle/>
                    <a:p>
                      <a:r>
                        <a:rPr lang="zh-CN" altLang="en-US" dirty="0" smtClean="0"/>
                        <a:t>无</a:t>
                      </a:r>
                      <a:endParaRPr lang="zh-CN" altLang="en-US" dirty="0"/>
                    </a:p>
                  </a:txBody>
                  <a:tcPr/>
                </a:tc>
                <a:tc>
                  <a:txBody>
                    <a:bodyPr/>
                    <a:lstStyle/>
                    <a:p>
                      <a:r>
                        <a:rPr lang="zh-CN" altLang="en-US" dirty="0" smtClean="0"/>
                        <a:t>无</a:t>
                      </a:r>
                      <a:endParaRPr lang="zh-CN" altLang="en-US" dirty="0"/>
                    </a:p>
                  </a:txBody>
                  <a:tcPr/>
                </a:tc>
                <a:tc>
                  <a:txBody>
                    <a:bodyPr/>
                    <a:lstStyle/>
                    <a:p>
                      <a:r>
                        <a:rPr lang="zh-CN" altLang="en-US" dirty="0" smtClean="0"/>
                        <a:t>直接重跑一次</a:t>
                      </a:r>
                      <a:endParaRPr lang="zh-CN" altLang="en-US" dirty="0"/>
                    </a:p>
                  </a:txBody>
                  <a:tcPr/>
                </a:tc>
              </a:tr>
              <a:tr h="370840">
                <a:tc>
                  <a:txBody>
                    <a:bodyPr/>
                    <a:lstStyle/>
                    <a:p>
                      <a:r>
                        <a:rPr lang="en-US" altLang="zh-CN" dirty="0" err="1" smtClean="0"/>
                        <a:t>Redis</a:t>
                      </a:r>
                      <a:endParaRPr lang="zh-CN" altLang="en-US" dirty="0"/>
                    </a:p>
                  </a:txBody>
                  <a:tcPr/>
                </a:tc>
                <a:tc>
                  <a:txBody>
                    <a:bodyPr/>
                    <a:lstStyle/>
                    <a:p>
                      <a:r>
                        <a:rPr lang="zh-CN" altLang="en-US" dirty="0" smtClean="0"/>
                        <a:t>无</a:t>
                      </a:r>
                      <a:endParaRPr lang="zh-CN" altLang="en-US" dirty="0"/>
                    </a:p>
                  </a:txBody>
                  <a:tcPr/>
                </a:tc>
                <a:tc>
                  <a:txBody>
                    <a:bodyPr/>
                    <a:lstStyle/>
                    <a:p>
                      <a:r>
                        <a:rPr lang="zh-CN" altLang="en-US" dirty="0" smtClean="0"/>
                        <a:t>无</a:t>
                      </a:r>
                      <a:endParaRPr lang="zh-CN" altLang="en-US" dirty="0"/>
                    </a:p>
                  </a:txBody>
                  <a:tcPr/>
                </a:tc>
                <a:tc>
                  <a:txBody>
                    <a:bodyPr/>
                    <a:lstStyle/>
                    <a:p>
                      <a:r>
                        <a:rPr lang="en-US" altLang="zh-CN" dirty="0" smtClean="0"/>
                        <a:t>master</a:t>
                      </a:r>
                      <a:r>
                        <a:rPr lang="zh-CN" altLang="en-US" dirty="0" smtClean="0"/>
                        <a:t>故障，会自动飘到备库。</a:t>
                      </a:r>
                      <a:endParaRPr lang="en-US" altLang="zh-CN" dirty="0" smtClean="0"/>
                    </a:p>
                    <a:p>
                      <a:r>
                        <a:rPr lang="zh-CN" altLang="en-US" dirty="0" smtClean="0"/>
                        <a:t>全部故障或者数据问题，会从备份文件恢复</a:t>
                      </a:r>
                      <a:endParaRPr lang="zh-CN" altLang="en-US" dirty="0"/>
                    </a:p>
                  </a:txBody>
                  <a:tcPr/>
                </a:tc>
              </a:tr>
              <a:tr h="370840">
                <a:tc>
                  <a:txBody>
                    <a:bodyPr/>
                    <a:lstStyle/>
                    <a:p>
                      <a:r>
                        <a:rPr lang="en-US" altLang="zh-CN" dirty="0" err="1" smtClean="0"/>
                        <a:t>Elasticsearch</a:t>
                      </a:r>
                      <a:endParaRPr lang="zh-CN" altLang="en-US" dirty="0"/>
                    </a:p>
                  </a:txBody>
                  <a:tcPr/>
                </a:tc>
                <a:tc>
                  <a:txBody>
                    <a:bodyPr/>
                    <a:lstStyle/>
                    <a:p>
                      <a:r>
                        <a:rPr lang="zh-CN" altLang="en-US" dirty="0" smtClean="0"/>
                        <a:t>每天</a:t>
                      </a:r>
                      <a:r>
                        <a:rPr lang="en-US" altLang="zh-CN" dirty="0" smtClean="0"/>
                        <a:t>0</a:t>
                      </a:r>
                      <a:r>
                        <a:rPr lang="zh-CN" altLang="en-US" dirty="0" smtClean="0"/>
                        <a:t>点一快照</a:t>
                      </a:r>
                      <a:endParaRPr lang="en-US" altLang="zh-CN" dirty="0" smtClean="0"/>
                    </a:p>
                    <a:p>
                      <a:r>
                        <a:rPr lang="zh-CN" altLang="en-US" dirty="0" smtClean="0"/>
                        <a:t>保留</a:t>
                      </a:r>
                      <a:r>
                        <a:rPr lang="en-US" altLang="zh-CN" dirty="0" smtClean="0"/>
                        <a:t>7</a:t>
                      </a:r>
                      <a:r>
                        <a:rPr lang="zh-CN" altLang="en-US" dirty="0" smtClean="0"/>
                        <a:t>天</a:t>
                      </a:r>
                      <a:endParaRPr lang="zh-CN" altLang="en-US" dirty="0"/>
                    </a:p>
                  </a:txBody>
                  <a:tcPr/>
                </a:tc>
                <a:tc>
                  <a:txBody>
                    <a:bodyPr/>
                    <a:lstStyle/>
                    <a:p>
                      <a:r>
                        <a:rPr lang="zh-CN" altLang="en-US" dirty="0" smtClean="0"/>
                        <a:t>无</a:t>
                      </a:r>
                      <a:endParaRPr lang="zh-CN" altLang="en-US" dirty="0"/>
                    </a:p>
                  </a:txBody>
                  <a:tcPr/>
                </a:tc>
                <a:tc>
                  <a:txBody>
                    <a:bodyPr/>
                    <a:lstStyle/>
                    <a:p>
                      <a:r>
                        <a:rPr lang="zh-CN" altLang="en-US" dirty="0" smtClean="0"/>
                        <a:t>可设置多副本，单节点故障，从其他节点副本恢复</a:t>
                      </a:r>
                      <a:endParaRPr lang="en-US" altLang="zh-CN" dirty="0" smtClean="0"/>
                    </a:p>
                    <a:p>
                      <a:r>
                        <a:rPr lang="zh-CN" altLang="en-US" dirty="0" smtClean="0"/>
                        <a:t>集群故障，可从快照恢复，数据内容可从</a:t>
                      </a:r>
                      <a:r>
                        <a:rPr lang="en-US" altLang="zh-CN" dirty="0" err="1" smtClean="0"/>
                        <a:t>mysql</a:t>
                      </a:r>
                      <a:r>
                        <a:rPr lang="zh-CN" altLang="en-US" dirty="0" smtClean="0"/>
                        <a:t>补充恢复</a:t>
                      </a:r>
                      <a:endParaRPr lang="zh-CN" altLang="en-US" dirty="0"/>
                    </a:p>
                  </a:txBody>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charset="-122"/>
                  <a:cs typeface="+mn-cs"/>
                </a:endParaRPr>
              </a:p>
            </p:txBody>
          </p:sp>
        </p:grpSp>
        <p:sp>
          <p:nvSpPr>
            <p:cNvPr id="4" name="TextBox 7"/>
            <p:cNvSpPr txBox="1"/>
            <p:nvPr/>
          </p:nvSpPr>
          <p:spPr>
            <a:xfrm>
              <a:off x="383254" y="498266"/>
              <a:ext cx="7415271" cy="523220"/>
            </a:xfrm>
            <a:prstGeom prst="rect">
              <a:avLst/>
            </a:prstGeom>
            <a:noFill/>
          </p:spPr>
          <p:txBody>
            <a:bodyPr wrap="square" rtlCol="0">
              <a:spAutoFit/>
            </a:bodyPr>
            <a:lstStyle/>
            <a:p>
              <a:pPr lvl="0"/>
              <a:r>
                <a:rPr lang="zh-CN" altLang="en-US" sz="2800" b="1" dirty="0">
                  <a:solidFill>
                    <a:prstClr val="black"/>
                  </a:solidFill>
                  <a:latin typeface="微软雅黑" panose="020B0503020204020204" pitchFamily="34" charset="-122"/>
                  <a:ea typeface="微软雅黑" panose="020B0503020204020204" pitchFamily="34" charset="-122"/>
                </a:rPr>
                <a:t>用户权限与验证</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grpSp>
      <p:sp>
        <p:nvSpPr>
          <p:cNvPr id="7" name="文本框 6"/>
          <p:cNvSpPr txBox="1"/>
          <p:nvPr/>
        </p:nvSpPr>
        <p:spPr>
          <a:xfrm>
            <a:off x="1160585" y="1600523"/>
            <a:ext cx="6083717" cy="369332"/>
          </a:xfrm>
          <a:prstGeom prst="rect">
            <a:avLst/>
          </a:prstGeom>
          <a:noFill/>
        </p:spPr>
        <p:txBody>
          <a:bodyPr wrap="none" rtlCol="0">
            <a:spAutoFit/>
          </a:bodyPr>
          <a:lstStyle/>
          <a:p>
            <a:r>
              <a:rPr lang="zh-CN" altLang="en-US" dirty="0" smtClean="0"/>
              <a:t>基于</a:t>
            </a:r>
            <a:r>
              <a:rPr lang="en-US" altLang="zh-CN" dirty="0" smtClean="0"/>
              <a:t>RBAC(Role-based Access Control)</a:t>
            </a:r>
            <a:r>
              <a:rPr lang="zh-CN" altLang="en-US" dirty="0" smtClean="0"/>
              <a:t>角色控制访问机制。</a:t>
            </a:r>
            <a:endParaRPr lang="zh-CN" altLang="en-US" dirty="0"/>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8989" y="2516452"/>
            <a:ext cx="703385" cy="703385"/>
          </a:xfrm>
          <a:prstGeom prst="rect">
            <a:avLst/>
          </a:prstGeom>
        </p:spPr>
      </p:pic>
      <p:sp>
        <p:nvSpPr>
          <p:cNvPr id="9" name="矩形 8"/>
          <p:cNvSpPr/>
          <p:nvPr/>
        </p:nvSpPr>
        <p:spPr>
          <a:xfrm>
            <a:off x="2904194" y="2154371"/>
            <a:ext cx="1113512" cy="352360"/>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smtClean="0"/>
              <a:t>角色</a:t>
            </a:r>
            <a:r>
              <a:rPr lang="en-US" altLang="zh-CN" dirty="0" smtClean="0"/>
              <a:t>1</a:t>
            </a:r>
            <a:endParaRPr lang="en-GB" dirty="0"/>
          </a:p>
        </p:txBody>
      </p:sp>
      <p:sp>
        <p:nvSpPr>
          <p:cNvPr id="10" name="矩形 9"/>
          <p:cNvSpPr/>
          <p:nvPr/>
        </p:nvSpPr>
        <p:spPr>
          <a:xfrm>
            <a:off x="2904194" y="2687104"/>
            <a:ext cx="1113512" cy="352360"/>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smtClean="0"/>
              <a:t>角色</a:t>
            </a:r>
            <a:r>
              <a:rPr lang="en-US" altLang="zh-CN" dirty="0" smtClean="0"/>
              <a:t>2</a:t>
            </a:r>
            <a:endParaRPr lang="en-GB" dirty="0"/>
          </a:p>
        </p:txBody>
      </p:sp>
      <p:sp>
        <p:nvSpPr>
          <p:cNvPr id="11" name="矩形 10"/>
          <p:cNvSpPr/>
          <p:nvPr/>
        </p:nvSpPr>
        <p:spPr>
          <a:xfrm>
            <a:off x="2904193" y="3572197"/>
            <a:ext cx="1113512" cy="352360"/>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smtClean="0"/>
              <a:t>角色</a:t>
            </a:r>
            <a:r>
              <a:rPr lang="en-US" altLang="zh-CN" dirty="0" smtClean="0"/>
              <a:t>n</a:t>
            </a:r>
            <a:endParaRPr lang="en-GB" dirty="0"/>
          </a:p>
        </p:txBody>
      </p:sp>
      <p:cxnSp>
        <p:nvCxnSpPr>
          <p:cNvPr id="13" name="曲线连接符 12"/>
          <p:cNvCxnSpPr>
            <a:stCxn id="8" idx="3"/>
            <a:endCxn id="9" idx="1"/>
          </p:cNvCxnSpPr>
          <p:nvPr/>
        </p:nvCxnSpPr>
        <p:spPr>
          <a:xfrm flipV="1">
            <a:off x="2142374" y="2330551"/>
            <a:ext cx="761820" cy="537594"/>
          </a:xfrm>
          <a:prstGeom prst="curved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曲线连接符 14"/>
          <p:cNvCxnSpPr>
            <a:stCxn id="8" idx="3"/>
            <a:endCxn id="10" idx="1"/>
          </p:cNvCxnSpPr>
          <p:nvPr/>
        </p:nvCxnSpPr>
        <p:spPr>
          <a:xfrm flipV="1">
            <a:off x="2142374" y="2863284"/>
            <a:ext cx="761820" cy="4861"/>
          </a:xfrm>
          <a:prstGeom prst="curved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曲线连接符 16"/>
          <p:cNvCxnSpPr>
            <a:stCxn id="8" idx="3"/>
            <a:endCxn id="11" idx="1"/>
          </p:cNvCxnSpPr>
          <p:nvPr/>
        </p:nvCxnSpPr>
        <p:spPr>
          <a:xfrm>
            <a:off x="2142374" y="2868145"/>
            <a:ext cx="761819" cy="880232"/>
          </a:xfrm>
          <a:prstGeom prst="curved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3185874" y="3219837"/>
            <a:ext cx="550151" cy="215444"/>
          </a:xfrm>
          <a:prstGeom prst="rect">
            <a:avLst/>
          </a:prstGeom>
          <a:noFill/>
        </p:spPr>
        <p:txBody>
          <a:bodyPr wrap="none" rtlCol="0">
            <a:spAutoFit/>
          </a:bodyPr>
          <a:lstStyle/>
          <a:p>
            <a:r>
              <a:rPr lang="zh-CN" altLang="en-US" sz="800" dirty="0" smtClean="0">
                <a:solidFill>
                  <a:srgbClr val="C00000"/>
                </a:solidFill>
              </a:rPr>
              <a:t>●</a:t>
            </a:r>
            <a:r>
              <a:rPr lang="zh-CN" altLang="en-US" sz="800" dirty="0">
                <a:solidFill>
                  <a:srgbClr val="C00000"/>
                </a:solidFill>
              </a:rPr>
              <a:t> </a:t>
            </a:r>
            <a:r>
              <a:rPr lang="zh-CN" altLang="en-US" sz="800" dirty="0" smtClean="0">
                <a:solidFill>
                  <a:srgbClr val="C00000"/>
                </a:solidFill>
              </a:rPr>
              <a:t>●</a:t>
            </a:r>
            <a:r>
              <a:rPr lang="zh-CN" altLang="en-US" sz="800" dirty="0">
                <a:solidFill>
                  <a:srgbClr val="C00000"/>
                </a:solidFill>
              </a:rPr>
              <a:t> ●</a:t>
            </a:r>
            <a:endParaRPr lang="zh-CN" altLang="en-US" sz="800" dirty="0">
              <a:solidFill>
                <a:srgbClr val="C00000"/>
              </a:solidFill>
            </a:endParaRPr>
          </a:p>
        </p:txBody>
      </p:sp>
      <p:sp>
        <p:nvSpPr>
          <p:cNvPr id="19" name="矩形 18"/>
          <p:cNvSpPr/>
          <p:nvPr/>
        </p:nvSpPr>
        <p:spPr>
          <a:xfrm>
            <a:off x="4853283" y="2150906"/>
            <a:ext cx="1113512" cy="352360"/>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smtClean="0"/>
              <a:t>功能</a:t>
            </a:r>
            <a:r>
              <a:rPr lang="en-US" altLang="zh-CN" dirty="0" smtClean="0"/>
              <a:t>1</a:t>
            </a:r>
            <a:endParaRPr lang="en-GB" dirty="0"/>
          </a:p>
        </p:txBody>
      </p:sp>
      <p:sp>
        <p:nvSpPr>
          <p:cNvPr id="20" name="矩形 19"/>
          <p:cNvSpPr/>
          <p:nvPr/>
        </p:nvSpPr>
        <p:spPr>
          <a:xfrm>
            <a:off x="4853283" y="2689383"/>
            <a:ext cx="1113512" cy="352360"/>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smtClean="0"/>
              <a:t>功能</a:t>
            </a:r>
            <a:r>
              <a:rPr lang="en-US" altLang="zh-CN" dirty="0" smtClean="0"/>
              <a:t>2</a:t>
            </a:r>
            <a:endParaRPr lang="en-GB" dirty="0"/>
          </a:p>
        </p:txBody>
      </p:sp>
      <p:sp>
        <p:nvSpPr>
          <p:cNvPr id="21" name="文本框 20"/>
          <p:cNvSpPr txBox="1"/>
          <p:nvPr/>
        </p:nvSpPr>
        <p:spPr>
          <a:xfrm>
            <a:off x="5134964" y="3263451"/>
            <a:ext cx="550151" cy="215444"/>
          </a:xfrm>
          <a:prstGeom prst="rect">
            <a:avLst/>
          </a:prstGeom>
          <a:noFill/>
        </p:spPr>
        <p:txBody>
          <a:bodyPr wrap="none" rtlCol="0">
            <a:spAutoFit/>
          </a:bodyPr>
          <a:lstStyle/>
          <a:p>
            <a:r>
              <a:rPr lang="zh-CN" altLang="en-US" sz="800" dirty="0" smtClean="0">
                <a:solidFill>
                  <a:srgbClr val="C00000"/>
                </a:solidFill>
              </a:rPr>
              <a:t>●</a:t>
            </a:r>
            <a:r>
              <a:rPr lang="zh-CN" altLang="en-US" sz="800" dirty="0">
                <a:solidFill>
                  <a:srgbClr val="C00000"/>
                </a:solidFill>
              </a:rPr>
              <a:t> </a:t>
            </a:r>
            <a:r>
              <a:rPr lang="zh-CN" altLang="en-US" sz="800" dirty="0" smtClean="0">
                <a:solidFill>
                  <a:srgbClr val="C00000"/>
                </a:solidFill>
              </a:rPr>
              <a:t>●</a:t>
            </a:r>
            <a:r>
              <a:rPr lang="zh-CN" altLang="en-US" sz="800" dirty="0">
                <a:solidFill>
                  <a:srgbClr val="C00000"/>
                </a:solidFill>
              </a:rPr>
              <a:t> ●</a:t>
            </a:r>
            <a:endParaRPr lang="zh-CN" altLang="en-US" sz="800" dirty="0">
              <a:solidFill>
                <a:srgbClr val="C00000"/>
              </a:solidFill>
            </a:endParaRPr>
          </a:p>
        </p:txBody>
      </p:sp>
      <p:sp>
        <p:nvSpPr>
          <p:cNvPr id="23" name="矩形 22"/>
          <p:cNvSpPr/>
          <p:nvPr/>
        </p:nvSpPr>
        <p:spPr>
          <a:xfrm>
            <a:off x="4853283" y="3580220"/>
            <a:ext cx="1113512" cy="352360"/>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smtClean="0"/>
              <a:t>功能</a:t>
            </a:r>
            <a:r>
              <a:rPr lang="en-US" altLang="zh-CN" dirty="0" smtClean="0"/>
              <a:t>n</a:t>
            </a:r>
            <a:endParaRPr lang="en-GB" dirty="0"/>
          </a:p>
        </p:txBody>
      </p:sp>
      <p:cxnSp>
        <p:nvCxnSpPr>
          <p:cNvPr id="25" name="曲线连接符 24"/>
          <p:cNvCxnSpPr>
            <a:stCxn id="9" idx="3"/>
            <a:endCxn id="19" idx="1"/>
          </p:cNvCxnSpPr>
          <p:nvPr/>
        </p:nvCxnSpPr>
        <p:spPr>
          <a:xfrm flipV="1">
            <a:off x="4017706" y="2327086"/>
            <a:ext cx="835577" cy="3465"/>
          </a:xfrm>
          <a:prstGeom prst="curved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曲线连接符 26"/>
          <p:cNvCxnSpPr>
            <a:stCxn id="9" idx="3"/>
            <a:endCxn id="20" idx="1"/>
          </p:cNvCxnSpPr>
          <p:nvPr/>
        </p:nvCxnSpPr>
        <p:spPr>
          <a:xfrm>
            <a:off x="4017706" y="2330551"/>
            <a:ext cx="835577" cy="535012"/>
          </a:xfrm>
          <a:prstGeom prst="curved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曲线连接符 30"/>
          <p:cNvCxnSpPr>
            <a:stCxn id="9" idx="3"/>
            <a:endCxn id="23" idx="1"/>
          </p:cNvCxnSpPr>
          <p:nvPr/>
        </p:nvCxnSpPr>
        <p:spPr>
          <a:xfrm>
            <a:off x="4017706" y="2330551"/>
            <a:ext cx="835577" cy="1425849"/>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曲线连接符 32"/>
          <p:cNvCxnSpPr>
            <a:stCxn id="10" idx="3"/>
            <a:endCxn id="20" idx="1"/>
          </p:cNvCxnSpPr>
          <p:nvPr/>
        </p:nvCxnSpPr>
        <p:spPr>
          <a:xfrm>
            <a:off x="4017706" y="2863284"/>
            <a:ext cx="835577" cy="2279"/>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曲线连接符 34"/>
          <p:cNvCxnSpPr>
            <a:stCxn id="10" idx="3"/>
            <a:endCxn id="23" idx="1"/>
          </p:cNvCxnSpPr>
          <p:nvPr/>
        </p:nvCxnSpPr>
        <p:spPr>
          <a:xfrm>
            <a:off x="4017706" y="2863284"/>
            <a:ext cx="835577" cy="893116"/>
          </a:xfrm>
          <a:prstGeom prst="curved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6860859" y="2150906"/>
            <a:ext cx="1113512" cy="352360"/>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smtClean="0"/>
              <a:t>接口</a:t>
            </a:r>
            <a:r>
              <a:rPr lang="en-US" altLang="zh-CN" dirty="0" smtClean="0"/>
              <a:t>1</a:t>
            </a:r>
            <a:endParaRPr lang="en-GB" dirty="0"/>
          </a:p>
        </p:txBody>
      </p:sp>
      <p:sp>
        <p:nvSpPr>
          <p:cNvPr id="39" name="矩形 38"/>
          <p:cNvSpPr/>
          <p:nvPr/>
        </p:nvSpPr>
        <p:spPr>
          <a:xfrm>
            <a:off x="6860859" y="2689383"/>
            <a:ext cx="1113512" cy="352360"/>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a:t>接口</a:t>
            </a:r>
            <a:r>
              <a:rPr lang="en-US" altLang="zh-CN" dirty="0" smtClean="0"/>
              <a:t>2</a:t>
            </a:r>
            <a:endParaRPr lang="en-GB" dirty="0"/>
          </a:p>
        </p:txBody>
      </p:sp>
      <p:sp>
        <p:nvSpPr>
          <p:cNvPr id="40" name="文本框 39"/>
          <p:cNvSpPr txBox="1"/>
          <p:nvPr/>
        </p:nvSpPr>
        <p:spPr>
          <a:xfrm>
            <a:off x="7142540" y="3263451"/>
            <a:ext cx="550151" cy="215444"/>
          </a:xfrm>
          <a:prstGeom prst="rect">
            <a:avLst/>
          </a:prstGeom>
          <a:noFill/>
        </p:spPr>
        <p:txBody>
          <a:bodyPr wrap="none" rtlCol="0">
            <a:spAutoFit/>
          </a:bodyPr>
          <a:lstStyle/>
          <a:p>
            <a:r>
              <a:rPr lang="zh-CN" altLang="en-US" sz="800" dirty="0" smtClean="0">
                <a:solidFill>
                  <a:srgbClr val="C00000"/>
                </a:solidFill>
              </a:rPr>
              <a:t>●</a:t>
            </a:r>
            <a:r>
              <a:rPr lang="zh-CN" altLang="en-US" sz="800" dirty="0">
                <a:solidFill>
                  <a:srgbClr val="C00000"/>
                </a:solidFill>
              </a:rPr>
              <a:t> </a:t>
            </a:r>
            <a:r>
              <a:rPr lang="zh-CN" altLang="en-US" sz="800" dirty="0" smtClean="0">
                <a:solidFill>
                  <a:srgbClr val="C00000"/>
                </a:solidFill>
              </a:rPr>
              <a:t>●</a:t>
            </a:r>
            <a:r>
              <a:rPr lang="zh-CN" altLang="en-US" sz="800" dirty="0">
                <a:solidFill>
                  <a:srgbClr val="C00000"/>
                </a:solidFill>
              </a:rPr>
              <a:t> ●</a:t>
            </a:r>
            <a:endParaRPr lang="zh-CN" altLang="en-US" sz="800" dirty="0">
              <a:solidFill>
                <a:srgbClr val="C00000"/>
              </a:solidFill>
            </a:endParaRPr>
          </a:p>
        </p:txBody>
      </p:sp>
      <p:sp>
        <p:nvSpPr>
          <p:cNvPr id="41" name="矩形 40"/>
          <p:cNvSpPr/>
          <p:nvPr/>
        </p:nvSpPr>
        <p:spPr>
          <a:xfrm>
            <a:off x="6860859" y="3580220"/>
            <a:ext cx="1113512" cy="352360"/>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a:t>接口</a:t>
            </a:r>
            <a:r>
              <a:rPr lang="en-US" altLang="zh-CN" dirty="0" smtClean="0"/>
              <a:t>n</a:t>
            </a:r>
            <a:endParaRPr lang="en-GB" dirty="0"/>
          </a:p>
        </p:txBody>
      </p:sp>
      <p:cxnSp>
        <p:nvCxnSpPr>
          <p:cNvPr id="43" name="曲线连接符 42"/>
          <p:cNvCxnSpPr>
            <a:stCxn id="19" idx="3"/>
            <a:endCxn id="38" idx="1"/>
          </p:cNvCxnSpPr>
          <p:nvPr/>
        </p:nvCxnSpPr>
        <p:spPr>
          <a:xfrm>
            <a:off x="5966795" y="2327086"/>
            <a:ext cx="894064" cy="12700"/>
          </a:xfrm>
          <a:prstGeom prst="curved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曲线连接符 44"/>
          <p:cNvCxnSpPr>
            <a:stCxn id="19" idx="3"/>
            <a:endCxn id="39" idx="1"/>
          </p:cNvCxnSpPr>
          <p:nvPr/>
        </p:nvCxnSpPr>
        <p:spPr>
          <a:xfrm>
            <a:off x="5966795" y="2327086"/>
            <a:ext cx="894064" cy="538477"/>
          </a:xfrm>
          <a:prstGeom prst="curved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曲线连接符 46"/>
          <p:cNvCxnSpPr>
            <a:stCxn id="19" idx="3"/>
            <a:endCxn id="41" idx="1"/>
          </p:cNvCxnSpPr>
          <p:nvPr/>
        </p:nvCxnSpPr>
        <p:spPr>
          <a:xfrm>
            <a:off x="5966795" y="2327086"/>
            <a:ext cx="894064" cy="1429314"/>
          </a:xfrm>
          <a:prstGeom prst="curved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a:xfrm>
            <a:off x="791308" y="1231191"/>
            <a:ext cx="1569660" cy="369332"/>
          </a:xfrm>
          <a:prstGeom prst="rect">
            <a:avLst/>
          </a:prstGeom>
          <a:noFill/>
        </p:spPr>
        <p:txBody>
          <a:bodyPr wrap="none" rtlCol="0">
            <a:spAutoFit/>
          </a:bodyPr>
          <a:lstStyle/>
          <a:p>
            <a:r>
              <a:rPr lang="zh-CN" altLang="en-US" b="1" dirty="0" smtClean="0">
                <a:latin typeface="微软雅黑" panose="020B0503020204020204" pitchFamily="34" charset="-122"/>
                <a:ea typeface="微软雅黑" panose="020B0503020204020204" pitchFamily="34" charset="-122"/>
              </a:rPr>
              <a:t>一、功能权限</a:t>
            </a:r>
            <a:endParaRPr lang="zh-CN" altLang="en-US" b="1" dirty="0">
              <a:latin typeface="微软雅黑" panose="020B0503020204020204" pitchFamily="34" charset="-122"/>
              <a:ea typeface="微软雅黑" panose="020B0503020204020204" pitchFamily="34" charset="-122"/>
            </a:endParaRPr>
          </a:p>
        </p:txBody>
      </p:sp>
      <p:sp>
        <p:nvSpPr>
          <p:cNvPr id="74" name="文本框 73"/>
          <p:cNvSpPr txBox="1"/>
          <p:nvPr/>
        </p:nvSpPr>
        <p:spPr>
          <a:xfrm>
            <a:off x="791308" y="4100414"/>
            <a:ext cx="1569660" cy="369332"/>
          </a:xfrm>
          <a:prstGeom prst="rect">
            <a:avLst/>
          </a:prstGeom>
          <a:noFill/>
        </p:spPr>
        <p:txBody>
          <a:bodyPr wrap="none" rtlCol="0">
            <a:spAutoFit/>
          </a:bodyPr>
          <a:lstStyle/>
          <a:p>
            <a:r>
              <a:rPr lang="zh-CN" altLang="en-US" b="1" dirty="0" smtClean="0">
                <a:latin typeface="微软雅黑" panose="020B0503020204020204" pitchFamily="34" charset="-122"/>
                <a:ea typeface="微软雅黑" panose="020B0503020204020204" pitchFamily="34" charset="-122"/>
              </a:rPr>
              <a:t>二、数据权限</a:t>
            </a:r>
            <a:endParaRPr lang="zh-CN" altLang="en-US" b="1" dirty="0">
              <a:latin typeface="微软雅黑" panose="020B0503020204020204" pitchFamily="34" charset="-122"/>
              <a:ea typeface="微软雅黑" panose="020B0503020204020204" pitchFamily="34" charset="-122"/>
            </a:endParaRPr>
          </a:p>
        </p:txBody>
      </p:sp>
      <p:graphicFrame>
        <p:nvGraphicFramePr>
          <p:cNvPr id="75" name="表格 74"/>
          <p:cNvGraphicFramePr>
            <a:graphicFrameLocks noGrp="1"/>
          </p:cNvGraphicFramePr>
          <p:nvPr/>
        </p:nvGraphicFramePr>
        <p:xfrm>
          <a:off x="1438989" y="4595173"/>
          <a:ext cx="8821634" cy="1510299"/>
        </p:xfrm>
        <a:graphic>
          <a:graphicData uri="http://schemas.openxmlformats.org/drawingml/2006/table">
            <a:tbl>
              <a:tblPr firstRow="1" bandRow="1">
                <a:tableStyleId>{5C22544A-7EE6-4342-B048-85BDC9FD1C3A}</a:tableStyleId>
              </a:tblPr>
              <a:tblGrid>
                <a:gridCol w="2350496"/>
                <a:gridCol w="6471138"/>
              </a:tblGrid>
              <a:tr h="397779">
                <a:tc>
                  <a:txBody>
                    <a:bodyPr/>
                    <a:lstStyle/>
                    <a:p>
                      <a:pPr algn="ctr"/>
                      <a:r>
                        <a:rPr lang="zh-CN" altLang="en-US" sz="1400" dirty="0" smtClean="0">
                          <a:latin typeface="微软雅黑" panose="020B0503020204020204" pitchFamily="34" charset="-122"/>
                          <a:ea typeface="微软雅黑" panose="020B0503020204020204" pitchFamily="34" charset="-122"/>
                        </a:rPr>
                        <a:t>维度</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algn="ctr"/>
                      <a:r>
                        <a:rPr lang="zh-CN" altLang="en-US" sz="1400" dirty="0" smtClean="0">
                          <a:latin typeface="微软雅黑" panose="020B0503020204020204" pitchFamily="34" charset="-122"/>
                          <a:ea typeface="微软雅黑" panose="020B0503020204020204" pitchFamily="34" charset="-122"/>
                        </a:rPr>
                        <a:t>权限内容</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r>
              <a:tr h="370840">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租户</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一个租户表示一个会员体系，不同租户会员不互通</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渠道</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租户下面可以划分不同渠道，比如大货、儿童</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pPr marL="0" marR="0" lvl="0" indent="0" algn="l" defTabSz="914400" rtl="0" eaLnBrk="1" fontAlgn="base" latinLnBrk="0" hangingPunct="1">
                        <a:lnSpc>
                          <a:spcPct val="100000"/>
                        </a:lnSpc>
                        <a:spcBef>
                          <a:spcPts val="0"/>
                        </a:spcBef>
                        <a:spcAft>
                          <a:spcPts val="0"/>
                        </a:spcAft>
                        <a:buClrTx/>
                        <a:buSzTx/>
                        <a:buFontTx/>
                        <a:buNone/>
                        <a:defRPr/>
                      </a:pPr>
                      <a:r>
                        <a:rPr lang="zh-CN" altLang="en-US" sz="1200" b="0" i="0" kern="1200" dirty="0" smtClean="0">
                          <a:solidFill>
                            <a:schemeClr val="tx1"/>
                          </a:solidFill>
                          <a:effectLst/>
                          <a:latin typeface="微软雅黑" panose="020B0503020204020204" pitchFamily="34" charset="-122"/>
                          <a:ea typeface="微软雅黑" panose="020B0503020204020204" pitchFamily="34" charset="-122"/>
                          <a:cs typeface="+mn-cs"/>
                        </a:rPr>
                        <a:t>门店</a:t>
                      </a:r>
                      <a:endPar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租户下面可以直接指定分配到门店维度的数据权限</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sp>
          <p:nvSpPr>
            <p:cNvPr id="4" name="TextBox 7"/>
            <p:cNvSpPr txBox="1"/>
            <p:nvPr/>
          </p:nvSpPr>
          <p:spPr>
            <a:xfrm>
              <a:off x="383254" y="498266"/>
              <a:ext cx="7415271" cy="523220"/>
            </a:xfrm>
            <a:prstGeom prst="rect">
              <a:avLst/>
            </a:prstGeom>
            <a:noFill/>
          </p:spPr>
          <p:txBody>
            <a:bodyPr wrap="square" rtlCol="0">
              <a:spAutoFit/>
            </a:bodyPr>
            <a:lstStyle/>
            <a:p>
              <a:pPr lvl="0"/>
              <a:r>
                <a:rPr lang="zh-CN" altLang="en-US" sz="2800" b="1" dirty="0">
                  <a:solidFill>
                    <a:prstClr val="black"/>
                  </a:solidFill>
                  <a:latin typeface="微软雅黑" panose="020B0503020204020204" pitchFamily="34" charset="-122"/>
                  <a:ea typeface="微软雅黑" panose="020B0503020204020204" pitchFamily="34" charset="-122"/>
                </a:rPr>
                <a:t>技术栈清单</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grpSp>
      <p:graphicFrame>
        <p:nvGraphicFramePr>
          <p:cNvPr id="11" name="表格 10"/>
          <p:cNvGraphicFramePr>
            <a:graphicFrameLocks noGrp="1"/>
          </p:cNvGraphicFramePr>
          <p:nvPr/>
        </p:nvGraphicFramePr>
        <p:xfrm>
          <a:off x="3366637" y="1347620"/>
          <a:ext cx="4599709" cy="4543059"/>
        </p:xfrm>
        <a:graphic>
          <a:graphicData uri="http://schemas.openxmlformats.org/drawingml/2006/table">
            <a:tbl>
              <a:tblPr firstRow="1" bandRow="1">
                <a:tableStyleId>{5C22544A-7EE6-4342-B048-85BDC9FD1C3A}</a:tableStyleId>
              </a:tblPr>
              <a:tblGrid>
                <a:gridCol w="1762171"/>
                <a:gridCol w="2837538"/>
              </a:tblGrid>
              <a:tr h="397779">
                <a:tc>
                  <a:txBody>
                    <a:bodyPr/>
                    <a:lstStyle/>
                    <a:p>
                      <a:pPr algn="ctr"/>
                      <a:r>
                        <a:rPr lang="zh-CN" altLang="en-US" sz="1400" dirty="0" smtClean="0">
                          <a:latin typeface="微软雅黑" panose="020B0503020204020204" pitchFamily="34" charset="-122"/>
                          <a:ea typeface="微软雅黑" panose="020B0503020204020204" pitchFamily="34" charset="-122"/>
                        </a:rPr>
                        <a:t>分类</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algn="ctr"/>
                      <a:r>
                        <a:rPr lang="zh-CN" altLang="en-US" sz="1400" dirty="0" smtClean="0">
                          <a:latin typeface="微软雅黑" panose="020B0503020204020204" pitchFamily="34" charset="-122"/>
                          <a:ea typeface="微软雅黑" panose="020B0503020204020204" pitchFamily="34" charset="-122"/>
                        </a:rPr>
                        <a:t>类型及版本</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r>
              <a:tr h="370840">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操作系统</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altLang="zh-CN" sz="1200" b="0" dirty="0" smtClean="0">
                          <a:solidFill>
                            <a:schemeClr val="tx1"/>
                          </a:solidFill>
                          <a:latin typeface="微软雅黑" panose="020B0503020204020204" pitchFamily="34" charset="-122"/>
                          <a:ea typeface="微软雅黑" panose="020B0503020204020204" pitchFamily="34" charset="-122"/>
                        </a:rPr>
                        <a:t>K8s  v1.23 (</a:t>
                      </a:r>
                      <a:r>
                        <a:rPr lang="zh-CN" altLang="en-US" sz="1200" b="0" dirty="0" smtClean="0">
                          <a:solidFill>
                            <a:schemeClr val="tx1"/>
                          </a:solidFill>
                          <a:latin typeface="微软雅黑" panose="020B0503020204020204" pitchFamily="34" charset="-122"/>
                          <a:ea typeface="微软雅黑" panose="020B0503020204020204" pitchFamily="34" charset="-122"/>
                        </a:rPr>
                        <a:t>预设</a:t>
                      </a:r>
                      <a:r>
                        <a:rPr lang="en-US" altLang="zh-CN" sz="1200" b="0" dirty="0" smtClean="0">
                          <a:solidFill>
                            <a:schemeClr val="tx1"/>
                          </a:solidFill>
                          <a:latin typeface="微软雅黑" panose="020B0503020204020204" pitchFamily="34" charset="-122"/>
                          <a:ea typeface="微软雅黑" panose="020B0503020204020204" pitchFamily="34" charset="-122"/>
                        </a:rPr>
                        <a:t>)</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数据库</a:t>
                      </a:r>
                      <a:r>
                        <a:rPr lang="en-US" altLang="zh-CN" sz="1200" b="0" dirty="0" smtClean="0">
                          <a:solidFill>
                            <a:schemeClr val="tx1"/>
                          </a:solidFill>
                          <a:latin typeface="微软雅黑" panose="020B0503020204020204" pitchFamily="34" charset="-122"/>
                          <a:ea typeface="微软雅黑" panose="020B0503020204020204" pitchFamily="34" charset="-122"/>
                        </a:rPr>
                        <a:t>(OLTP)</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altLang="zh-CN" sz="1200" dirty="0" smtClean="0">
                          <a:latin typeface="微软雅黑" panose="020B0503020204020204" pitchFamily="34" charset="-122"/>
                          <a:ea typeface="微软雅黑" panose="020B0503020204020204" pitchFamily="34" charset="-122"/>
                        </a:rPr>
                        <a:t>MySQL 8.0</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pPr marL="0" marR="0" lvl="0" indent="0" algn="l" defTabSz="914400" rtl="0" eaLnBrk="1" fontAlgn="base" latinLnBrk="0" hangingPunct="1">
                        <a:lnSpc>
                          <a:spcPct val="100000"/>
                        </a:lnSpc>
                        <a:spcBef>
                          <a:spcPts val="0"/>
                        </a:spcBef>
                        <a:spcAft>
                          <a:spcPts val="0"/>
                        </a:spcAft>
                        <a:buClrTx/>
                        <a:buSzTx/>
                        <a:buFontTx/>
                        <a:buNone/>
                        <a:defRPr/>
                      </a:pPr>
                      <a:r>
                        <a:rPr lang="zh-CN" altLang="en-US" sz="1200" b="0" dirty="0">
                          <a:solidFill>
                            <a:schemeClr val="tx1"/>
                          </a:solidFill>
                          <a:effectLst/>
                          <a:latin typeface="微软雅黑" panose="020B0503020204020204" pitchFamily="34" charset="-122"/>
                          <a:ea typeface="微软雅黑" panose="020B0503020204020204" pitchFamily="34" charset="-122"/>
                          <a:sym typeface="+mn-ea"/>
                        </a:rPr>
                        <a:t>数据</a:t>
                      </a:r>
                      <a:r>
                        <a:rPr lang="zh-CN" altLang="en-US" sz="1200" b="0" dirty="0" smtClean="0">
                          <a:solidFill>
                            <a:schemeClr val="tx1"/>
                          </a:solidFill>
                          <a:effectLst/>
                          <a:latin typeface="微软雅黑" panose="020B0503020204020204" pitchFamily="34" charset="-122"/>
                          <a:ea typeface="微软雅黑" panose="020B0503020204020204" pitchFamily="34" charset="-122"/>
                          <a:sym typeface="+mn-ea"/>
                        </a:rPr>
                        <a:t>库</a:t>
                      </a:r>
                      <a:r>
                        <a:rPr lang="en-US" altLang="zh-CN" sz="1200" b="0" dirty="0" smtClean="0">
                          <a:solidFill>
                            <a:schemeClr val="tx1"/>
                          </a:solidFill>
                          <a:effectLst/>
                          <a:latin typeface="微软雅黑" panose="020B0503020204020204" pitchFamily="34" charset="-122"/>
                          <a:ea typeface="微软雅黑" panose="020B0503020204020204" pitchFamily="34" charset="-122"/>
                          <a:sym typeface="+mn-ea"/>
                        </a:rPr>
                        <a:t>(OLAP)</a:t>
                      </a:r>
                      <a:endParaRPr lang="zh-CN" altLang="en-US" sz="1200" b="0" dirty="0">
                        <a:solidFill>
                          <a:schemeClr val="tx1"/>
                        </a:solidFill>
                        <a:effectLst/>
                        <a:latin typeface="微软雅黑" panose="020B0503020204020204" pitchFamily="34" charset="-122"/>
                        <a:ea typeface="微软雅黑" panose="020B0503020204020204" pitchFamily="34" charset="-122"/>
                        <a:sym typeface="+mn-ea"/>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err="1" smtClean="0">
                          <a:latin typeface="微软雅黑" panose="020B0503020204020204" pitchFamily="34" charset="-122"/>
                          <a:ea typeface="微软雅黑" panose="020B0503020204020204" pitchFamily="34" charset="-122"/>
                        </a:rPr>
                        <a:t>Clickhouse</a:t>
                      </a:r>
                      <a:r>
                        <a:rPr lang="en-US" altLang="zh-CN" sz="1200" dirty="0" smtClean="0">
                          <a:latin typeface="微软雅黑" panose="020B0503020204020204" pitchFamily="34" charset="-122"/>
                          <a:ea typeface="微软雅黑" panose="020B0503020204020204" pitchFamily="34" charset="-122"/>
                        </a:rPr>
                        <a:t> 22.3.8.39</a:t>
                      </a:r>
                      <a:endParaRPr lang="en-US" altLang="zh-CN" sz="1200" dirty="0" smtClean="0">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pPr marL="0" marR="0" lvl="0" indent="0" algn="l" defTabSz="914400" rtl="0" eaLnBrk="1" fontAlgn="base"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文件储存​</a:t>
                      </a:r>
                      <a:endPar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华为云</a:t>
                      </a:r>
                      <a:r>
                        <a:rPr lang="en-US" altLang="zh-CN" sz="1200" b="0" dirty="0" smtClean="0">
                          <a:solidFill>
                            <a:schemeClr val="tx1"/>
                          </a:solidFill>
                          <a:latin typeface="微软雅黑" panose="020B0503020204020204" pitchFamily="34" charset="-122"/>
                          <a:ea typeface="微软雅黑" panose="020B0503020204020204" pitchFamily="34" charset="-122"/>
                        </a:rPr>
                        <a:t>OBS</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pPr marL="0" marR="0" lvl="0" indent="0" algn="l" defTabSz="914400" rtl="0" eaLnBrk="1" fontAlgn="base"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缓存</a:t>
                      </a:r>
                      <a:endPar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altLang="zh-CN" sz="1200" dirty="0" err="1" smtClean="0">
                          <a:latin typeface="微软雅黑" panose="020B0503020204020204" pitchFamily="34" charset="-122"/>
                          <a:ea typeface="微软雅黑" panose="020B0503020204020204" pitchFamily="34" charset="-122"/>
                        </a:rPr>
                        <a:t>Redis</a:t>
                      </a:r>
                      <a:r>
                        <a:rPr lang="en-US" altLang="zh-CN" sz="1200" dirty="0" smtClean="0">
                          <a:latin typeface="微软雅黑" panose="020B0503020204020204" pitchFamily="34" charset="-122"/>
                          <a:ea typeface="微软雅黑" panose="020B0503020204020204" pitchFamily="34" charset="-122"/>
                        </a:rPr>
                        <a:t> 6.0</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pPr algn="l" fontAlgn="base"/>
                      <a:r>
                        <a:rPr lang="zh-CN" altLang="en-US" sz="1200" b="0" i="0" dirty="0">
                          <a:solidFill>
                            <a:schemeClr val="tx1"/>
                          </a:solidFill>
                          <a:effectLst/>
                          <a:latin typeface="微软雅黑" panose="020B0503020204020204" pitchFamily="34" charset="-122"/>
                          <a:ea typeface="微软雅黑" panose="020B0503020204020204" pitchFamily="34" charset="-122"/>
                        </a:rPr>
                        <a:t>消息队列​</a:t>
                      </a:r>
                      <a:endParaRPr lang="zh-CN" altLang="en-US" sz="1200" b="0" i="0" dirty="0">
                        <a:solidFill>
                          <a:schemeClr val="tx1"/>
                        </a:solidFill>
                        <a:effectLst/>
                        <a:latin typeface="微软雅黑" panose="020B0503020204020204" pitchFamily="34" charset="-122"/>
                        <a:ea typeface="微软雅黑" panose="020B0503020204020204" pitchFamily="34" charset="-122"/>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err="1" smtClean="0">
                          <a:latin typeface="微软雅黑" panose="020B0503020204020204" pitchFamily="34" charset="-122"/>
                          <a:ea typeface="微软雅黑" panose="020B0503020204020204" pitchFamily="34" charset="-122"/>
                        </a:rPr>
                        <a:t>RabbitMQ</a:t>
                      </a:r>
                      <a:r>
                        <a:rPr lang="en-US" altLang="zh-CN" sz="1200" dirty="0" smtClean="0">
                          <a:latin typeface="微软雅黑" panose="020B0503020204020204" pitchFamily="34" charset="-122"/>
                          <a:ea typeface="微软雅黑" panose="020B0503020204020204" pitchFamily="34" charset="-122"/>
                        </a:rPr>
                        <a:t> 3.8.16</a:t>
                      </a:r>
                      <a:endParaRPr lang="en-US" altLang="zh-CN" sz="1200" dirty="0" smtClean="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smtClean="0">
                          <a:latin typeface="微软雅黑" panose="020B0503020204020204" pitchFamily="34" charset="-122"/>
                          <a:ea typeface="微软雅黑" panose="020B0503020204020204" pitchFamily="34" charset="-122"/>
                        </a:rPr>
                        <a:t>Kafka 2.6.3</a:t>
                      </a:r>
                      <a:endParaRPr lang="en-US" altLang="zh-CN" sz="1200" dirty="0" smtClean="0">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pPr algn="l" fontAlgn="base"/>
                      <a:r>
                        <a:rPr lang="zh-CN" altLang="en-US" sz="1200" b="0" i="0" dirty="0">
                          <a:solidFill>
                            <a:schemeClr val="tx1"/>
                          </a:solidFill>
                          <a:effectLst/>
                          <a:latin typeface="微软雅黑" panose="020B0503020204020204" pitchFamily="34" charset="-122"/>
                          <a:ea typeface="微软雅黑" panose="020B0503020204020204" pitchFamily="34" charset="-122"/>
                        </a:rPr>
                        <a:t>开发语言​</a:t>
                      </a:r>
                      <a:endParaRPr lang="zh-CN" altLang="en-US" sz="1200" b="0" i="0" dirty="0">
                        <a:solidFill>
                          <a:schemeClr val="tx1"/>
                        </a:solidFill>
                        <a:effectLst/>
                        <a:latin typeface="微软雅黑" panose="020B0503020204020204" pitchFamily="34" charset="-122"/>
                        <a:ea typeface="微软雅黑" panose="020B0503020204020204" pitchFamily="34" charset="-122"/>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smtClean="0">
                          <a:latin typeface="微软雅黑" panose="020B0503020204020204" pitchFamily="34" charset="-122"/>
                          <a:ea typeface="微软雅黑" panose="020B0503020204020204" pitchFamily="34" charset="-122"/>
                        </a:rPr>
                        <a:t>Java</a:t>
                      </a:r>
                      <a:endParaRPr lang="en-US" altLang="zh-CN" sz="1200" dirty="0" smtClean="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err="1" smtClean="0">
                          <a:latin typeface="微软雅黑" panose="020B0503020204020204" pitchFamily="34" charset="-122"/>
                          <a:ea typeface="微软雅黑" panose="020B0503020204020204" pitchFamily="34" charset="-122"/>
                        </a:rPr>
                        <a:t>openJDK</a:t>
                      </a:r>
                      <a:r>
                        <a:rPr lang="en-US" altLang="zh-CN" sz="1200" dirty="0" smtClean="0">
                          <a:latin typeface="微软雅黑" panose="020B0503020204020204" pitchFamily="34" charset="-122"/>
                          <a:ea typeface="微软雅黑" panose="020B0503020204020204" pitchFamily="34" charset="-122"/>
                        </a:rPr>
                        <a:t> 17</a:t>
                      </a:r>
                      <a:endParaRPr lang="en-US" altLang="zh-CN" sz="1200" dirty="0" smtClean="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err="1" smtClean="0">
                          <a:latin typeface="微软雅黑" panose="020B0503020204020204" pitchFamily="34" charset="-122"/>
                          <a:ea typeface="微软雅黑" panose="020B0503020204020204" pitchFamily="34" charset="-122"/>
                        </a:rPr>
                        <a:t>Vue</a:t>
                      </a:r>
                      <a:r>
                        <a:rPr lang="en-US" altLang="zh-CN" sz="1200" dirty="0" smtClean="0">
                          <a:latin typeface="微软雅黑" panose="020B0503020204020204" pitchFamily="34" charset="-122"/>
                          <a:ea typeface="微软雅黑" panose="020B0503020204020204" pitchFamily="34" charset="-122"/>
                        </a:rPr>
                        <a:t> 2</a:t>
                      </a:r>
                      <a:endParaRPr lang="en-US" altLang="zh-CN" sz="1200" dirty="0" smtClean="0">
                        <a:effectLst/>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pPr algn="l" fontAlgn="base"/>
                      <a:r>
                        <a:rPr lang="zh-CN" altLang="en-US" sz="1200" b="0" i="0" dirty="0">
                          <a:solidFill>
                            <a:schemeClr val="tx1"/>
                          </a:solidFill>
                          <a:effectLst/>
                          <a:latin typeface="微软雅黑" panose="020B0503020204020204" pitchFamily="34" charset="-122"/>
                          <a:ea typeface="微软雅黑" panose="020B0503020204020204" pitchFamily="34" charset="-122"/>
                        </a:rPr>
                        <a:t>技术组件​</a:t>
                      </a:r>
                      <a:endParaRPr lang="zh-CN" altLang="en-US" sz="1200" b="0" i="0" dirty="0">
                        <a:solidFill>
                          <a:schemeClr val="tx1"/>
                        </a:solidFill>
                        <a:effectLst/>
                        <a:latin typeface="微软雅黑" panose="020B0503020204020204" pitchFamily="34" charset="-122"/>
                        <a:ea typeface="微软雅黑" panose="020B0503020204020204" pitchFamily="34" charset="-122"/>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smtClean="0">
                          <a:latin typeface="微软雅黑" panose="020B0503020204020204" pitchFamily="34" charset="-122"/>
                          <a:ea typeface="微软雅黑" panose="020B0503020204020204" pitchFamily="34" charset="-122"/>
                        </a:rPr>
                        <a:t>Spring Boot 2.7.5</a:t>
                      </a:r>
                      <a:endParaRPr lang="en-US" altLang="zh-CN" sz="1200" dirty="0" smtClean="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smtClean="0">
                          <a:latin typeface="微软雅黑" panose="020B0503020204020204" pitchFamily="34" charset="-122"/>
                          <a:ea typeface="微软雅黑" panose="020B0503020204020204" pitchFamily="34" charset="-122"/>
                        </a:rPr>
                        <a:t>Spring Cloud 3.1.4</a:t>
                      </a:r>
                      <a:endParaRPr lang="en-US" altLang="zh-CN" sz="1200" dirty="0" smtClean="0">
                        <a:latin typeface="微软雅黑" panose="020B0503020204020204" pitchFamily="34" charset="-122"/>
                        <a:ea typeface="微软雅黑" panose="020B0503020204020204" pitchFamily="34" charset="-122"/>
                      </a:endParaRPr>
                    </a:p>
                    <a:p>
                      <a:r>
                        <a:rPr lang="en-US" altLang="zh-CN" sz="1200" dirty="0" smtClean="0">
                          <a:latin typeface="微软雅黑" panose="020B0503020204020204" pitchFamily="34" charset="-122"/>
                          <a:ea typeface="微软雅黑" panose="020B0503020204020204" pitchFamily="34" charset="-122"/>
                        </a:rPr>
                        <a:t>Apollo 2.0.1</a:t>
                      </a:r>
                      <a:endParaRPr lang="en-US" altLang="zh-CN" sz="1200" dirty="0" smtClean="0">
                        <a:latin typeface="微软雅黑" panose="020B0503020204020204" pitchFamily="34" charset="-122"/>
                        <a:ea typeface="微软雅黑" panose="020B0503020204020204" pitchFamily="34" charset="-122"/>
                      </a:endParaRPr>
                    </a:p>
                    <a:p>
                      <a:r>
                        <a:rPr lang="en-US" altLang="zh-CN" sz="1200" dirty="0" err="1" smtClean="0">
                          <a:latin typeface="微软雅黑" panose="020B0503020204020204" pitchFamily="34" charset="-122"/>
                          <a:ea typeface="微软雅黑" panose="020B0503020204020204" pitchFamily="34" charset="-122"/>
                        </a:rPr>
                        <a:t>Xxl</a:t>
                      </a:r>
                      <a:r>
                        <a:rPr lang="en-US" altLang="zh-CN" sz="1200" dirty="0" smtClean="0">
                          <a:latin typeface="微软雅黑" panose="020B0503020204020204" pitchFamily="34" charset="-122"/>
                          <a:ea typeface="微软雅黑" panose="020B0503020204020204" pitchFamily="34" charset="-122"/>
                        </a:rPr>
                        <a:t>-Job 2.1.0</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pPr algn="l" fontAlgn="base"/>
                      <a:r>
                        <a:rPr lang="zh-CN" altLang="en-US" sz="1200" b="0" i="0" dirty="0" smtClean="0">
                          <a:solidFill>
                            <a:schemeClr val="tx1"/>
                          </a:solidFill>
                          <a:effectLst/>
                          <a:latin typeface="微软雅黑" panose="020B0503020204020204" pitchFamily="34" charset="-122"/>
                          <a:ea typeface="微软雅黑" panose="020B0503020204020204" pitchFamily="34" charset="-122"/>
                        </a:rPr>
                        <a:t>检索组件</a:t>
                      </a:r>
                      <a:endParaRPr lang="zh-CN" altLang="en-US" sz="1200" b="0" i="0" dirty="0">
                        <a:solidFill>
                          <a:schemeClr val="tx1"/>
                        </a:solidFill>
                        <a:effectLst/>
                        <a:latin typeface="微软雅黑" panose="020B0503020204020204" pitchFamily="34" charset="-122"/>
                        <a:ea typeface="微软雅黑" panose="020B0503020204020204" pitchFamily="34" charset="-122"/>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err="1" smtClean="0">
                          <a:latin typeface="微软雅黑" panose="020B0503020204020204" pitchFamily="34" charset="-122"/>
                          <a:ea typeface="微软雅黑" panose="020B0503020204020204" pitchFamily="34" charset="-122"/>
                        </a:rPr>
                        <a:t>Elaticsearch</a:t>
                      </a:r>
                      <a:r>
                        <a:rPr lang="en-US" altLang="zh-CN" sz="1200" dirty="0" smtClean="0">
                          <a:latin typeface="微软雅黑" panose="020B0503020204020204" pitchFamily="34" charset="-122"/>
                          <a:ea typeface="微软雅黑" panose="020B0503020204020204" pitchFamily="34" charset="-122"/>
                        </a:rPr>
                        <a:t> 7.6.2</a:t>
                      </a:r>
                      <a:endParaRPr lang="en-US" altLang="zh-CN" sz="1200" dirty="0" smtClean="0">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254" y="247144"/>
            <a:ext cx="10111874" cy="712352"/>
            <a:chOff x="383254" y="498266"/>
            <a:chExt cx="10111874" cy="712352"/>
          </a:xfrm>
        </p:grpSpPr>
        <p:grpSp>
          <p:nvGrpSpPr>
            <p:cNvPr id="3" name="组合 2"/>
            <p:cNvGrpSpPr/>
            <p:nvPr/>
          </p:nvGrpSpPr>
          <p:grpSpPr>
            <a:xfrm>
              <a:off x="395536" y="1138610"/>
              <a:ext cx="10099592" cy="72008"/>
              <a:chOff x="395536" y="483518"/>
              <a:chExt cx="10099592" cy="72008"/>
            </a:xfrm>
          </p:grpSpPr>
          <p:cxnSp>
            <p:nvCxnSpPr>
              <p:cNvPr id="5" name="直接连接符 4"/>
              <p:cNvCxnSpPr/>
              <p:nvPr/>
            </p:nvCxnSpPr>
            <p:spPr>
              <a:xfrm>
                <a:off x="395536" y="483518"/>
                <a:ext cx="100995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95536" y="483518"/>
                <a:ext cx="2196678" cy="7200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charset="-122"/>
                  <a:cs typeface="+mn-cs"/>
                </a:endParaRPr>
              </a:p>
            </p:txBody>
          </p:sp>
        </p:grpSp>
        <p:sp>
          <p:nvSpPr>
            <p:cNvPr id="4" name="TextBox 7"/>
            <p:cNvSpPr txBox="1"/>
            <p:nvPr/>
          </p:nvSpPr>
          <p:spPr>
            <a:xfrm>
              <a:off x="383254" y="498266"/>
              <a:ext cx="7415271" cy="523220"/>
            </a:xfrm>
            <a:prstGeom prst="rect">
              <a:avLst/>
            </a:prstGeom>
            <a:noFill/>
          </p:spPr>
          <p:txBody>
            <a:bodyPr wrap="square" rtlCol="0">
              <a:spAutoFit/>
            </a:bodyPr>
            <a:lstStyle/>
            <a:p>
              <a:pPr lvl="0"/>
              <a:r>
                <a:rPr lang="zh-CN" altLang="en-US" sz="2800" b="1" dirty="0">
                  <a:solidFill>
                    <a:prstClr val="black"/>
                  </a:solidFill>
                  <a:latin typeface="微软雅黑" panose="020B0503020204020204" pitchFamily="34" charset="-122"/>
                  <a:ea typeface="微软雅黑" panose="020B0503020204020204" pitchFamily="34" charset="-122"/>
                </a:rPr>
                <a:t>监控指标</a:t>
              </a:r>
              <a:r>
                <a:rPr lang="en-US" altLang="zh-CN" sz="2800" b="1" dirty="0">
                  <a:solidFill>
                    <a:prstClr val="black"/>
                  </a:solidFill>
                  <a:latin typeface="微软雅黑" panose="020B0503020204020204" pitchFamily="34" charset="-122"/>
                  <a:ea typeface="微软雅黑" panose="020B0503020204020204" pitchFamily="34" charset="-122"/>
                </a:rPr>
                <a:t>&amp;</a:t>
              </a:r>
              <a:r>
                <a:rPr lang="zh-CN" altLang="en-US" sz="2800" b="1" dirty="0">
                  <a:solidFill>
                    <a:prstClr val="black"/>
                  </a:solidFill>
                  <a:latin typeface="微软雅黑" panose="020B0503020204020204" pitchFamily="34" charset="-122"/>
                  <a:ea typeface="微软雅黑" panose="020B0503020204020204" pitchFamily="34" charset="-122"/>
                </a:rPr>
                <a:t>监控方式</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grpSp>
      <p:graphicFrame>
        <p:nvGraphicFramePr>
          <p:cNvPr id="7" name="表格 6"/>
          <p:cNvGraphicFramePr>
            <a:graphicFrameLocks noGrp="1"/>
          </p:cNvGraphicFramePr>
          <p:nvPr/>
        </p:nvGraphicFramePr>
        <p:xfrm>
          <a:off x="1377443" y="2951011"/>
          <a:ext cx="8821633" cy="1596659"/>
        </p:xfrm>
        <a:graphic>
          <a:graphicData uri="http://schemas.openxmlformats.org/drawingml/2006/table">
            <a:tbl>
              <a:tblPr firstRow="1" bandRow="1">
                <a:tableStyleId>{5C22544A-7EE6-4342-B048-85BDC9FD1C3A}</a:tableStyleId>
              </a:tblPr>
              <a:tblGrid>
                <a:gridCol w="1355883"/>
                <a:gridCol w="5179751"/>
                <a:gridCol w="2285999"/>
              </a:tblGrid>
              <a:tr h="397779">
                <a:tc>
                  <a:txBody>
                    <a:bodyPr/>
                    <a:lstStyle/>
                    <a:p>
                      <a:pPr algn="ctr"/>
                      <a:r>
                        <a:rPr lang="zh-CN" altLang="en-US" sz="1400" dirty="0" smtClean="0">
                          <a:latin typeface="微软雅黑" panose="020B0503020204020204" pitchFamily="34" charset="-122"/>
                          <a:ea typeface="微软雅黑" panose="020B0503020204020204" pitchFamily="34" charset="-122"/>
                        </a:rPr>
                        <a:t>维度</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algn="ctr"/>
                      <a:r>
                        <a:rPr lang="zh-CN" altLang="en-US" sz="1400" dirty="0" smtClean="0">
                          <a:latin typeface="微软雅黑" panose="020B0503020204020204" pitchFamily="34" charset="-122"/>
                          <a:ea typeface="微软雅黑" panose="020B0503020204020204" pitchFamily="34" charset="-122"/>
                        </a:rPr>
                        <a:t>监控指标</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algn="ctr"/>
                      <a:r>
                        <a:rPr lang="zh-CN" altLang="en-US" sz="1400" dirty="0" smtClean="0">
                          <a:latin typeface="微软雅黑" panose="020B0503020204020204" pitchFamily="34" charset="-122"/>
                          <a:ea typeface="微软雅黑" panose="020B0503020204020204" pitchFamily="34" charset="-122"/>
                        </a:rPr>
                        <a:t>监控方式</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r>
              <a:tr h="370840">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资源监控</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altLang="zh-CN" sz="1200" b="0" dirty="0" err="1" smtClean="0">
                          <a:solidFill>
                            <a:schemeClr val="tx1"/>
                          </a:solidFill>
                          <a:latin typeface="微软雅黑" panose="020B0503020204020204" pitchFamily="34" charset="-122"/>
                          <a:ea typeface="微软雅黑" panose="020B0503020204020204" pitchFamily="34" charset="-122"/>
                        </a:rPr>
                        <a:t>Cpu</a:t>
                      </a:r>
                      <a:r>
                        <a:rPr lang="zh-CN" altLang="en-US" sz="1200" b="0" dirty="0" smtClean="0">
                          <a:solidFill>
                            <a:schemeClr val="tx1"/>
                          </a:solidFill>
                          <a:latin typeface="微软雅黑" panose="020B0503020204020204" pitchFamily="34" charset="-122"/>
                          <a:ea typeface="微软雅黑" panose="020B0503020204020204" pitchFamily="34" charset="-122"/>
                        </a:rPr>
                        <a:t>利用率，内存利用率，磁盘使用率</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chemeClr val="tx1"/>
                          </a:solidFill>
                          <a:latin typeface="微软雅黑" panose="020B0503020204020204" pitchFamily="34" charset="-122"/>
                          <a:ea typeface="微软雅黑" panose="020B0503020204020204" pitchFamily="34" charset="-122"/>
                        </a:rPr>
                        <a:t>基于华为云监控组件</a:t>
                      </a:r>
                      <a:endParaRPr lang="zh-CN" altLang="en-US" sz="1200" b="0" dirty="0" smtClean="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网络监控</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带宽</a:t>
                      </a:r>
                      <a:r>
                        <a:rPr lang="zh-CN" altLang="en-US" sz="1200" b="0" smtClean="0">
                          <a:solidFill>
                            <a:schemeClr val="tx1"/>
                          </a:solidFill>
                          <a:latin typeface="微软雅黑" panose="020B0503020204020204" pitchFamily="34" charset="-122"/>
                          <a:ea typeface="微软雅黑" panose="020B0503020204020204" pitchFamily="34" charset="-122"/>
                        </a:rPr>
                        <a:t>流量</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chemeClr val="tx1"/>
                          </a:solidFill>
                          <a:latin typeface="微软雅黑" panose="020B0503020204020204" pitchFamily="34" charset="-122"/>
                          <a:ea typeface="微软雅黑" panose="020B0503020204020204" pitchFamily="34" charset="-122"/>
                        </a:rPr>
                        <a:t>基于华为云监控组件</a:t>
                      </a:r>
                      <a:endParaRPr lang="zh-CN" altLang="en-US" sz="1200" b="0" dirty="0" smtClean="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0840">
                <a:tc>
                  <a:txBody>
                    <a:bodyPr/>
                    <a:lstStyle/>
                    <a:p>
                      <a:pPr marL="0" marR="0" lvl="0" indent="0" algn="l" defTabSz="914400" rtl="0" eaLnBrk="1" fontAlgn="base" latinLnBrk="0" hangingPunct="1">
                        <a:lnSpc>
                          <a:spcPct val="100000"/>
                        </a:lnSpc>
                        <a:spcBef>
                          <a:spcPts val="0"/>
                        </a:spcBef>
                        <a:spcAft>
                          <a:spcPts val="0"/>
                        </a:spcAft>
                        <a:buClrTx/>
                        <a:buSzTx/>
                        <a:buFontTx/>
                        <a:buNone/>
                        <a:defRPr/>
                      </a:pPr>
                      <a:r>
                        <a:rPr lang="zh-CN" altLang="en-US" sz="1200" b="0" i="0" kern="1200" dirty="0" smtClean="0">
                          <a:solidFill>
                            <a:schemeClr val="tx1"/>
                          </a:solidFill>
                          <a:effectLst/>
                          <a:latin typeface="微软雅黑" panose="020B0503020204020204" pitchFamily="34" charset="-122"/>
                          <a:ea typeface="微软雅黑" panose="020B0503020204020204" pitchFamily="34" charset="-122"/>
                          <a:cs typeface="+mn-cs"/>
                        </a:rPr>
                        <a:t>应用链路监控</a:t>
                      </a:r>
                      <a:endPar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endParaRPr>
                    </a:p>
                  </a:txBody>
                  <a:tcPr marL="83080" marR="83080" marT="41540" marB="4154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请求接口，请求数量，接口响应时间，</a:t>
                      </a:r>
                      <a:r>
                        <a:rPr lang="en-US" altLang="zh-CN" sz="1200" b="0" dirty="0" smtClean="0">
                          <a:solidFill>
                            <a:schemeClr val="tx1"/>
                          </a:solidFill>
                          <a:latin typeface="微软雅黑" panose="020B0503020204020204" pitchFamily="34" charset="-122"/>
                          <a:ea typeface="微软雅黑" panose="020B0503020204020204" pitchFamily="34" charset="-122"/>
                        </a:rPr>
                        <a:t>QPS</a:t>
                      </a:r>
                      <a:r>
                        <a:rPr lang="zh-CN" altLang="en-US" sz="1200" b="0" dirty="0" smtClean="0">
                          <a:solidFill>
                            <a:schemeClr val="tx1"/>
                          </a:solidFill>
                          <a:latin typeface="微软雅黑" panose="020B0503020204020204" pitchFamily="34" charset="-122"/>
                          <a:ea typeface="微软雅黑" panose="020B0503020204020204" pitchFamily="34" charset="-122"/>
                        </a:rPr>
                        <a:t>，错误率，链路信息，异常信息，日志详情</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基于华为云监控组件</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bl>
          </a:graphicData>
        </a:graphic>
      </p:graphicFrame>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LASTSLIDEVIEWED" val="9613,1,Slide9358"/>
  <p:tag name="KSO_WPP_MARK_KEY" val="74dd0219-f219-400f-82f3-eebfa085d576"/>
  <p:tag name="COMMONDATA" val="eyJoZGlkIjoiZWIzOTM1M2Y5MGUyMTA5Mzc5ZGQwNmExMjFkZWY3MDQ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C739D"/>
        </a:solidFill>
        <a:ln>
          <a:solidFill>
            <a:srgbClr val="01244C"/>
          </a:solidFill>
        </a:ln>
      </a:spPr>
      <a:bodyPr rtlCol="0" anchor="ctr"/>
      <a:lstStyle>
        <a:defPPr algn="ctr">
          <a:defRPr lang="en-US" altLang="zh-CN" sz="1000">
            <a:solidFill>
              <a:srgbClr val="C00000"/>
            </a:solidFill>
            <a:latin typeface="微软雅黑" panose="020B0503020204020204" pitchFamily="34" charset="-122"/>
            <a:ea typeface="微软雅黑" panose="020B0503020204020204" pitchFamily="34" charset="-122"/>
          </a:defRPr>
        </a:defPPr>
      </a:lstStyle>
      <a:style>
        <a:lnRef idx="2">
          <a:schemeClr val="accent4">
            <a:shade val="50000"/>
          </a:schemeClr>
        </a:lnRef>
        <a:fillRef idx="1">
          <a:schemeClr val="accent4"/>
        </a:fillRef>
        <a:effectRef idx="0">
          <a:schemeClr val="accent4"/>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3845</Words>
  <Application>WPS Office WWO_dingtalk_20240221035043-c523bba0e7</Application>
  <PresentationFormat>宽屏</PresentationFormat>
  <Paragraphs>1097</Paragraphs>
  <Slides>17</Slides>
  <Notes>16</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17</vt:i4>
      </vt:variant>
    </vt:vector>
  </HeadingPairs>
  <TitlesOfParts>
    <vt:vector size="36" baseType="lpstr">
      <vt:lpstr>Arial</vt:lpstr>
      <vt:lpstr>宋体</vt:lpstr>
      <vt:lpstr>Wingdings</vt:lpstr>
      <vt:lpstr>微软雅黑</vt:lpstr>
      <vt:lpstr>汉仪旗黑KW 55S</vt:lpstr>
      <vt:lpstr>等线</vt:lpstr>
      <vt:lpstr>Arial</vt:lpstr>
      <vt:lpstr>等线</vt:lpstr>
      <vt:lpstr>Open Sans</vt:lpstr>
      <vt:lpstr>阿里汉仪智能黑体</vt:lpstr>
      <vt:lpstr>Georgia</vt:lpstr>
      <vt:lpstr>微软雅黑</vt:lpstr>
      <vt:lpstr>Calibri</vt:lpstr>
      <vt:lpstr>汉仪书宋二KW</vt:lpstr>
      <vt:lpstr>Kingsoft Confetti</vt:lpstr>
      <vt:lpstr>汉仪中等线KW</vt:lpstr>
      <vt:lpstr>Noto Kufi Arabic</vt:lpstr>
      <vt:lpstr>Office Theme</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Carvin YA Cui (CN - ADVS)</dc:creator>
  <cp:lastModifiedBy>苏得祥</cp:lastModifiedBy>
  <dcterms:created xsi:type="dcterms:W3CDTF">2024-04-08T08:59:12Z</dcterms:created>
  <dcterms:modified xsi:type="dcterms:W3CDTF">2024-04-08T08:59:12Z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CF1F9FAF81D948289E52F6EE01CA94B2</vt:lpwstr>
  </property>
  <property fmtid="{D5CDD505-2E9C-101B-9397-08002B2CF9AE}" pid="3" name="KSOProductBuildVer">
    <vt:lpwstr>2052-0.0.0.0</vt:lpwstr>
  </property>
</Properties>
</file>