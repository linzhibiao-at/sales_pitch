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6d3ca914af4068" /><Relationship Type="http://schemas.openxmlformats.org/officeDocument/2006/relationships/extended-properties" Target="/docProps/app.xml" Id="R8a3bcfcb86d84f57" /><Relationship Type="http://schemas.openxmlformats.org/officeDocument/2006/relationships/officeDocument" Target="/ppt/presentation.xml" Id="R9d8c2e55ea9545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fc76f32b114441"/>
  </p:sldMasterIdLst>
  <p:notesMasterIdLst>
    <p:notesMasterId xmlns:r="http://schemas.openxmlformats.org/officeDocument/2006/relationships" r:id="Ra10523cc699343ae"/>
  </p:notesMasterIdLst>
  <p:sldIdLst>
    <p:sldId xmlns:r="http://schemas.openxmlformats.org/officeDocument/2006/relationships" id="256" r:id="R2f7389735292448b"/>
    <p:sldId xmlns:r="http://schemas.openxmlformats.org/officeDocument/2006/relationships" id="257" r:id="R1a3a7ed0662442db"/>
    <p:sldId xmlns:r="http://schemas.openxmlformats.org/officeDocument/2006/relationships" id="258" r:id="R811c6d90a9c643ad"/>
    <p:sldId xmlns:r="http://schemas.openxmlformats.org/officeDocument/2006/relationships" id="259" r:id="Re0b92259531841d5"/>
    <p:sldId xmlns:r="http://schemas.openxmlformats.org/officeDocument/2006/relationships" id="260" r:id="Rbf4b15b9ddc646b6"/>
    <p:sldId xmlns:r="http://schemas.openxmlformats.org/officeDocument/2006/relationships" id="261" r:id="Ra2761c1463a74b73"/>
    <p:sldId xmlns:r="http://schemas.openxmlformats.org/officeDocument/2006/relationships" id="262" r:id="Ra66b61a077904376"/>
    <p:sldId xmlns:r="http://schemas.openxmlformats.org/officeDocument/2006/relationships" id="263" r:id="R9c9e325882d24535"/>
    <p:sldId xmlns:r="http://schemas.openxmlformats.org/officeDocument/2006/relationships" id="264" r:id="Race484b34f8e48f7"/>
    <p:sldId xmlns:r="http://schemas.openxmlformats.org/officeDocument/2006/relationships" id="265" r:id="R916b60f66c9a4f83"/>
    <p:sldId xmlns:r="http://schemas.openxmlformats.org/officeDocument/2006/relationships" id="266" r:id="R25b4daffda8a4a2d"/>
    <p:sldId xmlns:r="http://schemas.openxmlformats.org/officeDocument/2006/relationships" id="267" r:id="Re7c927a7236344d7"/>
    <p:sldId xmlns:r="http://schemas.openxmlformats.org/officeDocument/2006/relationships" id="268" r:id="Re937208c2dd84fc5"/>
    <p:sldId xmlns:r="http://schemas.openxmlformats.org/officeDocument/2006/relationships" id="269" r:id="R54caaf7469324c60"/>
    <p:sldId xmlns:r="http://schemas.openxmlformats.org/officeDocument/2006/relationships" id="270" r:id="R6e98ee6f022a43e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9086a61ae948f2" /><Relationship Type="http://schemas.openxmlformats.org/officeDocument/2006/relationships/slideMaster" Target="/ppt/slideMasters/slideMaster1.xml" Id="Rb1fc76f32b114441" /><Relationship Type="http://schemas.openxmlformats.org/officeDocument/2006/relationships/notesMaster" Target="/ppt/notesMasters/notesMaster1.xml" Id="Ra10523cc699343ae" /><Relationship Type="http://schemas.openxmlformats.org/officeDocument/2006/relationships/presProps" Target="/ppt/presProps.xml" Id="R716531c451c74b2f" /><Relationship Type="http://schemas.openxmlformats.org/officeDocument/2006/relationships/tableStyles" Target="/ppt/tableStyles.xml" Id="Rcdda6a73b26140de" /><Relationship Type="http://schemas.openxmlformats.org/officeDocument/2006/relationships/slide" Target="/ppt/slides/slide1.xml" Id="R2f7389735292448b" /><Relationship Type="http://schemas.openxmlformats.org/officeDocument/2006/relationships/slide" Target="/ppt/slides/slide2.xml" Id="R1a3a7ed0662442db" /><Relationship Type="http://schemas.openxmlformats.org/officeDocument/2006/relationships/slide" Target="/ppt/slides/slide3.xml" Id="R811c6d90a9c643ad" /><Relationship Type="http://schemas.openxmlformats.org/officeDocument/2006/relationships/slide" Target="/ppt/slides/slide4.xml" Id="Re0b92259531841d5" /><Relationship Type="http://schemas.openxmlformats.org/officeDocument/2006/relationships/slide" Target="/ppt/slides/slide5.xml" Id="Rbf4b15b9ddc646b6" /><Relationship Type="http://schemas.openxmlformats.org/officeDocument/2006/relationships/slide" Target="/ppt/slides/slide6.xml" Id="Ra2761c1463a74b73" /><Relationship Type="http://schemas.openxmlformats.org/officeDocument/2006/relationships/slide" Target="/ppt/slides/slide7.xml" Id="Ra66b61a077904376" /><Relationship Type="http://schemas.openxmlformats.org/officeDocument/2006/relationships/slide" Target="/ppt/slides/slide8.xml" Id="R9c9e325882d24535" /><Relationship Type="http://schemas.openxmlformats.org/officeDocument/2006/relationships/slide" Target="/ppt/slides/slide9.xml" Id="Race484b34f8e48f7" /><Relationship Type="http://schemas.openxmlformats.org/officeDocument/2006/relationships/slide" Target="/ppt/slides/slide10.xml" Id="R916b60f66c9a4f83" /><Relationship Type="http://schemas.openxmlformats.org/officeDocument/2006/relationships/slide" Target="/ppt/slides/slide11.xml" Id="R25b4daffda8a4a2d" /><Relationship Type="http://schemas.openxmlformats.org/officeDocument/2006/relationships/slide" Target="/ppt/slides/slide12.xml" Id="Re7c927a7236344d7" /><Relationship Type="http://schemas.openxmlformats.org/officeDocument/2006/relationships/slide" Target="/ppt/slides/slide13.xml" Id="Re937208c2dd84fc5" /><Relationship Type="http://schemas.openxmlformats.org/officeDocument/2006/relationships/slide" Target="/ppt/slides/slide14.xml" Id="R54caaf7469324c60" /><Relationship Type="http://schemas.openxmlformats.org/officeDocument/2006/relationships/slide" Target="/ppt/slides/slide15.xml" Id="R6e98ee6f022a43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3f5b58e6214b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fd3b9196d848a1" /><Relationship Type="http://schemas.openxmlformats.org/officeDocument/2006/relationships/notesMaster" Target="/ppt/notesMasters/notesMaster1.xml" Id="R67498081fde54d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80b06c61fb4e6f" /><Relationship Type="http://schemas.openxmlformats.org/officeDocument/2006/relationships/notesMaster" Target="/ppt/notesMasters/notesMaster1.xml" Id="Rb3aa62e99d5749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d815827b30493f" /><Relationship Type="http://schemas.openxmlformats.org/officeDocument/2006/relationships/notesMaster" Target="/ppt/notesMasters/notesMaster1.xml" Id="Rd6f0b68cd10141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2649751bbe45d3" /><Relationship Type="http://schemas.openxmlformats.org/officeDocument/2006/relationships/notesMaster" Target="/ppt/notesMasters/notesMaster1.xml" Id="Ree7525a2224d46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2fe930a45f4f66" /><Relationship Type="http://schemas.openxmlformats.org/officeDocument/2006/relationships/notesMaster" Target="/ppt/notesMasters/notesMaster1.xml" Id="R342a9b3395f240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1aecea64be4ae6" /><Relationship Type="http://schemas.openxmlformats.org/officeDocument/2006/relationships/notesMaster" Target="/ppt/notesMasters/notesMaster1.xml" Id="R96552b79075641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691d2322854149" /><Relationship Type="http://schemas.openxmlformats.org/officeDocument/2006/relationships/notesMaster" Target="/ppt/notesMasters/notesMaster1.xml" Id="Rc4e4944dd74d4d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d4229b5460489f" /><Relationship Type="http://schemas.openxmlformats.org/officeDocument/2006/relationships/notesMaster" Target="/ppt/notesMasters/notesMaster1.xml" Id="R39838b2f3aaa44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e82cd3de2b04ae2" /><Relationship Type="http://schemas.openxmlformats.org/officeDocument/2006/relationships/notesMaster" Target="/ppt/notesMasters/notesMaster1.xml" Id="Rcf8e3527419a42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2c2389bb86f449f" /><Relationship Type="http://schemas.openxmlformats.org/officeDocument/2006/relationships/notesMaster" Target="/ppt/notesMasters/notesMaster1.xml" Id="R3d0cb082865b4c0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748ca0e22414316" /><Relationship Type="http://schemas.openxmlformats.org/officeDocument/2006/relationships/notesMaster" Target="/ppt/notesMasters/notesMaster1.xml" Id="R19c3be27df08495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6c107f25401469b" /><Relationship Type="http://schemas.openxmlformats.org/officeDocument/2006/relationships/notesMaster" Target="/ppt/notesMasters/notesMaster1.xml" Id="R6c3705c6238e490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6ce55d5342c4df6" /><Relationship Type="http://schemas.openxmlformats.org/officeDocument/2006/relationships/notesMaster" Target="/ppt/notesMasters/notesMaster1.xml" Id="R6faf0123b149465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ae5979d75044d00" /><Relationship Type="http://schemas.openxmlformats.org/officeDocument/2006/relationships/notesMaster" Target="/ppt/notesMasters/notesMaster1.xml" Id="R8b5993e1ba9e496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0cefedece334d4c" /><Relationship Type="http://schemas.openxmlformats.org/officeDocument/2006/relationships/notesMaster" Target="/ppt/notesMasters/notesMaster1.xml" Id="R7bf1bd72a8244f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479155685c47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e959a8329346d0" /><Relationship Type="http://schemas.openxmlformats.org/officeDocument/2006/relationships/slideLayout" Target="/ppt/slideLayouts/slideLayout1.xml" Id="Rdbc87918c48c41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c87918c48c41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686ac48644c63" /><Relationship Type="http://schemas.openxmlformats.org/officeDocument/2006/relationships/image" Target="/ppt/media/image.png" Id="Recd4b1e2fc7c4ac6" /><Relationship Type="http://schemas.openxmlformats.org/officeDocument/2006/relationships/notesSlide" Target="/ppt/notesSlides/notesSlide1.xml" Id="R40ebfa9af80c45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6aa3d24f94848" /><Relationship Type="http://schemas.openxmlformats.org/officeDocument/2006/relationships/image" Target="/ppt/media/image2.png" Id="Ra7527ad0a26946c1" /><Relationship Type="http://schemas.openxmlformats.org/officeDocument/2006/relationships/notesSlide" Target="/ppt/notesSlides/notesSlide2.xml" Id="R305f552e996940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707421332434e" /><Relationship Type="http://schemas.openxmlformats.org/officeDocument/2006/relationships/notesSlide" Target="/ppt/notesSlides/notesSlide3.xml" Id="Rf151c02fb49441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e0de827c9410f" /><Relationship Type="http://schemas.openxmlformats.org/officeDocument/2006/relationships/notesSlide" Target="/ppt/notesSlides/notesSlide4.xml" Id="R0ad8b5df685e40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c46297b724786" /><Relationship Type="http://schemas.openxmlformats.org/officeDocument/2006/relationships/notesSlide" Target="/ppt/notesSlides/notesSlide5.xml" Id="R3376c738619c44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e4040636a494a" /><Relationship Type="http://schemas.openxmlformats.org/officeDocument/2006/relationships/notesSlide" Target="/ppt/notesSlides/notesSlide6.xml" Id="Rde1048d2178c42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a56a5080d4c4f" /><Relationship Type="http://schemas.openxmlformats.org/officeDocument/2006/relationships/notesSlide" Target="/ppt/notesSlides/notesSlide7.xml" Id="R61a802534e2646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be66d0daf48c0" /><Relationship Type="http://schemas.openxmlformats.org/officeDocument/2006/relationships/notesSlide" Target="/ppt/notesSlides/notesSlide8.xml" Id="Rbd35aefb8d6c4f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8a5ff7f7e405d" /><Relationship Type="http://schemas.openxmlformats.org/officeDocument/2006/relationships/notesSlide" Target="/ppt/notesSlides/notesSlide9.xml" Id="R8de0cc3eb3ca498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683c019cb40b7" /><Relationship Type="http://schemas.openxmlformats.org/officeDocument/2006/relationships/notesSlide" Target="/ppt/notesSlides/notesSlide10.xml" Id="R5a1b543f028f441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d9d355ed84a97" /><Relationship Type="http://schemas.openxmlformats.org/officeDocument/2006/relationships/notesSlide" Target="/ppt/notesSlides/notesSlide11.xml" Id="Rdb6c937e777d48f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6976d5fcc430a" /><Relationship Type="http://schemas.openxmlformats.org/officeDocument/2006/relationships/notesSlide" Target="/ppt/notesSlides/notesSlide12.xml" Id="Rf569a6ca0ee94f5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67ba1c57f4aeb" /><Relationship Type="http://schemas.openxmlformats.org/officeDocument/2006/relationships/notesSlide" Target="/ppt/notesSlides/notesSlide13.xml" Id="Rca759c62d01f4be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a1d2b54a1e44fb" /><Relationship Type="http://schemas.openxmlformats.org/officeDocument/2006/relationships/notesSlide" Target="/ppt/notesSlides/notesSlide14.xml" Id="Re989d899ccb9427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67b8373634e40" /><Relationship Type="http://schemas.openxmlformats.org/officeDocument/2006/relationships/image" Target="/ppt/media/image3.png" Id="R47769c96cedc4fa2" /><Relationship Type="http://schemas.openxmlformats.org/officeDocument/2006/relationships/notesSlide" Target="/ppt/notesSlides/notesSlide15.xml" Id="Rbfab4ff3c68648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543FBA-7F32-4265-BD2B-5E6B80F4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864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EE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8E41DE-8D33-4F17-967A-4E7F7538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-666750" y="666750"/>
            <a:ext cx="2476500" cy="24765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09550">
            <a:solidFill>
              <a:srgbClr val="EEEE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AB0863-ECC4-4B51-8699-77C25804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040000">
            <a:off x="7191375" y="666750"/>
            <a:ext cx="4000500" cy="40005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66700">
            <a:solidFill>
              <a:srgbClr val="EEEE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D5A21-29C4-4D94-9AAE-B37C15CC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7429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FILA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D8580B-C30C-40A1-BF3B-62E3C671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05125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穿搭推荐系统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09DA69-F75D-4F6B-8219-56F323AB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814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技术架构评审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573203-F43A-4FB0-92E3-221975D6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324350"/>
            <a:ext cx="423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FastAPI · ES · Milvus · LLM · 虚拟试穿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d4b1e2fc7c4ac6"/>
          <a:srcRect xmlns:a="http://schemas.openxmlformats.org/drawingml/2006/main" l="971" t="0" r="9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76925"/>
            <a:ext cx="12192000" cy="9810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E575B4-13F0-4E2E-B4C0-348B9028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4865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263738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BAA52C-D828-4D14-9312-2EC091FD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8645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EEE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B664B4-EB91-4AE8-B185-2AE26A15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-666750" y="666750"/>
            <a:ext cx="2476500" cy="24765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09550">
            <a:solidFill>
              <a:srgbClr val="EEEE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4F02B-B681-4BA6-B9F2-1A61D87C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040000">
            <a:off x="7191375" y="666750"/>
            <a:ext cx="4000500" cy="400050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266700">
            <a:solidFill>
              <a:srgbClr val="EEEE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24D0C-6559-4F72-A0A8-645EA5C2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764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Ø 项目架构及部署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311AB8-E583-4BEE-8913-231921ED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479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Ø 安全设计方案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D7F90D-9B01-40D0-B64A-FDE2E9AB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194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Ø 技术栈与运维资源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527ad0a26946c1"/>
          <a:srcRect xmlns:a="http://schemas.openxmlformats.org/drawingml/2006/main" l="971" t="0" r="9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76925"/>
            <a:ext cx="12192000" cy="9810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BE2599-488F-478C-9371-D3CA2344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4865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340104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D37ED0-ABB3-4553-9C3B-3772541B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产品内容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033EA1-096D-48FE-B11F-D885D64B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09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9C4581-3CFB-4E45-8759-F8DD464B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28650"/>
            <a:ext cx="1062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5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23B7C-118C-452C-90D9-D4CF8447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145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ANTA GROUP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09C5D0-3627-47AE-AF16-8A9ACF1A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FILA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BA1FC5-F709-4D79-8410-AC132855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579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E3CE62-F971-4D66-9801-438ABFFF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CB5029-3E08-4BCD-8DB9-F02F031A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4300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图文理解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B36DA2-5456-422A-B219-5D693299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14300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多路召回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7811BD-727C-43A6-8F63-F4C4D679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14300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排序理由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8F32CB-503C-478B-A692-674320D0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14300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搭配卡片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B899D8-A936-4B1E-8D0B-14E1BA2A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200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0BD301-3A67-42D7-88C2-4D38A607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4668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文字/图片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0BDFCE-A544-4640-8435-D47CFCFE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200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AEA38-06D8-4D82-93DE-4AD54492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4668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意图槽位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7AD837-9609-44A1-938B-AA0233FE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200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3BE5C2-F7EE-4880-8E98-777B8FEC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668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候选融合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C1F582-B0AC-4163-905B-A5326E6B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200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5F8AB4-0A90-4C01-8D5E-4F29BDA5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4668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推荐输出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5FF199-FBA6-4833-B136-30736E78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057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D72046-831F-4BE2-9472-FB436F05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266950"/>
            <a:ext cx="5486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614FCB-0848-4805-9929-7A2E0B47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66950"/>
            <a:ext cx="2743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86A503-A74D-481C-9FEE-DD1CCF93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2057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图文对话推荐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447AF0-ADFF-46D6-8AE5-3DEF09E2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43200"/>
            <a:ext cx="5486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POST /chat 通过 SSE 输出意图、召回、排序、结果进度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3D742A-F286-4297-9B22-CE087461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43200"/>
            <a:ext cx="2743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不自由生成库外货号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D6AEDB-ADA1-4A58-B734-1AA167F8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057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单品互补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E7F35E-E98C-4D2D-9328-AC68AE29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19450"/>
            <a:ext cx="5486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POST /recommend/skus 从锚点商品所在固定搭配或语义候选补齐角色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5B40F1-B385-48F1-AAB3-8357283A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19450"/>
            <a:ext cx="2743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以 sku_id 为推荐粒度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F90799-82D7-4359-B0C5-103FD893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2057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纯文本/图搭配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4D9066-C7EA-4195-B6D1-A8C90398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95700"/>
            <a:ext cx="5486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POST /recommend/outfits 支持绕过对话编排的搭配召回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464731-5CE1-4ED2-9964-9C0FDEA1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95700"/>
            <a:ext cx="2743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ES + Milvus 双检索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D6804D-D091-4BF9-B37C-DD1E6A69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057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预览与调试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6592A4-ECDB-4913-82C1-5A465CE4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71950"/>
            <a:ext cx="5486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outfits-viewer、image-debug-viewer、eval 评测页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35C0C3-B6B8-4AE7-A674-E3C32571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71950"/>
            <a:ext cx="2743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用于联调和质量回放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DEE260-740D-4A62-A4C2-348E0E88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系统定位：品牌隔离的图文穿搭推荐服务，复用微导购固定搭配与向量拼套能力，面向官网/导购场景提供可解释推荐结果。</a:t>
            </a:r>
          </a:p>
        </p:txBody>
      </p:sp>
    </p:spTree>
    <p:extLst>
      <p:ext uri="{BB962C8B-B14F-4D97-AF65-F5344CB8AC3E}">
        <p14:creationId xmlns:p14="http://schemas.microsoft.com/office/powerpoint/2010/main" val="2395888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C1798F-6524-454A-93A4-224D69A9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业务架构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1258D5-272C-4F3B-A88E-1E254F77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09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8A2E9-B13C-4877-970F-7640B672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28650"/>
            <a:ext cx="1062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5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2A479A-9176-4728-8CDE-8BE4442F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145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ANTA GROUP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B0DBD4-006C-41CB-932D-CD6FDC84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FILA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F6DEEA-45FA-490E-9045-AA0A83D1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579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EADA62-29A2-4325-B249-82905F00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触点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B2FBE4-3F7B-4CBE-ABFA-AC346C00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000125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官网/小程序</a:t>
            </a:r>
          </a:p>
          <a:p xmlns:a="http://schemas.openxmlformats.org/drawingml/2006/main">
            <a:pPr algn="ctr">
              <a:def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图文输入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978A96-761D-4A09-9960-D17C8D91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57375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导购/运营</a:t>
            </a:r>
          </a:p>
          <a:p xmlns:a="http://schemas.openxmlformats.org/drawingml/2006/main">
            <a:pPr algn="ctr">
              <a:def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搭配预览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5F2ECC-9095-47A1-8BA2-B0B8333C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14625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评测/调试</a:t>
            </a:r>
          </a:p>
          <a:p xmlns:a="http://schemas.openxmlformats.org/drawingml/2006/main">
            <a:pPr algn="ctr">
              <a:def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质量回放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D6B192-0387-4A2A-A1A4-5127341F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123950"/>
            <a:ext cx="904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业务能力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DE81D2-037C-42B8-BFA9-F4E31B2A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7907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意图解析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F23C9B-6371-4A53-8B7E-71EF7F87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33625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性别/季节/风格/场景/角色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1E21E4-AC9F-438F-AA75-12ADC628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907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搭配召回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2E8AEA-D067-4837-ACB0-F9BE5A32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33625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固定搭配、ES 拼套、向量拼套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2D902E-D24F-46B7-8E9A-56E2D877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907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排序解释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1AD563-F16C-4AC9-9DC6-7C670124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33625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规则分、模型粗排、LLM 理由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813872-9C9B-43E5-937E-6F3A8B6E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907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虚拟试穿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CA9481-0EAB-455E-B6CC-FEF99696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33625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top/pants/shoes 拼接试穿图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4C2F06-3DB7-47D2-8185-97F59AA9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123950"/>
            <a:ext cx="66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099A6F-8603-4043-BE36-2A04F41C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714500"/>
            <a:ext cx="1600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搭配卡片</a:t>
            </a:r>
          </a:p>
          <a:p xmlns:a="http://schemas.openxmlformats.org/drawingml/2006/main">
            <a:pPr algn="ctr">
              <a:def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商品列表/推荐理由/试穿图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2CCB80-70C2-471B-B68B-C35CC643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781300"/>
            <a:ext cx="1600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数据回流</a:t>
            </a:r>
          </a:p>
          <a:p xmlns:a="http://schemas.openxmlformats.org/drawingml/2006/main">
            <a:pPr algn="ctr">
              <a:def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日志/评测/缺陷检查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1398A6-4B4D-4795-BBF5-68486BA6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25730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AA9C63-1F27-47A0-9FD0-3C56189C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1145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34CE40-6C74-4E37-82DC-BCA1E503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97180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E6139E-A2EA-4F60-A30A-14F72FE6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714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3D039B-E986-492C-8B62-1AC1A18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67050"/>
            <a:ext cx="714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8DF273-69EA-4B22-A134-39CF9FB2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62500"/>
            <a:ext cx="10144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业务主线：用户图文需求 → 品牌商品池内理解与召回 → 生成可落地的整套穿搭，而不是生成不可履约的抽象建议。</a:t>
            </a:r>
          </a:p>
        </p:txBody>
      </p:sp>
    </p:spTree>
    <p:extLst>
      <p:ext uri="{BB962C8B-B14F-4D97-AF65-F5344CB8AC3E}">
        <p14:creationId xmlns:p14="http://schemas.microsoft.com/office/powerpoint/2010/main" val="17459474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8B70D7-6A58-4167-824F-7E45E96B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应用架构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8E289-7650-4B3C-8F0E-B509D09B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09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E06748-30F6-4A66-8CFB-7D39B7FF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28650"/>
            <a:ext cx="1062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5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5BB90F-D453-472B-AD30-2BDDC27C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145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ANTA GROUP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9E1AB-AA80-48AF-8504-28BD7C28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FILA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7CDB3B-8C16-45A4-AFA8-24F83B37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579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8187F-0C97-4A0D-A489-9C8833E3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3825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表现层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AEE3EF-88CA-4440-A56D-E1C5EF0C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123950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DADAD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web 调试台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0AC5A4-BA42-4505-9743-4BF4682F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123950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ADADAD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outfits-viewer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00C435-7221-4A8F-8AD0-69680DAF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123950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DADAD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image-debug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3F49C0-CC41-47B6-99B0-F5A481E8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123950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ADADAD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eval 评测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7D2BB4-86E7-4D9F-89FE-F5558DE5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66925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网关层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752339-F030-4645-BE55-EA4E2313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952625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DADAD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REST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84ED6F-7C3C-402A-955A-3299D50E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952625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ADADAD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SSE /chat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F0E9CD-54B6-448B-BDC9-E5E65D01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52625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DADAD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CORS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428661-E42D-4762-B7BD-7873C53A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52625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ADADAD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静态资源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71F6D3-4FD2-4FAA-BE97-34C5E135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956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76124F-E63B-494B-91CA-518FEC3F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781300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DADAD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RecommendService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1B93E5-49A9-4F84-A59D-4122D425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781300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ADADAD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CardBuilder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78D0E8-6CD8-41C7-934C-EEEAA31F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DADAD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TryonService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15A5CD-7F85-4F13-88CA-74F28F8F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781300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ADADAD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API Debug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B48D13-1F9F-4D3E-ADAE-1776AF41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24275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服务层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494153-6F6E-46DD-A59F-B0065BFF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609975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DADAD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IntentEngine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C8EDEE-91E2-46E1-BBC7-4B8DADFE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609975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ADADAD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OutfitRecall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FDFCF2-D931-4AA0-B963-62BAD94B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09975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DADAD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Ranking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0E9C19-D502-4974-8E37-3D2BFA56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09975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ADADAD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Retrieval Facade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D6DC31-99D7-474D-9678-15577C30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5295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6DE0DB-0467-4555-B1E5-AC9D0500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438650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DADAD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Elasticsearch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74C9AD-417A-4746-BD0A-B49CB8C5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438650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ADADAD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Milvus Cloud/Lite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CC95BC-3848-4D99-B7A1-C221EE5B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38650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DADAD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Processed JSONL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58626D-64A5-4248-82A9-DD07A8E8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38650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ADADAD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Prompt/Dict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465B35-1EC0-4D74-9450-C76692EE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40017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HTTP/JSON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33EADC-AAF3-4EB5-BDEB-735C4221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22885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SSE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F14907-2923-4DDC-9A56-1F2F2309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05752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函数调用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B0FFBF-AF11-49B5-827E-70518E2E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88620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ES/gRPC/SDK</a:t>
            </a:r>
          </a:p>
        </p:txBody>
      </p:sp>
    </p:spTree>
    <p:extLst>
      <p:ext uri="{BB962C8B-B14F-4D97-AF65-F5344CB8AC3E}">
        <p14:creationId xmlns:p14="http://schemas.microsoft.com/office/powerpoint/2010/main" val="21116928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F3983E-E4D7-4C91-9A7C-700AF062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系统架构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CECCED-3F17-41B3-9E03-8689D1E9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09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271D6C-D37A-48C4-956F-BB98690F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28650"/>
            <a:ext cx="1062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5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7F83F3-D3F8-450E-92B7-1CF5402A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145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ANTA GROUP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099E12-9DFC-4062-A64A-B2DF116F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FILA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5ADEAE-13D8-46E9-A070-4291EB33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579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440078-4D1F-46C0-845A-41151642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38200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FILA 推荐服务（FastAPI 单进程）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2E0AEE-2062-4037-B428-960B0BAB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14500"/>
            <a:ext cx="1619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API 路由</a:t>
            </a:r>
          </a:p>
          <a:p xmlns:a="http://schemas.openxmlformats.org/drawingml/2006/main">
            <a:pPr algn="ctr">
              <a:def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/chat</a:t>
            </a:r>
          </a:p>
          <a:p xmlns:a="http://schemas.openxmlformats.org/drawingml/2006/main">
            <a:pPr algn="ctr">
              <a:def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/recommend/skus</a:t>
            </a:r>
          </a:p>
          <a:p xmlns:a="http://schemas.openxmlformats.org/drawingml/2006/main">
            <a:pPr algn="ctr">
              <a:def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/recommend/outfits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C9CA1B-1A50-4ACD-A37B-FB197AA8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714500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推荐编排</a:t>
            </a:r>
          </a:p>
          <a:p xmlns:a="http://schemas.openxmlformats.org/drawingml/2006/main">
            <a:pPr algn="ctr">
              <a:def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RecommendService</a:t>
            </a:r>
          </a:p>
          <a:p xmlns:a="http://schemas.openxmlformats.org/drawingml/2006/main">
            <a:pPr algn="ctr">
              <a:def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SSE 事件流</a:t>
            </a:r>
          </a:p>
          <a:p xmlns:a="http://schemas.openxmlformats.org/drawingml/2006/main">
            <a:pPr algn="ctr">
              <a:def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会话回放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4662CC-3EF8-4EBB-BA39-AD472E82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71450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检索召回</a:t>
            </a:r>
          </a:p>
          <a:p xmlns:a="http://schemas.openxmlformats.org/drawingml/2006/main">
            <a:pPr algn="ctr">
              <a:def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SKU/Outfit Retriever</a:t>
            </a:r>
          </a:p>
          <a:p xmlns:a="http://schemas.openxmlformats.org/drawingml/2006/main">
            <a:pPr algn="ctr">
              <a:def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ES Query2ES</a:t>
            </a:r>
          </a:p>
          <a:p xmlns:a="http://schemas.openxmlformats.org/drawingml/2006/main">
            <a:pPr algn="ctr">
              <a:def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Milvus Top-K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B0B5D4-7C85-42E0-BF68-A3779376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71450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排序与解释</a:t>
            </a:r>
          </a:p>
          <a:p xmlns:a="http://schemas.openxmlformats.org/drawingml/2006/main">
            <a:pPr algn="ctr">
              <a:def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规则/模型粗排</a:t>
            </a:r>
          </a:p>
          <a:p xmlns:a="http://schemas.openxmlformats.org/drawingml/2006/main">
            <a:pPr algn="ctr">
              <a:def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LLM 排序理由</a:t>
            </a:r>
          </a:p>
          <a:p xmlns:a="http://schemas.openxmlformats.org/drawingml/2006/main">
            <a:pPr algn="ctr">
              <a:def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冲突过滤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9F9A9D-8DF2-4AFF-B896-563DBD79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714500"/>
            <a:ext cx="1619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外部 AI</a:t>
            </a:r>
          </a:p>
          <a:p xmlns:a="http://schemas.openxmlformats.org/drawingml/2006/main">
            <a:pPr algn="ctr">
              <a:def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LLM Gateway</a:t>
            </a:r>
          </a:p>
          <a:p xmlns:a="http://schemas.openxmlformats.org/drawingml/2006/main">
            <a:pPr algn="ctr">
              <a:def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Embedding Service</a:t>
            </a:r>
          </a:p>
          <a:p xmlns:a="http://schemas.openxmlformats.org/drawingml/2006/main">
            <a:pPr algn="ctr">
              <a:def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Virtual Tryon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1D147C-8007-4329-AABC-D1324E8B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0955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B64BC2-621E-42CC-8299-082C53B5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955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9E07B2-2A94-4372-A133-7E188E73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955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AC73B5-09BA-461E-977E-99173E69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955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FA370A-1950-4CA8-AFC7-7EB5CACF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099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9E9E9E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本地配置与字典</a:t>
            </a:r>
          </a:p>
          <a:p xmlns:a="http://schemas.openxmlformats.org/drawingml/2006/main">
            <a:pPr algn="ctr">
              <a:def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config.yaml / prompt / intent dictionaries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90C470-FE6B-4A1A-9F4D-7DDF0776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57550"/>
            <a:ext cx="30003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9E9E9E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在线存储</a:t>
            </a:r>
          </a:p>
          <a:p xmlns:a="http://schemas.openxmlformats.org/drawingml/2006/main">
            <a:pPr algn="ctr">
              <a:def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ES: fila-skus / fila-outfits</a:t>
            </a:r>
          </a:p>
          <a:p xmlns:a="http://schemas.openxmlformats.org/drawingml/2006/main">
            <a:pPr algn="ctr">
              <a:def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Milvus: sku_vectors / sku_text_vectors / complementary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856647-2671-4277-9F99-F445B2B3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09950"/>
            <a:ext cx="2428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9E9E9E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静态与评测页面</a:t>
            </a:r>
          </a:p>
          <a:p xmlns:a="http://schemas.openxmlformats.org/drawingml/2006/main">
            <a:pPr algn="ctr">
              <a:def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web / outfits-viewer / image-debug / eval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8D2F0C-1748-4A69-9836-602BE18B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0062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关键设计：服务以 FastAPI 为统一入口，检索、排序、理由、试穿以模块化服务封装；ES/Milvus 不可用时保留本地 JSONL fallback，便于联调与降级。</a:t>
            </a:r>
          </a:p>
        </p:txBody>
      </p:sp>
    </p:spTree>
    <p:extLst>
      <p:ext uri="{BB962C8B-B14F-4D97-AF65-F5344CB8AC3E}">
        <p14:creationId xmlns:p14="http://schemas.microsoft.com/office/powerpoint/2010/main" val="13593010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1D1FBB-BA9A-4567-88B8-D6150510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推荐流程架构图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208A6F-2079-40D3-BE13-2C83F7D7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09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2E2B74-5B9C-494B-96FE-1C22E2E7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28650"/>
            <a:ext cx="1062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5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719E76-42EF-431D-A04F-7E2A6B49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145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ANTA GROUP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9E0A9E-1AE8-4347-9A95-976C7D7D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FILA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0396D8-9197-454D-AB1F-B48A7FC6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579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832FEE-CA0B-43F6-8D41-2AC603CF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 意图解析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B9842E-9748-4081-BC5C-43E9C1A4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43100"/>
            <a:ext cx="1581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Trie 词典 + LLM fallback</a:t>
            </a:r>
          </a:p>
          <a:p xmlns:a="http://schemas.openxmlformats.org/drawingml/2006/main">
            <a:pPr algn="ctr">
              <a:defRPr sz="9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图像 top1/vote 槽位覆盖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C4CAE5-951F-4EF6-922C-F49DC662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2573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573997-7AA4-416C-8847-5B6A2570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2001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 锚点检索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D4AE76-0253-494F-A194-28C948D1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943100"/>
            <a:ext cx="1581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图片向量/文本检索</a:t>
            </a:r>
          </a:p>
          <a:p xmlns:a="http://schemas.openxmlformats.org/drawingml/2006/main">
            <a:pPr algn="ctr">
              <a:defRPr sz="9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返回 anchor SKU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B119A7-32C1-46AB-9C45-E8499D95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2573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752514-EA8C-4BCC-9E47-FC2D1A9B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2001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 多路召回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3BE3FC-E7AA-4C48-BDC1-8FD49A2A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43100"/>
            <a:ext cx="1581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固定搭配 / Query2ES</a:t>
            </a:r>
          </a:p>
          <a:p xmlns:a="http://schemas.openxmlformats.org/drawingml/2006/main">
            <a:pPr algn="ctr">
              <a:defRPr sz="9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文本向量 / 互补模型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3B9446-7198-4786-A071-75A33FCF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2573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6B7724-E6AF-4301-9DAD-AF5D03C6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2001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④ 融合粗排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9B7361-5768-41C6-B3F4-F778E0FF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43100"/>
            <a:ext cx="1581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RRF 融合去重</a:t>
            </a:r>
          </a:p>
          <a:p xmlns:a="http://schemas.openxmlformats.org/drawingml/2006/main">
            <a:pPr algn="ctr">
              <a:defRPr sz="9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规则/模型截断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D8ABA5-65FD-4841-8CB1-F1FDBEA8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12573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80EF15-83BD-498D-88FD-14135736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2001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⑤ 精排理由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ECD062-911F-44A4-8AE6-6987C852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43100"/>
            <a:ext cx="1581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LLM 排序 + 搭配级</a:t>
            </a:r>
          </a:p>
          <a:p xmlns:a="http://schemas.openxmlformats.org/drawingml/2006/main">
            <a:pPr algn="ctr">
              <a:defRPr sz="9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单品级推荐理由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116C6C-F9DF-4B53-B19A-CAE64FA7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573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E5BCA8-F483-4BFC-8946-C03DC5EC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2001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⑥ 结果输出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262C1A-BEC9-4D1E-843D-397DFA04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943100"/>
            <a:ext cx="1581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搭配卡片</a:t>
            </a:r>
          </a:p>
          <a:p xmlns:a="http://schemas.openxmlformats.org/drawingml/2006/main">
            <a:pPr algn="ctr">
              <a:defRPr sz="9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可选虚拟试穿图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0A940E-E116-4390-948F-B5F34A91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184244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召回通路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EC9B8D-CF09-4C06-9431-E364A73F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398" y="3524250"/>
            <a:ext cx="2456597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B902D5-95D6-4C5A-8BC8-A9835602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995" y="3524250"/>
            <a:ext cx="3224284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FB04C9-CD98-4B33-92B2-710C03A1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278" y="3524250"/>
            <a:ext cx="2763672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控制点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E34569-5D98-4B42-AFD5-4FD53525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67150"/>
            <a:ext cx="184244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image_vector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7FEF10-DEE8-4F8F-A431-F545D0F9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398" y="3867150"/>
            <a:ext cx="2456597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用户图/锚点 SKU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1ED19F-5604-4225-8FF9-3AC167F3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995" y="3867150"/>
            <a:ext cx="3224284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Milvus 相似 SKU → 固定搭配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595703-5B56-431F-B020-EF5F4396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278" y="3867150"/>
            <a:ext cx="2763672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相似度阈值、性别/季节过滤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611593-BA9C-47CE-A64D-293664AA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184244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query2es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C3AE1F-929F-4DD5-A717-E4B86D02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398" y="4210050"/>
            <a:ext cx="2456597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意图槽位 + 关键词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AB7AB1-A4B9-4867-A80E-AB3E5B9E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995" y="4210050"/>
            <a:ext cx="3224284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ES 属性候选 + 全局拼套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EC26FE-F293-47D8-A856-194AE68F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278" y="4210050"/>
            <a:ext cx="2763672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中类、场景域、色系规则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310282-A30B-43B7-B72C-D37FB6A8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184244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text_vector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CE9CC5-0AFC-4FEB-B64F-C01AC060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398" y="4552950"/>
            <a:ext cx="2456597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标题/关键词向量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4D741C-13C4-46B5-A529-4DCA2963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995" y="4552950"/>
            <a:ext cx="3224284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语义相近 SKU 候选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614C1D-186A-4F5E-89B3-ABD4C56F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278" y="4552950"/>
            <a:ext cx="2763672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role/gender 标量过滤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C0A231-2773-4568-8DED-7404EFEA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184244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complementary_model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17006A5-CF5D-4BE2-B1DE-1D0F5830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398" y="4895850"/>
            <a:ext cx="2456597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锚点图像/商品特征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0A69F83-4BE8-416F-A354-A6AD5A26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995" y="4895850"/>
            <a:ext cx="3224284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互补 SKU 候选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99DE595-2BCB-4CFE-9C82-68BA9778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278" y="4895850"/>
            <a:ext cx="2763672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top_k_per_role 与多样性限制</a:t>
            </a:r>
          </a:p>
        </p:txBody>
      </p:sp>
    </p:spTree>
    <p:extLst>
      <p:ext uri="{BB962C8B-B14F-4D97-AF65-F5344CB8AC3E}">
        <p14:creationId xmlns:p14="http://schemas.microsoft.com/office/powerpoint/2010/main" val="14175034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C36E9A-15BF-4197-A88C-B00002CA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数据架构图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A351F5-E49A-47DA-9826-9EACD3D5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09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D7449-0CF5-46D6-B943-019C20E8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28650"/>
            <a:ext cx="1062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5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CBFF1-ED16-44C3-952A-4F5E301E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145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ANTA GROUP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298271-1D20-410D-8E09-8ADEE492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FILA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60B7B-53B4-499E-89D7-E6AB8785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579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D87FF-1B71-45F5-9A67-7E1437AE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838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FAB6D7-34DE-4977-BFD5-7178C3E7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Hive 商品表 CSV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13C8B9-40FA-433D-8F1C-0CB299B2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微导购搭配表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EA03AA-181E-4CA7-A8B6-40B72932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289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搭配素材表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5E73DF-7789-43CA-A101-2E1F8F3A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商品图片/VLM选图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3BF012-CC72-4963-AC3A-18147D36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104900"/>
            <a:ext cx="904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ETL 处理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E01E98-AAC3-46AA-9EED-A2CBD076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0495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日更下载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0316F4-2556-43C5-8F45-0B51B7F2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3835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商品目录构建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CC3B46-D3B9-422B-9163-CBE5F2E7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7175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搭配 JSON 构建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DB2703-EFE9-48DA-951D-329D1E65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15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图片选型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7F1EFF-A1A1-4D93-9E9C-26367322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3855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数据校验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49A38E-DD84-4AA9-A2F7-0E614652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10490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索引构建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420627-6A69-44B5-8940-8D3382FB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80975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build_fila_es_index.py</a:t>
            </a:r>
          </a:p>
          <a:p xmlns:a="http://schemas.openxmlformats.org/drawingml/2006/main">
            <a:pPr algn="ctr">
              <a:defRPr sz="9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SKU / Outfit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F1FAF1-FD95-4125-8128-72F8C67A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72415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build_fila_milvus_multimodal_index.py</a:t>
            </a:r>
          </a:p>
          <a:p xmlns:a="http://schemas.openxmlformats.org/drawingml/2006/main">
            <a:pPr algn="ctr">
              <a:defRPr sz="9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图文向量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0D0B9E-A690-47F2-8646-ACF6FB54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63855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build_text_milvus_index.py</a:t>
            </a:r>
          </a:p>
          <a:p xmlns:a="http://schemas.openxmlformats.org/drawingml/2006/main">
            <a:pPr algn="ctr">
              <a:defRPr sz="9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文本向量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B57571-F122-4B65-80EF-C8EEAE95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10490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在线存储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8B44B8-3E58-45F4-9CF9-FF1317CD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504950"/>
            <a:ext cx="195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ES 单品索引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3930F8-F833-4DEF-B211-EBFCA6D1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38350"/>
            <a:ext cx="195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ES 搭配索引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B1AA82-DCFE-4F01-BC62-8D1DD47C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71750"/>
            <a:ext cx="195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Milvus 图文向量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1F969D-4F52-43E6-B4E0-D6CF6AF2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05150"/>
            <a:ext cx="195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Milvus 文本向量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84AD39-AA33-4FA4-AA24-576BEF00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38550"/>
            <a:ext cx="195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本地 JSONL fallback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361CEC-6D4D-4025-BAF5-A22C4101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479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13765D-2CF3-445A-B8FF-053F8AEC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6479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77483E-8874-4D40-914A-65BB39AD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47950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10FBEB-5123-49DB-A097-D1443245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当前离线产物：skus.jsonl 约 9,117 行；目录构建报告记录 9,786 个 SKU，图片 index/tryon 覆盖 9,749/9,786，AI 选图覆盖 8,308/9,786。</a:t>
            </a:r>
          </a:p>
        </p:txBody>
      </p:sp>
    </p:spTree>
    <p:extLst>
      <p:ext uri="{BB962C8B-B14F-4D97-AF65-F5344CB8AC3E}">
        <p14:creationId xmlns:p14="http://schemas.microsoft.com/office/powerpoint/2010/main" val="16949178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436095-EADE-44BB-A0A3-FBF04146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集成架构关系表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218968-0197-47BD-977F-C2A7FA85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09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D0B8F-826B-4DD3-99C5-199461EC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28650"/>
            <a:ext cx="1062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5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5EF1C9-93DE-4465-A674-77F97BCB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145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ANTA GROUP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FBF999-6D47-4B6B-9E4B-0503845E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FILA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B06CCF-343D-448D-A2D2-6DBE4928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579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C793E0-9D96-4F3D-8B58-43E50D4A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610067" cy="486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序号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EC2397-BF0D-4F0B-A632-761B15E2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417" y="952500"/>
            <a:ext cx="2304699" cy="486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接口/服务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74BE97-9241-465E-86CC-9EE35155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117" y="952500"/>
            <a:ext cx="1559061" cy="486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协议/方式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AE416C-BDD3-4368-9ED1-8C597792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8178" y="952500"/>
            <a:ext cx="2101344" cy="486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交互方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0ED001-CE69-4DC5-B630-FF63B32C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9522" y="952500"/>
            <a:ext cx="4473828" cy="486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744345-989D-4F17-97C2-9534AA5A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39333"/>
            <a:ext cx="610067" cy="486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EDEF48-FB71-40CF-8D1F-3FBBF696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417" y="1439333"/>
            <a:ext cx="2304699" cy="486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POST /chat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03FB3B-B6E7-49F4-A872-289CFA3C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117" y="1439333"/>
            <a:ext cx="1559061" cy="486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HTTP SSE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31C5E1-6637-4672-A6B7-CEE530C5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8178" y="1439333"/>
            <a:ext cx="2101344" cy="486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前端 → FastAPI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64D6AC-2786-4BA8-9D56-97AFB0E5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9522" y="1439333"/>
            <a:ext cx="4473828" cy="486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对话推荐主链路，逐步返回意图、召回、排序、搭配卡片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0962CE-52D3-4142-80B1-2CEB8B86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6167"/>
            <a:ext cx="610067" cy="486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6A517F-D62F-4729-8ABF-FE632F6D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417" y="1926167"/>
            <a:ext cx="2304699" cy="486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POST /recommend/skus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C3391D-9E01-4125-A74A-35203784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117" y="1926167"/>
            <a:ext cx="1559061" cy="486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HTTP JSON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D23713-DFB0-4E65-AD3D-055103C7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8178" y="1926167"/>
            <a:ext cx="2101344" cy="486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前端/调试 → FastAPI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EDA062-C90D-467F-8A92-008868E8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9522" y="1926167"/>
            <a:ext cx="4473828" cy="486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单品互补推荐，按目标 role 返回候选 SKU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C81017-80F9-4495-AFB0-54CF2D3F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13000"/>
            <a:ext cx="610067" cy="486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B977D5-7918-4041-A6D5-5F171624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417" y="2413000"/>
            <a:ext cx="2304699" cy="486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POST /recommend/outfits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F5D4F3-78FF-4706-A07E-FF83B682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117" y="2413000"/>
            <a:ext cx="1559061" cy="486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HTTP JSON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F5237A-53A9-469F-A84D-C038D29A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8178" y="2413000"/>
            <a:ext cx="2101344" cy="486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前端/调试 → FastAPI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2533AB-7899-41B7-8970-8DE269FB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9522" y="2413000"/>
            <a:ext cx="4473828" cy="486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纯文本或图文搭配召回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77D65F-F84F-47F6-96EF-69D52ADF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9833"/>
            <a:ext cx="610067" cy="486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CAA69B-9341-4AD1-AFB6-62E15B2D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417" y="2899833"/>
            <a:ext cx="2304699" cy="486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Elasticsearch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22A8F9-5099-45FE-90A7-9C3B823E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117" y="2899833"/>
            <a:ext cx="1559061" cy="486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REST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AF3522-2FCF-4DEE-8ABB-D317838B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8178" y="2899833"/>
            <a:ext cx="2101344" cy="486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FastAPI → ES 集群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49CC48-6A4B-4923-AFA3-D7FCE2BE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9522" y="2899833"/>
            <a:ext cx="4473828" cy="486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SKU 属性检索、搭配索引查询、预览浏览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44987E-0EA7-44AB-B151-D76C603B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86667"/>
            <a:ext cx="610067" cy="486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D73499-C7C5-409F-87D7-8EECF2E9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417" y="3386667"/>
            <a:ext cx="2304699" cy="486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Milvus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6D39BC-5E31-4AB2-ACA2-DB2FED44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117" y="3386667"/>
            <a:ext cx="1559061" cy="486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gRPC/HTTP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253E63-6F36-4B85-A685-9AA82F1D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8178" y="3386667"/>
            <a:ext cx="2101344" cy="486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FastAPI → 阿里云 Milvus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436813-E229-425C-87DA-3AF039E9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9522" y="3386667"/>
            <a:ext cx="4473828" cy="486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图文向量、文本向量、互补向量 Top-K 检索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03381C-A158-43D7-AB5C-0D2BA1DA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73500"/>
            <a:ext cx="610067" cy="486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CD7A05-9212-4C35-B63F-C7406D1A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417" y="3873500"/>
            <a:ext cx="2304699" cy="486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LLM Gateway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D4718B-228A-4074-A41C-A0F800B1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117" y="3873500"/>
            <a:ext cx="1559061" cy="486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OpenAI Compatible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9D218C-402D-46AB-B0AF-146A2C14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8178" y="3873500"/>
            <a:ext cx="2101344" cy="486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FastAPI → AI 平台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E0E8B6-EBD8-446C-9764-52EB7770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9522" y="3873500"/>
            <a:ext cx="4473828" cy="486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意图解析、排序打分、推荐理由、视觉理解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9C2C03C-164D-40BC-9E51-6018AD75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60333"/>
            <a:ext cx="610067" cy="486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D0D0524-19B7-4589-91F6-4095EA70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417" y="4360333"/>
            <a:ext cx="2304699" cy="486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Embedding Service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72638C2-F666-42F6-AB55-C89EFE95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117" y="4360333"/>
            <a:ext cx="1559061" cy="486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Ark SDK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0BFE7F0-70BE-4152-B759-94DFD78E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8178" y="4360333"/>
            <a:ext cx="2101344" cy="486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ETL/在线 → AI 平台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3DB691D-918C-4BA3-98E3-CE900993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9522" y="4360333"/>
            <a:ext cx="4473828" cy="486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doubao-embedding-vision，1024 维向量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8DF751F-2E65-422C-B068-BC61C236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47167"/>
            <a:ext cx="610067" cy="486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F3C75D4-6364-44A6-88BA-8F0AE853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417" y="4847167"/>
            <a:ext cx="2304699" cy="486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Virtual Tryon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21D76FF-7167-4BE4-8461-E322E28C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117" y="4847167"/>
            <a:ext cx="1559061" cy="486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HTTP Polling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A2A7316-6D1D-46BD-B442-1676D943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8178" y="4847167"/>
            <a:ext cx="2101344" cy="486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FastAPI → 试穿服务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D2E0B33-4D03-4FF6-B140-F063D534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9522" y="4847167"/>
            <a:ext cx="4473828" cy="4868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按搭配 top/pants/shoes 生成试穿效果图</a:t>
            </a:r>
          </a:p>
        </p:txBody>
      </p:sp>
    </p:spTree>
    <p:extLst>
      <p:ext uri="{BB962C8B-B14F-4D97-AF65-F5344CB8AC3E}">
        <p14:creationId xmlns:p14="http://schemas.microsoft.com/office/powerpoint/2010/main" val="1935624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AA23EA-4B08-417D-A1B1-EDD42F01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数据层明细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8CCE95-4EB4-4F97-A257-D3585B46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09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B0130B-75B0-415E-9BDD-C5EC76D8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28650"/>
            <a:ext cx="1062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5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DE64A-2D53-46CE-A48D-37C2E51C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145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ANTA GROUP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FA0B1-C90C-425F-ABBF-8FBDE2A8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FILA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2649E2-41F1-404A-833E-F95562FB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579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D47777-B5AA-4C37-90FF-C6176182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601251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B3811C-36B0-4E60-B6D1-A9CA5287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1801" y="1104900"/>
            <a:ext cx="2474661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169D12-42E9-4F9E-9646-28EAB3A2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6462" y="1104900"/>
            <a:ext cx="254744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索引/集合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F05275-BB30-4BD2-AA8F-B372232D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3907" y="1104900"/>
            <a:ext cx="3930343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关键配置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73E88F-9D5A-4A06-8B60-34BFEB9C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14475"/>
            <a:ext cx="1601251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Elasticsearch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0EB6A0-09D8-4131-A600-291E5DB6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1801" y="1514475"/>
            <a:ext cx="2474661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SKU 单品属性与搭配检索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E9AD55-DD83-4D7D-B8BD-05920828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6462" y="1514475"/>
            <a:ext cx="254744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fila-skus / fila-outfits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8A2163-14CA-4DDA-B0E0-C0FE811F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3907" y="1514475"/>
            <a:ext cx="3930343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ES 7.9.3，支持 reset / incremental / prune-orphans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725857-EA4A-4CF0-8BCF-D35B029F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1601251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Milvus 图文向量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DAAE8D-CE8D-4DE6-ABDA-80B94E66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1801" y="1924050"/>
            <a:ext cx="2474661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用户图片、商品图片语义检索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CC1777-A048-40A4-B4C0-084076A4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6462" y="1924050"/>
            <a:ext cx="254744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fila_sku_vectors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34906C-B277-4597-AC84-69ED850B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3907" y="1924050"/>
            <a:ext cx="3930343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1024 维，COSINE，生产 HNSW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7173D3-920B-4E0B-8B7A-C0CF79E8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33625"/>
            <a:ext cx="1601251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Milvus 文本向量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96414B-248D-4D99-9089-44E52C06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1801" y="2333625"/>
            <a:ext cx="2474661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标题/关键词语义拼套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68046B-D4C4-479B-9847-A42F21AD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6462" y="2333625"/>
            <a:ext cx="254744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fila_sku_text_vectors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FBF792-A3E4-436E-8ADE-956E090D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3907" y="2333625"/>
            <a:ext cx="3930343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支持 role/gender 标量过滤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256E1F-52C4-48FA-A115-CCF20384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1601251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Milvus 互补向量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27F205-6423-4A92-863D-777C6995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1801" y="2743200"/>
            <a:ext cx="2474661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互补模型召回候选单品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FE43F1-AAC2-4E3F-A83F-03EA1CB3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6462" y="2743200"/>
            <a:ext cx="254744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fila_sku_complementary_vectors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BD0FB2-7229-4922-8CB7-4942323E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3907" y="2743200"/>
            <a:ext cx="3930343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outfit-transformer embed_items 服务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56193A-1438-45F0-9B92-C2BBFBC9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52775"/>
            <a:ext cx="1601251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本地文件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D3CE49-EE81-4BAF-8F60-45B6BF23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1801" y="3152775"/>
            <a:ext cx="2474661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开发调试与兜底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3E7795-7F7D-4D8B-B809-8E98AE63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6462" y="3152775"/>
            <a:ext cx="254744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data/processed、data/preview、data/logs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5B85E1-AB5A-4050-9856-178034EC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3907" y="3152775"/>
            <a:ext cx="3930343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JSONL fallback、日志回放、索引同步状态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00C2FA-B3C2-4C0E-B5CB-187BCC5D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2074659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8ACCB5-F5E4-47E0-A0CB-5171EF63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5209" y="4048125"/>
            <a:ext cx="451012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7E4195-D08E-43B4-9D99-9BA623A0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5337" y="4048125"/>
            <a:ext cx="3968913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评审关注点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F0E6C2-AAA3-48B9-A334-95C66023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2074659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data/tables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A9911E-3152-4FAC-91BC-7D77E6CB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5209" y="4333875"/>
            <a:ext cx="451012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Hive 日更商品原始表、微导购搭配表、图片表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C7B21E-7ADD-4CEA-AB00-E548928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5337" y="4333875"/>
            <a:ext cx="3968913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字段完整性、日更发布稳定性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1FA6F3-D57B-4F71-A48D-908AB78F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19625"/>
            <a:ext cx="2074659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data/processed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A91BD6-2DC6-4440-A461-9C547A62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5209" y="4619625"/>
            <a:ext cx="451012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skus.jsonl、spu_to_skus、onsale_uptime_skus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A82880-B460-4E48-8507-2EE48C75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5337" y="4619625"/>
            <a:ext cx="3968913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SKU 粒度、上下架、角色归一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F9D415-75AB-49EB-8D5E-8A4AD4A7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05375"/>
            <a:ext cx="2074659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data/reports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F6215D-EBB8-4EC9-A4E9-2030C69D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5209" y="4905375"/>
            <a:ext cx="451012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catalog/image 质量报告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1B06BC5-A59A-4A18-A9EC-5903A3D2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5337" y="4905375"/>
            <a:ext cx="3968913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覆盖率、缺失样本、占位图过滤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01DFD6E-C880-449A-AF1F-EB4BC350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91125"/>
            <a:ext cx="2074659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data/logs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7E82F4-BE4C-4D8A-9D99-4690C7EE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5209" y="5191125"/>
            <a:ext cx="451012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推荐链路日志、会话回放、sync state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755FD8C-963C-472C-98E2-39C71331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5337" y="5191125"/>
            <a:ext cx="3968913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问题复现、增量写入幂等性</a:t>
            </a:r>
          </a:p>
        </p:txBody>
      </p:sp>
    </p:spTree>
    <p:extLst>
      <p:ext uri="{BB962C8B-B14F-4D97-AF65-F5344CB8AC3E}">
        <p14:creationId xmlns:p14="http://schemas.microsoft.com/office/powerpoint/2010/main" val="4565762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C0AF13-5BA4-49EF-B295-6962EEB4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物理部署图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9A401-A6DB-4E47-8C3C-A373C090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09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C9918-CF5D-4955-BFDA-CA3E8AA3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28650"/>
            <a:ext cx="1062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5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89AA73-AB7D-46CF-B236-F9032DD1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145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ANTA GROUP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510E0D-D45E-4214-83AB-EB197E16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FILA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FB4700-ED33-4D41-97F8-2A6DAB6C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579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FA4DE0-071E-44BB-B377-2C692120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66875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用户浏览器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C38268-AAA4-4314-BDEC-B37BA9CB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33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HTTP / SSE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7EB56D-B2FC-4118-8E5E-9F4EE72B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89547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37C8D5-B7A5-46A9-AAC5-F19073D9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76375"/>
            <a:ext cx="200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负载均衡 / API 网关</a:t>
            </a:r>
          </a:p>
          <a:p xmlns:a="http://schemas.openxmlformats.org/drawingml/2006/main">
            <a:pPr algn="ctr">
              <a:def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支持 SSE 长连接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9012E-8CC2-4E8A-BBC1-EAACB030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895475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404D72-D2BA-4748-B432-3BBEB93A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333500"/>
            <a:ext cx="2333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推荐服务容器</a:t>
            </a:r>
          </a:p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FastAPI + 静态资源</a:t>
            </a:r>
          </a:p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生产 2 容器 / 测试 1 容器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6929A3-8690-4EA8-A699-7FB9BCD8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14750"/>
            <a:ext cx="1952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ES 集群</a:t>
            </a:r>
          </a:p>
          <a:p xmlns:a="http://schemas.openxmlformats.org/drawingml/2006/main">
            <a:pPr algn="ctr">
              <a:def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2 数据节点 + 1 协调节点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83CB5B-1CC2-4F48-B622-5A5EA606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1475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阿里云 Milvus</a:t>
            </a:r>
          </a:p>
          <a:p xmlns:a="http://schemas.openxmlformats.org/drawingml/2006/main">
            <a:pPr algn="ctr">
              <a:def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Proxy/Data/Index/Query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D08F90-154B-4B79-B70F-3C76833A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0"/>
            <a:ext cx="1952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LLM Gateway</a:t>
            </a:r>
          </a:p>
          <a:p xmlns:a="http://schemas.openxmlformats.org/drawingml/2006/main">
            <a:pPr algn="ctr">
              <a:def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意图/排序/理由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4C5CD5-5E28-41B3-B020-1C234D2B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714750"/>
            <a:ext cx="1952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00000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Embedding / Tryon</a:t>
            </a:r>
          </a:p>
          <a:p xmlns:a="http://schemas.openxmlformats.org/drawingml/2006/main">
            <a:pPr algn="ctr">
              <a:def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向量化与试穿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8507F9-3254-4C0A-BD67-E922FB18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52700"/>
            <a:ext cx="-5886450" cy="100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571B7C-EFC9-4CB3-B38F-4D56850A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52700"/>
            <a:ext cx="-3219450" cy="100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EE5D74-940B-4805-94F2-34C96994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52700"/>
            <a:ext cx="-552450" cy="100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D5AEE7-93D1-49E6-BF34-2BF85AC2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52700"/>
            <a:ext cx="2114550" cy="100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4C57F1-83E6-4033-B720-109DF03B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部署原则：推荐服务无状态化，状态与检索数据沉淀在 ES/Milvus/日志；生产侧通过 2 个 4C16G 容器承载在线请求，长连接由网关和容器共同保障。</a:t>
            </a:r>
          </a:p>
        </p:txBody>
      </p:sp>
    </p:spTree>
    <p:extLst>
      <p:ext uri="{BB962C8B-B14F-4D97-AF65-F5344CB8AC3E}">
        <p14:creationId xmlns:p14="http://schemas.microsoft.com/office/powerpoint/2010/main" val="10632587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558CF1-A029-4FED-AE69-9236744E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新增资源清单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71506-C3F5-4553-9A0F-003D0BA8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09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8189B3-B36B-4EE1-A42C-38DEF082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28650"/>
            <a:ext cx="1062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5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67A311-256B-495B-9F11-BE32BE96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145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ANTA GROUP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B9C69B-7C16-46AC-82A3-30927E3F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FILA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F75CC6-EDE2-468A-91AE-9EDDF497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579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209D7-974E-4438-AD46-EBC93966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2941195" cy="4405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资源名称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D1C394-FB65-40B3-8A5E-367E2A63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1745" y="952500"/>
            <a:ext cx="1038069" cy="4405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FBE81E-D17F-47F3-BE44-DEBE72AB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814" y="952500"/>
            <a:ext cx="2508666" cy="4405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2461D5-2B81-47D9-AFBD-37AD3509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8480" y="952500"/>
            <a:ext cx="4065770" cy="4405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用途/备注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C0AF12-4589-4309-976C-E9020ABF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93031"/>
            <a:ext cx="2941195" cy="4405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FastAPI 推荐服务容器（生产）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2A6963-3BCB-4EFF-9AF0-C6AAAE18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1745" y="1393031"/>
            <a:ext cx="1038069" cy="4405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FD440A-8F9D-45C1-A17F-EB284453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814" y="1393031"/>
            <a:ext cx="2508666" cy="4405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4 Core / 16 GiB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9BCB49-3B5C-43FA-B588-0F29BD9E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8480" y="1393031"/>
            <a:ext cx="4065770" cy="4405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推荐 API、SSE 对话、静态资源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A1A2EB-87F8-4403-B5CA-439D8A40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3563"/>
            <a:ext cx="2941195" cy="4405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FastAPI 推荐服务容器（测试）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CAA0D9-0BBD-447D-B712-7E76BB2E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1745" y="1833563"/>
            <a:ext cx="1038069" cy="4405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F56F73-53CB-46B1-8550-891A5174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814" y="1833563"/>
            <a:ext cx="2508666" cy="4405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4 Core / 16 GiB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AC0311-FC9E-4BC5-AAA7-9208737C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8480" y="1833563"/>
            <a:ext cx="4065770" cy="4405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联调、评测、回归验证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83ABAA-9DA0-4733-860C-0AAC82BC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74094"/>
            <a:ext cx="2941195" cy="4405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Elasticsearch 数据节点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FD2830-D357-4ACE-8436-1301CD53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1745" y="2274094"/>
            <a:ext cx="1038069" cy="4405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62D211-FCA9-4A18-A9F6-3252F713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814" y="2274094"/>
            <a:ext cx="2508666" cy="4405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2 Core / 4 GiB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277016-C64B-4E02-8EB5-8753B2EA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8480" y="2274094"/>
            <a:ext cx="4065770" cy="4405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SKU 与 Outfit 索引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9D4BC3-B03F-4FF6-B492-D8EEC191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14625"/>
            <a:ext cx="2941195" cy="4405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Elasticsearch 协调节点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391842-DE80-4026-9FC5-5B6D5FF3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1745" y="2714625"/>
            <a:ext cx="1038069" cy="4405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B52133-A69B-4607-9658-9C6C36D3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814" y="2714625"/>
            <a:ext cx="2508666" cy="4405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2 Core / 4 GiB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33D77C-78F0-4819-8E39-ABB8BCB5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8480" y="2714625"/>
            <a:ext cx="4065770" cy="4405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查询协调与负载分担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C4D1A5-3A87-424B-8330-CE3E9D6C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55156"/>
            <a:ext cx="2941195" cy="4405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Milvus 元数据/Proxy/Data Node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C3D9E2-2D58-48DE-9870-B692AA1B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1745" y="3155156"/>
            <a:ext cx="1038069" cy="4405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各 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BE9089-E71F-4AC3-AF36-CA9AABC1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814" y="3155156"/>
            <a:ext cx="2508666" cy="4405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2 Core / 4 GiB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C9EFA5-4E82-4095-BA6C-33DC74BB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8480" y="3155156"/>
            <a:ext cx="4065770" cy="4405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向量服务基础组件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7FA7C3-70A4-4095-A9A1-86BE00F2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95688"/>
            <a:ext cx="2941195" cy="4405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Milvus Index Node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7875C5-71C9-4DA0-8C63-FDAF09D6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1745" y="3595688"/>
            <a:ext cx="1038069" cy="4405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7C7720-BD50-43EC-8613-B300C24B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814" y="3595688"/>
            <a:ext cx="2508666" cy="4405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性能型 4 Core / 8 GiB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635337-21A4-4C7A-A269-D71F0E25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8480" y="3595688"/>
            <a:ext cx="4065770" cy="4405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HNSW 索引构建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1964AC-E641-4945-8DE5-A3E96566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36219"/>
            <a:ext cx="2941195" cy="4405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Milvus Query Node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1DD58B-B675-44F1-9B13-D1CEB983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1745" y="4036219"/>
            <a:ext cx="1038069" cy="4405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07C35E-9E42-4C97-B260-5C443033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814" y="4036219"/>
            <a:ext cx="2508666" cy="4405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性能型 4 Core / 8 GiB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46F223-6161-42E5-B006-07F0F470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8480" y="4036219"/>
            <a:ext cx="4065770" cy="4405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在线向量检索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8A0979-D69B-4F18-BB13-F53D7BA9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00600"/>
            <a:ext cx="2462530" cy="204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外部依赖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BAC5CBA-2B82-4A0B-9FEF-07E5E624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3080" y="4800600"/>
            <a:ext cx="5628640" cy="204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用途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A7BE9A-E678-484E-8A38-E342EF39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1720" y="4800600"/>
            <a:ext cx="2462530" cy="204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调用方式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9A0FBA-F4BE-4FEA-8D61-D6C1E875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05388"/>
            <a:ext cx="2462530" cy="204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LLM Gateway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86395C2-3E0D-4346-BF81-65B98E8E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3080" y="5005388"/>
            <a:ext cx="5628640" cy="204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意图解析、视觉理解、排序打分、推荐理由生成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4814DDC-1E74-4A75-9F89-CE44AA42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1720" y="5005388"/>
            <a:ext cx="2462530" cy="204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OpenAI Compatible API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D226359-13FF-46A9-ADB3-E78CC679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0175"/>
            <a:ext cx="2462530" cy="204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Embedding 服务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1D33D49-AA26-40AC-8749-109A0700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3080" y="5210175"/>
            <a:ext cx="5628640" cy="204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图文/文本向量生成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A05CF20-A70D-446B-8DDD-14042FC7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1720" y="5210175"/>
            <a:ext cx="2462530" cy="204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Ark SDK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DBFD18F-0007-47B9-BE71-24BDDDBC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4963"/>
            <a:ext cx="2462530" cy="204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Hive 商品表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53F29D3-7094-4410-924F-CA7E5B27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3080" y="5414963"/>
            <a:ext cx="5628640" cy="204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商品与搭配日更数据源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BE05A6B-2720-4833-9AB9-D825E5EB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1720" y="5414963"/>
            <a:ext cx="2462530" cy="204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JDBC / CSV 下载</a:t>
            </a:r>
          </a:p>
        </p:txBody>
      </p:sp>
    </p:spTree>
    <p:extLst>
      <p:ext uri="{BB962C8B-B14F-4D97-AF65-F5344CB8AC3E}">
        <p14:creationId xmlns:p14="http://schemas.microsoft.com/office/powerpoint/2010/main" val="13187488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EF34F6-1DFB-46B6-B658-88DD64E6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K8S资源清单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1DCFA1-0106-40B4-9321-7F2E7D2A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09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5EE09-D011-445D-B2C5-3A834B81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28650"/>
            <a:ext cx="1062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5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CC8666-825A-4165-AA24-DE191CA1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145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ANTA GROUP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09747-8CB2-43B3-885C-739A2502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FILA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7205FC-2C9B-4A31-A501-1EF57533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579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E4110D-0ED5-4D54-B067-58BECF46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71550"/>
            <a:ext cx="2532185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服务名称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3FC977-68EA-437A-8C9D-1122CA17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135" y="971550"/>
            <a:ext cx="1107831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9059F1-8559-41A7-B4C3-827D3E5F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965" y="971550"/>
            <a:ext cx="1266092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是否核心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A8E88B-3C7F-452B-B302-56F11E50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058" y="971550"/>
            <a:ext cx="5380892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资源/说明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D98AD3-F73D-4F39-B465-762BB3C2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2183"/>
            <a:ext cx="2532185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fila-recommend-api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7BDBF-51B9-4D34-9AEC-D993ADF8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135" y="1382183"/>
            <a:ext cx="1107831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5BDF5E-33ED-4DA7-9AD7-E4F0C34A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965" y="1382183"/>
            <a:ext cx="1266092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B11603-01D0-440A-B882-14F486FE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058" y="1382183"/>
            <a:ext cx="5380892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FastAPI 在线推荐服务，承载 /chat SSE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A30FAA-A12B-4D94-8323-A256FDC6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2817"/>
            <a:ext cx="2532185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frontend-static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1BCAD9-DF79-4D74-A100-884B7B69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135" y="1792817"/>
            <a:ext cx="1107831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随 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4E4663-492D-4AD9-8EE8-8E80783E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965" y="1792817"/>
            <a:ext cx="1266092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F621DC-85A6-424C-A5AB-114F2E31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058" y="1792817"/>
            <a:ext cx="5380892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web、outfits-viewer、image-debug、eval 静态文件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84B795-FC4E-45A8-8142-66F3D826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3450"/>
            <a:ext cx="2532185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etl-job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98359A-1260-42F3-B0CA-30F93EBA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135" y="2203450"/>
            <a:ext cx="1107831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847C04-9E27-4E23-9605-8AD3C831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965" y="2203450"/>
            <a:ext cx="1266092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10CF0B-66F6-49C7-B827-99BC7607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058" y="2203450"/>
            <a:ext cx="5380892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日更下载、catalog、select_images、outfits 构建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0AC234-8095-4811-94A0-7EA612B0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14083"/>
            <a:ext cx="2532185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es-index-job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2B016B-DA0C-43BD-96F8-39099031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135" y="2614083"/>
            <a:ext cx="1107831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176AD2-3693-41CA-B9FD-0BDE51FE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965" y="2614083"/>
            <a:ext cx="1266092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F78EC9-FCC4-4DCB-8CEC-F4E900A5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058" y="2614083"/>
            <a:ext cx="5380892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build_fila_es_index.py，支持增量与孤儿文档清理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5B1678-42F8-46A1-9AD8-C6D9D65D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4717"/>
            <a:ext cx="2532185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milvus-image-index-job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D19F1D-F5A3-426B-A4D5-EA24B4FA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135" y="3024717"/>
            <a:ext cx="1107831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6D1CE4-F057-41D0-A915-AF2F871B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965" y="3024717"/>
            <a:ext cx="1266092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4377C3-5239-4A2F-B4BB-0DDE822F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058" y="3024717"/>
            <a:ext cx="5380892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build_fila_milvus_multimodal_index.py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A5CA6D-AD4D-4592-9543-36ABD98B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5350"/>
            <a:ext cx="2532185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milvus-text-index-job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30EE5C-2804-48D4-BDB5-CCADBACD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135" y="3435350"/>
            <a:ext cx="1107831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A0A0CF-62BC-456F-8176-8E7DA909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965" y="3435350"/>
            <a:ext cx="1266092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5145AF-EF92-4572-BCE9-19910D34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058" y="3435350"/>
            <a:ext cx="5380892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build_text_milvus_index.py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13B841-6554-4A2E-8372-5A07215D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5983"/>
            <a:ext cx="2532185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monitor-log-export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37253E-A986-403E-B6C4-5F5A5DD1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135" y="3845983"/>
            <a:ext cx="1107831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3D8B64-6B17-4970-8BE3-FD94193C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965" y="3845983"/>
            <a:ext cx="1266092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否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69631A-8718-4D4D-937D-75EB8D07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058" y="3845983"/>
            <a:ext cx="5380892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结构化日志与链路耗时采集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C7B19C-3BF2-496A-BED9-B067C91A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56617"/>
            <a:ext cx="2532185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replay/eval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3DF5EB-B8C5-44FB-820D-BEC63258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135" y="4256617"/>
            <a:ext cx="1107831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按需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CB5DB79-A577-4F06-82B6-ACC2C667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965" y="4256617"/>
            <a:ext cx="1266092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否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7B56C9-843E-41BB-9CCE-E8BCC9BA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058" y="4256617"/>
            <a:ext cx="5380892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评测样本回放与人工 review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E3D5CAA-F9ED-4EA3-BABA-CD265A95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958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环境变量：ANTA_LLM_API_KEY、ARK_API_KEY、ES_HOSTS/ES_USERNAME/ES_PASSWORD、FILA_MILVUS_MODE/URI/TOKEN、HIVE_USERNAME/HIVE_PASSWORD。</a:t>
            </a:r>
          </a:p>
        </p:txBody>
      </p:sp>
    </p:spTree>
    <p:extLst>
      <p:ext uri="{BB962C8B-B14F-4D97-AF65-F5344CB8AC3E}">
        <p14:creationId xmlns:p14="http://schemas.microsoft.com/office/powerpoint/2010/main" val="14439513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B41117-5A19-4112-9192-FE2A1839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14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安全设计方案 / 监控指标&amp;监控方式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B4AA9-9D3B-4720-9BBA-3E91F512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09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9C23C8-37B3-484C-A538-EAA5E007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28650"/>
            <a:ext cx="1062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5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742D7-821C-4FAA-A44C-9C4A555D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145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ANTA GROUP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F6A31-CCF6-43EE-8F28-99396A85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714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FILA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5C4C41-81BD-4744-9934-62587E11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579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80518-7D2B-4152-99A4-29EB0528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"/>
            <a:ext cx="1024387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6813B1-B7E9-4D7B-85D6-0137ECD6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637" y="952500"/>
            <a:ext cx="2356090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E22382-4B1D-4241-8705-C3192941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6726" y="952500"/>
            <a:ext cx="2048774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评审关注点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7321B5-60E0-4BEF-B822-719FD09F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44625"/>
            <a:ext cx="1024387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接口安全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A29626-A036-4F9C-9A3A-55340624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637" y="1444625"/>
            <a:ext cx="2356090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对外暴露网关入口；内部 ES/Milvus/LLM 走内网服务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B515D7-F303-4071-BC0D-495B73E4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6726" y="1444625"/>
            <a:ext cx="2048774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SSE 长连接、CORS、鉴权策略需与官网网关对齐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9256C6-2BA1-491D-AC77-14B224B9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36750"/>
            <a:ext cx="1024387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密钥安全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3C71BE-2CD8-4F9D-92E6-FF56CC7A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637" y="1936750"/>
            <a:ext cx="2356090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API Key、ES/Milvus 密码通过环境变量注入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137796-DC2A-4603-ADA0-D19829A8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6726" y="1936750"/>
            <a:ext cx="2048774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禁止提交到 config.yaml 与日志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F290FB-98AE-4D82-9506-457D0F53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28875"/>
            <a:ext cx="1024387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数据边界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DF7B0C-7407-4CF7-8B65-A7A127EB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637" y="2428875"/>
            <a:ext cx="2356090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推荐结果只来自既有 SKU 和固定/拼套候选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C5CD74-427B-41E9-A7BE-FC8B0EEB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6726" y="2428875"/>
            <a:ext cx="2048774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避免库外货号、下架货号、占位图片输出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DEB6D8-E2B3-4281-A806-695E4FC9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21000"/>
            <a:ext cx="1024387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日志审计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6D656F-31A8-4279-918B-03792C80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637" y="2921000"/>
            <a:ext cx="2356090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JSONL 结构化日志、会话 replay、debug_api_io 脱敏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4B980B-1016-4220-A03A-ED0D5AFD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6726" y="2921000"/>
            <a:ext cx="2048774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图片 base64、密钥和长 prompt 截断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603221-CD28-4A1F-BEB4-DAD5914D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13125"/>
            <a:ext cx="1024387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备份恢复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67FEC9-6A1A-46DD-BD9A-2750E1EF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637" y="3413125"/>
            <a:ext cx="2356090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ES/Milvus 可由 data/processed 与 ETL 脚本重建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A75773-6EE7-48AE-AC08-76285BDF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6726" y="3413125"/>
            <a:ext cx="2048774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保留日更快照与索引同步状态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A682CB-E25E-4A08-B818-0E73B056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952500"/>
            <a:ext cx="1105958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1FE4A9-375B-4421-87B9-1843ADF1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7208" y="952500"/>
            <a:ext cx="2312458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监控方式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BF1895-8F42-497C-84E2-BC039E42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9667" y="952500"/>
            <a:ext cx="2010833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告警建议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265AAD-AF54-4695-87F2-3DF33B23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44625"/>
            <a:ext cx="1105958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接口可用性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08ADF9-DCCB-4837-9D20-D59B8B94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7208" y="1444625"/>
            <a:ext cx="2312458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/health、网关 5xx、SSE 中断率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96C299-D933-4E5C-A6BD-D4D3E312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9667" y="1444625"/>
            <a:ext cx="2010833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连续异常或 P95 超阈值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C357C1-4AFB-4917-9BFF-2BBFCF57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36750"/>
            <a:ext cx="1105958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推荐链路耗时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4FE167-3F22-4D30-9C9A-2CB645EA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7208" y="1936750"/>
            <a:ext cx="2312458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intent / recall / rank / reason / tryon 分段日志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FCDBF5-B2C4-447F-A1B8-46BD3594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9667" y="1936750"/>
            <a:ext cx="2010833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单段超时与总耗时超阈值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E2FD7B-57D3-4B4E-882C-C47C82D8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28875"/>
            <a:ext cx="1105958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检索质量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D3E9DF-2535-4596-B539-8AFC34D0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7208" y="2428875"/>
            <a:ext cx="2312458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ES 命中数、Milvus topK、召回后去重数量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DA1F55-37D2-43B2-8BB5-AAE48581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9667" y="2428875"/>
            <a:ext cx="2010833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候选为空、topK 低于阈值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4F88C7-E1D2-4B5F-8A32-D2D8CF5B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21000"/>
            <a:ext cx="1105958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数据质量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069F75A-806D-4289-8157-BED62B2D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7208" y="2921000"/>
            <a:ext cx="2312458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catalog/image 质量报告、缺失图样本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57F66B-E414-40DE-89FD-22E9E70C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9667" y="2921000"/>
            <a:ext cx="2010833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覆盖率下降、占位图比例升高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D45DC8-E624-4A69-92E6-9D34D5E4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13125"/>
            <a:ext cx="1105958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外部依赖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0D5E3A-F261-44D9-AA35-E2CF5041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7208" y="3413125"/>
            <a:ext cx="2312458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LLM/Embedding/Tryon 调用错误率与超时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76D7949-3BCB-4CD4-87C6-659AFCBA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9667" y="3413125"/>
            <a:ext cx="2010833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9F9F9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降级到规则排序或跳过试穿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A029F05-2520-4CFD-A1FE-4093B475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结论：当前架构已覆盖在线推荐、离线日更、可观测与降级路径；上线前重点补齐网关鉴权、资源告警阈值、ES/Milvus 重建演练和数据质量准入门槛。</a:t>
            </a:r>
          </a:p>
        </p:txBody>
      </p:sp>
    </p:spTree>
    <p:extLst>
      <p:ext uri="{BB962C8B-B14F-4D97-AF65-F5344CB8AC3E}">
        <p14:creationId xmlns:p14="http://schemas.microsoft.com/office/powerpoint/2010/main" val="159096374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769c96cedc4fa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9A3C86-79F8-4084-BEE6-21A4C1E2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4865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122217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2026-07-03T09:33:00.4370000Z</dcterms:created>
  <dcterms:modified xsi:type="dcterms:W3CDTF">2026-07-03T09:33:00.4370000Z</dcterms:modified>
</coreProperties>
</file>