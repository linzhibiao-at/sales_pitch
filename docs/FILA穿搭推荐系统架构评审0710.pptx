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3"/>
    <p:sldId id="257" r:id="rId4"/>
    <p:sldId id="258" r:id="rId5"/>
    <p:sldId id="259" r:id="rId6"/>
    <p:sldId id="270" r:id="rId7"/>
    <p:sldId id="271" r:id="rId8"/>
    <p:sldId id="264" r:id="rId9"/>
    <p:sldId id="266" r:id="rId10"/>
    <p:sldId id="267" r:id="rId11"/>
    <p:sldId id="27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enny Liu" initials="BL" lastIdx="3" clrIdx="0"/>
  <p:cmAuthor id="2" name="User" initials="U" lastIdx="1" clrIdx="1"/>
  <p:cmAuthor id="3" name="李晓鸥" initials="李晓鸥" lastIdx="2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17B"/>
    <a:srgbClr val="FF7D86"/>
    <a:srgbClr val="D6000F"/>
    <a:srgbClr val="FF4B58"/>
    <a:srgbClr val="FF3745"/>
    <a:srgbClr val="FF1929"/>
    <a:srgbClr val="D70000"/>
    <a:srgbClr val="929292"/>
    <a:srgbClr val="D7000F"/>
    <a:srgbClr val="FF5B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33" autoAdjust="0"/>
    <p:restoredTop sz="96433" autoAdjust="0"/>
  </p:normalViewPr>
  <p:slideViewPr>
    <p:cSldViewPr snapToGrid="0">
      <p:cViewPr varScale="1">
        <p:scale>
          <a:sx n="114" d="100"/>
          <a:sy n="114" d="100"/>
        </p:scale>
        <p:origin x="612" y="96"/>
      </p:cViewPr>
      <p:guideLst/>
    </p:cSldViewPr>
  </p:slideViewPr>
  <p:outlineViewPr>
    <p:cViewPr>
      <p:scale>
        <a:sx n="33" d="100"/>
        <a:sy n="33" d="100"/>
      </p:scale>
      <p:origin x="0" y="-1806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-3864" y="-90"/>
      </p:cViewPr>
      <p:guideLst>
        <p:guide orient="horz" pos="2880"/>
        <p:guide pos="213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45C758-E5FE-4368-A8A3-B749530A29D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C5DCA2-2C6F-4E70-A715-0F66E8866AD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4AF4DB-4C47-4782-A2E4-AF0DC385DFEF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2B52D5-0F10-409C-88A1-07E8733E16BA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浅色风格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"/>
            <a:ext cx="12192000" cy="685628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5980" y="6202850"/>
            <a:ext cx="7940040" cy="6353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浅色风格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/>
          <p:cNvSpPr>
            <a:spLocks noGrp="1" noChangeAspect="1"/>
          </p:cNvSpPr>
          <p:nvPr>
            <p:ph type="pic" sz="quarter" idx="10"/>
          </p:nvPr>
        </p:nvSpPr>
        <p:spPr>
          <a:xfrm>
            <a:off x="0" y="0"/>
            <a:ext cx="12192000" cy="6197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0" y="6195701"/>
            <a:ext cx="12192000" cy="662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5980" y="6202850"/>
            <a:ext cx="7940040" cy="6353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浅色风格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8957" y="207102"/>
            <a:ext cx="789286" cy="4723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浅色风格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浅色风格末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5980" y="6202850"/>
            <a:ext cx="7940040" cy="6353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浅色风格正文页">
    <p:bg>
      <p:bgPr>
        <a:gradFill>
          <a:gsLst>
            <a:gs pos="0">
              <a:schemeClr val="bg1">
                <a:tint val="93000"/>
                <a:satMod val="150000"/>
                <a:shade val="98000"/>
                <a:lumMod val="102000"/>
              </a:schemeClr>
            </a:gs>
            <a:gs pos="50000">
              <a:schemeClr val="bg1">
                <a:tint val="98000"/>
                <a:satMod val="130000"/>
                <a:shade val="90000"/>
                <a:lumMod val="0"/>
                <a:lumOff val="100000"/>
              </a:schemeClr>
            </a:gs>
            <a:gs pos="59000">
              <a:schemeClr val="bg1">
                <a:alpha val="46000"/>
                <a:lumMod val="0"/>
                <a:lumOff val="100000"/>
              </a:schemeClr>
            </a:gs>
            <a:gs pos="100000">
              <a:schemeClr val="bg1">
                <a:shade val="63000"/>
                <a:satMod val="120000"/>
                <a:alpha val="4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052" y="60539"/>
            <a:ext cx="1551631" cy="970701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chemeClr val="bg1">
                <a:tint val="93000"/>
                <a:satMod val="150000"/>
                <a:shade val="98000"/>
                <a:lumMod val="100000"/>
              </a:schemeClr>
            </a:gs>
            <a:gs pos="100000">
              <a:srgbClr val="E2E2E4"/>
            </a:gs>
            <a:gs pos="68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48840"/>
            <a:ext cx="1069848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5400" b="1">
                <a:solidFill>
                  <a:srgbClr val="C00000"/>
                </a:solidFill>
                <a:latin typeface="微软雅黑"/>
                <a:ea typeface="微软雅黑"/>
              </a:rPr>
              <a:t>技术架构评审</a:t>
            </a:r>
            <a:endParaRPr sz="5400" b="1">
              <a:solidFill>
                <a:srgbClr val="C00000"/>
              </a:solidFill>
              <a:latin typeface="微软雅黑"/>
              <a:ea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3154680"/>
            <a:ext cx="106984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800" b="0">
                <a:solidFill>
                  <a:srgbClr val="333333"/>
                </a:solidFill>
                <a:latin typeface="微软雅黑"/>
                <a:ea typeface="微软雅黑"/>
              </a:rPr>
              <a:t>FILA 穿搭推荐系统</a:t>
            </a:r>
            <a:endParaRPr sz="2800" b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3822191"/>
            <a:ext cx="10698480" cy="28130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endParaRPr sz="1600" b="0">
              <a:solidFill>
                <a:srgbClr val="595959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4617720"/>
            <a:ext cx="10698480" cy="23558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0">
                <a:solidFill>
                  <a:srgbClr val="595959"/>
                </a:solidFill>
                <a:latin typeface="微软雅黑"/>
                <a:ea typeface="微软雅黑"/>
              </a:rPr>
              <a:t>2026.07</a:t>
            </a:r>
            <a:endParaRPr sz="1300" b="0">
              <a:solidFill>
                <a:srgbClr val="595959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62179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  <a:ea typeface="微软雅黑"/>
              </a:rPr>
              <a:t>产品内容</a:t>
            </a:r>
            <a:endParaRPr sz="2800" b="1">
              <a:solidFill>
                <a:srgbClr val="C00000"/>
              </a:solidFill>
              <a:latin typeface="微软雅黑"/>
              <a:ea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6355080"/>
            <a:ext cx="1133856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/>
                <a:ea typeface="微软雅黑"/>
              </a:rPr>
              <a:t>FILA 穿搭推荐系统架构评审</a:t>
            </a:r>
            <a:endParaRPr sz="800" b="0">
              <a:solidFill>
                <a:srgbClr val="595959"/>
              </a:solidFill>
              <a:latin typeface="微软雅黑"/>
              <a:ea typeface="微软雅黑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914400" y="1051560"/>
            <a:ext cx="3063240" cy="49834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9848" y="1207008"/>
            <a:ext cx="2743200" cy="310896"/>
          </a:xfrm>
          <a:prstGeom prst="roundRect">
            <a:avLst>
              <a:gd name="adj" fmla="val 15000"/>
            </a:avLst>
          </a:prstGeom>
          <a:solidFill>
            <a:srgbClr val="C00000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0" rIns="27432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用户入口</a:t>
            </a:r>
            <a:endParaRPr sz="11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115568" y="1783080"/>
            <a:ext cx="2670048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929384"/>
            <a:ext cx="2542032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文字 Query</a:t>
            </a:r>
            <a:endParaRPr sz="1300" b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115568" y="2770632"/>
            <a:ext cx="2670048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2916936"/>
            <a:ext cx="2542032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图片输入</a:t>
            </a:r>
            <a:endParaRPr sz="1300" b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115568" y="3758184"/>
            <a:ext cx="2670048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04488"/>
            <a:ext cx="2542032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SKU / 商品选择</a:t>
            </a:r>
            <a:endParaRPr sz="1300" b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115568" y="4745736"/>
            <a:ext cx="2670048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892040"/>
            <a:ext cx="2542032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搭配 / 商品详情</a:t>
            </a:r>
            <a:endParaRPr sz="1300" b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663440" y="1051560"/>
            <a:ext cx="3063240" cy="49834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18888" y="1207008"/>
            <a:ext cx="2743200" cy="310896"/>
          </a:xfrm>
          <a:prstGeom prst="roundRect">
            <a:avLst>
              <a:gd name="adj" fmla="val 15000"/>
            </a:avLst>
          </a:prstGeom>
          <a:solidFill>
            <a:srgbClr val="C00000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0" rIns="27432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推荐能力</a:t>
            </a:r>
            <a:endParaRPr sz="11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864607" y="1783080"/>
            <a:ext cx="2670048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1929384"/>
            <a:ext cx="2542032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意图解析</a:t>
            </a:r>
            <a:endParaRPr sz="1300" b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864607" y="2770632"/>
            <a:ext cx="2670048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9472" y="2959164"/>
            <a:ext cx="2542032" cy="23558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lang="zh-CN" sz="1300" b="0">
                <a:solidFill>
                  <a:srgbClr val="333333"/>
                </a:solidFill>
                <a:latin typeface="微软雅黑"/>
                <a:ea typeface="微软雅黑"/>
              </a:rPr>
              <a:t>搭配商品</a:t>
            </a: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召回</a:t>
            </a:r>
            <a:endParaRPr sz="1300" b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864607" y="3758184"/>
            <a:ext cx="2670048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9472" y="3904488"/>
            <a:ext cx="2542032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排序与推荐理由</a:t>
            </a:r>
            <a:endParaRPr sz="1300" b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864607" y="4745736"/>
            <a:ext cx="2670048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19472" y="4892040"/>
            <a:ext cx="2542032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虚拟试穿</a:t>
            </a:r>
            <a:endParaRPr sz="1300" b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412480" y="1051560"/>
            <a:ext cx="3063240" cy="49834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567928" y="1207008"/>
            <a:ext cx="2743200" cy="310896"/>
          </a:xfrm>
          <a:prstGeom prst="roundRect">
            <a:avLst>
              <a:gd name="adj" fmla="val 15000"/>
            </a:avLst>
          </a:prstGeom>
          <a:solidFill>
            <a:srgbClr val="C00000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0" rIns="27432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数据资产</a:t>
            </a:r>
            <a:endParaRPr sz="11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613648" y="1783080"/>
            <a:ext cx="2670048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68511" y="1929384"/>
            <a:ext cx="2542032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SKU 商品目录</a:t>
            </a:r>
            <a:endParaRPr sz="1300" b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613648" y="2770632"/>
            <a:ext cx="2670048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68511" y="2959164"/>
            <a:ext cx="2542032" cy="23558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固定搭配</a:t>
            </a:r>
            <a:endParaRPr sz="1300" b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613648" y="3758184"/>
            <a:ext cx="2670048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68511" y="3904488"/>
            <a:ext cx="2542032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ES 单品 / 搭配索引</a:t>
            </a:r>
            <a:endParaRPr sz="1300" b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613648" y="4745736"/>
            <a:ext cx="2670048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68511" y="4892040"/>
            <a:ext cx="2542032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Milvus 图文 / 文本向量</a:t>
            </a:r>
            <a:endParaRPr sz="1300" b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3520" y="314833"/>
            <a:ext cx="11338560" cy="62179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  <a:ea typeface="微软雅黑"/>
              </a:rPr>
              <a:t>部署架构图</a:t>
            </a:r>
            <a:endParaRPr sz="2800" b="1">
              <a:solidFill>
                <a:srgbClr val="C00000"/>
              </a:solidFill>
              <a:latin typeface="微软雅黑"/>
              <a:ea typeface="微软雅黑"/>
            </a:endParaRPr>
          </a:p>
        </p:txBody>
      </p:sp>
      <p:pic>
        <p:nvPicPr>
          <p:cNvPr id="3" name="图片 2" descr="deployment_architectur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435" y="992505"/>
            <a:ext cx="10835640" cy="53784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62179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  <a:ea typeface="微软雅黑"/>
              </a:rPr>
              <a:t>架构流程图</a:t>
            </a:r>
            <a:endParaRPr sz="2800" b="1">
              <a:solidFill>
                <a:srgbClr val="C00000"/>
              </a:solidFill>
              <a:latin typeface="微软雅黑"/>
              <a:ea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6355080"/>
            <a:ext cx="1133856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/>
                <a:ea typeface="微软雅黑"/>
              </a:rPr>
              <a:t>FILA 穿搭推荐系统架构评审</a:t>
            </a:r>
            <a:endParaRPr sz="800" b="0">
              <a:solidFill>
                <a:srgbClr val="595959"/>
              </a:solidFill>
              <a:latin typeface="微软雅黑"/>
              <a:ea typeface="微软雅黑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94360" y="2788920"/>
            <a:ext cx="132588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微软雅黑"/>
                <a:ea typeface="微软雅黑"/>
              </a:rPr>
              <a:t>用户输入</a:t>
            </a:r>
            <a:endParaRPr sz="1300" b="1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1938528" y="2971800"/>
            <a:ext cx="320040" cy="201168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331720" y="1508760"/>
            <a:ext cx="1572768" cy="3200400"/>
          </a:xfrm>
          <a:prstGeom prst="roundRect">
            <a:avLst>
              <a:gd name="adj" fmla="val 8000"/>
            </a:avLst>
          </a:prstGeom>
          <a:solidFill>
            <a:srgbClr val="E1F5FE"/>
          </a:solidFill>
          <a:ln w="1397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68879" y="2788920"/>
            <a:ext cx="1298448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意图解析</a:t>
            </a:r>
            <a:endParaRPr sz="1100" b="1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3922776" y="2971800"/>
            <a:ext cx="274320" cy="201168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24528" y="1508760"/>
            <a:ext cx="1572768" cy="32004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397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61688" y="2788920"/>
            <a:ext cx="1298448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搭配召回</a:t>
            </a:r>
            <a:endParaRPr sz="1100" b="1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5815584" y="2971800"/>
            <a:ext cx="274320" cy="201168"/>
          </a:xfrm>
          <a:prstGeom prst="rightArrow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17336" y="1508760"/>
            <a:ext cx="1572768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54496" y="2788920"/>
            <a:ext cx="1298448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融合去重</a:t>
            </a:r>
            <a:endParaRPr sz="1100" b="1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7708392" y="2971800"/>
            <a:ext cx="274320" cy="201168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10144" y="1508760"/>
            <a:ext cx="1572768" cy="3200400"/>
          </a:xfrm>
          <a:prstGeom prst="roundRect">
            <a:avLst>
              <a:gd name="adj" fmla="val 8000"/>
            </a:avLst>
          </a:prstGeom>
          <a:solidFill>
            <a:srgbClr val="FCE4EC"/>
          </a:solidFill>
          <a:ln w="1397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47304" y="2788920"/>
            <a:ext cx="1298448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粗排</a:t>
            </a:r>
            <a:endParaRPr sz="1100" b="1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9601200" y="2971800"/>
            <a:ext cx="274320" cy="201168"/>
          </a:xfrm>
          <a:prstGeom prst="rightArrow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902952" y="1508760"/>
            <a:ext cx="1572768" cy="32004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397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040112" y="2788920"/>
            <a:ext cx="1298448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LLM 排序
推荐理由</a:t>
            </a:r>
            <a:endParaRPr sz="1100" b="1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25" name="Down Arrow 24"/>
          <p:cNvSpPr/>
          <p:nvPr/>
        </p:nvSpPr>
        <p:spPr>
          <a:xfrm>
            <a:off x="10561320" y="4736592"/>
            <a:ext cx="201168" cy="320040"/>
          </a:xfrm>
          <a:prstGeom prst="downArrow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366760" y="5166360"/>
            <a:ext cx="3108960" cy="621792"/>
          </a:xfrm>
          <a:prstGeom prst="roundRect">
            <a:avLst>
              <a:gd name="adj" fmla="val 8000"/>
            </a:avLst>
          </a:prstGeom>
          <a:solidFill>
            <a:srgbClr val="F3E5F5"/>
          </a:solidFill>
          <a:ln w="1397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549640" y="5266944"/>
            <a:ext cx="109728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虚拟试穿</a:t>
            </a:r>
            <a:endParaRPr sz="1100" b="1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28" name="Right Arrow 27"/>
          <p:cNvSpPr/>
          <p:nvPr/>
        </p:nvSpPr>
        <p:spPr>
          <a:xfrm>
            <a:off x="9802368" y="5358384"/>
            <a:ext cx="292608" cy="182880"/>
          </a:xfrm>
          <a:prstGeom prst="rightArrow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222992" y="5266944"/>
            <a:ext cx="105156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1000" b="1">
                <a:solidFill>
                  <a:srgbClr val="333333"/>
                </a:solidFill>
                <a:latin typeface="微软雅黑"/>
                <a:ea typeface="微软雅黑"/>
              </a:rPr>
              <a:t>返回搭配卡片</a:t>
            </a:r>
            <a:endParaRPr sz="1000" b="1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62179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  <a:ea typeface="微软雅黑"/>
              </a:rPr>
              <a:t>技术栈</a:t>
            </a:r>
            <a:endParaRPr sz="2800" b="1">
              <a:solidFill>
                <a:srgbClr val="C00000"/>
              </a:solidFill>
              <a:latin typeface="微软雅黑"/>
              <a:ea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6355080"/>
            <a:ext cx="1133856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/>
                <a:ea typeface="微软雅黑"/>
              </a:rPr>
              <a:t>FILA 穿搭推荐系统架构评审</a:t>
            </a:r>
            <a:endParaRPr sz="800" b="0">
              <a:solidFill>
                <a:srgbClr val="595959"/>
              </a:solidFill>
              <a:latin typeface="微软雅黑"/>
              <a:ea typeface="微软雅黑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1078992"/>
            <a:ext cx="2606040" cy="47091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397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61872"/>
            <a:ext cx="2331720" cy="310896"/>
          </a:xfrm>
          <a:prstGeom prst="roundRect">
            <a:avLst>
              <a:gd name="adj" fmla="val 15000"/>
            </a:avLst>
          </a:prstGeom>
          <a:solidFill>
            <a:srgbClr val="2E75B6"/>
          </a:solidFill>
          <a:ln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0" rIns="27432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应用服务</a:t>
            </a:r>
            <a:endParaRPr sz="11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04088" y="1828800"/>
            <a:ext cx="219456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1000" b="1">
                <a:solidFill>
                  <a:srgbClr val="333333"/>
                </a:solidFill>
                <a:latin typeface="微软雅黑"/>
                <a:ea typeface="微软雅黑"/>
              </a:rPr>
              <a:t>Python</a:t>
            </a:r>
            <a:endParaRPr sz="1000" b="1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04088" y="2670048"/>
            <a:ext cx="219456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1000" b="1">
                <a:solidFill>
                  <a:srgbClr val="333333"/>
                </a:solidFill>
                <a:latin typeface="微软雅黑"/>
                <a:ea typeface="微软雅黑"/>
              </a:rPr>
              <a:t>FastAPI</a:t>
            </a:r>
            <a:endParaRPr sz="1000" b="1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04088" y="3511296"/>
            <a:ext cx="219456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1000" b="1">
                <a:solidFill>
                  <a:srgbClr val="333333"/>
                </a:solidFill>
                <a:latin typeface="微软雅黑"/>
                <a:ea typeface="微软雅黑"/>
              </a:rPr>
              <a:t>uvicorn</a:t>
            </a:r>
            <a:endParaRPr sz="1000" b="1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04088" y="4352544"/>
            <a:ext cx="219456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1000" b="1">
                <a:solidFill>
                  <a:srgbClr val="333333"/>
                </a:solidFill>
                <a:latin typeface="微软雅黑"/>
                <a:ea typeface="微软雅黑"/>
              </a:rPr>
              <a:t>Pydantic / YAML 配置</a:t>
            </a:r>
            <a:endParaRPr sz="1000" b="1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383280" y="1078992"/>
            <a:ext cx="2606040" cy="47091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397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20440" y="1261872"/>
            <a:ext cx="2331720" cy="310896"/>
          </a:xfrm>
          <a:prstGeom prst="roundRect">
            <a:avLst>
              <a:gd name="adj" fmla="val 15000"/>
            </a:avLst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0" rIns="27432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检索存储</a:t>
            </a:r>
            <a:endParaRPr sz="11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584448" y="1828800"/>
            <a:ext cx="219456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1000" b="1">
                <a:solidFill>
                  <a:srgbClr val="333333"/>
                </a:solidFill>
                <a:latin typeface="微软雅黑"/>
                <a:ea typeface="微软雅黑"/>
              </a:rPr>
              <a:t>Elasticsearch 7.9.3</a:t>
            </a:r>
            <a:endParaRPr sz="1000" b="1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584448" y="2670048"/>
            <a:ext cx="219456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1000" b="1">
                <a:solidFill>
                  <a:srgbClr val="333333"/>
                </a:solidFill>
                <a:latin typeface="微软雅黑"/>
                <a:ea typeface="微软雅黑"/>
              </a:rPr>
              <a:t>Milvus / Milvus Lite</a:t>
            </a:r>
            <a:endParaRPr sz="1000" b="1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584448" y="3511296"/>
            <a:ext cx="219456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1000" b="1">
                <a:solidFill>
                  <a:srgbClr val="333333"/>
                </a:solidFill>
                <a:latin typeface="微软雅黑"/>
                <a:ea typeface="微软雅黑"/>
              </a:rPr>
              <a:t>CSV / JSONL 本地数据</a:t>
            </a:r>
            <a:endParaRPr sz="1000" b="1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584448" y="4352544"/>
            <a:ext cx="219456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1000" b="1">
                <a:solidFill>
                  <a:srgbClr val="333333"/>
                </a:solidFill>
                <a:latin typeface="微软雅黑"/>
                <a:ea typeface="微软雅黑"/>
              </a:rPr>
              <a:t>增量索引状态文件</a:t>
            </a:r>
            <a:endParaRPr sz="1000" b="1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63640" y="1078992"/>
            <a:ext cx="2606040" cy="47091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397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261872"/>
            <a:ext cx="2331720" cy="310896"/>
          </a:xfrm>
          <a:prstGeom prst="roundRect">
            <a:avLst>
              <a:gd name="adj" fmla="val 15000"/>
            </a:avLst>
          </a:prstGeom>
          <a:solidFill>
            <a:srgbClr val="F57C00"/>
          </a:solidFill>
          <a:ln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0" rIns="27432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算法模型</a:t>
            </a:r>
            <a:endParaRPr sz="11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64807" y="1828800"/>
            <a:ext cx="219456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1000" b="1">
                <a:solidFill>
                  <a:srgbClr val="333333"/>
                </a:solidFill>
                <a:latin typeface="微软雅黑"/>
                <a:ea typeface="微软雅黑"/>
              </a:rPr>
              <a:t>Qwen3.6 / LLM Gateway</a:t>
            </a:r>
            <a:endParaRPr sz="1000" b="1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464807" y="2670048"/>
            <a:ext cx="219456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1000" b="1">
                <a:solidFill>
                  <a:srgbClr val="333333"/>
                </a:solidFill>
                <a:latin typeface="微软雅黑"/>
                <a:ea typeface="微软雅黑"/>
              </a:rPr>
              <a:t>Qwen3-VL-Embedding</a:t>
            </a:r>
            <a:endParaRPr sz="1000" b="1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64807" y="3511296"/>
            <a:ext cx="219456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1000" b="1">
                <a:solidFill>
                  <a:srgbClr val="333333"/>
                </a:solidFill>
                <a:latin typeface="微软雅黑"/>
                <a:ea typeface="微软雅黑"/>
              </a:rPr>
              <a:t>OpenAI Compatible API</a:t>
            </a:r>
            <a:endParaRPr sz="1000" b="1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464807" y="4352544"/>
            <a:ext cx="219456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1000" b="1">
                <a:solidFill>
                  <a:srgbClr val="333333"/>
                </a:solidFill>
                <a:latin typeface="微软雅黑"/>
                <a:ea typeface="微软雅黑"/>
              </a:rPr>
              <a:t>规则粗排 + LLM 精排</a:t>
            </a:r>
            <a:endParaRPr sz="1000" b="1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144000" y="1078992"/>
            <a:ext cx="2606040" cy="47091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397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281160" y="1261872"/>
            <a:ext cx="2331720" cy="310896"/>
          </a:xfrm>
          <a:prstGeom prst="roundRect">
            <a:avLst>
              <a:gd name="adj" fmla="val 15000"/>
            </a:avLst>
          </a:prstGeom>
          <a:solidFill>
            <a:srgbClr val="7B1FA2"/>
          </a:solidFill>
          <a:ln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0" rIns="27432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离线处理</a:t>
            </a:r>
            <a:endParaRPr sz="11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345168" y="1828800"/>
            <a:ext cx="219456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1000" b="1">
                <a:solidFill>
                  <a:srgbClr val="333333"/>
                </a:solidFill>
                <a:latin typeface="微软雅黑"/>
                <a:ea typeface="微软雅黑"/>
              </a:rPr>
              <a:t>Hive 日更表</a:t>
            </a:r>
            <a:endParaRPr sz="1000" b="1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9345168" y="2670048"/>
            <a:ext cx="219456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1000" b="1">
                <a:solidFill>
                  <a:srgbClr val="333333"/>
                </a:solidFill>
                <a:latin typeface="微软雅黑"/>
                <a:ea typeface="微软雅黑"/>
              </a:rPr>
              <a:t>ETL Python 脚本</a:t>
            </a:r>
            <a:endParaRPr sz="1000" b="1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345168" y="3511296"/>
            <a:ext cx="219456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1000" b="1">
                <a:solidFill>
                  <a:srgbClr val="333333"/>
                </a:solidFill>
                <a:latin typeface="微软雅黑"/>
                <a:ea typeface="微软雅黑"/>
              </a:rPr>
              <a:t>Polars / openpyxl</a:t>
            </a:r>
            <a:endParaRPr sz="1000" b="1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345168" y="4352544"/>
            <a:ext cx="219456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1000" b="1">
                <a:solidFill>
                  <a:srgbClr val="333333"/>
                </a:solidFill>
                <a:latin typeface="微软雅黑"/>
                <a:ea typeface="微软雅黑"/>
              </a:rPr>
              <a:t>数据校验与索引构建</a:t>
            </a:r>
            <a:endParaRPr sz="1000" b="1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94360" y="598932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>
                <a:solidFill>
                  <a:srgbClr val="8A0000"/>
                </a:solidFill>
                <a:latin typeface="微软雅黑"/>
                <a:ea typeface="微软雅黑"/>
              </a:rPr>
              <a:t>说明：App 服务为 Python FastAPI 单进程服务，前端静态资源随服务一并部署。</a:t>
            </a:r>
            <a:endParaRPr sz="1100" b="1">
              <a:solidFill>
                <a:srgbClr val="8A0000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46609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  <a:ea typeface="微软雅黑"/>
              </a:rPr>
              <a:t>周边系统</a:t>
            </a:r>
            <a:r>
              <a:rPr lang="zh-CN" sz="2800" b="1">
                <a:solidFill>
                  <a:srgbClr val="C00000"/>
                </a:solidFill>
                <a:latin typeface="微软雅黑"/>
                <a:ea typeface="微软雅黑"/>
              </a:rPr>
              <a:t>数据</a:t>
            </a:r>
            <a:r>
              <a:rPr sz="2800" b="1">
                <a:solidFill>
                  <a:srgbClr val="C00000"/>
                </a:solidFill>
                <a:latin typeface="微软雅黑"/>
                <a:ea typeface="微软雅黑"/>
              </a:rPr>
              <a:t>集成架构</a:t>
            </a:r>
            <a:endParaRPr sz="2800" b="1">
              <a:solidFill>
                <a:srgbClr val="C00000"/>
              </a:solidFill>
              <a:latin typeface="微软雅黑"/>
              <a:ea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6355080"/>
            <a:ext cx="1133856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/>
                <a:ea typeface="微软雅黑"/>
              </a:rPr>
              <a:t>FILA 穿搭推荐系统架构评审</a:t>
            </a:r>
            <a:endParaRPr sz="800" b="0">
              <a:solidFill>
                <a:srgbClr val="595959"/>
              </a:solidFill>
              <a:latin typeface="微软雅黑"/>
              <a:ea typeface="微软雅黑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2423160" cy="4754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397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1965960" cy="310896"/>
          </a:xfrm>
          <a:prstGeom prst="roundRect">
            <a:avLst>
              <a:gd name="adj" fmla="val 15000"/>
            </a:avLst>
          </a:prstGeom>
          <a:solidFill>
            <a:srgbClr val="2E75B6"/>
          </a:solidFill>
          <a:ln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0" rIns="27432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周边系统</a:t>
            </a:r>
            <a:endParaRPr sz="11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67512" y="1874519"/>
            <a:ext cx="1920240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900" b="1">
                <a:solidFill>
                  <a:srgbClr val="333333"/>
                </a:solidFill>
                <a:latin typeface="微软雅黑"/>
                <a:ea typeface="微软雅黑"/>
              </a:rPr>
              <a:t>官网商品库</a:t>
            </a:r>
            <a:endParaRPr sz="900" b="1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67512" y="2697479"/>
            <a:ext cx="1920240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900" b="1">
                <a:solidFill>
                  <a:srgbClr val="333333"/>
                </a:solidFill>
                <a:latin typeface="微软雅黑"/>
                <a:ea typeface="微软雅黑"/>
              </a:rPr>
              <a:t>内容中心 / 微导购</a:t>
            </a:r>
            <a:endParaRPr sz="900" b="1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67512" y="3520439"/>
            <a:ext cx="1920240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900" b="1">
                <a:solidFill>
                  <a:srgbClr val="333333"/>
                </a:solidFill>
                <a:latin typeface="微软雅黑"/>
                <a:ea typeface="微软雅黑"/>
              </a:rPr>
              <a:t>素材中心</a:t>
            </a:r>
            <a:endParaRPr sz="900" b="1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67512" y="4343400"/>
            <a:ext cx="1920240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900" b="1">
                <a:solidFill>
                  <a:srgbClr val="333333"/>
                </a:solidFill>
                <a:latin typeface="微软雅黑"/>
                <a:ea typeface="微软雅黑"/>
              </a:rPr>
              <a:t>运营补充文件</a:t>
            </a:r>
            <a:endParaRPr sz="900" b="1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2862072" y="2011680"/>
            <a:ext cx="292608" cy="164592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2862072" y="2834640"/>
            <a:ext cx="292608" cy="164592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2862072" y="3657600"/>
            <a:ext cx="292608" cy="164592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2862072" y="4480560"/>
            <a:ext cx="292608" cy="164592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37560" y="1051560"/>
            <a:ext cx="2423160" cy="4754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397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66160" y="1234440"/>
            <a:ext cx="1965960" cy="310896"/>
          </a:xfrm>
          <a:prstGeom prst="roundRect">
            <a:avLst>
              <a:gd name="adj" fmla="val 15000"/>
            </a:avLst>
          </a:prstGeom>
          <a:solidFill>
            <a:srgbClr val="F57C00"/>
          </a:solidFill>
          <a:ln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0" rIns="27432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访问方式</a:t>
            </a:r>
            <a:endParaRPr sz="11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593592" y="1874519"/>
            <a:ext cx="1920240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900" b="1">
                <a:solidFill>
                  <a:srgbClr val="333333"/>
                </a:solidFill>
                <a:latin typeface="微软雅黑"/>
                <a:ea typeface="微软雅黑"/>
              </a:rPr>
              <a:t>Hive 日更商品表</a:t>
            </a:r>
            <a:endParaRPr sz="900" b="1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593592" y="2697479"/>
            <a:ext cx="1920240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900" b="1">
                <a:solidFill>
                  <a:srgbClr val="333333"/>
                </a:solidFill>
                <a:latin typeface="微软雅黑"/>
                <a:ea typeface="微软雅黑"/>
              </a:rPr>
              <a:t>搭配主表 / 明细表</a:t>
            </a:r>
            <a:endParaRPr sz="900" b="1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593592" y="3520439"/>
            <a:ext cx="1920240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900" b="1">
                <a:solidFill>
                  <a:srgbClr val="333333"/>
                </a:solidFill>
                <a:latin typeface="微软雅黑"/>
                <a:ea typeface="微软雅黑"/>
              </a:rPr>
              <a:t>cc_material_product</a:t>
            </a:r>
            <a:endParaRPr sz="900" b="1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593592" y="4343400"/>
            <a:ext cx="1920240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900" b="1">
                <a:solidFill>
                  <a:srgbClr val="333333"/>
                </a:solidFill>
                <a:latin typeface="微软雅黑"/>
                <a:ea typeface="微软雅黑"/>
              </a:rPr>
              <a:t>Excel / CSV 人工导入</a:t>
            </a:r>
            <a:endParaRPr sz="900" b="1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20" name="Right Arrow 19"/>
          <p:cNvSpPr/>
          <p:nvPr/>
        </p:nvSpPr>
        <p:spPr>
          <a:xfrm>
            <a:off x="5788152" y="2011680"/>
            <a:ext cx="292608" cy="164592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5788152" y="2834640"/>
            <a:ext cx="292608" cy="164592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5788152" y="3657600"/>
            <a:ext cx="292608" cy="164592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5788152" y="4480560"/>
            <a:ext cx="292608" cy="164592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63640" y="1051560"/>
            <a:ext cx="2423160" cy="4754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397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92240" y="1234440"/>
            <a:ext cx="1965960" cy="310896"/>
          </a:xfrm>
          <a:prstGeom prst="roundRect">
            <a:avLst>
              <a:gd name="adj" fmla="val 15000"/>
            </a:avLst>
          </a:prstGeom>
          <a:solidFill>
            <a:srgbClr val="C00000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0" rIns="27432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离线接入</a:t>
            </a:r>
            <a:endParaRPr sz="11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519672" y="1874519"/>
            <a:ext cx="1920240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900" b="1">
                <a:solidFill>
                  <a:srgbClr val="333333"/>
                </a:solidFill>
                <a:latin typeface="微软雅黑"/>
                <a:ea typeface="微软雅黑"/>
              </a:rPr>
              <a:t>日更下载</a:t>
            </a:r>
            <a:endParaRPr sz="900" b="1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519672" y="2697479"/>
            <a:ext cx="1920240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900" b="1">
                <a:solidFill>
                  <a:srgbClr val="333333"/>
                </a:solidFill>
                <a:latin typeface="微软雅黑"/>
                <a:ea typeface="微软雅黑"/>
              </a:rPr>
              <a:t>商品目录构建</a:t>
            </a:r>
            <a:endParaRPr sz="900" b="1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519672" y="3520439"/>
            <a:ext cx="1920240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900" b="1">
                <a:solidFill>
                  <a:srgbClr val="333333"/>
                </a:solidFill>
                <a:latin typeface="微软雅黑"/>
                <a:ea typeface="微软雅黑"/>
              </a:rPr>
              <a:t>搭配 JSON 构建</a:t>
            </a:r>
            <a:endParaRPr sz="900" b="1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519672" y="4343400"/>
            <a:ext cx="1920240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900" b="1">
                <a:solidFill>
                  <a:srgbClr val="333333"/>
                </a:solidFill>
                <a:latin typeface="微软雅黑"/>
                <a:ea typeface="微软雅黑"/>
              </a:rPr>
              <a:t>图片选型 / 校验</a:t>
            </a:r>
            <a:endParaRPr sz="900" b="1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30" name="Right Arrow 29"/>
          <p:cNvSpPr/>
          <p:nvPr/>
        </p:nvSpPr>
        <p:spPr>
          <a:xfrm>
            <a:off x="8714232" y="2011680"/>
            <a:ext cx="292608" cy="164592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ight Arrow 30"/>
          <p:cNvSpPr/>
          <p:nvPr/>
        </p:nvSpPr>
        <p:spPr>
          <a:xfrm>
            <a:off x="8714232" y="2834640"/>
            <a:ext cx="292608" cy="164592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Arrow 31"/>
          <p:cNvSpPr/>
          <p:nvPr/>
        </p:nvSpPr>
        <p:spPr>
          <a:xfrm>
            <a:off x="8714232" y="3657600"/>
            <a:ext cx="292608" cy="164592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ight Arrow 32"/>
          <p:cNvSpPr/>
          <p:nvPr/>
        </p:nvSpPr>
        <p:spPr>
          <a:xfrm>
            <a:off x="8714232" y="4480560"/>
            <a:ext cx="292608" cy="164592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189720" y="1051560"/>
            <a:ext cx="2423160" cy="4754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397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418320" y="1234440"/>
            <a:ext cx="1965960" cy="310896"/>
          </a:xfrm>
          <a:prstGeom prst="roundRect">
            <a:avLst>
              <a:gd name="adj" fmla="val 15000"/>
            </a:avLst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0" rIns="27432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在线服务</a:t>
            </a:r>
            <a:endParaRPr sz="11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9445752" y="1874519"/>
            <a:ext cx="1920240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900" b="1">
                <a:solidFill>
                  <a:srgbClr val="333333"/>
                </a:solidFill>
                <a:latin typeface="微软雅黑"/>
                <a:ea typeface="微软雅黑"/>
              </a:rPr>
              <a:t>ES 单品 / 搭配索引</a:t>
            </a:r>
            <a:endParaRPr sz="900" b="1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9445752" y="2697479"/>
            <a:ext cx="1920240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900" b="1">
                <a:solidFill>
                  <a:srgbClr val="333333"/>
                </a:solidFill>
                <a:latin typeface="微软雅黑"/>
                <a:ea typeface="微软雅黑"/>
              </a:rPr>
              <a:t>Milvus 图文 / 文本向量</a:t>
            </a:r>
            <a:endParaRPr sz="900" b="1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9445752" y="3520439"/>
            <a:ext cx="1920240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900" b="1">
                <a:solidFill>
                  <a:srgbClr val="333333"/>
                </a:solidFill>
                <a:latin typeface="微软雅黑"/>
                <a:ea typeface="微软雅黑"/>
              </a:rPr>
              <a:t>FastAPI 推荐服务</a:t>
            </a:r>
            <a:endParaRPr sz="900" b="1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9445752" y="4343400"/>
            <a:ext cx="1920240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900" b="1">
                <a:solidFill>
                  <a:srgbClr val="333333"/>
                </a:solidFill>
                <a:latin typeface="微软雅黑"/>
                <a:ea typeface="微软雅黑"/>
              </a:rPr>
              <a:t>官网推荐接口</a:t>
            </a:r>
            <a:endParaRPr sz="900" b="1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94360" y="598932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>
                <a:solidFill>
                  <a:srgbClr val="8A0000"/>
                </a:solidFill>
                <a:latin typeface="微软雅黑"/>
                <a:ea typeface="微软雅黑"/>
              </a:rPr>
              <a:t>集成方式：推荐服务不直接读取官网/内容中心在线库，先通过日更表与离线 ETL 进入统一索引，再由官网通过接口调用推荐服务。</a:t>
            </a:r>
            <a:endParaRPr sz="1100" b="1">
              <a:solidFill>
                <a:srgbClr val="8A0000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62179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  <a:ea typeface="微软雅黑"/>
              </a:rPr>
              <a:t>数据索引与存储位置</a:t>
            </a:r>
            <a:endParaRPr sz="2800" b="1">
              <a:solidFill>
                <a:srgbClr val="C00000"/>
              </a:solidFill>
              <a:latin typeface="微软雅黑"/>
              <a:ea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6355080"/>
            <a:ext cx="1133856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/>
                <a:ea typeface="微软雅黑"/>
              </a:rPr>
              <a:t>FILA 穿搭推荐系统架构评审</a:t>
            </a:r>
            <a:endParaRPr sz="800" b="0">
              <a:solidFill>
                <a:srgbClr val="595959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51560"/>
          <a:ext cx="1120140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286000"/>
                <a:gridCol w="6126480"/>
              </a:tblGrid>
              <a:tr h="64922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存储</a:t>
                      </a:r>
                      <a:endParaRPr sz="1100" b="1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用途</a:t>
                      </a:r>
                      <a:endParaRPr sz="1100" b="1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关键内容</a:t>
                      </a:r>
                      <a:endParaRPr sz="1100" b="1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ES：fila-skus</a:t>
                      </a:r>
                      <a:endParaRPr sz="1000" b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 anchor="ctr"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SKU 单品索引</a:t>
                      </a:r>
                      <a:endParaRPr sz="1000" b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 anchor="ctr"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商品属性、搜索文本、图片 URL、价格、中类、色系</a:t>
                      </a:r>
                      <a:endParaRPr sz="1000" b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 anchor="ctr">
                    <a:solidFill>
                      <a:srgbClr val="FBEAEA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ES：fila-outfits</a:t>
                      </a:r>
                      <a:endParaRPr sz="1000" b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搭配索引</a:t>
                      </a:r>
                      <a:endParaRPr sz="1000" b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固定搭配组合、搭配 ID、商品列表、来源标记</a:t>
                      </a:r>
                      <a:endParaRPr sz="1000" b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Milvus：fila_sku_vectors</a:t>
                      </a:r>
                      <a:endParaRPr sz="1000" b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 anchor="ctr"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SKU 图文向量</a:t>
                      </a:r>
                      <a:endParaRPr sz="1000" b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 anchor="ctr"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1024 维 COSINE，用于图片/图文相似召回</a:t>
                      </a:r>
                      <a:endParaRPr sz="1000" b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 anchor="ctr">
                    <a:solidFill>
                      <a:srgbClr val="FBEAEA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Milvus：fila_sku_text_vectors</a:t>
                      </a:r>
                      <a:endParaRPr sz="1000" b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SKU 文本向量</a:t>
                      </a:r>
                      <a:endParaRPr sz="1000" b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1024 维 COSINE，用于语义拼套召回</a:t>
                      </a:r>
                      <a:endParaRPr sz="1000" b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62179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  <a:ea typeface="微软雅黑"/>
              </a:rPr>
              <a:t>云资源需求清单</a:t>
            </a:r>
            <a:endParaRPr sz="2800" b="1">
              <a:solidFill>
                <a:srgbClr val="C00000"/>
              </a:solidFill>
              <a:latin typeface="微软雅黑"/>
              <a:ea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6355080"/>
            <a:ext cx="1133856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/>
                <a:ea typeface="微软雅黑"/>
              </a:rPr>
              <a:t>FILA 穿搭推荐系统架构评审</a:t>
            </a:r>
            <a:endParaRPr sz="800" b="0">
              <a:solidFill>
                <a:srgbClr val="595959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51560"/>
          <a:ext cx="112014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423160"/>
                <a:gridCol w="3474720"/>
                <a:gridCol w="3291840"/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资源类型</a:t>
                      </a:r>
                      <a:endParaRPr sz="1100" b="1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数量 / 范围</a:t>
                      </a:r>
                      <a:endParaRPr sz="1100" b="1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规格</a:t>
                      </a:r>
                      <a:endParaRPr sz="1100" b="1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用途</a:t>
                      </a:r>
                      <a:endParaRPr sz="1100" b="1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容器资源</a:t>
                      </a:r>
                      <a:endParaRPr sz="900" b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 anchor="ctr"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生产 2 个容器，测试 1 个容器</a:t>
                      </a:r>
                      <a:endParaRPr sz="900" b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 anchor="ctr"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8 Core 16 GiB</a:t>
                      </a:r>
                      <a:endParaRPr sz="900" b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 anchor="ctr"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FastAPI 推荐服务，含前端静态资源</a:t>
                      </a:r>
                      <a:endParaRPr sz="900" b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 anchor="ctr">
                    <a:solidFill>
                      <a:srgbClr val="FBEAE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Elasticsearch</a:t>
                      </a:r>
                      <a:endParaRPr sz="900" b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生产 / 测试均需要</a:t>
                      </a:r>
                      <a:endParaRPr sz="900" b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ES 7.9.3；2 数据节点 + 1 协调节点，均 2 核 4 GiB</a:t>
                      </a:r>
                      <a:endParaRPr sz="900" b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fila-skus、fila-outfits 两个索引</a:t>
                      </a:r>
                      <a:endParaRPr sz="900" b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Milvus 服务节点</a:t>
                      </a:r>
                      <a:endParaRPr sz="900" b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 anchor="ctr"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生产 / 测试均需要</a:t>
                      </a:r>
                      <a:endParaRPr sz="900" b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 anchor="ctr"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元数据服务 2；Proxy 2；Data Node 2，均 2 核 4 GiB</a:t>
                      </a:r>
                      <a:endParaRPr sz="900" b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 anchor="ctr"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承载向量数据写入与服务访问</a:t>
                      </a:r>
                      <a:endParaRPr sz="900" b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 anchor="ctr">
                    <a:solidFill>
                      <a:srgbClr val="FBEAE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Milvus 索引 / 查询</a:t>
                      </a:r>
                      <a:endParaRPr sz="900" b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Index Node 2；Query Node 2</a:t>
                      </a:r>
                      <a:endParaRPr sz="900" b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Index 4 核 8 GiB；Query 4 核 8 GiB，性能型 CU</a:t>
                      </a:r>
                      <a:endParaRPr sz="900" b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HNSW 索引与在线向量召回</a:t>
                      </a:r>
                      <a:endParaRPr sz="900" b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网络与基础设施</a:t>
                      </a:r>
                      <a:endParaRPr sz="900" b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 anchor="ctr"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内网打通、内网域名、负载均衡、API 网关</a:t>
                      </a:r>
                      <a:endParaRPr sz="900" b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 anchor="ctr"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生产 2 容器负载均衡</a:t>
                      </a:r>
                      <a:endParaRPr sz="900" b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 anchor="ctr"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FastAPI ↔ ES / Milvus / LLM Gateway / Embedding 服务</a:t>
                      </a:r>
                      <a:endParaRPr sz="900" b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 anchor="ctr">
                    <a:solidFill>
                      <a:srgbClr val="FBEAE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5623560"/>
            <a:ext cx="11201400" cy="4389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952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5742432"/>
            <a:ext cx="1074420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>
                <a:solidFill>
                  <a:srgbClr val="8A0000"/>
                </a:solidFill>
                <a:latin typeface="微软雅黑"/>
                <a:ea typeface="微软雅黑"/>
              </a:rPr>
              <a:t>向量集合：fila_sku_vectors 与 fila_sku_text_vectors，1024 维，COSINE 距离，HNSW 索引。</a:t>
            </a:r>
            <a:endParaRPr sz="1100" b="1">
              <a:solidFill>
                <a:srgbClr val="8A0000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62179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  <a:ea typeface="微软雅黑"/>
              </a:rPr>
              <a:t>核心模块职责</a:t>
            </a:r>
            <a:endParaRPr sz="2800" b="1">
              <a:solidFill>
                <a:srgbClr val="C00000"/>
              </a:solidFill>
              <a:latin typeface="微软雅黑"/>
              <a:ea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6355080"/>
            <a:ext cx="1133856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/>
                <a:ea typeface="微软雅黑"/>
              </a:rPr>
              <a:t>FILA 穿搭推荐系统架构评审</a:t>
            </a:r>
            <a:endParaRPr sz="800" b="0">
              <a:solidFill>
                <a:srgbClr val="595959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005840"/>
          <a:ext cx="109728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22960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模块</a:t>
                      </a:r>
                      <a:endParaRPr sz="1100" b="1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职责</a:t>
                      </a:r>
                      <a:endParaRPr sz="1100" b="1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应用入口 / 配置管理</a:t>
                      </a:r>
                      <a:endParaRPr sz="1000" b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 anchor="ctr"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FastAPI 路由、静态资源；yaml + 环境变量覆盖</a:t>
                      </a:r>
                      <a:endParaRPr sz="1000" b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 anchor="ctr">
                    <a:solidFill>
                      <a:srgbClr val="FBEAE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推荐服务</a:t>
                      </a:r>
                      <a:endParaRPr sz="1000" b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编排意图 → 召回 → 排序 → 理由 → 试穿的完整链路</a:t>
                      </a:r>
                      <a:endParaRPr sz="1000" b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意图解析</a:t>
                      </a:r>
                      <a:endParaRPr sz="1000" b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 anchor="ctr"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LLM </a:t>
                      </a:r>
                      <a:r>
                        <a:rPr lang="zh-CN"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意图解析，槽位</a:t>
                      </a:r>
                      <a:r>
                        <a:rPr lang="zh-CN"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提取</a:t>
                      </a:r>
                      <a:endParaRPr lang="zh-CN" sz="1000" b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 anchor="ctr">
                    <a:solidFill>
                      <a:srgbClr val="FBEAE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检索层</a:t>
                      </a:r>
                      <a:endParaRPr sz="1000" b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ES 查询封装、Milvus向量检索</a:t>
                      </a:r>
                      <a:endParaRPr sz="1000" b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搭配召回</a:t>
                      </a:r>
                      <a:endParaRPr sz="1000" b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 anchor="ctr"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固定搭配召回、向量</a:t>
                      </a:r>
                      <a:r>
                        <a:rPr lang="zh-CN"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召回</a:t>
                      </a: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、规则过滤、融合去重</a:t>
                      </a:r>
                      <a:endParaRPr sz="1000" b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 anchor="ctr">
                    <a:solidFill>
                      <a:srgbClr val="FBEAE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排序与卡片</a:t>
                      </a:r>
                      <a:endParaRPr sz="1000" b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规则/LLM 打分、推荐理由、搭配结果卡片组装</a:t>
                      </a:r>
                      <a:endParaRPr sz="1000" b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模型客户端</a:t>
                      </a:r>
                      <a:endParaRPr sz="1000" b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 anchor="ctr"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LLM 调用与图文 embedding 生成</a:t>
                      </a:r>
                      <a:endParaRPr sz="1000" b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 anchor="ctr">
                    <a:solidFill>
                      <a:srgbClr val="FBEA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4800" b="1">
                <a:solidFill>
                  <a:srgbClr val="C00000"/>
                </a:solidFill>
                <a:latin typeface="微软雅黑"/>
                <a:ea typeface="微软雅黑"/>
              </a:rPr>
              <a:t>谢谢</a:t>
            </a:r>
            <a:endParaRPr sz="4800" b="1">
              <a:solidFill>
                <a:srgbClr val="C00000"/>
              </a:solidFill>
              <a:latin typeface="微软雅黑"/>
              <a:ea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3429000"/>
            <a:ext cx="1069848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800" b="0">
                <a:solidFill>
                  <a:srgbClr val="595959"/>
                </a:solidFill>
                <a:latin typeface="微软雅黑"/>
                <a:ea typeface="微软雅黑"/>
              </a:rPr>
              <a:t>FILA 穿搭推荐系统架构评审</a:t>
            </a:r>
            <a:endParaRPr sz="1800" b="0">
              <a:solidFill>
                <a:srgbClr val="595959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1735</Words>
  <Application>WPS 表格</Application>
  <PresentationFormat>宽屏</PresentationFormat>
  <Paragraphs>282</Paragraphs>
  <Slides>10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汉仪旗黑</vt:lpstr>
      <vt:lpstr>汉仪书宋二KW</vt:lpstr>
      <vt:lpstr>微软雅黑</vt:lpstr>
      <vt:lpstr>宋体</vt:lpstr>
      <vt:lpstr>Arial Unicode MS</vt:lpstr>
      <vt:lpstr>Calibri</vt:lpstr>
      <vt:lpstr>Helvetica Neue</vt:lpstr>
      <vt:lpstr>微软雅黑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Binangkit</dc:creator>
  <cp:lastModifiedBy>tangning</cp:lastModifiedBy>
  <cp:revision>2130</cp:revision>
  <dcterms:created xsi:type="dcterms:W3CDTF">2026-07-10T08:11:31Z</dcterms:created>
  <dcterms:modified xsi:type="dcterms:W3CDTF">2026-07-10T08:11:31Z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64BAB1183907F90E054B4B6A2D09388E_42</vt:lpwstr>
  </property>
  <property fmtid="{D5CDD505-2E9C-101B-9397-08002B2CF9AE}" pid="3" name="KSOProductBuildVer">
    <vt:lpwstr>2052-12.1.24031.24031</vt:lpwstr>
  </property>
</Properties>
</file>